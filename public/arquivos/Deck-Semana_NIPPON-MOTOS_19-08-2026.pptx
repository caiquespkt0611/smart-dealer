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Deck do mês corrente: a conversa é sobre o que ainda dá para fazer, não sobre o mês passado. Se o dono puxar para o fechamento, registrar e voltar.</a:t>
            </a:r>
          </a:p>
          <a:p>
            <a:r>
              <a:rPr lang="pt-BR" sz="1200" dirty="0"/>
              <a:t>Abrir dizendo o número que falta e quantos dias úteis restam — o resto do deck é onde buscar esse número.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Combinar o tempo: ~20 minutos, e termina com responsável e prazo.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 pergunta que abre o resto da call: "o que muda na sua semana para sair de 6,7 para 9,1 por dia?"</a:t>
            </a:r>
          </a:p>
          <a:p>
            <a:r>
              <a:rPr lang="pt-BR" sz="1200" dirty="0"/>
              <a:t>Não discutir o mês passado aqui. Se vier, anotar e seguir.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Perguntar quem atende Atibaia hoje e com que frequência. O gap de praça quase sempre é cobertura comercial, não preço.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Se quem subiu for outra loja da própria bandeira, o assunto é quebra de território, não disputa de mercado — muda quem resolve.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Este capítulo é o mais sensível: apresentar como problema a resolver junto, nunca como acusação ao vizinho.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Sair daqui com o pedido definido, não só com a cobrança de venda. Se as motos já estão em trânsito, o assunto é prazo de entrega com o distribuidor.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Não ler a tabela inteira em voz alta: ler as linhas de prioridade alta e combinar responsável e data para cada uma. Esta é a mesma tabela que sai no botão "Gerar PDCA", em Excel, para anexar depois da call.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notaçõe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Encerrar marcando a próxima call antes de desligar.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39700" cy="68580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1905000"/>
            <a:ext cx="10820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b="1" dirty="0">
                <a:solidFill>
                  <a:srgbClr val="2A78D6"/>
                </a:solidFill>
                <a:latin typeface="Calibri"/>
                <a:cs typeface="Calibri"/>
              </a:rPr>
              <a:t>PERFORMANCE CONCESSIONÁRIO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2235200"/>
            <a:ext cx="10820400" cy="7437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4800" b="1" dirty="0">
                <a:solidFill>
                  <a:srgbClr val="0B0B0B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5" name="forma 5"/>
          <p:cNvSpPr/>
          <p:nvPr/>
        </p:nvSpPr>
        <p:spPr>
          <a:xfrm>
            <a:off x="685800" y="3055112"/>
            <a:ext cx="1082040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dirty="0">
                <a:solidFill>
                  <a:srgbClr val="52514E"/>
                </a:solidFill>
                <a:latin typeface="Calibri"/>
                <a:cs typeface="Calibri"/>
              </a:rPr>
              <a:t>Agosto até 19/08 — o que falta e onde buscar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3872992"/>
            <a:ext cx="206883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3987292"/>
            <a:ext cx="176403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CARTA DO MÊS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4177792"/>
            <a:ext cx="176403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160 un</a:t>
            </a:r>
          </a:p>
        </p:txBody>
      </p:sp>
      <p:sp>
        <p:nvSpPr>
          <p:cNvPr id="9" name="forma 9"/>
          <p:cNvSpPr/>
          <p:nvPr/>
        </p:nvSpPr>
        <p:spPr>
          <a:xfrm>
            <a:off x="2881630" y="3872992"/>
            <a:ext cx="206883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3034030" y="3987292"/>
            <a:ext cx="176403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VENDIDO ATÉ AQUI</a:t>
            </a:r>
          </a:p>
        </p:txBody>
      </p:sp>
      <p:sp>
        <p:nvSpPr>
          <p:cNvPr id="11" name="forma 11"/>
          <p:cNvSpPr/>
          <p:nvPr/>
        </p:nvSpPr>
        <p:spPr>
          <a:xfrm>
            <a:off x="3034030" y="4177792"/>
            <a:ext cx="176403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0B0B0B"/>
                </a:solidFill>
                <a:latin typeface="Calibri"/>
                <a:cs typeface="Calibri"/>
              </a:rPr>
              <a:t>87 un</a:t>
            </a:r>
          </a:p>
        </p:txBody>
      </p:sp>
      <p:sp>
        <p:nvSpPr>
          <p:cNvPr id="12" name="forma 12"/>
          <p:cNvSpPr/>
          <p:nvPr/>
        </p:nvSpPr>
        <p:spPr>
          <a:xfrm>
            <a:off x="5077460" y="3872992"/>
            <a:ext cx="206883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3" name="forma 13"/>
          <p:cNvSpPr/>
          <p:nvPr/>
        </p:nvSpPr>
        <p:spPr>
          <a:xfrm>
            <a:off x="5229860" y="3987292"/>
            <a:ext cx="176403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FALTAM</a:t>
            </a:r>
          </a:p>
        </p:txBody>
      </p:sp>
      <p:sp>
        <p:nvSpPr>
          <p:cNvPr id="14" name="forma 14"/>
          <p:cNvSpPr/>
          <p:nvPr/>
        </p:nvSpPr>
        <p:spPr>
          <a:xfrm>
            <a:off x="5229860" y="4177792"/>
            <a:ext cx="176403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D98A0B"/>
                </a:solidFill>
                <a:latin typeface="Calibri"/>
                <a:cs typeface="Calibri"/>
              </a:rPr>
              <a:t>73 un</a:t>
            </a:r>
          </a:p>
        </p:txBody>
      </p:sp>
      <p:sp>
        <p:nvSpPr>
          <p:cNvPr id="15" name="forma 15"/>
          <p:cNvSpPr/>
          <p:nvPr/>
        </p:nvSpPr>
        <p:spPr>
          <a:xfrm>
            <a:off x="7273290" y="3872992"/>
            <a:ext cx="206883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6" name="forma 16"/>
          <p:cNvSpPr/>
          <p:nvPr/>
        </p:nvSpPr>
        <p:spPr>
          <a:xfrm>
            <a:off x="7425690" y="3987292"/>
            <a:ext cx="176403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PROJEÇÃO</a:t>
            </a:r>
          </a:p>
        </p:txBody>
      </p:sp>
      <p:sp>
        <p:nvSpPr>
          <p:cNvPr id="17" name="forma 17"/>
          <p:cNvSpPr/>
          <p:nvPr/>
        </p:nvSpPr>
        <p:spPr>
          <a:xfrm>
            <a:off x="7425690" y="4177792"/>
            <a:ext cx="1764030" cy="3408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200" b="1" dirty="0">
                <a:solidFill>
                  <a:srgbClr val="D98A0B"/>
                </a:solidFill>
                <a:latin typeface="Calibri"/>
                <a:cs typeface="Calibri"/>
              </a:rPr>
              <a:t>96%</a:t>
            </a:r>
          </a:p>
        </p:txBody>
      </p:sp>
      <p:sp>
        <p:nvSpPr>
          <p:cNvPr id="18" name="forma 18"/>
          <p:cNvSpPr/>
          <p:nvPr/>
        </p:nvSpPr>
        <p:spPr>
          <a:xfrm>
            <a:off x="7425690" y="4558792"/>
            <a:ext cx="176403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5º de 9 na rede</a:t>
            </a:r>
          </a:p>
        </p:txBody>
      </p:sp>
      <p:sp>
        <p:nvSpPr>
          <p:cNvPr id="19" name="forma 19"/>
          <p:cNvSpPr/>
          <p:nvPr/>
        </p:nvSpPr>
        <p:spPr>
          <a:xfrm>
            <a:off x="685800" y="6223000"/>
            <a:ext cx="108204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898781"/>
                </a:solidFill>
                <a:latin typeface="Calibri"/>
                <a:cs typeface="Calibri"/>
              </a:rPr>
              <a:t>Caique Oliveira · dados de 19/08/2026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O QUE VAMOS VER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Como virar agosto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19/08/2026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954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E8EEF9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685800" y="1397000"/>
            <a:ext cx="431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2A78D6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8" name="forma 8"/>
          <p:cNvSpPr/>
          <p:nvPr/>
        </p:nvSpPr>
        <p:spPr>
          <a:xfrm>
            <a:off x="1295400" y="1320800"/>
            <a:ext cx="10210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500" b="1" dirty="0">
                <a:solidFill>
                  <a:srgbClr val="0B0B0B"/>
                </a:solidFill>
                <a:latin typeface="Calibri"/>
                <a:cs typeface="Calibri"/>
              </a:rPr>
              <a:t>O tamanho do buraco</a:t>
            </a:r>
          </a:p>
        </p:txBody>
      </p:sp>
      <p:sp>
        <p:nvSpPr>
          <p:cNvPr id="9" name="forma 9"/>
          <p:cNvSpPr/>
          <p:nvPr/>
        </p:nvSpPr>
        <p:spPr>
          <a:xfrm>
            <a:off x="1295400" y="1562100"/>
            <a:ext cx="10058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52514E"/>
                </a:solidFill>
                <a:latin typeface="Calibri"/>
                <a:cs typeface="Calibri"/>
              </a:rPr>
              <a:t>Quanto falta para a carta e em que ritmo isso se paga nos dias que sobram.</a:t>
            </a:r>
          </a:p>
        </p:txBody>
      </p:sp>
      <p:sp>
        <p:nvSpPr>
          <p:cNvPr id="10" name="forma 10"/>
          <p:cNvSpPr/>
          <p:nvPr/>
        </p:nvSpPr>
        <p:spPr>
          <a:xfrm>
            <a:off x="685800" y="21082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E8EEF9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1" name="forma 11"/>
          <p:cNvSpPr/>
          <p:nvPr/>
        </p:nvSpPr>
        <p:spPr>
          <a:xfrm>
            <a:off x="685800" y="2209800"/>
            <a:ext cx="431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2A78D6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2" name="forma 12"/>
          <p:cNvSpPr/>
          <p:nvPr/>
        </p:nvSpPr>
        <p:spPr>
          <a:xfrm>
            <a:off x="1295400" y="2133600"/>
            <a:ext cx="10210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500" b="1" dirty="0">
                <a:solidFill>
                  <a:srgbClr val="0B0B0B"/>
                </a:solidFill>
                <a:latin typeface="Calibri"/>
                <a:cs typeface="Calibri"/>
              </a:rPr>
              <a:t>Onde atacar: as praças</a:t>
            </a:r>
          </a:p>
        </p:txBody>
      </p:sp>
      <p:sp>
        <p:nvSpPr>
          <p:cNvPr id="13" name="forma 13"/>
          <p:cNvSpPr/>
          <p:nvPr/>
        </p:nvSpPr>
        <p:spPr>
          <a:xfrm>
            <a:off x="1295400" y="2374900"/>
            <a:ext cx="10058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52514E"/>
                </a:solidFill>
                <a:latin typeface="Calibri"/>
                <a:cs typeface="Calibri"/>
              </a:rPr>
              <a:t>Em que cidade do seu território há mais mercado do que você está pegando.</a:t>
            </a:r>
          </a:p>
        </p:txBody>
      </p:sp>
      <p:sp>
        <p:nvSpPr>
          <p:cNvPr id="14" name="forma 14"/>
          <p:cNvSpPr/>
          <p:nvPr/>
        </p:nvSpPr>
        <p:spPr>
          <a:xfrm>
            <a:off x="685800" y="29210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E8EEF9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5" name="forma 15"/>
          <p:cNvSpPr/>
          <p:nvPr/>
        </p:nvSpPr>
        <p:spPr>
          <a:xfrm>
            <a:off x="685800" y="3022600"/>
            <a:ext cx="431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2A78D6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6" name="forma 16"/>
          <p:cNvSpPr/>
          <p:nvPr/>
        </p:nvSpPr>
        <p:spPr>
          <a:xfrm>
            <a:off x="1295400" y="2946400"/>
            <a:ext cx="10210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500" b="1" dirty="0">
                <a:solidFill>
                  <a:srgbClr val="0B0B0B"/>
                </a:solidFill>
                <a:latin typeface="Calibri"/>
                <a:cs typeface="Calibri"/>
              </a:rPr>
              <a:t>Onde atacar: os segmentos</a:t>
            </a:r>
          </a:p>
        </p:txBody>
      </p:sp>
      <p:sp>
        <p:nvSpPr>
          <p:cNvPr id="17" name="forma 17"/>
          <p:cNvSpPr/>
          <p:nvPr/>
        </p:nvSpPr>
        <p:spPr>
          <a:xfrm>
            <a:off x="1295400" y="3187700"/>
            <a:ext cx="10058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52514E"/>
                </a:solidFill>
                <a:latin typeface="Calibri"/>
                <a:cs typeface="Calibri"/>
              </a:rPr>
              <a:t>Em que segmento você já teve mais participação do que tem hoje — e quem ocupou.</a:t>
            </a:r>
          </a:p>
        </p:txBody>
      </p:sp>
      <p:sp>
        <p:nvSpPr>
          <p:cNvPr id="18" name="forma 18"/>
          <p:cNvSpPr/>
          <p:nvPr/>
        </p:nvSpPr>
        <p:spPr>
          <a:xfrm>
            <a:off x="685800" y="37338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E8EEF9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9" name="forma 19"/>
          <p:cNvSpPr/>
          <p:nvPr/>
        </p:nvSpPr>
        <p:spPr>
          <a:xfrm>
            <a:off x="685800" y="3835400"/>
            <a:ext cx="431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2A78D6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0" name="forma 20"/>
          <p:cNvSpPr/>
          <p:nvPr/>
        </p:nvSpPr>
        <p:spPr>
          <a:xfrm>
            <a:off x="1295400" y="3759200"/>
            <a:ext cx="10210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500" b="1" dirty="0">
                <a:solidFill>
                  <a:srgbClr val="0B0B0B"/>
                </a:solidFill>
                <a:latin typeface="Calibri"/>
                <a:cs typeface="Calibri"/>
              </a:rPr>
              <a:t>A Yamaha que sai da sua área e não é sua</a:t>
            </a:r>
          </a:p>
        </p:txBody>
      </p:sp>
      <p:sp>
        <p:nvSpPr>
          <p:cNvPr id="21" name="forma 21"/>
          <p:cNvSpPr/>
          <p:nvPr/>
        </p:nvSpPr>
        <p:spPr>
          <a:xfrm>
            <a:off x="1295400" y="4000500"/>
            <a:ext cx="10058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52514E"/>
                </a:solidFill>
                <a:latin typeface="Calibri"/>
                <a:cs typeface="Calibri"/>
              </a:rPr>
              <a:t>Quanto da bandeira emplacada no seu território saiu de outra loja.</a:t>
            </a:r>
          </a:p>
        </p:txBody>
      </p:sp>
      <p:sp>
        <p:nvSpPr>
          <p:cNvPr id="22" name="forma 22"/>
          <p:cNvSpPr/>
          <p:nvPr/>
        </p:nvSpPr>
        <p:spPr>
          <a:xfrm>
            <a:off x="685800" y="45466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E8EEF9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3" name="forma 23"/>
          <p:cNvSpPr/>
          <p:nvPr/>
        </p:nvSpPr>
        <p:spPr>
          <a:xfrm>
            <a:off x="685800" y="4648200"/>
            <a:ext cx="431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2A78D6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4" name="forma 24"/>
          <p:cNvSpPr/>
          <p:nvPr/>
        </p:nvSpPr>
        <p:spPr>
          <a:xfrm>
            <a:off x="1295400" y="4572000"/>
            <a:ext cx="10210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500" b="1" dirty="0">
                <a:solidFill>
                  <a:srgbClr val="0B0B0B"/>
                </a:solidFill>
                <a:latin typeface="Calibri"/>
                <a:cs typeface="Calibri"/>
              </a:rPr>
              <a:t>Tem moto para isso?</a:t>
            </a:r>
          </a:p>
        </p:txBody>
      </p:sp>
      <p:sp>
        <p:nvSpPr>
          <p:cNvPr id="25" name="forma 25"/>
          <p:cNvSpPr/>
          <p:nvPr/>
        </p:nvSpPr>
        <p:spPr>
          <a:xfrm>
            <a:off x="1295400" y="4813300"/>
            <a:ext cx="10058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52514E"/>
                </a:solidFill>
                <a:latin typeface="Calibri"/>
                <a:cs typeface="Calibri"/>
              </a:rPr>
              <a:t>Se o estoque no chão sustenta o ritmo que a carta está pedindo.</a:t>
            </a:r>
          </a:p>
        </p:txBody>
      </p:sp>
      <p:sp>
        <p:nvSpPr>
          <p:cNvPr id="26" name="forma 26"/>
          <p:cNvSpPr/>
          <p:nvPr/>
        </p:nvSpPr>
        <p:spPr>
          <a:xfrm>
            <a:off x="685800" y="5359400"/>
            <a:ext cx="431800" cy="431800"/>
          </a:xfrm>
          <a:prstGeom prst="roundRect">
            <a:avLst>
              <a:gd name="adj" fmla="val 20000"/>
            </a:avLst>
          </a:prstGeom>
          <a:solidFill>
            <a:srgbClr val="E8EEF9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7" name="forma 27"/>
          <p:cNvSpPr/>
          <p:nvPr/>
        </p:nvSpPr>
        <p:spPr>
          <a:xfrm>
            <a:off x="685800" y="5461000"/>
            <a:ext cx="431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ctr">
              <a:buNone/>
            </a:pPr>
            <a:r>
              <a:rPr lang="pt-BR" sz="1500" b="1" dirty="0">
                <a:solidFill>
                  <a:srgbClr val="2A78D6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8" name="forma 28"/>
          <p:cNvSpPr/>
          <p:nvPr/>
        </p:nvSpPr>
        <p:spPr>
          <a:xfrm>
            <a:off x="1295400" y="5384800"/>
            <a:ext cx="10210800" cy="23241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500" b="1" dirty="0">
                <a:solidFill>
                  <a:srgbClr val="0B0B0B"/>
                </a:solidFill>
                <a:latin typeface="Calibri"/>
                <a:cs typeface="Calibri"/>
              </a:rPr>
              <a:t>O plano</a:t>
            </a:r>
          </a:p>
        </p:txBody>
      </p:sp>
      <p:sp>
        <p:nvSpPr>
          <p:cNvPr id="29" name="forma 29"/>
          <p:cNvSpPr/>
          <p:nvPr/>
        </p:nvSpPr>
        <p:spPr>
          <a:xfrm>
            <a:off x="1295400" y="5626100"/>
            <a:ext cx="100584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100" dirty="0">
                <a:solidFill>
                  <a:srgbClr val="52514E"/>
                </a:solidFill>
                <a:latin typeface="Calibri"/>
                <a:cs typeface="Calibri"/>
              </a:rPr>
              <a:t>O que fazer, por quê, como, quem e até quando — no mesmo formato do PDCA.</a:t>
            </a:r>
          </a:p>
        </p:txBody>
      </p:sp>
      <p:sp>
        <p:nvSpPr>
          <p:cNvPr id="30" name="forma 30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Nippon Motos · Agosto até 19/08 · 13 de 21 dias úteis corridos</a:t>
            </a:r>
          </a:p>
        </p:txBody>
      </p:sp>
      <p:sp>
        <p:nvSpPr>
          <p:cNvPr id="31" name="forma 31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CAPÍTULO 1 · O TAMANHO DO BURACO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Faltam 73 un em 8 dias úteis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95400"/>
            <a:ext cx="260985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FALTAM PARA A CARTA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D98A0B"/>
                </a:solidFill>
                <a:latin typeface="Calibri"/>
                <a:cs typeface="Calibri"/>
              </a:rPr>
              <a:t>73 un</a:t>
            </a:r>
          </a:p>
        </p:txBody>
      </p:sp>
      <p:sp>
        <p:nvSpPr>
          <p:cNvPr id="9" name="forma 9"/>
          <p:cNvSpPr/>
          <p:nvPr/>
        </p:nvSpPr>
        <p:spPr>
          <a:xfrm>
            <a:off x="3422650" y="1295400"/>
            <a:ext cx="260985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357505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RITMO DE HOJE</a:t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0B0B0B"/>
                </a:solidFill>
                <a:latin typeface="Calibri"/>
                <a:cs typeface="Calibri"/>
              </a:rPr>
              <a:t>6,7/dia</a:t>
            </a:r>
          </a:p>
        </p:txBody>
      </p:sp>
      <p:sp>
        <p:nvSpPr>
          <p:cNvPr id="12" name="forma 12"/>
          <p:cNvSpPr/>
          <p:nvPr/>
        </p:nvSpPr>
        <p:spPr>
          <a:xfrm>
            <a:off x="6159500" y="1295400"/>
            <a:ext cx="260985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3" name="forma 13"/>
          <p:cNvSpPr/>
          <p:nvPr/>
        </p:nvSpPr>
        <p:spPr>
          <a:xfrm>
            <a:off x="631190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RITMO NECESSÁRIO</a:t>
            </a:r>
          </a:p>
        </p:txBody>
      </p:sp>
      <p:sp>
        <p:nvSpPr>
          <p:cNvPr id="14" name="forma 14"/>
          <p:cNvSpPr/>
          <p:nvPr/>
        </p:nvSpPr>
        <p:spPr>
          <a:xfrm>
            <a:off x="631190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D64545"/>
                </a:solidFill>
                <a:latin typeface="Calibri"/>
                <a:cs typeface="Calibri"/>
              </a:rPr>
              <a:t>9,1/dia</a:t>
            </a:r>
          </a:p>
        </p:txBody>
      </p:sp>
      <p:sp>
        <p:nvSpPr>
          <p:cNvPr id="15" name="forma 15"/>
          <p:cNvSpPr/>
          <p:nvPr/>
        </p:nvSpPr>
        <p:spPr>
          <a:xfrm>
            <a:off x="6311900" y="1981200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1,4× o de hoje</a:t>
            </a:r>
          </a:p>
        </p:txBody>
      </p:sp>
      <p:sp>
        <p:nvSpPr>
          <p:cNvPr id="16" name="forma 16"/>
          <p:cNvSpPr/>
          <p:nvPr/>
        </p:nvSpPr>
        <p:spPr>
          <a:xfrm>
            <a:off x="8896350" y="1295400"/>
            <a:ext cx="260985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7" name="forma 17"/>
          <p:cNvSpPr/>
          <p:nvPr/>
        </p:nvSpPr>
        <p:spPr>
          <a:xfrm>
            <a:off x="904875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DIAS ÚTEIS QUE RESTAM</a:t>
            </a:r>
          </a:p>
        </p:txBody>
      </p:sp>
      <p:sp>
        <p:nvSpPr>
          <p:cNvPr id="18" name="forma 18"/>
          <p:cNvSpPr/>
          <p:nvPr/>
        </p:nvSpPr>
        <p:spPr>
          <a:xfrm>
            <a:off x="904875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0B0B0B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19" name="forma 19"/>
          <p:cNvSpPr/>
          <p:nvPr/>
        </p:nvSpPr>
        <p:spPr>
          <a:xfrm>
            <a:off x="9048750" y="1981200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de 21 no mês</a:t>
            </a:r>
          </a:p>
        </p:txBody>
      </p:sp>
      <p:sp>
        <p:nvSpPr>
          <p:cNvPr id="20" name="forma 20"/>
          <p:cNvSpPr/>
          <p:nvPr/>
        </p:nvSpPr>
        <p:spPr>
          <a:xfrm>
            <a:off x="685800" y="2387600"/>
            <a:ext cx="10820400" cy="978852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1" name="forma 21"/>
          <p:cNvSpPr/>
          <p:nvPr/>
        </p:nvSpPr>
        <p:spPr>
          <a:xfrm>
            <a:off x="685800" y="2387600"/>
            <a:ext cx="50800" cy="978852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2" name="forma 22"/>
          <p:cNvSpPr/>
          <p:nvPr/>
        </p:nvSpPr>
        <p:spPr>
          <a:xfrm>
            <a:off x="889000" y="2514600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O QUE ESTÁ EM JOGO</a:t>
            </a:r>
          </a:p>
        </p:txBody>
      </p:sp>
      <p:sp>
        <p:nvSpPr>
          <p:cNvPr id="23" name="forma 23"/>
          <p:cNvSpPr/>
          <p:nvPr/>
        </p:nvSpPr>
        <p:spPr>
          <a:xfrm>
            <a:off x="9169400" y="24892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D98A0B"/>
                </a:solidFill>
                <a:latin typeface="Calibri"/>
                <a:cs typeface="Calibri"/>
              </a:rPr>
              <a:t>7 un</a:t>
            </a:r>
          </a:p>
        </p:txBody>
      </p:sp>
      <p:sp>
        <p:nvSpPr>
          <p:cNvPr id="24" name="forma 24"/>
          <p:cNvSpPr/>
          <p:nvPr/>
        </p:nvSpPr>
        <p:spPr>
          <a:xfrm>
            <a:off x="889000" y="2768600"/>
            <a:ext cx="8280400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Mantido o ritmo de 6,7 un/dia, agosto fecha em 153 un — 95,8% da carta. Para bater, o ritmo tem que ir a 9,1 un/dia, ou 1,4× o de hoje.</a:t>
            </a:r>
          </a:p>
        </p:txBody>
      </p:sp>
      <p:sp>
        <p:nvSpPr>
          <p:cNvPr id="25" name="forma 25"/>
          <p:cNvSpPr/>
          <p:nvPr/>
        </p:nvSpPr>
        <p:spPr>
          <a:xfrm>
            <a:off x="685800" y="3595053"/>
            <a:ext cx="2032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52514E"/>
                </a:solidFill>
                <a:latin typeface="Calibri"/>
                <a:cs typeface="Calibri"/>
              </a:rPr>
              <a:t>Faz hoje</a:t>
            </a:r>
          </a:p>
        </p:txBody>
      </p:sp>
      <p:sp>
        <p:nvSpPr>
          <p:cNvPr id="26" name="forma 26"/>
          <p:cNvSpPr/>
          <p:nvPr/>
        </p:nvSpPr>
        <p:spPr>
          <a:xfrm>
            <a:off x="2844800" y="3607753"/>
            <a:ext cx="6629400" cy="165100"/>
          </a:xfrm>
          <a:prstGeom prst="roundRect">
            <a:avLst>
              <a:gd name="adj" fmla="val 26000"/>
            </a:avLst>
          </a:prstGeom>
          <a:solidFill>
            <a:srgbClr val="ECEBE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7" name="forma 27"/>
          <p:cNvSpPr/>
          <p:nvPr/>
        </p:nvSpPr>
        <p:spPr>
          <a:xfrm>
            <a:off x="2844800" y="3607753"/>
            <a:ext cx="4862026" cy="165100"/>
          </a:xfrm>
          <a:prstGeom prst="roundRect">
            <a:avLst>
              <a:gd name="adj" fmla="val 26000"/>
            </a:avLst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8" name="forma 28"/>
          <p:cNvSpPr/>
          <p:nvPr/>
        </p:nvSpPr>
        <p:spPr>
          <a:xfrm>
            <a:off x="9601200" y="3595053"/>
            <a:ext cx="1905000" cy="1781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50" b="1" dirty="0">
                <a:solidFill>
                  <a:srgbClr val="2A78D6"/>
                </a:solidFill>
                <a:latin typeface="Calibri"/>
                <a:cs typeface="Calibri"/>
              </a:rPr>
              <a:t>6,7 un/dia</a:t>
            </a:r>
          </a:p>
        </p:txBody>
      </p:sp>
      <p:sp>
        <p:nvSpPr>
          <p:cNvPr id="29" name="forma 29"/>
          <p:cNvSpPr/>
          <p:nvPr/>
        </p:nvSpPr>
        <p:spPr>
          <a:xfrm>
            <a:off x="685800" y="4026853"/>
            <a:ext cx="2032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52514E"/>
                </a:solidFill>
                <a:latin typeface="Calibri"/>
                <a:cs typeface="Calibri"/>
              </a:rPr>
              <a:t>Sua média (Abr–Jun)</a:t>
            </a:r>
          </a:p>
        </p:txBody>
      </p:sp>
      <p:sp>
        <p:nvSpPr>
          <p:cNvPr id="30" name="forma 30"/>
          <p:cNvSpPr/>
          <p:nvPr/>
        </p:nvSpPr>
        <p:spPr>
          <a:xfrm>
            <a:off x="2844800" y="4039553"/>
            <a:ext cx="6629400" cy="165100"/>
          </a:xfrm>
          <a:prstGeom prst="roundRect">
            <a:avLst>
              <a:gd name="adj" fmla="val 26000"/>
            </a:avLst>
          </a:prstGeom>
          <a:solidFill>
            <a:srgbClr val="ECEBE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1" name="forma 31"/>
          <p:cNvSpPr/>
          <p:nvPr/>
        </p:nvSpPr>
        <p:spPr>
          <a:xfrm>
            <a:off x="2844800" y="4039553"/>
            <a:ext cx="4774206" cy="165100"/>
          </a:xfrm>
          <a:prstGeom prst="roundRect">
            <a:avLst>
              <a:gd name="adj" fmla="val 26000"/>
            </a:avLst>
          </a:prstGeom>
          <a:solidFill>
            <a:srgbClr val="898781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2" name="forma 32"/>
          <p:cNvSpPr/>
          <p:nvPr/>
        </p:nvSpPr>
        <p:spPr>
          <a:xfrm>
            <a:off x="9601200" y="4026853"/>
            <a:ext cx="1905000" cy="1781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50" b="1" dirty="0">
                <a:solidFill>
                  <a:srgbClr val="898781"/>
                </a:solidFill>
                <a:latin typeface="Calibri"/>
                <a:cs typeface="Calibri"/>
              </a:rPr>
              <a:t>6,6 un/dia</a:t>
            </a:r>
          </a:p>
        </p:txBody>
      </p:sp>
      <p:sp>
        <p:nvSpPr>
          <p:cNvPr id="33" name="forma 33"/>
          <p:cNvSpPr/>
          <p:nvPr/>
        </p:nvSpPr>
        <p:spPr>
          <a:xfrm>
            <a:off x="685800" y="4458653"/>
            <a:ext cx="2032000" cy="1626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50" dirty="0">
                <a:solidFill>
                  <a:srgbClr val="52514E"/>
                </a:solidFill>
                <a:latin typeface="Calibri"/>
                <a:cs typeface="Calibri"/>
              </a:rPr>
              <a:t>Precisa fazer</a:t>
            </a:r>
          </a:p>
        </p:txBody>
      </p:sp>
      <p:sp>
        <p:nvSpPr>
          <p:cNvPr id="34" name="forma 34"/>
          <p:cNvSpPr/>
          <p:nvPr/>
        </p:nvSpPr>
        <p:spPr>
          <a:xfrm>
            <a:off x="2844800" y="4471353"/>
            <a:ext cx="6629400" cy="165100"/>
          </a:xfrm>
          <a:prstGeom prst="roundRect">
            <a:avLst>
              <a:gd name="adj" fmla="val 26000"/>
            </a:avLst>
          </a:prstGeom>
          <a:solidFill>
            <a:srgbClr val="ECEBE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5" name="forma 35"/>
          <p:cNvSpPr/>
          <p:nvPr/>
        </p:nvSpPr>
        <p:spPr>
          <a:xfrm>
            <a:off x="2844800" y="4471353"/>
            <a:ext cx="6629400" cy="165100"/>
          </a:xfrm>
          <a:prstGeom prst="roundRect">
            <a:avLst>
              <a:gd name="adj" fmla="val 26000"/>
            </a:avLst>
          </a:prstGeom>
          <a:solidFill>
            <a:srgbClr val="D6454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6" name="forma 36"/>
          <p:cNvSpPr/>
          <p:nvPr/>
        </p:nvSpPr>
        <p:spPr>
          <a:xfrm>
            <a:off x="9601200" y="4458653"/>
            <a:ext cx="1905000" cy="17818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50" b="1" dirty="0">
                <a:solidFill>
                  <a:srgbClr val="D64545"/>
                </a:solidFill>
                <a:latin typeface="Calibri"/>
                <a:cs typeface="Calibri"/>
              </a:rPr>
              <a:t>9,1 un/dia</a:t>
            </a:r>
          </a:p>
        </p:txBody>
      </p:sp>
      <p:sp>
        <p:nvSpPr>
          <p:cNvPr id="37" name="forma 37"/>
          <p:cNvSpPr/>
          <p:nvPr/>
        </p:nvSpPr>
        <p:spPr>
          <a:xfrm>
            <a:off x="685800" y="4966653"/>
            <a:ext cx="10820400" cy="4229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pt-BR" sz="1050" dirty="0">
                <a:solidFill>
                  <a:srgbClr val="52514E"/>
                </a:solidFill>
                <a:latin typeface="Calibri"/>
                <a:cs typeface="Calibri"/>
              </a:rPr>
              <a:t>A carta pede 16% acima da sua média de 138 un/mês: mesmo no seu ritmo normal agosto fecharia em 138 un (86% da carta). Do buraco, uma parte é ritmo abaixo do seu normal — essa a gente resolve aqui; a outra é a própria carta, e essa é conversa com o distribuidor.</a:t>
            </a:r>
          </a:p>
        </p:txBody>
      </p:sp>
      <p:sp>
        <p:nvSpPr>
          <p:cNvPr id="38" name="forma 38"/>
          <p:cNvSpPr/>
          <p:nvPr/>
        </p:nvSpPr>
        <p:spPr>
          <a:xfrm>
            <a:off x="685800" y="6377292"/>
            <a:ext cx="9931400" cy="3029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Carta, varejo e posição são do grupo inteiro — a planilha não separa meta por praça. A projeção pondera os últimos dias úteis do mês, que concentram a venda. 13 de 21 dias úteis corridos até 19/08/2026.</a:t>
            </a:r>
          </a:p>
        </p:txBody>
      </p:sp>
      <p:sp>
        <p:nvSpPr>
          <p:cNvPr id="39" name="forma 39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CAPÍTULO 2 · ONDE ATACAR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As praças do seu território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95400"/>
            <a:ext cx="10820400" cy="978852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685800" y="1295400"/>
            <a:ext cx="50800" cy="978852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8" name="forma 8"/>
          <p:cNvSpPr/>
          <p:nvPr/>
        </p:nvSpPr>
        <p:spPr>
          <a:xfrm>
            <a:off x="889000" y="1422400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A MAIOR PRAÇA COM ESPAÇO</a:t>
            </a:r>
          </a:p>
        </p:txBody>
      </p:sp>
      <p:sp>
        <p:nvSpPr>
          <p:cNvPr id="9" name="forma 9"/>
          <p:cNvSpPr/>
          <p:nvPr/>
        </p:nvSpPr>
        <p:spPr>
          <a:xfrm>
            <a:off x="9169400" y="13970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D98A0B"/>
                </a:solidFill>
                <a:latin typeface="Calibri"/>
                <a:cs typeface="Calibri"/>
              </a:rPr>
              <a:t>+4,0 un</a:t>
            </a:r>
          </a:p>
        </p:txBody>
      </p:sp>
      <p:sp>
        <p:nvSpPr>
          <p:cNvPr id="10" name="forma 10"/>
          <p:cNvSpPr/>
          <p:nvPr/>
        </p:nvSpPr>
        <p:spPr>
          <a:xfrm>
            <a:off x="889000" y="1676400"/>
            <a:ext cx="8280400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Atibaia tem 173 motos de mercado por mês e você pega 25 — 14,3% contra os 20,4% que você faz no território inteiro. Levar essa praça ao seu próprio share vale 4,0 un no que resta de agosto.</a:t>
            </a:r>
          </a:p>
        </p:txBody>
      </p:sp>
      <p:graphicFrame>
        <p:nvGraphicFramePr>
          <p:cNvPr id="11" name="tabela 11"/>
          <p:cNvGraphicFramePr>
            <a:graphicFrameLocks noGrp="1"/>
          </p:cNvGraphicFramePr>
          <p:nvPr/>
        </p:nvGraphicFramePr>
        <p:xfrm>
          <a:off x="685800" y="2477453"/>
          <a:ext cx="10820400" cy="19431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810000"/>
                <a:gridCol w="1905000"/>
                <a:gridCol w="1397000"/>
                <a:gridCol w="1778000"/>
                <a:gridCol w="19304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9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PRAÇA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9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MERCADO/MÊS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9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VOCÊ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9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SEU SHARE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9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VALE ATÉ 31/08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Atibaia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173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25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14,3%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+4,0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Socorro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23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4,0%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+1,4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Piracaia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21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8,7%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+0,9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Camanducaia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10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0,0%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+0,8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Senador Amaral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0,0%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+0,6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Joanopolis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0,0%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+0,5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Itapeva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0,0%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+0,5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forma 12"/>
          <p:cNvSpPr/>
          <p:nvPr/>
        </p:nvSpPr>
        <p:spPr>
          <a:xfrm>
            <a:off x="685800" y="4598353"/>
            <a:ext cx="10820400" cy="2316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pt-BR" sz="1150" dirty="0">
                <a:solidFill>
                  <a:srgbClr val="52514E"/>
                </a:solidFill>
                <a:latin typeface="Calibri"/>
                <a:cs typeface="Calibri"/>
              </a:rPr>
              <a:t>Somando as praças, são 8,8 un até o fim de agosto — 12% do que falta para a carta. A régua é o seu próprio share no território (20,4%), não o de ninguém de fora.</a:t>
            </a:r>
          </a:p>
        </p:txBody>
      </p:sp>
      <p:sp>
        <p:nvSpPr>
          <p:cNvPr id="13" name="forma 13"/>
          <p:cNvSpPr/>
          <p:nvPr/>
        </p:nvSpPr>
        <p:spPr>
          <a:xfrm>
            <a:off x="685800" y="6377292"/>
            <a:ext cx="9931400" cy="3029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Mercado por praça medido nos meses fechados, que é o recorte com amostra — no acumulado de agosto uma cidade oscila dez pontos de share com três motos. O alvo está convertido para o que resta do mês. Praça e segmento medem o mesmo buraco por cortes diferentes: não se somam.</a:t>
            </a:r>
          </a:p>
        </p:txBody>
      </p:sp>
      <p:sp>
        <p:nvSpPr>
          <p:cNvPr id="14" name="forma 14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CAPÍTULO 3 · ONDE ATACAR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Os segmentos onde você já foi maior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95400"/>
            <a:ext cx="10820400" cy="978852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685800" y="1295400"/>
            <a:ext cx="50800" cy="978852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8" name="forma 8"/>
          <p:cNvSpPr/>
          <p:nvPr/>
        </p:nvSpPr>
        <p:spPr>
          <a:xfrm>
            <a:off x="889000" y="1422400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O MAIOR ESPAÇO POR SEGMENTO</a:t>
            </a:r>
          </a:p>
        </p:txBody>
      </p:sp>
      <p:sp>
        <p:nvSpPr>
          <p:cNvPr id="9" name="forma 9"/>
          <p:cNvSpPr/>
          <p:nvPr/>
        </p:nvSpPr>
        <p:spPr>
          <a:xfrm>
            <a:off x="9169400" y="13970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D98A0B"/>
                </a:solidFill>
                <a:latin typeface="Calibri"/>
                <a:cs typeface="Calibri"/>
              </a:rPr>
              <a:t>+2,3 un</a:t>
            </a:r>
          </a:p>
        </p:txBody>
      </p:sp>
      <p:sp>
        <p:nvSpPr>
          <p:cNvPr id="10" name="forma 10"/>
          <p:cNvSpPr/>
          <p:nvPr/>
        </p:nvSpPr>
        <p:spPr>
          <a:xfrm>
            <a:off x="889000" y="1676400"/>
            <a:ext cx="8280400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Em Street 150–199cc você faz 14,6% de um mercado de 250 un/mês, e já fez 17,1%. Voltar ao que você mesmo já entregou vale 2,3 un no que resta de agosto. Quem ocupou esse espaço foi Honda.</a:t>
            </a:r>
          </a:p>
        </p:txBody>
      </p:sp>
      <p:graphicFrame>
        <p:nvGraphicFramePr>
          <p:cNvPr id="11" name="tabela 11"/>
          <p:cNvGraphicFramePr>
            <a:graphicFrameLocks noGrp="1"/>
          </p:cNvGraphicFramePr>
          <p:nvPr/>
        </p:nvGraphicFramePr>
        <p:xfrm>
          <a:off x="685800" y="2477453"/>
          <a:ext cx="10820400" cy="12192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175000"/>
                <a:gridCol w="1524000"/>
                <a:gridCol w="1206500"/>
                <a:gridCol w="1206500"/>
                <a:gridCol w="1930400"/>
                <a:gridCol w="17780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5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SEGMENTO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85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MERCADO/MÊS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85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HOJE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85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JÁ TEVE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85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VALE ATÉ 31/08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5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QUEM SUBIU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 · Street 150–199cc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250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14,6%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17,1%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+2,3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9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Honda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M · Scooter 201–449cc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42,9%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73,4%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+2,2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9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Zontes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M · Street/n 300–500cc Premium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14,3%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40,3%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+1,9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9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Honda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M · On/off 200–500cc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69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35,5%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36,3%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00" b="1" dirty="0">
                          <a:solidFill>
                            <a:srgbClr val="2A78D6"/>
                          </a:solidFill>
                          <a:latin typeface="Calibri"/>
                          <a:cs typeface="Calibri"/>
                        </a:rPr>
                        <a:t>+0,2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9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CF MOTO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forma 12"/>
          <p:cNvSpPr/>
          <p:nvPr/>
        </p:nvSpPr>
        <p:spPr>
          <a:xfrm>
            <a:off x="685800" y="3874453"/>
            <a:ext cx="10820400" cy="46327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pt-BR" sz="1150" dirty="0">
                <a:solidFill>
                  <a:srgbClr val="52514E"/>
                </a:solidFill>
                <a:latin typeface="Calibri"/>
                <a:cs typeface="Calibri"/>
              </a:rPr>
              <a:t>Somando os segmentos, são 6,7 un até o fim de agosto. A âncora é o share que Nippon Motos já teve no próprio segmento — não a média da rede, que em área compartilhada produz alvo que não existe.</a:t>
            </a:r>
          </a:p>
        </p:txBody>
      </p:sp>
      <p:sp>
        <p:nvSpPr>
          <p:cNvPr id="13" name="forma 13"/>
          <p:cNvSpPr/>
          <p:nvPr/>
        </p:nvSpPr>
        <p:spPr>
          <a:xfrm>
            <a:off x="685800" y="6377292"/>
            <a:ext cx="9931400" cy="3029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Share por segmento medido nos meses fechados e convertido para o que resta do mês. "Já teve" é a média dos meses fechados (Abr–Jun). Segmento com menos de 8 un/mês de mercado na área fica fora: é ruído.</a:t>
            </a:r>
          </a:p>
        </p:txBody>
      </p:sp>
      <p:sp>
        <p:nvSpPr>
          <p:cNvPr id="14" name="forma 14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CAPÍTULO 4 · A BANDEIRA NO SEU TERRITÓRIO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A Yamaha que sai da sua área e não é sua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95400"/>
            <a:ext cx="260985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YAMAHA NA SUA ÁREA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0B0B0B"/>
                </a:solidFill>
                <a:latin typeface="Calibri"/>
                <a:cs typeface="Calibri"/>
              </a:rPr>
              <a:t>147/mês</a:t>
            </a:r>
          </a:p>
        </p:txBody>
      </p:sp>
      <p:sp>
        <p:nvSpPr>
          <p:cNvPr id="9" name="forma 9"/>
          <p:cNvSpPr/>
          <p:nvPr/>
        </p:nvSpPr>
        <p:spPr>
          <a:xfrm>
            <a:off x="3422650" y="1295400"/>
            <a:ext cx="260985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357505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SAIU DA SUA LOJA</a:t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4B9B3F"/>
                </a:solidFill>
                <a:latin typeface="Calibri"/>
                <a:cs typeface="Calibri"/>
              </a:rPr>
              <a:t>117/mês</a:t>
            </a:r>
          </a:p>
        </p:txBody>
      </p:sp>
      <p:sp>
        <p:nvSpPr>
          <p:cNvPr id="12" name="forma 12"/>
          <p:cNvSpPr/>
          <p:nvPr/>
        </p:nvSpPr>
        <p:spPr>
          <a:xfrm>
            <a:off x="6159500" y="1295400"/>
            <a:ext cx="260985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3" name="forma 13"/>
          <p:cNvSpPr/>
          <p:nvPr/>
        </p:nvSpPr>
        <p:spPr>
          <a:xfrm>
            <a:off x="631190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SAIU DE OUTRAS</a:t>
            </a:r>
          </a:p>
        </p:txBody>
      </p:sp>
      <p:sp>
        <p:nvSpPr>
          <p:cNvPr id="14" name="forma 14"/>
          <p:cNvSpPr/>
          <p:nvPr/>
        </p:nvSpPr>
        <p:spPr>
          <a:xfrm>
            <a:off x="631190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D64545"/>
                </a:solidFill>
                <a:latin typeface="Calibri"/>
                <a:cs typeface="Calibri"/>
              </a:rPr>
              <a:t>30/mês</a:t>
            </a:r>
          </a:p>
        </p:txBody>
      </p:sp>
      <p:sp>
        <p:nvSpPr>
          <p:cNvPr id="15" name="forma 15"/>
          <p:cNvSpPr/>
          <p:nvPr/>
        </p:nvSpPr>
        <p:spPr>
          <a:xfrm>
            <a:off x="8896350" y="1295400"/>
            <a:ext cx="2609850" cy="8890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6" name="forma 16"/>
          <p:cNvSpPr/>
          <p:nvPr/>
        </p:nvSpPr>
        <p:spPr>
          <a:xfrm>
            <a:off x="904875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É ESTA FATIA</a:t>
            </a:r>
          </a:p>
        </p:txBody>
      </p:sp>
      <p:sp>
        <p:nvSpPr>
          <p:cNvPr id="17" name="forma 17"/>
          <p:cNvSpPr/>
          <p:nvPr/>
        </p:nvSpPr>
        <p:spPr>
          <a:xfrm>
            <a:off x="904875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D64545"/>
                </a:solidFill>
                <a:latin typeface="Calibri"/>
                <a:cs typeface="Calibri"/>
              </a:rPr>
              <a:t>20%</a:t>
            </a:r>
          </a:p>
        </p:txBody>
      </p:sp>
      <p:sp>
        <p:nvSpPr>
          <p:cNvPr id="18" name="forma 18"/>
          <p:cNvSpPr/>
          <p:nvPr/>
        </p:nvSpPr>
        <p:spPr>
          <a:xfrm>
            <a:off x="685800" y="2387600"/>
            <a:ext cx="10820400" cy="978852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9" name="forma 19"/>
          <p:cNvSpPr/>
          <p:nvPr/>
        </p:nvSpPr>
        <p:spPr>
          <a:xfrm>
            <a:off x="685800" y="2387600"/>
            <a:ext cx="50800" cy="978852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0" name="forma 20"/>
          <p:cNvSpPr/>
          <p:nvPr/>
        </p:nvSpPr>
        <p:spPr>
          <a:xfrm>
            <a:off x="889000" y="2514600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RETOMANDO METADE, ATÉ 31/08</a:t>
            </a:r>
          </a:p>
        </p:txBody>
      </p:sp>
      <p:sp>
        <p:nvSpPr>
          <p:cNvPr id="21" name="forma 21"/>
          <p:cNvSpPr/>
          <p:nvPr/>
        </p:nvSpPr>
        <p:spPr>
          <a:xfrm>
            <a:off x="9169400" y="24892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D98A0B"/>
                </a:solidFill>
                <a:latin typeface="Calibri"/>
                <a:cs typeface="Calibri"/>
              </a:rPr>
              <a:t>+5,7 un</a:t>
            </a:r>
          </a:p>
        </p:txBody>
      </p:sp>
      <p:sp>
        <p:nvSpPr>
          <p:cNvPr id="22" name="forma 22"/>
          <p:cNvSpPr/>
          <p:nvPr/>
        </p:nvSpPr>
        <p:spPr>
          <a:xfrm>
            <a:off x="889000" y="2768600"/>
            <a:ext cx="8280400" cy="445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De cada 10 Yamaha emplacadas no seu território, 2,0 saem de outra loja — 30 un/mês. Retomar metade vale 5,7 un no que resta de agosto, sem depender de o mercado crescer e sem tirar nada da concorrência.</a:t>
            </a:r>
          </a:p>
        </p:txBody>
      </p:sp>
      <p:graphicFrame>
        <p:nvGraphicFramePr>
          <p:cNvPr id="23" name="tabela 23"/>
          <p:cNvGraphicFramePr>
            <a:graphicFrameLocks noGrp="1"/>
          </p:cNvGraphicFramePr>
          <p:nvPr/>
        </p:nvGraphicFramePr>
        <p:xfrm>
          <a:off x="685800" y="3569653"/>
          <a:ext cx="10820400" cy="14605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6350000"/>
                <a:gridCol w="2032000"/>
                <a:gridCol w="24384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9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QUEM EMPLACA NA SUA ÁREA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9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UN/MÊS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9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ORIGEM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Sul Motos · Pouso Alegre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11,0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9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fora da rede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Hercules &amp; Hercules Comercio De Motos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3,7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9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fora da rede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Sul Motos · Passos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2,7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9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fora da rede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Nova Motocicletas E Pecas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2,7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9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fora da rede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Moto Italia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1,8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9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fora da rede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forma 24"/>
          <p:cNvSpPr/>
          <p:nvPr/>
        </p:nvSpPr>
        <p:spPr>
          <a:xfrm>
            <a:off x="685800" y="6377292"/>
            <a:ext cx="9931400" cy="3029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A área operacional é sua e o resultado dela também: o share conta toda a bandeira emplacada aqui, tenha emplacado quem tiver. A invasão é alerta para resolver com o distribuidor, não desconto na carta.</a:t>
            </a:r>
          </a:p>
        </p:txBody>
      </p:sp>
      <p:sp>
        <p:nvSpPr>
          <p:cNvPr id="25" name="forma 25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CAPÍTULO · O ESTOQUE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Tem moto para o ritmo que a carta pede?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295400"/>
            <a:ext cx="2609850" cy="9398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83820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ESTOQUE NA REDE</a:t>
            </a:r>
          </a:p>
        </p:txBody>
      </p:sp>
      <p:sp>
        <p:nvSpPr>
          <p:cNvPr id="8" name="forma 8"/>
          <p:cNvSpPr/>
          <p:nvPr/>
        </p:nvSpPr>
        <p:spPr>
          <a:xfrm>
            <a:off x="83820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0B0B0B"/>
                </a:solidFill>
                <a:latin typeface="Calibri"/>
                <a:cs typeface="Calibri"/>
              </a:rPr>
              <a:t>127 un</a:t>
            </a:r>
          </a:p>
        </p:txBody>
      </p:sp>
      <p:sp>
        <p:nvSpPr>
          <p:cNvPr id="9" name="forma 9"/>
          <p:cNvSpPr/>
          <p:nvPr/>
        </p:nvSpPr>
        <p:spPr>
          <a:xfrm>
            <a:off x="3422650" y="1295400"/>
            <a:ext cx="2609850" cy="9398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0" name="forma 10"/>
          <p:cNvSpPr/>
          <p:nvPr/>
        </p:nvSpPr>
        <p:spPr>
          <a:xfrm>
            <a:off x="357505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DISSO, NO CHÃO</a:t>
            </a:r>
          </a:p>
        </p:txBody>
      </p:sp>
      <p:sp>
        <p:nvSpPr>
          <p:cNvPr id="11" name="forma 11"/>
          <p:cNvSpPr/>
          <p:nvPr/>
        </p:nvSpPr>
        <p:spPr>
          <a:xfrm>
            <a:off x="357505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D64545"/>
                </a:solidFill>
                <a:latin typeface="Calibri"/>
                <a:cs typeface="Calibri"/>
              </a:rPr>
              <a:t>64 un</a:t>
            </a:r>
          </a:p>
        </p:txBody>
      </p:sp>
      <p:sp>
        <p:nvSpPr>
          <p:cNvPr id="12" name="forma 12"/>
          <p:cNvSpPr/>
          <p:nvPr/>
        </p:nvSpPr>
        <p:spPr>
          <a:xfrm>
            <a:off x="3575050" y="2032000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50% da rede</a:t>
            </a:r>
          </a:p>
        </p:txBody>
      </p:sp>
      <p:sp>
        <p:nvSpPr>
          <p:cNvPr id="13" name="forma 13"/>
          <p:cNvSpPr/>
          <p:nvPr/>
        </p:nvSpPr>
        <p:spPr>
          <a:xfrm>
            <a:off x="6159500" y="1295400"/>
            <a:ext cx="2609850" cy="9398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4" name="forma 14"/>
          <p:cNvSpPr/>
          <p:nvPr/>
        </p:nvSpPr>
        <p:spPr>
          <a:xfrm>
            <a:off x="631190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MODELOS EM RUPTURA NO CHÃO</a:t>
            </a:r>
          </a:p>
        </p:txBody>
      </p:sp>
      <p:sp>
        <p:nvSpPr>
          <p:cNvPr id="15" name="forma 15"/>
          <p:cNvSpPr/>
          <p:nvPr/>
        </p:nvSpPr>
        <p:spPr>
          <a:xfrm>
            <a:off x="631190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D64545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16" name="forma 16"/>
          <p:cNvSpPr/>
          <p:nvPr/>
        </p:nvSpPr>
        <p:spPr>
          <a:xfrm>
            <a:off x="6311900" y="2032000"/>
            <a:ext cx="230505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valem 73 un/mês</a:t>
            </a:r>
          </a:p>
        </p:txBody>
      </p:sp>
      <p:sp>
        <p:nvSpPr>
          <p:cNvPr id="17" name="forma 17"/>
          <p:cNvSpPr/>
          <p:nvPr/>
        </p:nvSpPr>
        <p:spPr>
          <a:xfrm>
            <a:off x="8896350" y="1295400"/>
            <a:ext cx="2609850" cy="939800"/>
          </a:xfrm>
          <a:prstGeom prst="roundRect">
            <a:avLst>
              <a:gd name="adj" fmla="val 9000"/>
            </a:avLst>
          </a:prstGeom>
          <a:solidFill>
            <a:srgbClr val="F7F7F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8" name="forma 18"/>
          <p:cNvSpPr/>
          <p:nvPr/>
        </p:nvSpPr>
        <p:spPr>
          <a:xfrm>
            <a:off x="9048750" y="1409700"/>
            <a:ext cx="230505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898781"/>
                </a:solidFill>
                <a:latin typeface="Calibri"/>
                <a:cs typeface="Calibri"/>
              </a:rPr>
              <a:t>PRECISA VENDER AINDA</a:t>
            </a:r>
          </a:p>
        </p:txBody>
      </p:sp>
      <p:sp>
        <p:nvSpPr>
          <p:cNvPr id="19" name="forma 19"/>
          <p:cNvSpPr/>
          <p:nvPr/>
        </p:nvSpPr>
        <p:spPr>
          <a:xfrm>
            <a:off x="9048750" y="1600200"/>
            <a:ext cx="2305050" cy="309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000" b="1" dirty="0">
                <a:solidFill>
                  <a:srgbClr val="D98A0B"/>
                </a:solidFill>
                <a:latin typeface="Calibri"/>
                <a:cs typeface="Calibri"/>
              </a:rPr>
              <a:t>73 un</a:t>
            </a:r>
          </a:p>
        </p:txBody>
      </p:sp>
      <p:sp>
        <p:nvSpPr>
          <p:cNvPr id="20" name="forma 20"/>
          <p:cNvSpPr/>
          <p:nvPr/>
        </p:nvSpPr>
        <p:spPr>
          <a:xfrm>
            <a:off x="685800" y="2438400"/>
            <a:ext cx="10820400" cy="1201579"/>
          </a:xfrm>
          <a:prstGeom prst="roundRect">
            <a:avLst>
              <a:gd name="adj" fmla="val 7000"/>
            </a:avLst>
          </a:prstGeom>
          <a:solidFill>
            <a:srgbClr val="FBEAEA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1" name="forma 21"/>
          <p:cNvSpPr/>
          <p:nvPr/>
        </p:nvSpPr>
        <p:spPr>
          <a:xfrm>
            <a:off x="685800" y="2438400"/>
            <a:ext cx="50800" cy="1201579"/>
          </a:xfrm>
          <a:prstGeom prst="rect">
            <a:avLst/>
          </a:prstGeom>
          <a:solidFill>
            <a:srgbClr val="D64545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22" name="forma 22"/>
          <p:cNvSpPr/>
          <p:nvPr/>
        </p:nvSpPr>
        <p:spPr>
          <a:xfrm>
            <a:off x="889000" y="2565400"/>
            <a:ext cx="8280400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TEM MOTO, MAS NÃO NO CHÃO</a:t>
            </a:r>
          </a:p>
        </p:txBody>
      </p:sp>
      <p:sp>
        <p:nvSpPr>
          <p:cNvPr id="23" name="forma 23"/>
          <p:cNvSpPr/>
          <p:nvPr/>
        </p:nvSpPr>
        <p:spPr>
          <a:xfrm>
            <a:off x="9169400" y="2540000"/>
            <a:ext cx="2133600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2600" b="1" dirty="0">
                <a:solidFill>
                  <a:srgbClr val="D64545"/>
                </a:solidFill>
                <a:latin typeface="Calibri"/>
                <a:cs typeface="Calibri"/>
              </a:rPr>
              <a:t>73 un/mês</a:t>
            </a:r>
          </a:p>
        </p:txBody>
      </p:sp>
      <p:sp>
        <p:nvSpPr>
          <p:cNvPr id="24" name="forma 24"/>
          <p:cNvSpPr/>
          <p:nvPr/>
        </p:nvSpPr>
        <p:spPr>
          <a:xfrm>
            <a:off x="889000" y="2819400"/>
            <a:ext cx="8280400" cy="6681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25000"/>
              </a:lnSpc>
              <a:buNone/>
            </a:pPr>
            <a:r>
              <a:rPr lang="pt-BR" sz="1150" dirty="0">
                <a:solidFill>
                  <a:srgbClr val="0B0B0B"/>
                </a:solidFill>
                <a:latin typeface="Calibri"/>
                <a:cs typeface="Calibri"/>
              </a:rPr>
              <a:t>Há 127 un na rede — o bastante para as 73 un que faltam — mas só 64 estão no chão, e 6 modelos que valem 73 un/mês têm menos de 15 dias de chão. Cobrar ritmo sem puxar essas motos do trânsito é cobrar o que não tem como acontecer: o pedido entra no plano com a mesma prioridade que a venda.</a:t>
            </a:r>
          </a:p>
        </p:txBody>
      </p:sp>
      <p:graphicFrame>
        <p:nvGraphicFramePr>
          <p:cNvPr id="25" name="tabela 25"/>
          <p:cNvGraphicFramePr>
            <a:graphicFrameLocks noGrp="1"/>
          </p:cNvGraphicFramePr>
          <p:nvPr/>
        </p:nvGraphicFramePr>
        <p:xfrm>
          <a:off x="685800" y="3843179"/>
          <a:ext cx="10820400" cy="170180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632200"/>
                <a:gridCol w="1473200"/>
                <a:gridCol w="1473200"/>
                <a:gridCol w="1930400"/>
                <a:gridCol w="2311400"/>
              </a:tblGrid>
              <a:tr h="2540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9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MODELO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9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NO CHÃO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9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NA REDE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9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DIAS DE CHÃO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900" b="1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VENDE POR MÊS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52514E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Fazer 250 ABS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16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5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20,8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Yamaha ZR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6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2,8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Fazer FZ15 ABS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9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12,7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Factor 150 ED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9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17,0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Aerox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10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13,3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241300"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XMAX 300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b="1" dirty="0">
                          <a:solidFill>
                            <a:srgbClr val="D64545"/>
                          </a:solidFill>
                          <a:latin typeface="Calibri"/>
                          <a:cs typeface="Calibri"/>
                        </a:rPr>
                        <a:t>12 dias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lang="pt-BR" sz="1050" dirty="0">
                          <a:solidFill>
                            <a:srgbClr val="52514E"/>
                          </a:solidFill>
                          <a:latin typeface="Calibri"/>
                          <a:cs typeface="Calibri"/>
                        </a:rPr>
                        <a:t>6,5 un</a:t>
                      </a:r>
                    </a:p>
                  </a:txBody>
                  <a:tcPr marL="63500" marR="63500" marT="38100" marB="38100" anchor="ctr"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forma 26"/>
          <p:cNvSpPr/>
          <p:nvPr/>
        </p:nvSpPr>
        <p:spPr>
          <a:xfrm>
            <a:off x="685800" y="6377292"/>
            <a:ext cx="9931400" cy="30290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Foto do estoque em 19/08/2026. "No chão" é o que está na loja; a rede inclui o trânsito, que não vende hoje. Dias de chão = chão × 30 ÷ venda mensal do modelo — a mesma fórmula da coluna ANÁLISE - DIAS DE ESTOQUE, aplicada ao chão em vez da rede.</a:t>
            </a:r>
          </a:p>
        </p:txBody>
      </p:sp>
      <p:sp>
        <p:nvSpPr>
          <p:cNvPr id="27" name="forma 27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PLANO DE AÇÃO · FOLHA 1 DE 2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vamos fazer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44600"/>
          <a:ext cx="10820400" cy="424434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QUE FAZER?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 QUÊ?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(JUSTIFICATIVA)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COMO?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(ATIVIDADES PRINCIPAIS)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RESPONSÁVEL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PRAZO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PRIORIDADE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 DE 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(Meta / impacto da 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INÍCIO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TÉRMINO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121899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o ritmo de vendas para fechar a carta de agosto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Vendidas 87 un de uma carta de 160 (54,4%) em 13 dos 21 dias úteis. No ritmo atual de 6,7 un/dia o mês fecha em 153 un (95,8%), 7 un abaixo da carta. 5º de 9 na rede.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Elevar o ritmo para 9,1 un/dia nos 8 dias úteis restantes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Levantar propostas em aberto e negociações paradas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Força-tarefa de fechamento nos 3 últimos dias úteis, que concentram a venda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Revisar estoque dos modelos de maior giro (hoje 28 dias)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Fechar agosto com 160 un (100% da carta). Faltam 73 un. Acompanhar o atingimento diariamente.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1479296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Street 150–199cc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no território caiu de 17,1% para 14,6% (−2,5pp), o que representa −11,7 un/mês. O segmento movimenta 250 un/mês na área e encolheu 12% contra a média de Abr–Jun. Honda ganhou 5,9pp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5,9pp e hoje tem 79,9% do segmento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O segmento encolheu 12% na área: priorizar conversão dos leads que ainda entram, em vez de esperar o mercado voltar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17,1% no segmento = +6 un/mês. Medir semanalmente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10888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Ocupar a praça de Atibaia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Atibaia movimenta 173 un/mês e a Yamaha tem só 14,3% de share ali, contra 20,4% no restante do território. A diferença vale 10 un/mês que hoje ficam com a concorrência.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Mapear os concorrentes que dominam a praça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Visita de vendedor externo e prospecção ativa na cidade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Mídia geolocalizada com oferta de entrada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Avaliar parceria com revenda local ou ponto de apoio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0006"/>
                          </a:solidFill>
                          <a:latin typeface="Calibri"/>
                          <a:cs typeface="Calibri"/>
                        </a:rPr>
                        <a:t>Alta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Chegar a 20,4% de share em Atibaia = +10 un/mês. Acompanhar o emplacamento da cidade mês a mês.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Base: emplacamento e varejo até 19/08/2026. Ações do mês corrente — o plano do fechamento sai no deck de fechamento.</a:t>
            </a:r>
          </a:p>
        </p:txBody>
      </p:sp>
      <p:sp>
        <p:nvSpPr>
          <p:cNvPr id="8" name="forma 8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PLANO DE AÇÃO · FOLHA 2 DE 2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 que vamos fazer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graphicFrame>
        <p:nvGraphicFramePr>
          <p:cNvPr id="6" name="tabela 6"/>
          <p:cNvGraphicFramePr>
            <a:graphicFrameLocks noGrp="1"/>
          </p:cNvGraphicFramePr>
          <p:nvPr/>
        </p:nvGraphicFramePr>
        <p:xfrm>
          <a:off x="685800" y="1244600"/>
          <a:ext cx="10820400" cy="4504639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397000"/>
                <a:gridCol w="2146300"/>
                <a:gridCol w="2146300"/>
                <a:gridCol w="698500"/>
                <a:gridCol w="419100"/>
                <a:gridCol w="419100"/>
                <a:gridCol w="1028700"/>
                <a:gridCol w="508000"/>
                <a:gridCol w="2057400"/>
              </a:tblGrid>
              <a:tr h="228600"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 QUE FAZER?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POR QUÊ?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(JUSTIFICATIVA)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COMO?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(ATIVIDADES PRINCIPAIS)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RESPONSÁVEL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PRAZO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STATUS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PRIORIDADE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rowSpan="2"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 DE ACOMPANHAMENTO</a:t>
                      </a: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(Meta / impacto da ação)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2860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INÍCIO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TÉRMINO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1F3864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1479296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Street/n 300–500cc Premium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no território caiu de 40,3% para 14,3% (−26,0pp), o que representa −3,8 un/mês. O segmento movimenta 19 un/mês na área e variou +19% contra a média de Abr–Jun. Honda ganhou 14,9pp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Honda, que subiu 14,9pp e hoje tem 19,0% do segmento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O mercado do segmento não caiu (+19%) — a perda é de disputa, não de demanda: revisar oferta e argumento de venda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40,3% no segmento = +5 un/mês. Medir semanalmente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  <a:tr h="1088847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Ocupar a praça de Socorro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Socorro movimenta 23 un/mês e a Yamaha tem só 4,0% de share ali, contra 20,4% no restante do território. A diferença vale 4 un/mês que hoje ficam com a concorrência.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Mapear os concorrentes que dominam a praça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Visita de vendedor externo e prospecção ativa na cidade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Mídia geolocalizada com oferta de entrada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Avaliar parceria com revenda local ou ponto de apoio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9C6500"/>
                          </a:solidFill>
                          <a:latin typeface="Calibri"/>
                          <a:cs typeface="Calibri"/>
                        </a:rPr>
                        <a:t>Média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DF3DE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Chegar a 20,4% de share em Socorro = +4 un/mês. Acompanhar o emplacamento da cidade mês a mês.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noFill/>
                  </a:tcPr>
                </a:tc>
              </a:tr>
              <a:tr h="1479296"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Recuperar participação em Scooter 201–449cc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Share no território caiu de 73,4% para 42,9% (−30,5pp), o que representa −1,2 un/mês. O segmento movimenta 19 un/mês na área e variou +49% contra a média de Abr–Jun. Zontes ganhou 34,4pp no mesmo período.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Montar comparativo de preço, parcela e prazo de entrega contra a Zontes, que subiu 34,4pp e hoje tem 47,6% do segmento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O mercado do segmento não caiu (+49%) — a perda é de disputa, não de demanda: revisar oferta e argumento de venda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Garantir estoque e exposição dos modelos do segmento no showroom</a:t>
                      </a:r>
                    </a:p>
                    <a:p>
                      <a:pPr algn="l">
                        <a:lnSpc>
                          <a:spcPct val="105000"/>
                        </a:lnSpc>
                        <a:spcBef>
                          <a:spcPts val="200"/>
                        </a:spcBef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• Treinar a equipe no comparativo técnico e rodar mídia local com condição específica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Caique / Nippon Motos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19/08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31/08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/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 lIns="0" tIns="0" rIns="0" bIns="0" anchor="ctr"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pt-BR" sz="800" b="1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Baixa</a:t>
                      </a:r>
                    </a:p>
                  </a:txBody>
                  <a:tcPr marL="50800" marR="50800" marT="38100" marB="38100" anchor="ctr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lIns="0" tIns="0" rIns="0" bIns="0" anchor="t" wrap="square">
                      <a:noAutofit/>
                    </a:bodyPr>
                    <a:lstStyle/>
                    <a:p>
                      <a:pPr algn="l">
                        <a:lnSpc>
                          <a:spcPct val="105000"/>
                        </a:lnSpc>
                        <a:buNone/>
                      </a:pPr>
                      <a:r>
                        <a:rPr lang="pt-BR" sz="800" dirty="0">
                          <a:solidFill>
                            <a:srgbClr val="0B0B0B"/>
                          </a:solidFill>
                          <a:latin typeface="Calibri"/>
                          <a:cs typeface="Calibri"/>
                        </a:rPr>
                        <a:t>Voltar ao share de 73,4% no segmento = +6 un/mês. Medir semanalmente pelo emplacamento.</a:t>
                      </a:r>
                    </a:p>
                  </a:txBody>
                  <a:tcPr marL="50800" marR="50800" marT="38100" marB="38100" anchor="t">
                    <a:lnL w="9525">
                      <a:solidFill>
                        <a:srgbClr val="E1E0D9"/>
                      </a:solidFill>
                    </a:lnL>
                    <a:lnR w="9525">
                      <a:solidFill>
                        <a:srgbClr val="E1E0D9"/>
                      </a:solidFill>
                    </a:lnR>
                    <a:lnT w="9525">
                      <a:solidFill>
                        <a:srgbClr val="E1E0D9"/>
                      </a:solidFill>
                    </a:lnT>
                    <a:lnB w="9525">
                      <a:solidFill>
                        <a:srgbClr val="E1E0D9"/>
                      </a:solidFill>
                    </a:lnB>
                    <a:solidFill>
                      <a:srgbClr val="D9E2F3"/>
                    </a:solidFill>
                  </a:tcPr>
                </a:tc>
              </a:tr>
            </a:tbl>
          </a:graphicData>
        </a:graphic>
      </p:graphicFrame>
      <p:sp>
        <p:nvSpPr>
          <p:cNvPr id="7" name="forma 7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Base: emplacamento e varejo até 19/08/2026. Ações do mês corrente — o plano do fechamento sai no deck de fechamento.</a:t>
            </a:r>
          </a:p>
        </p:txBody>
      </p:sp>
      <p:sp>
        <p:nvSpPr>
          <p:cNvPr id="8" name="forma 8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3" name="forma 3"/>
          <p:cNvSpPr/>
          <p:nvPr/>
        </p:nvSpPr>
        <p:spPr>
          <a:xfrm>
            <a:off x="685800" y="330200"/>
            <a:ext cx="7357872" cy="177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000" b="1" dirty="0">
                <a:solidFill>
                  <a:srgbClr val="2A78D6"/>
                </a:solidFill>
                <a:latin typeface="Calibri"/>
                <a:cs typeface="Calibri"/>
              </a:rPr>
              <a:t>PARA LEVAR DA CONVERSA</a:t>
            </a:r>
          </a:p>
        </p:txBody>
      </p:sp>
      <p:sp>
        <p:nvSpPr>
          <p:cNvPr id="4" name="forma 4"/>
          <p:cNvSpPr/>
          <p:nvPr/>
        </p:nvSpPr>
        <p:spPr>
          <a:xfrm>
            <a:off x="685800" y="558800"/>
            <a:ext cx="7357872" cy="40284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2600" b="1" dirty="0">
                <a:solidFill>
                  <a:srgbClr val="0B0B0B"/>
                </a:solidFill>
                <a:latin typeface="Calibri"/>
                <a:cs typeface="Calibri"/>
              </a:rPr>
              <a:t>Os três números de agosto</a:t>
            </a:r>
          </a:p>
        </p:txBody>
      </p:sp>
      <p:sp>
        <p:nvSpPr>
          <p:cNvPr id="5" name="forma 5"/>
          <p:cNvSpPr/>
          <p:nvPr/>
        </p:nvSpPr>
        <p:spPr>
          <a:xfrm>
            <a:off x="7696200" y="381000"/>
            <a:ext cx="3810000" cy="1704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1100" dirty="0">
                <a:solidFill>
                  <a:srgbClr val="898781"/>
                </a:solidFill>
                <a:latin typeface="Calibri"/>
                <a:cs typeface="Calibri"/>
              </a:rPr>
              <a:t>Nippon Motos</a:t>
            </a:r>
          </a:p>
        </p:txBody>
      </p:sp>
      <p:sp>
        <p:nvSpPr>
          <p:cNvPr id="6" name="forma 6"/>
          <p:cNvSpPr/>
          <p:nvPr/>
        </p:nvSpPr>
        <p:spPr>
          <a:xfrm>
            <a:off x="685800" y="1371600"/>
            <a:ext cx="3522133" cy="3253467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7" name="forma 7"/>
          <p:cNvSpPr/>
          <p:nvPr/>
        </p:nvSpPr>
        <p:spPr>
          <a:xfrm>
            <a:off x="685800" y="1371600"/>
            <a:ext cx="3522133" cy="50800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8" name="forma 8"/>
          <p:cNvSpPr/>
          <p:nvPr/>
        </p:nvSpPr>
        <p:spPr>
          <a:xfrm>
            <a:off x="914400" y="1651000"/>
            <a:ext cx="3064933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FALTA PARA A CARTA</a:t>
            </a:r>
          </a:p>
        </p:txBody>
      </p:sp>
      <p:sp>
        <p:nvSpPr>
          <p:cNvPr id="9" name="forma 9"/>
          <p:cNvSpPr/>
          <p:nvPr/>
        </p:nvSpPr>
        <p:spPr>
          <a:xfrm>
            <a:off x="914400" y="1905000"/>
            <a:ext cx="3064933" cy="5267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3400" b="1" dirty="0">
                <a:solidFill>
                  <a:srgbClr val="D98A0B"/>
                </a:solidFill>
                <a:latin typeface="Calibri"/>
                <a:cs typeface="Calibri"/>
              </a:rPr>
              <a:t>73 un</a:t>
            </a:r>
          </a:p>
        </p:txBody>
      </p:sp>
      <p:sp>
        <p:nvSpPr>
          <p:cNvPr id="10" name="forma 10"/>
          <p:cNvSpPr/>
          <p:nvPr/>
        </p:nvSpPr>
        <p:spPr>
          <a:xfrm>
            <a:off x="914400" y="2565400"/>
            <a:ext cx="3064933" cy="46327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pt-BR" sz="1150" dirty="0">
                <a:solidFill>
                  <a:srgbClr val="52514E"/>
                </a:solidFill>
                <a:latin typeface="Calibri"/>
                <a:cs typeface="Calibri"/>
              </a:rPr>
              <a:t>Em 8 dias úteis. Hoje a projeção fecha em 153 un (95,8%).</a:t>
            </a:r>
          </a:p>
        </p:txBody>
      </p:sp>
      <p:sp>
        <p:nvSpPr>
          <p:cNvPr id="11" name="forma 11"/>
          <p:cNvSpPr/>
          <p:nvPr/>
        </p:nvSpPr>
        <p:spPr>
          <a:xfrm>
            <a:off x="4334933" y="1371600"/>
            <a:ext cx="3522133" cy="3253467"/>
          </a:xfrm>
          <a:prstGeom prst="roundRect">
            <a:avLst>
              <a:gd name="adj" fmla="val 7000"/>
            </a:avLst>
          </a:prstGeom>
          <a:solidFill>
            <a:srgbClr val="FDF3E3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2" name="forma 12"/>
          <p:cNvSpPr/>
          <p:nvPr/>
        </p:nvSpPr>
        <p:spPr>
          <a:xfrm>
            <a:off x="4334933" y="1371600"/>
            <a:ext cx="3522133" cy="50800"/>
          </a:xfrm>
          <a:prstGeom prst="rect">
            <a:avLst/>
          </a:prstGeom>
          <a:solidFill>
            <a:srgbClr val="D98A0B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3" name="forma 13"/>
          <p:cNvSpPr/>
          <p:nvPr/>
        </p:nvSpPr>
        <p:spPr>
          <a:xfrm>
            <a:off x="4563533" y="1651000"/>
            <a:ext cx="3064933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O RITMO QUE PAGA</a:t>
            </a:r>
          </a:p>
        </p:txBody>
      </p:sp>
      <p:sp>
        <p:nvSpPr>
          <p:cNvPr id="14" name="forma 14"/>
          <p:cNvSpPr/>
          <p:nvPr/>
        </p:nvSpPr>
        <p:spPr>
          <a:xfrm>
            <a:off x="4563533" y="1905000"/>
            <a:ext cx="3064933" cy="5267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3400" b="1" dirty="0">
                <a:solidFill>
                  <a:srgbClr val="D98A0B"/>
                </a:solidFill>
                <a:latin typeface="Calibri"/>
                <a:cs typeface="Calibri"/>
              </a:rPr>
              <a:t>9,1/dia</a:t>
            </a:r>
          </a:p>
        </p:txBody>
      </p:sp>
      <p:sp>
        <p:nvSpPr>
          <p:cNvPr id="15" name="forma 15"/>
          <p:cNvSpPr/>
          <p:nvPr/>
        </p:nvSpPr>
        <p:spPr>
          <a:xfrm>
            <a:off x="4563533" y="2565400"/>
            <a:ext cx="3064933" cy="2316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pt-BR" sz="1150" dirty="0">
                <a:solidFill>
                  <a:srgbClr val="52514E"/>
                </a:solidFill>
                <a:latin typeface="Calibri"/>
                <a:cs typeface="Calibri"/>
              </a:rPr>
              <a:t>São 1,4× as 6,7 un/dia que você faz hoje.</a:t>
            </a:r>
          </a:p>
        </p:txBody>
      </p:sp>
      <p:sp>
        <p:nvSpPr>
          <p:cNvPr id="16" name="forma 16"/>
          <p:cNvSpPr/>
          <p:nvPr/>
        </p:nvSpPr>
        <p:spPr>
          <a:xfrm>
            <a:off x="7984067" y="1371600"/>
            <a:ext cx="3522133" cy="3253467"/>
          </a:xfrm>
          <a:prstGeom prst="roundRect">
            <a:avLst>
              <a:gd name="adj" fmla="val 7000"/>
            </a:avLst>
          </a:prstGeom>
          <a:solidFill>
            <a:srgbClr val="EDF5E8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7" name="forma 17"/>
          <p:cNvSpPr/>
          <p:nvPr/>
        </p:nvSpPr>
        <p:spPr>
          <a:xfrm>
            <a:off x="7984067" y="1371600"/>
            <a:ext cx="3522133" cy="50800"/>
          </a:xfrm>
          <a:prstGeom prst="rect">
            <a:avLst/>
          </a:prstGeom>
          <a:solidFill>
            <a:srgbClr val="4B9B3F"/>
          </a:solidFill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200" dirty="0">
                <a:solidFill>
                  <a:srgbClr val="0B0B0B"/>
                </a:solidFill>
                <a:latin typeface="Calibri"/>
                <a:cs typeface="Calibri"/>
              </a:rPr>
              <a:t/>
            </a:r>
          </a:p>
        </p:txBody>
      </p:sp>
      <p:sp>
        <p:nvSpPr>
          <p:cNvPr id="18" name="forma 18"/>
          <p:cNvSpPr/>
          <p:nvPr/>
        </p:nvSpPr>
        <p:spPr>
          <a:xfrm>
            <a:off x="8212667" y="1651000"/>
            <a:ext cx="3064933" cy="147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950" b="1" dirty="0">
                <a:solidFill>
                  <a:srgbClr val="52514E"/>
                </a:solidFill>
                <a:latin typeface="Calibri"/>
                <a:cs typeface="Calibri"/>
              </a:rPr>
              <a:t>ONDE ELE ESTÁ</a:t>
            </a:r>
          </a:p>
        </p:txBody>
      </p:sp>
      <p:sp>
        <p:nvSpPr>
          <p:cNvPr id="19" name="forma 19"/>
          <p:cNvSpPr/>
          <p:nvPr/>
        </p:nvSpPr>
        <p:spPr>
          <a:xfrm>
            <a:off x="8212667" y="1905000"/>
            <a:ext cx="3064933" cy="52679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3400" b="1" dirty="0">
                <a:solidFill>
                  <a:srgbClr val="4B9B3F"/>
                </a:solidFill>
                <a:latin typeface="Calibri"/>
                <a:cs typeface="Calibri"/>
              </a:rPr>
              <a:t>+8,8 un</a:t>
            </a:r>
          </a:p>
        </p:txBody>
      </p:sp>
      <p:sp>
        <p:nvSpPr>
          <p:cNvPr id="20" name="forma 20"/>
          <p:cNvSpPr/>
          <p:nvPr/>
        </p:nvSpPr>
        <p:spPr>
          <a:xfrm>
            <a:off x="8212667" y="2565400"/>
            <a:ext cx="3064933" cy="46327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pt-BR" sz="1150" dirty="0">
                <a:solidFill>
                  <a:srgbClr val="52514E"/>
                </a:solidFill>
                <a:latin typeface="Calibri"/>
                <a:cs typeface="Calibri"/>
              </a:rPr>
              <a:t>Medido no seu próprio histórico: nas praças, com Atibaia respondendo por 4,0 un.</a:t>
            </a:r>
          </a:p>
        </p:txBody>
      </p:sp>
      <p:sp>
        <p:nvSpPr>
          <p:cNvPr id="21" name="forma 21"/>
          <p:cNvSpPr/>
          <p:nvPr/>
        </p:nvSpPr>
        <p:spPr>
          <a:xfrm>
            <a:off x="685800" y="4904467"/>
            <a:ext cx="10820400" cy="20142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buNone/>
            </a:pPr>
            <a:r>
              <a:rPr lang="pt-BR" sz="1300" b="1" dirty="0">
                <a:solidFill>
                  <a:srgbClr val="0B0B0B"/>
                </a:solidFill>
                <a:latin typeface="Calibri"/>
                <a:cs typeface="Calibri"/>
              </a:rPr>
              <a:t>Próximos passos</a:t>
            </a:r>
          </a:p>
        </p:txBody>
      </p:sp>
      <p:sp>
        <p:nvSpPr>
          <p:cNvPr id="22" name="forma 22"/>
          <p:cNvSpPr/>
          <p:nvPr/>
        </p:nvSpPr>
        <p:spPr>
          <a:xfrm>
            <a:off x="685800" y="5156689"/>
            <a:ext cx="10820400" cy="9883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marL="165100" indent="-165100">
              <a:lnSpc>
                <a:spcPct val="135000"/>
              </a:lnSpc>
              <a:spcBef>
                <a:spcPts val="700"/>
              </a:spcBef>
              <a:buClr>
                <a:srgbClr val="2A78D6"/>
              </a:buClr>
              <a:buChar char="•"/>
            </a:pPr>
            <a:r>
              <a:rPr lang="pt-BR" sz="1150" dirty="0">
                <a:solidFill>
                  <a:srgbClr val="52514E"/>
                </a:solidFill>
                <a:latin typeface="Calibri"/>
                <a:cs typeface="Calibri"/>
              </a:rPr>
              <a:t>Fechar hoje o responsável e o prazo de cada ação de prioridade alta.</a:t>
            </a:r>
          </a:p>
          <a:p>
            <a:pPr marL="165100" indent="-165100">
              <a:lnSpc>
                <a:spcPct val="135000"/>
              </a:lnSpc>
              <a:spcBef>
                <a:spcPts val="700"/>
              </a:spcBef>
              <a:buClr>
                <a:srgbClr val="2A78D6"/>
              </a:buClr>
              <a:buChar char="•"/>
            </a:pPr>
            <a:r>
              <a:rPr lang="pt-BR" sz="1150" dirty="0">
                <a:solidFill>
                  <a:srgbClr val="52514E"/>
                </a:solidFill>
                <a:latin typeface="Calibri"/>
                <a:cs typeface="Calibri"/>
              </a:rPr>
              <a:t>Reavaliar na próxima call, com o arquivo da semana — o ritmo é o placar.</a:t>
            </a:r>
          </a:p>
          <a:p>
            <a:pPr marL="165100" indent="-165100">
              <a:lnSpc>
                <a:spcPct val="135000"/>
              </a:lnSpc>
              <a:spcBef>
                <a:spcPts val="700"/>
              </a:spcBef>
              <a:buClr>
                <a:srgbClr val="2A78D6"/>
              </a:buClr>
              <a:buChar char="•"/>
            </a:pPr>
            <a:r>
              <a:rPr lang="pt-BR" sz="1150" dirty="0">
                <a:solidFill>
                  <a:srgbClr val="52514E"/>
                </a:solidFill>
                <a:latin typeface="Calibri"/>
                <a:cs typeface="Calibri"/>
              </a:rPr>
              <a:t>O plano completo vai em planilha no mesmo padrão do grupo.</a:t>
            </a:r>
          </a:p>
        </p:txBody>
      </p:sp>
      <p:sp>
        <p:nvSpPr>
          <p:cNvPr id="23" name="forma 23"/>
          <p:cNvSpPr/>
          <p:nvPr/>
        </p:nvSpPr>
        <p:spPr>
          <a:xfrm>
            <a:off x="685800" y="6451600"/>
            <a:ext cx="9931400" cy="1514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>
              <a:lnSpc>
                <a:spcPct val="115000"/>
              </a:lnSpc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Nippon Motos · Agosto até 19/08 · dados de 19/08/2026 · Caique Oliveira</a:t>
            </a:r>
          </a:p>
        </p:txBody>
      </p:sp>
      <p:sp>
        <p:nvSpPr>
          <p:cNvPr id="24" name="forma 24"/>
          <p:cNvSpPr/>
          <p:nvPr/>
        </p:nvSpPr>
        <p:spPr>
          <a:xfrm>
            <a:off x="10744200" y="6527800"/>
            <a:ext cx="762000" cy="131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wrap="square">
            <a:noAutofit/>
          </a:bodyPr>
          <a:lstStyle/>
          <a:p>
            <a:pPr algn="r">
              <a:buNone/>
            </a:pPr>
            <a:r>
              <a:rPr lang="pt-BR" sz="850" dirty="0">
                <a:solidFill>
                  <a:srgbClr val="898781"/>
                </a:solidFill>
                <a:latin typeface="Calibri"/>
                <a:cs typeface="Calibr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formance">
  <a:themeElements>
    <a:clrScheme name="Performance">
      <a:dk1>
        <a:srgbClr val="0B0B0B"/>
      </a:dk1>
      <a:lt1>
        <a:srgbClr val="FFFFFF"/>
      </a:lt1>
      <a:dk2>
        <a:srgbClr val="52514E"/>
      </a:dk2>
      <a:lt2>
        <a:srgbClr val="F4F4F1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2A78D6"/>
      </a:hlink>
      <a:folHlink>
        <a:srgbClr val="898781"/>
      </a:folHlink>
    </a:clrScheme>
    <a:fontScheme name="Performan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erforman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formance Notas">
  <a:themeElements>
    <a:clrScheme name="Performance Notas">
      <a:dk1>
        <a:srgbClr val="0B0B0B"/>
      </a:dk1>
      <a:lt1>
        <a:srgbClr val="FFFFFF"/>
      </a:lt1>
      <a:dk2>
        <a:srgbClr val="52514E"/>
      </a:dk2>
      <a:lt2>
        <a:srgbClr val="F4F4F1"/>
      </a:lt2>
      <a:accent1>
        <a:srgbClr val="2A78D6"/>
      </a:accent1>
      <a:accent2>
        <a:srgbClr val="EB6834"/>
      </a:accent2>
      <a:accent3>
        <a:srgbClr val="4B9B3F"/>
      </a:accent3>
      <a:accent4>
        <a:srgbClr val="D98A0B"/>
      </a:accent4>
      <a:accent5>
        <a:srgbClr val="D64545"/>
      </a:accent5>
      <a:accent6>
        <a:srgbClr val="898781"/>
      </a:accent6>
      <a:hlink>
        <a:srgbClr val="2A78D6"/>
      </a:hlink>
      <a:folHlink>
        <a:srgbClr val="898781"/>
      </a:folHlink>
    </a:clrScheme>
    <a:fontScheme name="Performance Nota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erformance Nota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Performance Concessionário</Application>
  <Slides>10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Nippon Motos — agosto em curso</dc:title>
  <dc:creator>Caique Oliveira</dc:creator>
  <cp:lastModifiedBy>Caique Oliveira</cp:lastModifiedBy>
</cp:coreProperties>
</file>