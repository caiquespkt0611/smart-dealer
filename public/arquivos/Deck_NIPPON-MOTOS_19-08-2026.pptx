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Abrir pela régua interna dele, nunca por share: se a conversa começa em participação, o dono entra defendendo a praça e não escuta o resto.</a:t>
            </a:r>
          </a:p>
          <a:p>
            <a:r>
              <a:rPr lang="pt-BR" sz="1200" dirty="0"/>
              <a:t>Deixar claro no início que a conversa dura ~20 minutos e termina com um plano.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ordem não é decorativa: régua interna primeiro, share depois. É o que sustenta o resto da conversa.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Ruptura de abastecimento, não de venda: Factor 150 ED ficou com 9 dias de cobertura no chão. O mercado estava lá e faltou moto para vender.</a:t>
            </a:r>
          </a:p>
          <a:p>
            <a:r>
              <a:rPr lang="pt-BR" sz="1200" dirty="0"/>
              <a:t>A diferença entre esperado e realizado é a única parte que depende de vocês — o resto é o mercado, e já está descontado.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Ruptura de abastecimento, não de venda: Factor 150 ED ficou com 9 dias de cobertura no chão. O mercado estava lá e faltou moto para vender.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Este é o capítulo em que o problema muda de dono: metade do que parece venda fraca é pedido e cota, não cobrança de vendedor.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Se ele contestar o share, lembrar que a régua do capítulo 1 já mostrou a execução dele — este capítulo é sobre espaço, não sobre culpa.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O número que marca a próxima conversa não é o gap, é o volume que ele passa a ter: 147 un/mês.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O número que marca a próxima conversa não é o gap, é o volume que ele passa a ter: 39 un/mês.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citar nomes das outras áreas. O objetivo é mostrar que o teto é alcançável, não expor terceiros.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Fechar com a pergunta: "o que muda na sua semana para sair de 6,7 para 9,1 por dia?"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Encerrar marcando a próxima call antes de desligar.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1905000"/>
            <a:ext cx="10820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b="1" dirty="0">
                <a:solidFill>
                  <a:srgbClr val="2A78D6"/>
                </a:solidFill>
                <a:latin typeface="Calibri"/>
                <a:cs typeface="Calibri"/>
              </a:rPr>
              <a:t>PERFORMANCE CONCESSIONÁRIO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2235200"/>
            <a:ext cx="10820400" cy="743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4800" b="1" dirty="0">
                <a:solidFill>
                  <a:srgbClr val="0B0B0B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5" name="forma 5"/>
          <p:cNvSpPr/>
          <p:nvPr/>
        </p:nvSpPr>
        <p:spPr>
          <a:xfrm>
            <a:off x="685800" y="3055112"/>
            <a:ext cx="1082040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dirty="0">
                <a:solidFill>
                  <a:srgbClr val="52514E"/>
                </a:solidFill>
                <a:latin typeface="Calibri"/>
                <a:cs typeface="Calibri"/>
              </a:rPr>
              <a:t>Fechamento de julho de 2026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REALIZADO NO MÊS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144 un</a:t>
            </a:r>
          </a:p>
        </p:txBody>
      </p:sp>
      <p:sp>
        <p:nvSpPr>
          <p:cNvPr id="9" name="forma 9"/>
          <p:cNvSpPr/>
          <p:nvPr/>
        </p:nvSpPr>
        <p:spPr>
          <a:xfrm>
            <a:off x="288163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03403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ESPERADO PELA SUA MÉDIA</a:t>
            </a:r>
          </a:p>
        </p:txBody>
      </p:sp>
      <p:sp>
        <p:nvSpPr>
          <p:cNvPr id="11" name="forma 11"/>
          <p:cNvSpPr/>
          <p:nvPr/>
        </p:nvSpPr>
        <p:spPr>
          <a:xfrm>
            <a:off x="303403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155 un</a:t>
            </a:r>
          </a:p>
        </p:txBody>
      </p:sp>
      <p:sp>
        <p:nvSpPr>
          <p:cNvPr id="12" name="forma 12"/>
          <p:cNvSpPr/>
          <p:nvPr/>
        </p:nvSpPr>
        <p:spPr>
          <a:xfrm>
            <a:off x="507746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522986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EXECUÇÃO</a:t>
            </a:r>
          </a:p>
        </p:txBody>
      </p:sp>
      <p:sp>
        <p:nvSpPr>
          <p:cNvPr id="14" name="forma 14"/>
          <p:cNvSpPr/>
          <p:nvPr/>
        </p:nvSpPr>
        <p:spPr>
          <a:xfrm>
            <a:off x="522986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−11 un</a:t>
            </a:r>
          </a:p>
        </p:txBody>
      </p:sp>
      <p:sp>
        <p:nvSpPr>
          <p:cNvPr id="15" name="forma 15"/>
          <p:cNvSpPr/>
          <p:nvPr/>
        </p:nvSpPr>
        <p:spPr>
          <a:xfrm>
            <a:off x="727329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742569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NA MESA, POR MÊS</a:t>
            </a:r>
          </a:p>
        </p:txBody>
      </p:sp>
      <p:sp>
        <p:nvSpPr>
          <p:cNvPr id="17" name="forma 17"/>
          <p:cNvSpPr/>
          <p:nvPr/>
        </p:nvSpPr>
        <p:spPr>
          <a:xfrm>
            <a:off x="742569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2A78D6"/>
                </a:solidFill>
                <a:latin typeface="Calibri"/>
                <a:cs typeface="Calibri"/>
              </a:rPr>
              <a:t>+10 un</a:t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6223000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Caique Oliveira · dados de 19/08/2026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O QUE VAMOS VER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roteiro da conversa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19/08/2026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685800" y="13970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" name="forma 8"/>
          <p:cNvSpPr/>
          <p:nvPr/>
        </p:nvSpPr>
        <p:spPr>
          <a:xfrm>
            <a:off x="1295400" y="13208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Como foi o mês</a:t>
            </a:r>
          </a:p>
        </p:txBody>
      </p:sp>
      <p:sp>
        <p:nvSpPr>
          <p:cNvPr id="9" name="forma 9"/>
          <p:cNvSpPr/>
          <p:nvPr/>
        </p:nvSpPr>
        <p:spPr>
          <a:xfrm>
            <a:off x="1295400" y="15621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O seu resultado contra a sua própria média, já corrigida pelo mercado da sua área.</a:t>
            </a:r>
          </a:p>
        </p:txBody>
      </p:sp>
      <p:sp>
        <p:nvSpPr>
          <p:cNvPr id="10" name="forma 10"/>
          <p:cNvSpPr/>
          <p:nvPr/>
        </p:nvSpPr>
        <p:spPr>
          <a:xfrm>
            <a:off x="685800" y="21082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685800" y="22098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" name="forma 12"/>
          <p:cNvSpPr/>
          <p:nvPr/>
        </p:nvSpPr>
        <p:spPr>
          <a:xfrm>
            <a:off x="1295400" y="21336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De onde veio</a:t>
            </a:r>
          </a:p>
        </p:txBody>
      </p:sp>
      <p:sp>
        <p:nvSpPr>
          <p:cNvPr id="13" name="forma 13"/>
          <p:cNvSpPr/>
          <p:nvPr/>
        </p:nvSpPr>
        <p:spPr>
          <a:xfrm>
            <a:off x="1295400" y="23749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Modelo a modelo: o que foi mercado, o que foi falta de moto e o que foi execução.</a:t>
            </a:r>
          </a:p>
        </p:txBody>
      </p:sp>
      <p:sp>
        <p:nvSpPr>
          <p:cNvPr id="14" name="forma 14"/>
          <p:cNvSpPr/>
          <p:nvPr/>
        </p:nvSpPr>
        <p:spPr>
          <a:xfrm>
            <a:off x="685800" y="29210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85800" y="30226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forma 16"/>
          <p:cNvSpPr/>
          <p:nvPr/>
        </p:nvSpPr>
        <p:spPr>
          <a:xfrm>
            <a:off x="1295400" y="29464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 estoque</a:t>
            </a:r>
          </a:p>
        </p:txBody>
      </p:sp>
      <p:sp>
        <p:nvSpPr>
          <p:cNvPr id="17" name="forma 17"/>
          <p:cNvSpPr/>
          <p:nvPr/>
        </p:nvSpPr>
        <p:spPr>
          <a:xfrm>
            <a:off x="1295400" y="31877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Cobertura por modelo contra a mediana da rede — método, não volume de terceiro.</a:t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37338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38354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forma 20"/>
          <p:cNvSpPr/>
          <p:nvPr/>
        </p:nvSpPr>
        <p:spPr>
          <a:xfrm>
            <a:off x="1295400" y="37592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As praças</a:t>
            </a:r>
          </a:p>
        </p:txBody>
      </p:sp>
      <p:sp>
        <p:nvSpPr>
          <p:cNvPr id="21" name="forma 21"/>
          <p:cNvSpPr/>
          <p:nvPr/>
        </p:nvSpPr>
        <p:spPr>
          <a:xfrm>
            <a:off x="1295400" y="40005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Onde a marca está forte, onde sobra espaço e quanto vale ocupá-lo.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4546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46482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4" name="forma 24"/>
          <p:cNvSpPr/>
          <p:nvPr/>
        </p:nvSpPr>
        <p:spPr>
          <a:xfrm>
            <a:off x="1295400" y="45720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Onde você está agora</a:t>
            </a:r>
          </a:p>
        </p:txBody>
      </p:sp>
      <p:sp>
        <p:nvSpPr>
          <p:cNvPr id="25" name="forma 25"/>
          <p:cNvSpPr/>
          <p:nvPr/>
        </p:nvSpPr>
        <p:spPr>
          <a:xfrm>
            <a:off x="1295400" y="48133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Ritmo e carta de agosto, com o mês ainda correndo.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53594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54610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8" name="forma 28"/>
          <p:cNvSpPr/>
          <p:nvPr/>
        </p:nvSpPr>
        <p:spPr>
          <a:xfrm>
            <a:off x="1295400" y="53848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 plano</a:t>
            </a:r>
          </a:p>
        </p:txBody>
      </p:sp>
      <p:sp>
        <p:nvSpPr>
          <p:cNvPr id="29" name="forma 29"/>
          <p:cNvSpPr/>
          <p:nvPr/>
        </p:nvSpPr>
        <p:spPr>
          <a:xfrm>
            <a:off x="1295400" y="56261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O que fazer, por quê, como, quem e até quando — no mesmo formato do PDCA.</a:t>
            </a:r>
          </a:p>
        </p:txBody>
      </p:sp>
      <p:sp>
        <p:nvSpPr>
          <p:cNvPr id="30" name="forma 30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1 · COMO FOI O MÊS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Seu julho contra a sua própria média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864779" y="2077037"/>
            <a:ext cx="357959" cy="1174163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737779" y="1886537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125</a:t>
            </a:r>
          </a:p>
        </p:txBody>
      </p:sp>
      <p:sp>
        <p:nvSpPr>
          <p:cNvPr id="8" name="forma 8"/>
          <p:cNvSpPr/>
          <p:nvPr/>
        </p:nvSpPr>
        <p:spPr>
          <a:xfrm>
            <a:off x="737779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Jan</a:t>
            </a:r>
          </a:p>
        </p:txBody>
      </p:sp>
      <p:sp>
        <p:nvSpPr>
          <p:cNvPr id="9" name="forma 9"/>
          <p:cNvSpPr/>
          <p:nvPr/>
        </p:nvSpPr>
        <p:spPr>
          <a:xfrm>
            <a:off x="1580696" y="2170970"/>
            <a:ext cx="357959" cy="108023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1453696" y="1980470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115</a:t>
            </a:r>
          </a:p>
        </p:txBody>
      </p:sp>
      <p:sp>
        <p:nvSpPr>
          <p:cNvPr id="11" name="forma 11"/>
          <p:cNvSpPr/>
          <p:nvPr/>
        </p:nvSpPr>
        <p:spPr>
          <a:xfrm>
            <a:off x="1453696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12" name="forma 12"/>
          <p:cNvSpPr/>
          <p:nvPr/>
        </p:nvSpPr>
        <p:spPr>
          <a:xfrm>
            <a:off x="2296614" y="1616765"/>
            <a:ext cx="357959" cy="1634435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2169614" y="1426265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174</a:t>
            </a:r>
          </a:p>
        </p:txBody>
      </p:sp>
      <p:sp>
        <p:nvSpPr>
          <p:cNvPr id="14" name="forma 14"/>
          <p:cNvSpPr/>
          <p:nvPr/>
        </p:nvSpPr>
        <p:spPr>
          <a:xfrm>
            <a:off x="2169614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15" name="forma 15"/>
          <p:cNvSpPr/>
          <p:nvPr/>
        </p:nvSpPr>
        <p:spPr>
          <a:xfrm>
            <a:off x="3012531" y="1776451"/>
            <a:ext cx="357959" cy="1474749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2885531" y="1585951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157</a:t>
            </a:r>
          </a:p>
        </p:txBody>
      </p:sp>
      <p:sp>
        <p:nvSpPr>
          <p:cNvPr id="17" name="forma 17"/>
          <p:cNvSpPr/>
          <p:nvPr/>
        </p:nvSpPr>
        <p:spPr>
          <a:xfrm>
            <a:off x="2885531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18" name="forma 18"/>
          <p:cNvSpPr/>
          <p:nvPr/>
        </p:nvSpPr>
        <p:spPr>
          <a:xfrm>
            <a:off x="3728448" y="1823418"/>
            <a:ext cx="357959" cy="142778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3601448" y="1632918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152</a:t>
            </a:r>
          </a:p>
        </p:txBody>
      </p:sp>
      <p:sp>
        <p:nvSpPr>
          <p:cNvPr id="20" name="forma 20"/>
          <p:cNvSpPr/>
          <p:nvPr/>
        </p:nvSpPr>
        <p:spPr>
          <a:xfrm>
            <a:off x="3601448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21" name="forma 21"/>
          <p:cNvSpPr/>
          <p:nvPr/>
        </p:nvSpPr>
        <p:spPr>
          <a:xfrm>
            <a:off x="4444365" y="2142790"/>
            <a:ext cx="357959" cy="110841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4317365" y="1952290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118</a:t>
            </a:r>
          </a:p>
        </p:txBody>
      </p:sp>
      <p:sp>
        <p:nvSpPr>
          <p:cNvPr id="23" name="forma 23"/>
          <p:cNvSpPr/>
          <p:nvPr/>
        </p:nvSpPr>
        <p:spPr>
          <a:xfrm>
            <a:off x="4317365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Jun</a:t>
            </a:r>
          </a:p>
        </p:txBody>
      </p:sp>
      <p:sp>
        <p:nvSpPr>
          <p:cNvPr id="24" name="forma 24"/>
          <p:cNvSpPr/>
          <p:nvPr/>
        </p:nvSpPr>
        <p:spPr>
          <a:xfrm>
            <a:off x="5160282" y="1898564"/>
            <a:ext cx="357959" cy="1352636"/>
          </a:xfrm>
          <a:prstGeom prst="roundRect">
            <a:avLst>
              <a:gd name="adj" fmla="val 12000"/>
            </a:avLst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5033282" y="1708064"/>
            <a:ext cx="611959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D98A0B"/>
                </a:solidFill>
                <a:latin typeface="Calibri"/>
                <a:cs typeface="Calibri"/>
              </a:rPr>
              <a:t>144</a:t>
            </a:r>
          </a:p>
        </p:txBody>
      </p:sp>
      <p:sp>
        <p:nvSpPr>
          <p:cNvPr id="26" name="forma 26"/>
          <p:cNvSpPr/>
          <p:nvPr/>
        </p:nvSpPr>
        <p:spPr>
          <a:xfrm>
            <a:off x="5033282" y="3302000"/>
            <a:ext cx="611959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Jul</a:t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1934572"/>
            <a:ext cx="508762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5824220" y="1858372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140</a:t>
            </a:r>
          </a:p>
        </p:txBody>
      </p:sp>
      <p:sp>
        <p:nvSpPr>
          <p:cNvPr id="29" name="forma 29"/>
          <p:cNvSpPr/>
          <p:nvPr/>
        </p:nvSpPr>
        <p:spPr>
          <a:xfrm>
            <a:off x="685800" y="3657600"/>
            <a:ext cx="1392555" cy="7366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0" name="forma 30"/>
          <p:cNvSpPr/>
          <p:nvPr/>
        </p:nvSpPr>
        <p:spPr>
          <a:xfrm>
            <a:off x="838200" y="3771900"/>
            <a:ext cx="1087755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MÉDIA DO ANO</a:t>
            </a:r>
          </a:p>
        </p:txBody>
      </p:sp>
      <p:sp>
        <p:nvSpPr>
          <p:cNvPr id="31" name="forma 31"/>
          <p:cNvSpPr/>
          <p:nvPr/>
        </p:nvSpPr>
        <p:spPr>
          <a:xfrm>
            <a:off x="838200" y="3962400"/>
            <a:ext cx="1087755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0B0B0B"/>
                </a:solidFill>
                <a:latin typeface="Calibri"/>
                <a:cs typeface="Calibri"/>
              </a:rPr>
              <a:t>140</a:t>
            </a:r>
          </a:p>
        </p:txBody>
      </p:sp>
      <p:sp>
        <p:nvSpPr>
          <p:cNvPr id="32" name="forma 32"/>
          <p:cNvSpPr/>
          <p:nvPr/>
        </p:nvSpPr>
        <p:spPr>
          <a:xfrm>
            <a:off x="2205355" y="3657600"/>
            <a:ext cx="1392555" cy="7366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3" name="forma 33"/>
          <p:cNvSpPr/>
          <p:nvPr/>
        </p:nvSpPr>
        <p:spPr>
          <a:xfrm>
            <a:off x="2357755" y="3771900"/>
            <a:ext cx="1087755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ÍNDICE MERCADO</a:t>
            </a:r>
          </a:p>
        </p:txBody>
      </p:sp>
      <p:sp>
        <p:nvSpPr>
          <p:cNvPr id="34" name="forma 34"/>
          <p:cNvSpPr/>
          <p:nvPr/>
        </p:nvSpPr>
        <p:spPr>
          <a:xfrm>
            <a:off x="2357755" y="3962400"/>
            <a:ext cx="1087755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0B0B0B"/>
                </a:solidFill>
                <a:latin typeface="Calibri"/>
                <a:cs typeface="Calibri"/>
              </a:rPr>
              <a:t>1,11×</a:t>
            </a:r>
          </a:p>
        </p:txBody>
      </p:sp>
      <p:sp>
        <p:nvSpPr>
          <p:cNvPr id="35" name="forma 35"/>
          <p:cNvSpPr/>
          <p:nvPr/>
        </p:nvSpPr>
        <p:spPr>
          <a:xfrm>
            <a:off x="3724910" y="3657600"/>
            <a:ext cx="1392555" cy="7366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6" name="forma 36"/>
          <p:cNvSpPr/>
          <p:nvPr/>
        </p:nvSpPr>
        <p:spPr>
          <a:xfrm>
            <a:off x="3877310" y="3771900"/>
            <a:ext cx="1087755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ESPERADO</a:t>
            </a:r>
          </a:p>
        </p:txBody>
      </p:sp>
      <p:sp>
        <p:nvSpPr>
          <p:cNvPr id="37" name="forma 37"/>
          <p:cNvSpPr/>
          <p:nvPr/>
        </p:nvSpPr>
        <p:spPr>
          <a:xfrm>
            <a:off x="3877310" y="3962400"/>
            <a:ext cx="1087755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0B0B0B"/>
                </a:solidFill>
                <a:latin typeface="Calibri"/>
                <a:cs typeface="Calibri"/>
              </a:rPr>
              <a:t>155</a:t>
            </a:r>
          </a:p>
        </p:txBody>
      </p:sp>
      <p:sp>
        <p:nvSpPr>
          <p:cNvPr id="38" name="forma 38"/>
          <p:cNvSpPr/>
          <p:nvPr/>
        </p:nvSpPr>
        <p:spPr>
          <a:xfrm>
            <a:off x="5244465" y="3657600"/>
            <a:ext cx="1392555" cy="7366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9" name="forma 39"/>
          <p:cNvSpPr/>
          <p:nvPr/>
        </p:nvSpPr>
        <p:spPr>
          <a:xfrm>
            <a:off x="5396865" y="3771900"/>
            <a:ext cx="1087755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REALIZADO</a:t>
            </a:r>
          </a:p>
        </p:txBody>
      </p:sp>
      <p:sp>
        <p:nvSpPr>
          <p:cNvPr id="40" name="forma 40"/>
          <p:cNvSpPr/>
          <p:nvPr/>
        </p:nvSpPr>
        <p:spPr>
          <a:xfrm>
            <a:off x="5396865" y="3962400"/>
            <a:ext cx="1087755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D98A0B"/>
                </a:solidFill>
                <a:latin typeface="Calibri"/>
                <a:cs typeface="Calibri"/>
              </a:rPr>
              <a:t>144</a:t>
            </a:r>
          </a:p>
        </p:txBody>
      </p:sp>
      <p:sp>
        <p:nvSpPr>
          <p:cNvPr id="41" name="forma 41"/>
          <p:cNvSpPr/>
          <p:nvPr/>
        </p:nvSpPr>
        <p:spPr>
          <a:xfrm>
            <a:off x="7178040" y="1371600"/>
            <a:ext cx="4328160" cy="1424305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2" name="forma 42"/>
          <p:cNvSpPr/>
          <p:nvPr/>
        </p:nvSpPr>
        <p:spPr>
          <a:xfrm>
            <a:off x="7178040" y="1371600"/>
            <a:ext cx="50800" cy="1424305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7381240" y="1498600"/>
            <a:ext cx="178816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PERDA DE EXECUÇÃO</a:t>
            </a:r>
          </a:p>
        </p:txBody>
      </p:sp>
      <p:sp>
        <p:nvSpPr>
          <p:cNvPr id="44" name="forma 44"/>
          <p:cNvSpPr/>
          <p:nvPr/>
        </p:nvSpPr>
        <p:spPr>
          <a:xfrm>
            <a:off x="9169400" y="1473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−11</a:t>
            </a:r>
          </a:p>
        </p:txBody>
      </p:sp>
      <p:sp>
        <p:nvSpPr>
          <p:cNvPr id="45" name="forma 45"/>
          <p:cNvSpPr/>
          <p:nvPr/>
        </p:nvSpPr>
        <p:spPr>
          <a:xfrm>
            <a:off x="7381240" y="1752600"/>
            <a:ext cx="1788160" cy="89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O mercado da área ainda cresceu 15, o que torna as 11 de execução mais caras.</a:t>
            </a:r>
          </a:p>
        </p:txBody>
      </p:sp>
      <p:sp>
        <p:nvSpPr>
          <p:cNvPr id="46" name="forma 46"/>
          <p:cNvSpPr/>
          <p:nvPr/>
        </p:nvSpPr>
        <p:spPr>
          <a:xfrm>
            <a:off x="7178040" y="2973705"/>
            <a:ext cx="4328160" cy="6646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Melhor mês: </a:t>
            </a:r>
            <a:r>
              <a:rPr lang="pt-BR" sz="1100" b="1" dirty="0">
                <a:solidFill>
                  <a:srgbClr val="0B0B0B"/>
                </a:solidFill>
                <a:latin typeface="Calibri"/>
                <a:cs typeface="Calibri"/>
              </a:rPr>
              <a:t>março, com 174 un</a:t>
            </a:r>
          </a:p>
          <a:p>
            <a:pPr>
              <a:lnSpc>
                <a:spcPct val="130000"/>
              </a:lnSpc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Baseline: </a:t>
            </a:r>
            <a:r>
              <a:rPr lang="pt-BR" sz="1100" dirty="0">
                <a:solidFill>
                  <a:srgbClr val="0B0B0B"/>
                </a:solidFill>
                <a:latin typeface="Calibri"/>
                <a:cs typeface="Calibri"/>
              </a:rPr>
              <a:t>6 meses fechados</a:t>
            </a:r>
          </a:p>
          <a:p>
            <a:pPr>
              <a:lnSpc>
                <a:spcPct val="130000"/>
              </a:lnSpc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Carta do mês corrente: </a:t>
            </a:r>
            <a:r>
              <a:rPr lang="pt-BR" sz="1100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47" name="forma 4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O esperado é a sua média dos meses fechados corrigida pelo índice de mercado de cada segmento nas suas áreas. Não é meta: é o que a sua própria operação entregaria se o mês fosse normal.</a:t>
            </a:r>
          </a:p>
        </p:txBody>
      </p:sp>
      <p:sp>
        <p:nvSpPr>
          <p:cNvPr id="48" name="forma 4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2 · DE ONDE VEIO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Queda por modelo, já descontado o mercado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95400"/>
          <a:ext cx="6459220" cy="18034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004820"/>
                <a:gridCol w="838200"/>
                <a:gridCol w="711200"/>
                <a:gridCol w="762000"/>
                <a:gridCol w="1143000"/>
              </a:tblGrid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Modelo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Esper.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Real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Desvio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Causa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Factor 150 ED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−5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Ruptura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2F6FC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Factor 150 DX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−5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Execução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Aerox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−5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Ruptura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MT-03 ABS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−4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Execução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NMAX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−2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Execução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3276600"/>
            <a:ext cx="595122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8" name="forma 8"/>
          <p:cNvSpPr/>
          <p:nvPr/>
        </p:nvSpPr>
        <p:spPr>
          <a:xfrm>
            <a:off x="685800" y="32766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9" name="forma 9"/>
          <p:cNvSpPr/>
          <p:nvPr/>
        </p:nvSpPr>
        <p:spPr>
          <a:xfrm>
            <a:off x="889000" y="3403600"/>
            <a:ext cx="341122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CONCENTRAÇÃO</a:t>
            </a:r>
          </a:p>
        </p:txBody>
      </p:sp>
      <p:sp>
        <p:nvSpPr>
          <p:cNvPr id="10" name="forma 10"/>
          <p:cNvSpPr/>
          <p:nvPr/>
        </p:nvSpPr>
        <p:spPr>
          <a:xfrm>
            <a:off x="4300220" y="3378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19%</a:t>
            </a:r>
          </a:p>
        </p:txBody>
      </p:sp>
      <p:sp>
        <p:nvSpPr>
          <p:cNvPr id="11" name="forma 11"/>
          <p:cNvSpPr/>
          <p:nvPr/>
        </p:nvSpPr>
        <p:spPr>
          <a:xfrm>
            <a:off x="889000" y="3657600"/>
            <a:ext cx="341122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Factor 150 ED sozinho responde por 19% de tudo o que caiu no mês.</a:t>
            </a:r>
          </a:p>
        </p:txBody>
      </p:sp>
      <p:sp>
        <p:nvSpPr>
          <p:cNvPr id="12" name="forma 12"/>
          <p:cNvSpPr/>
          <p:nvPr/>
        </p:nvSpPr>
        <p:spPr>
          <a:xfrm>
            <a:off x="7178040" y="1295400"/>
            <a:ext cx="4328160" cy="193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50" b="1" dirty="0">
                <a:solidFill>
                  <a:srgbClr val="0B0B0B"/>
                </a:solidFill>
                <a:latin typeface="Calibri"/>
                <a:cs typeface="Calibri"/>
              </a:rPr>
              <a:t>Diagnóstico de Factor 150 ED</a:t>
            </a:r>
          </a:p>
        </p:txBody>
      </p:sp>
      <p:sp>
        <p:nvSpPr>
          <p:cNvPr id="13" name="forma 13"/>
          <p:cNvSpPr/>
          <p:nvPr/>
        </p:nvSpPr>
        <p:spPr>
          <a:xfrm>
            <a:off x="7178040" y="1590675"/>
            <a:ext cx="4328160" cy="660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7343140" y="1692275"/>
            <a:ext cx="293116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1 · Mercado do segmento na área</a:t>
            </a:r>
          </a:p>
        </p:txBody>
      </p:sp>
      <p:sp>
        <p:nvSpPr>
          <p:cNvPr id="15" name="forma 15"/>
          <p:cNvSpPr/>
          <p:nvPr/>
        </p:nvSpPr>
        <p:spPr>
          <a:xfrm>
            <a:off x="7343140" y="1895475"/>
            <a:ext cx="2931160" cy="2633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0B0B0B"/>
                </a:solidFill>
                <a:latin typeface="Calibri"/>
                <a:cs typeface="Calibri"/>
              </a:rPr>
              <a:t>1,02×</a:t>
            </a:r>
          </a:p>
        </p:txBody>
      </p:sp>
      <p:sp>
        <p:nvSpPr>
          <p:cNvPr id="16" name="forma 16"/>
          <p:cNvSpPr/>
          <p:nvPr/>
        </p:nvSpPr>
        <p:spPr>
          <a:xfrm>
            <a:off x="9652000" y="1946275"/>
            <a:ext cx="16891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950" dirty="0">
                <a:solidFill>
                  <a:srgbClr val="52514E"/>
                </a:solidFill>
                <a:latin typeface="Calibri"/>
                <a:cs typeface="Calibri"/>
              </a:rPr>
              <a:t>estável</a:t>
            </a:r>
          </a:p>
        </p:txBody>
      </p:sp>
      <p:sp>
        <p:nvSpPr>
          <p:cNvPr id="17" name="forma 17"/>
          <p:cNvSpPr/>
          <p:nvPr/>
        </p:nvSpPr>
        <p:spPr>
          <a:xfrm>
            <a:off x="7178040" y="2327275"/>
            <a:ext cx="4328160" cy="660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7343140" y="2428875"/>
            <a:ext cx="293116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2 · Cobertura no chão hoje</a:t>
            </a:r>
          </a:p>
        </p:txBody>
      </p:sp>
      <p:sp>
        <p:nvSpPr>
          <p:cNvPr id="19" name="forma 19"/>
          <p:cNvSpPr/>
          <p:nvPr/>
        </p:nvSpPr>
        <p:spPr>
          <a:xfrm>
            <a:off x="7343140" y="2632075"/>
            <a:ext cx="2931160" cy="2633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0B0B0B"/>
                </a:solidFill>
                <a:latin typeface="Calibri"/>
                <a:cs typeface="Calibri"/>
              </a:rPr>
              <a:t>9 d</a:t>
            </a:r>
          </a:p>
        </p:txBody>
      </p:sp>
      <p:sp>
        <p:nvSpPr>
          <p:cNvPr id="20" name="forma 20"/>
          <p:cNvSpPr/>
          <p:nvPr/>
        </p:nvSpPr>
        <p:spPr>
          <a:xfrm>
            <a:off x="9652000" y="2682875"/>
            <a:ext cx="16891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950" dirty="0">
                <a:solidFill>
                  <a:srgbClr val="52514E"/>
                </a:solidFill>
                <a:latin typeface="Calibri"/>
                <a:cs typeface="Calibri"/>
              </a:rPr>
              <a:t>5 un no chão · 9 na rede</a:t>
            </a:r>
          </a:p>
        </p:txBody>
      </p:sp>
      <p:sp>
        <p:nvSpPr>
          <p:cNvPr id="21" name="forma 21"/>
          <p:cNvSpPr/>
          <p:nvPr/>
        </p:nvSpPr>
        <p:spPr>
          <a:xfrm>
            <a:off x="7178040" y="3063875"/>
            <a:ext cx="4328160" cy="660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7343140" y="3165475"/>
            <a:ext cx="293116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3 · Sobra execução?</a:t>
            </a:r>
          </a:p>
        </p:txBody>
      </p:sp>
      <p:sp>
        <p:nvSpPr>
          <p:cNvPr id="23" name="forma 23"/>
          <p:cNvSpPr/>
          <p:nvPr/>
        </p:nvSpPr>
        <p:spPr>
          <a:xfrm>
            <a:off x="7343140" y="3368675"/>
            <a:ext cx="2931160" cy="2633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0B0B0B"/>
                </a:solidFill>
                <a:latin typeface="Calibri"/>
                <a:cs typeface="Calibri"/>
              </a:rPr>
              <a:t>Não</a:t>
            </a:r>
          </a:p>
        </p:txBody>
      </p:sp>
      <p:sp>
        <p:nvSpPr>
          <p:cNvPr id="24" name="forma 24"/>
          <p:cNvSpPr/>
          <p:nvPr/>
        </p:nvSpPr>
        <p:spPr>
          <a:xfrm>
            <a:off x="9652000" y="3419475"/>
            <a:ext cx="16891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950" dirty="0">
                <a:solidFill>
                  <a:srgbClr val="52514E"/>
                </a:solidFill>
                <a:latin typeface="Calibri"/>
                <a:cs typeface="Calibri"/>
              </a:rPr>
              <a:t>Ruptura de estoque</a:t>
            </a:r>
          </a:p>
        </p:txBody>
      </p:sp>
      <p:sp>
        <p:nvSpPr>
          <p:cNvPr id="25" name="forma 25"/>
          <p:cNvSpPr/>
          <p:nvPr/>
        </p:nvSpPr>
        <p:spPr>
          <a:xfrm>
            <a:off x="7178040" y="3825875"/>
            <a:ext cx="4328160" cy="3718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pt-BR" sz="1000" b="1" dirty="0">
                <a:solidFill>
                  <a:srgbClr val="D64545"/>
                </a:solidFill>
                <a:latin typeface="Calibri"/>
                <a:cs typeface="Calibri"/>
              </a:rPr>
              <a:t>Alerta: </a:t>
            </a: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Aerox, Factor 150 ED, MT-03 ABS e mais 2 estão −15% ou pior contra o baseline por dois meses seguidos.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A causa vem de uma árvore de testes, nesta ordem: caiu de fato? o mercado do segmento explica? tinha moto no chão? O que sobra é execução. A cobertura de estoque é a foto de hoje, não a do mês fechado.</a:t>
            </a:r>
          </a:p>
        </p:txBody>
      </p:sp>
      <p:sp>
        <p:nvSpPr>
          <p:cNvPr id="27" name="forma 27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3 · O ESTOQUE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387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500" b="1" dirty="0">
                <a:solidFill>
                  <a:srgbClr val="0B0B0B"/>
                </a:solidFill>
                <a:latin typeface="Calibri"/>
                <a:cs typeface="Calibri"/>
              </a:rPr>
              <a:t>Cobertura por modelo, contra a mediana da rede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320800"/>
          <a:ext cx="10820400" cy="21971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6756400"/>
                <a:gridCol w="1397000"/>
                <a:gridCol w="1524000"/>
                <a:gridCol w="1143000"/>
              </a:tblGrid>
              <a:tr h="2921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Modelo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Você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Mediana da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Giro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Fazer 250 ABS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21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51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1,19×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Lander 250 ABS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34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46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1,00×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Factor 150 ED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17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35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1,33×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Aerox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21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45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1,67×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Fazer FZ15 ABS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19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33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1,56×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NMAX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41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45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0,89×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3721100"/>
            <a:ext cx="2603500" cy="508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8" name="forma 8"/>
          <p:cNvSpPr/>
          <p:nvPr/>
        </p:nvSpPr>
        <p:spPr>
          <a:xfrm>
            <a:off x="685800" y="3848100"/>
            <a:ext cx="26035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b="1" dirty="0">
                <a:solidFill>
                  <a:srgbClr val="0B0B0B"/>
                </a:solidFill>
                <a:latin typeface="Calibri"/>
                <a:cs typeface="Calibri"/>
              </a:rPr>
              <a:t>até 15 dias</a:t>
            </a:r>
          </a:p>
        </p:txBody>
      </p:sp>
      <p:sp>
        <p:nvSpPr>
          <p:cNvPr id="9" name="forma 9"/>
          <p:cNvSpPr/>
          <p:nvPr/>
        </p:nvSpPr>
        <p:spPr>
          <a:xfrm>
            <a:off x="685800" y="4051300"/>
            <a:ext cx="26035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dirty="0">
                <a:solidFill>
                  <a:srgbClr val="898781"/>
                </a:solidFill>
                <a:latin typeface="Calibri"/>
                <a:cs typeface="Calibri"/>
              </a:rPr>
              <a:t>ruptura</a:t>
            </a:r>
          </a:p>
        </p:txBody>
      </p:sp>
      <p:sp>
        <p:nvSpPr>
          <p:cNvPr id="10" name="forma 10"/>
          <p:cNvSpPr/>
          <p:nvPr/>
        </p:nvSpPr>
        <p:spPr>
          <a:xfrm>
            <a:off x="3416300" y="3721100"/>
            <a:ext cx="2603500" cy="50800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416300" y="3848100"/>
            <a:ext cx="26035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b="1" dirty="0">
                <a:solidFill>
                  <a:srgbClr val="0B0B0B"/>
                </a:solidFill>
                <a:latin typeface="Calibri"/>
                <a:cs typeface="Calibri"/>
              </a:rPr>
              <a:t>15–30</a:t>
            </a:r>
          </a:p>
        </p:txBody>
      </p:sp>
      <p:sp>
        <p:nvSpPr>
          <p:cNvPr id="12" name="forma 12"/>
          <p:cNvSpPr/>
          <p:nvPr/>
        </p:nvSpPr>
        <p:spPr>
          <a:xfrm>
            <a:off x="3416300" y="4051300"/>
            <a:ext cx="26035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dirty="0">
                <a:solidFill>
                  <a:srgbClr val="898781"/>
                </a:solidFill>
                <a:latin typeface="Calibri"/>
                <a:cs typeface="Calibri"/>
              </a:rPr>
              <a:t>atenção</a:t>
            </a:r>
          </a:p>
        </p:txBody>
      </p:sp>
      <p:sp>
        <p:nvSpPr>
          <p:cNvPr id="13" name="forma 13"/>
          <p:cNvSpPr/>
          <p:nvPr/>
        </p:nvSpPr>
        <p:spPr>
          <a:xfrm>
            <a:off x="6146800" y="3721100"/>
            <a:ext cx="2603500" cy="5080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6146800" y="3848100"/>
            <a:ext cx="26035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b="1" dirty="0">
                <a:solidFill>
                  <a:srgbClr val="0B0B0B"/>
                </a:solidFill>
                <a:latin typeface="Calibri"/>
                <a:cs typeface="Calibri"/>
              </a:rPr>
              <a:t>30–60</a:t>
            </a:r>
          </a:p>
        </p:txBody>
      </p:sp>
      <p:sp>
        <p:nvSpPr>
          <p:cNvPr id="15" name="forma 15"/>
          <p:cNvSpPr/>
          <p:nvPr/>
        </p:nvSpPr>
        <p:spPr>
          <a:xfrm>
            <a:off x="6146800" y="4051300"/>
            <a:ext cx="26035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dirty="0">
                <a:solidFill>
                  <a:srgbClr val="898781"/>
                </a:solidFill>
                <a:latin typeface="Calibri"/>
                <a:cs typeface="Calibri"/>
              </a:rPr>
              <a:t>saudável · alvo 45</a:t>
            </a:r>
          </a:p>
        </p:txBody>
      </p:sp>
      <p:sp>
        <p:nvSpPr>
          <p:cNvPr id="16" name="forma 16"/>
          <p:cNvSpPr/>
          <p:nvPr/>
        </p:nvSpPr>
        <p:spPr>
          <a:xfrm>
            <a:off x="8877300" y="3721100"/>
            <a:ext cx="2603500" cy="50800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8877300" y="3848100"/>
            <a:ext cx="26035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b="1" dirty="0">
                <a:solidFill>
                  <a:srgbClr val="0B0B0B"/>
                </a:solidFill>
                <a:latin typeface="Calibri"/>
                <a:cs typeface="Calibri"/>
              </a:rPr>
              <a:t>acima de 60</a:t>
            </a:r>
          </a:p>
        </p:txBody>
      </p:sp>
      <p:sp>
        <p:nvSpPr>
          <p:cNvPr id="18" name="forma 18"/>
          <p:cNvSpPr/>
          <p:nvPr/>
        </p:nvSpPr>
        <p:spPr>
          <a:xfrm>
            <a:off x="8877300" y="4051300"/>
            <a:ext cx="26035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dirty="0">
                <a:solidFill>
                  <a:srgbClr val="898781"/>
                </a:solidFill>
                <a:latin typeface="Calibri"/>
                <a:cs typeface="Calibri"/>
              </a:rPr>
              <a:t>capital parado</a:t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Cobertura = estoque da rede × 30 ÷ média dos 3 últimos meses, a mesma definição da planilha. A referência é a mediana da carteira: método, não volume — nenhum número de outro grupo aparece aqui. Giro = vendas do mês ÷ estoque da rede.</a:t>
            </a:r>
          </a:p>
        </p:txBody>
      </p:sp>
      <p:sp>
        <p:nvSpPr>
          <p:cNvPr id="20" name="forma 20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4 · AS PRAÇAS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Onde você está, praça por praça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1790869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1486069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ÁREA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1486069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0B0B0B"/>
                </a:solidFill>
                <a:latin typeface="Calibri"/>
                <a:cs typeface="Calibri"/>
              </a:rPr>
              <a:t>791 un</a:t>
            </a:r>
          </a:p>
        </p:txBody>
      </p:sp>
      <p:sp>
        <p:nvSpPr>
          <p:cNvPr id="9" name="forma 9"/>
          <p:cNvSpPr/>
          <p:nvPr/>
        </p:nvSpPr>
        <p:spPr>
          <a:xfrm>
            <a:off x="2603669" y="1270000"/>
            <a:ext cx="1790869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2756069" y="1384300"/>
            <a:ext cx="1486069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YAMAHA NA ÁREA</a:t>
            </a:r>
          </a:p>
        </p:txBody>
      </p:sp>
      <p:sp>
        <p:nvSpPr>
          <p:cNvPr id="11" name="forma 11"/>
          <p:cNvSpPr/>
          <p:nvPr/>
        </p:nvSpPr>
        <p:spPr>
          <a:xfrm>
            <a:off x="2756069" y="1574800"/>
            <a:ext cx="1486069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0B0B0B"/>
                </a:solidFill>
                <a:latin typeface="Calibri"/>
                <a:cs typeface="Calibri"/>
              </a:rPr>
              <a:t>161 un</a:t>
            </a:r>
          </a:p>
        </p:txBody>
      </p:sp>
      <p:sp>
        <p:nvSpPr>
          <p:cNvPr id="12" name="forma 12"/>
          <p:cNvSpPr/>
          <p:nvPr/>
        </p:nvSpPr>
        <p:spPr>
          <a:xfrm>
            <a:off x="4521539" y="1270000"/>
            <a:ext cx="1790869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4673939" y="1384300"/>
            <a:ext cx="1486069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SEU SHARE</a:t>
            </a:r>
          </a:p>
        </p:txBody>
      </p:sp>
      <p:sp>
        <p:nvSpPr>
          <p:cNvPr id="14" name="forma 14"/>
          <p:cNvSpPr/>
          <p:nvPr/>
        </p:nvSpPr>
        <p:spPr>
          <a:xfrm>
            <a:off x="4673939" y="1574800"/>
            <a:ext cx="1486069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2A78D6"/>
                </a:solidFill>
                <a:latin typeface="Calibri"/>
                <a:cs typeface="Calibri"/>
              </a:rPr>
              <a:t>20,4%</a:t>
            </a:r>
          </a:p>
        </p:txBody>
      </p:sp>
      <p:sp>
        <p:nvSpPr>
          <p:cNvPr id="15" name="forma 15"/>
          <p:cNvSpPr/>
          <p:nvPr/>
        </p:nvSpPr>
        <p:spPr>
          <a:xfrm>
            <a:off x="685800" y="3149600"/>
            <a:ext cx="3713561" cy="185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b="1" dirty="0">
                <a:solidFill>
                  <a:srgbClr val="0B0B0B"/>
                </a:solidFill>
                <a:latin typeface="Calibri"/>
                <a:cs typeface="Calibri"/>
              </a:rPr>
              <a:t>Ouro Fino</a:t>
            </a:r>
          </a:p>
        </p:txBody>
      </p:sp>
      <p:sp>
        <p:nvSpPr>
          <p:cNvPr id="16" name="forma 16"/>
          <p:cNvSpPr/>
          <p:nvPr/>
        </p:nvSpPr>
        <p:spPr>
          <a:xfrm>
            <a:off x="4399361" y="3149600"/>
            <a:ext cx="1913047" cy="185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200" b="1" dirty="0">
                <a:solidFill>
                  <a:srgbClr val="D64545"/>
                </a:solidFill>
                <a:latin typeface="Calibri"/>
                <a:cs typeface="Calibri"/>
              </a:rPr>
              <a:t>17,0%</a:t>
            </a:r>
          </a:p>
        </p:txBody>
      </p:sp>
      <p:sp>
        <p:nvSpPr>
          <p:cNvPr id="17" name="forma 17"/>
          <p:cNvSpPr/>
          <p:nvPr/>
        </p:nvSpPr>
        <p:spPr>
          <a:xfrm>
            <a:off x="685800" y="3390900"/>
            <a:ext cx="5626608" cy="1016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3390900"/>
            <a:ext cx="4185026" cy="101600"/>
          </a:xfrm>
          <a:prstGeom prst="roundRect">
            <a:avLst>
              <a:gd name="adj" fmla="val 26000"/>
            </a:avLst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6299708" y="3359150"/>
            <a:ext cx="17780" cy="165100"/>
          </a:xfrm>
          <a:prstGeom prst="rect">
            <a:avLst/>
          </a:prstGeom>
          <a:solidFill>
            <a:srgbClr val="52514E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3530600"/>
            <a:ext cx="5626608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dirty="0">
                <a:solidFill>
                  <a:srgbClr val="898781"/>
                </a:solidFill>
                <a:latin typeface="Calibri"/>
                <a:cs typeface="Calibri"/>
              </a:rPr>
              <a:t>29 de 171 emplacadas · −10 un para a referência</a:t>
            </a:r>
          </a:p>
        </p:txBody>
      </p:sp>
      <p:sp>
        <p:nvSpPr>
          <p:cNvPr id="21" name="forma 21"/>
          <p:cNvSpPr/>
          <p:nvPr/>
        </p:nvSpPr>
        <p:spPr>
          <a:xfrm>
            <a:off x="685800" y="4216400"/>
            <a:ext cx="3713561" cy="185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b="1" dirty="0">
                <a:solidFill>
                  <a:srgbClr val="0B0B0B"/>
                </a:solidFill>
                <a:latin typeface="Calibri"/>
                <a:cs typeface="Calibri"/>
              </a:rPr>
              <a:t>Amparo</a:t>
            </a:r>
          </a:p>
        </p:txBody>
      </p:sp>
      <p:sp>
        <p:nvSpPr>
          <p:cNvPr id="22" name="forma 22"/>
          <p:cNvSpPr/>
          <p:nvPr/>
        </p:nvSpPr>
        <p:spPr>
          <a:xfrm>
            <a:off x="4399361" y="4216400"/>
            <a:ext cx="1913047" cy="185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200" b="1" dirty="0">
                <a:solidFill>
                  <a:srgbClr val="D98A0B"/>
                </a:solidFill>
                <a:latin typeface="Calibri"/>
                <a:cs typeface="Calibri"/>
              </a:rPr>
              <a:t>21,3%</a:t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4457700"/>
            <a:ext cx="5626608" cy="1016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685800" y="4457700"/>
            <a:ext cx="5253860" cy="101600"/>
          </a:xfrm>
          <a:prstGeom prst="roundRect">
            <a:avLst>
              <a:gd name="adj" fmla="val 26000"/>
            </a:avLst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6299708" y="4425950"/>
            <a:ext cx="17780" cy="165100"/>
          </a:xfrm>
          <a:prstGeom prst="rect">
            <a:avLst/>
          </a:prstGeom>
          <a:solidFill>
            <a:srgbClr val="52514E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4597400"/>
            <a:ext cx="5626608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dirty="0">
                <a:solidFill>
                  <a:srgbClr val="898781"/>
                </a:solidFill>
                <a:latin typeface="Calibri"/>
                <a:cs typeface="Calibri"/>
              </a:rPr>
              <a:t>132 de 620 emplacadas · −9 un para a referência</a:t>
            </a:r>
          </a:p>
        </p:txBody>
      </p:sp>
      <p:sp>
        <p:nvSpPr>
          <p:cNvPr id="27" name="forma 27"/>
          <p:cNvSpPr/>
          <p:nvPr/>
        </p:nvSpPr>
        <p:spPr>
          <a:xfrm>
            <a:off x="6745224" y="1270000"/>
            <a:ext cx="4760976" cy="978852"/>
          </a:xfrm>
          <a:prstGeom prst="roundRect">
            <a:avLst>
              <a:gd name="adj" fmla="val 7000"/>
            </a:avLst>
          </a:prstGeom>
          <a:solidFill>
            <a:srgbClr val="FBEAEA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6745224" y="1270000"/>
            <a:ext cx="50800" cy="978852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9" name="forma 29"/>
          <p:cNvSpPr/>
          <p:nvPr/>
        </p:nvSpPr>
        <p:spPr>
          <a:xfrm>
            <a:off x="6948424" y="1397000"/>
            <a:ext cx="2220976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CONCENTRAÇÃO DO GAP</a:t>
            </a:r>
          </a:p>
        </p:txBody>
      </p:sp>
      <p:sp>
        <p:nvSpPr>
          <p:cNvPr id="30" name="forma 30"/>
          <p:cNvSpPr/>
          <p:nvPr/>
        </p:nvSpPr>
        <p:spPr>
          <a:xfrm>
            <a:off x="9169400" y="13716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64545"/>
                </a:solidFill>
                <a:latin typeface="Calibri"/>
                <a:cs typeface="Calibri"/>
              </a:rPr>
              <a:t>52%</a:t>
            </a:r>
          </a:p>
        </p:txBody>
      </p:sp>
      <p:sp>
        <p:nvSpPr>
          <p:cNvPr id="31" name="forma 31"/>
          <p:cNvSpPr/>
          <p:nvPr/>
        </p:nvSpPr>
        <p:spPr>
          <a:xfrm>
            <a:off x="6948424" y="1651000"/>
            <a:ext cx="2220976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Ouro Fino sozinha responde por 52% das 19 un/mês que faltam.</a:t>
            </a:r>
          </a:p>
        </p:txBody>
      </p:sp>
      <p:sp>
        <p:nvSpPr>
          <p:cNvPr id="32" name="forma 32"/>
          <p:cNvSpPr/>
          <p:nvPr/>
        </p:nvSpPr>
        <p:spPr>
          <a:xfrm>
            <a:off x="6745224" y="2426653"/>
            <a:ext cx="4760976" cy="1424305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3" name="forma 33"/>
          <p:cNvSpPr/>
          <p:nvPr/>
        </p:nvSpPr>
        <p:spPr>
          <a:xfrm>
            <a:off x="6745224" y="2426653"/>
            <a:ext cx="50800" cy="1424305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6948424" y="2553653"/>
            <a:ext cx="2220976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RECUPERANDO METADE DO GAP</a:t>
            </a:r>
          </a:p>
        </p:txBody>
      </p:sp>
      <p:sp>
        <p:nvSpPr>
          <p:cNvPr id="35" name="forma 35"/>
          <p:cNvSpPr/>
          <p:nvPr/>
        </p:nvSpPr>
        <p:spPr>
          <a:xfrm>
            <a:off x="9169400" y="2528253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4B9B3F"/>
                </a:solidFill>
                <a:latin typeface="Calibri"/>
                <a:cs typeface="Calibri"/>
              </a:rPr>
              <a:t>+10</a:t>
            </a:r>
          </a:p>
        </p:txBody>
      </p:sp>
      <p:sp>
        <p:nvSpPr>
          <p:cNvPr id="36" name="forma 36"/>
          <p:cNvSpPr/>
          <p:nvPr/>
        </p:nvSpPr>
        <p:spPr>
          <a:xfrm>
            <a:off x="6948424" y="2807653"/>
            <a:ext cx="2220976" cy="89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São 10 un/mês a mais, sem depender de o mercado crescer. O fator de recuperação 0,5 vai declarado: não é o gap inteiro.</a:t>
            </a:r>
          </a:p>
        </p:txBody>
      </p:sp>
      <p:sp>
        <p:nvSpPr>
          <p:cNvPr id="37" name="forma 37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O volume da praça é toda a Yamaha emplacada na área, tenha vendido quem tiver. Referência = 22,8%, share Yamaha somado das 13 áreas deste arquivo; não é média do estado. Share ponderado pelo mercado.</a:t>
            </a:r>
          </a:p>
        </p:txBody>
      </p:sp>
      <p:sp>
        <p:nvSpPr>
          <p:cNvPr id="38" name="forma 3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PRAÇA 1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Amparo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PRAÇA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0B0B0B"/>
                </a:solidFill>
                <a:latin typeface="Calibri"/>
                <a:cs typeface="Calibri"/>
              </a:rPr>
              <a:t>620 un/mês</a:t>
            </a:r>
          </a:p>
        </p:txBody>
      </p:sp>
      <p:sp>
        <p:nvSpPr>
          <p:cNvPr id="9" name="forma 9"/>
          <p:cNvSpPr/>
          <p:nvPr/>
        </p:nvSpPr>
        <p:spPr>
          <a:xfrm>
            <a:off x="342265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VOCÊ HOJE</a:t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0B0B0B"/>
                </a:solidFill>
                <a:latin typeface="Calibri"/>
                <a:cs typeface="Calibri"/>
              </a:rPr>
              <a:t>132 un/mês</a:t>
            </a:r>
          </a:p>
        </p:txBody>
      </p:sp>
      <p:sp>
        <p:nvSpPr>
          <p:cNvPr id="12" name="forma 12"/>
          <p:cNvSpPr/>
          <p:nvPr/>
        </p:nvSpPr>
        <p:spPr>
          <a:xfrm>
            <a:off x="615950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SEU SHARE</a:t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D98A0B"/>
                </a:solidFill>
                <a:latin typeface="Calibri"/>
                <a:cs typeface="Calibri"/>
              </a:rPr>
              <a:t>21,3%</a:t>
            </a:r>
          </a:p>
        </p:txBody>
      </p:sp>
      <p:sp>
        <p:nvSpPr>
          <p:cNvPr id="15" name="forma 15"/>
          <p:cNvSpPr/>
          <p:nvPr/>
        </p:nvSpPr>
        <p:spPr>
          <a:xfrm>
            <a:off x="889635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SHARE NO TETO</a:t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2A78D6"/>
                </a:solidFill>
                <a:latin typeface="Calibri"/>
                <a:cs typeface="Calibri"/>
              </a:rPr>
              <a:t>23,6%</a:t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22352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22352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889000" y="23622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FAZENDO EM CADA SEGMENTO O QUE AS DEMAIS ÁREAS JÁ FAZ</a:t>
            </a:r>
          </a:p>
        </p:txBody>
      </p:sp>
      <p:sp>
        <p:nvSpPr>
          <p:cNvPr id="21" name="forma 21"/>
          <p:cNvSpPr/>
          <p:nvPr/>
        </p:nvSpPr>
        <p:spPr>
          <a:xfrm>
            <a:off x="9169400" y="23368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132 → 147</a:t>
            </a:r>
          </a:p>
        </p:txBody>
      </p:sp>
      <p:sp>
        <p:nvSpPr>
          <p:cNvPr id="22" name="forma 22"/>
          <p:cNvSpPr/>
          <p:nvPr/>
        </p:nvSpPr>
        <p:spPr>
          <a:xfrm>
            <a:off x="889000" y="26162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São +15 un/mês em Amparo, sem depender de o mercado crescer. Pegando metade do caminho, o alvo do trimestre é 139 un/mês.</a:t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3417253"/>
            <a:ext cx="10820400" cy="193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50" b="1" dirty="0">
                <a:solidFill>
                  <a:srgbClr val="0B0B0B"/>
                </a:solidFill>
                <a:latin typeface="Calibri"/>
                <a:cs typeface="Calibri"/>
              </a:rPr>
              <a:t>De onde sai esse volume</a:t>
            </a:r>
          </a:p>
        </p:txBody>
      </p:sp>
      <p:graphicFrame>
        <p:nvGraphicFramePr>
          <p:cNvPr id="24" name="tabela 24"/>
          <p:cNvGraphicFramePr>
            <a:graphicFrameLocks noGrp="1"/>
          </p:cNvGraphicFramePr>
          <p:nvPr/>
        </p:nvGraphicFramePr>
        <p:xfrm>
          <a:off x="685800" y="3687128"/>
          <a:ext cx="10820400" cy="18034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6248400"/>
                <a:gridCol w="1143000"/>
                <a:gridCol w="1143000"/>
                <a:gridCol w="1143000"/>
                <a:gridCol w="1143000"/>
              </a:tblGrid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Peso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Você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Referência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Ganho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150–199cc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35%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Street/n 300–500cc Premium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30%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200–500cc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8%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37%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+2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Scooter 201–449cc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39%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48%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+2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150–199cc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12%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forma 25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O peso de cada segmento é o da própria praça — é Amparo que diz o que se vende ali. Só a penetração por segmento vem da referência, e nenhuma praça é comparada com ela mesma.</a:t>
            </a:r>
          </a:p>
        </p:txBody>
      </p:sp>
      <p:sp>
        <p:nvSpPr>
          <p:cNvPr id="26" name="forma 26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PRAÇA 2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Ouro Fino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PRAÇA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0B0B0B"/>
                </a:solidFill>
                <a:latin typeface="Calibri"/>
                <a:cs typeface="Calibri"/>
              </a:rPr>
              <a:t>171 un/mês</a:t>
            </a:r>
          </a:p>
        </p:txBody>
      </p:sp>
      <p:sp>
        <p:nvSpPr>
          <p:cNvPr id="9" name="forma 9"/>
          <p:cNvSpPr/>
          <p:nvPr/>
        </p:nvSpPr>
        <p:spPr>
          <a:xfrm>
            <a:off x="342265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VOCÊ HOJE</a:t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0B0B0B"/>
                </a:solidFill>
                <a:latin typeface="Calibri"/>
                <a:cs typeface="Calibri"/>
              </a:rPr>
              <a:t>29 un/mês</a:t>
            </a:r>
          </a:p>
        </p:txBody>
      </p:sp>
      <p:sp>
        <p:nvSpPr>
          <p:cNvPr id="12" name="forma 12"/>
          <p:cNvSpPr/>
          <p:nvPr/>
        </p:nvSpPr>
        <p:spPr>
          <a:xfrm>
            <a:off x="615950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SEU SHARE</a:t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D64545"/>
                </a:solidFill>
                <a:latin typeface="Calibri"/>
                <a:cs typeface="Calibri"/>
              </a:rPr>
              <a:t>17,0%</a:t>
            </a:r>
          </a:p>
        </p:txBody>
      </p:sp>
      <p:sp>
        <p:nvSpPr>
          <p:cNvPr id="15" name="forma 15"/>
          <p:cNvSpPr/>
          <p:nvPr/>
        </p:nvSpPr>
        <p:spPr>
          <a:xfrm>
            <a:off x="8896350" y="1270000"/>
            <a:ext cx="2609850" cy="7874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SHARE NO TETO</a:t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574800"/>
            <a:ext cx="2305050" cy="294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2A78D6"/>
                </a:solidFill>
                <a:latin typeface="Calibri"/>
                <a:cs typeface="Calibri"/>
              </a:rPr>
              <a:t>22,9%</a:t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22352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22352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889000" y="23622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FAZENDO EM CADA SEGMENTO O QUE AS DEMAIS ÁREAS JÁ FAZ</a:t>
            </a:r>
          </a:p>
        </p:txBody>
      </p:sp>
      <p:sp>
        <p:nvSpPr>
          <p:cNvPr id="21" name="forma 21"/>
          <p:cNvSpPr/>
          <p:nvPr/>
        </p:nvSpPr>
        <p:spPr>
          <a:xfrm>
            <a:off x="9169400" y="23368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29 → 39</a:t>
            </a:r>
          </a:p>
        </p:txBody>
      </p:sp>
      <p:sp>
        <p:nvSpPr>
          <p:cNvPr id="22" name="forma 22"/>
          <p:cNvSpPr/>
          <p:nvPr/>
        </p:nvSpPr>
        <p:spPr>
          <a:xfrm>
            <a:off x="889000" y="26162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São +10 un/mês em Ouro Fino, sem depender de o mercado crescer. Pegando metade do caminho, o alvo do trimestre é 34 un/mês.</a:t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3417253"/>
            <a:ext cx="10820400" cy="193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50" b="1" dirty="0">
                <a:solidFill>
                  <a:srgbClr val="0B0B0B"/>
                </a:solidFill>
                <a:latin typeface="Calibri"/>
                <a:cs typeface="Calibri"/>
              </a:rPr>
              <a:t>De onde sai esse volume</a:t>
            </a:r>
          </a:p>
        </p:txBody>
      </p:sp>
      <p:graphicFrame>
        <p:nvGraphicFramePr>
          <p:cNvPr id="24" name="tabela 24"/>
          <p:cNvGraphicFramePr>
            <a:graphicFrameLocks noGrp="1"/>
          </p:cNvGraphicFramePr>
          <p:nvPr/>
        </p:nvGraphicFramePr>
        <p:xfrm>
          <a:off x="685800" y="3687128"/>
          <a:ext cx="10820400" cy="11938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6248400"/>
                <a:gridCol w="1143000"/>
                <a:gridCol w="1143000"/>
                <a:gridCol w="1143000"/>
                <a:gridCol w="1143000"/>
              </a:tblGrid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Peso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Você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Referência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Ganho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150–199cc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35%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150–199cc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17%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+4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Scooter até 200cc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39%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forma 25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O peso de cada segmento é o da própria praça — é Ouro Fino que diz o que se vende ali. Só a penetração por segmento vem da referência, e nenhuma praça é comparada com ela mesma.</a:t>
            </a:r>
          </a:p>
        </p:txBody>
      </p:sp>
      <p:sp>
        <p:nvSpPr>
          <p:cNvPr id="26" name="forma 26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5 · SEU LUGAR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Share Yamaha por área operacional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1º</a:t>
            </a:r>
          </a:p>
        </p:txBody>
      </p:sp>
      <p:sp>
        <p:nvSpPr>
          <p:cNvPr id="7" name="forma 7"/>
          <p:cNvSpPr/>
          <p:nvPr/>
        </p:nvSpPr>
        <p:spPr>
          <a:xfrm>
            <a:off x="1193800" y="12954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8" name="forma 8"/>
          <p:cNvSpPr/>
          <p:nvPr/>
        </p:nvSpPr>
        <p:spPr>
          <a:xfrm>
            <a:off x="3200400" y="1343406"/>
            <a:ext cx="7010400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9" name="forma 9"/>
          <p:cNvSpPr/>
          <p:nvPr/>
        </p:nvSpPr>
        <p:spPr>
          <a:xfrm>
            <a:off x="685800" y="15621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2º</a:t>
            </a:r>
          </a:p>
        </p:txBody>
      </p:sp>
      <p:sp>
        <p:nvSpPr>
          <p:cNvPr id="10" name="forma 10"/>
          <p:cNvSpPr/>
          <p:nvPr/>
        </p:nvSpPr>
        <p:spPr>
          <a:xfrm>
            <a:off x="1193800" y="15621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11" name="forma 11"/>
          <p:cNvSpPr/>
          <p:nvPr/>
        </p:nvSpPr>
        <p:spPr>
          <a:xfrm>
            <a:off x="3200400" y="1610106"/>
            <a:ext cx="6915408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2" name="forma 12"/>
          <p:cNvSpPr/>
          <p:nvPr/>
        </p:nvSpPr>
        <p:spPr>
          <a:xfrm>
            <a:off x="685800" y="18288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3º</a:t>
            </a:r>
          </a:p>
        </p:txBody>
      </p:sp>
      <p:sp>
        <p:nvSpPr>
          <p:cNvPr id="13" name="forma 13"/>
          <p:cNvSpPr/>
          <p:nvPr/>
        </p:nvSpPr>
        <p:spPr>
          <a:xfrm>
            <a:off x="1193800" y="18288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14" name="forma 14"/>
          <p:cNvSpPr/>
          <p:nvPr/>
        </p:nvSpPr>
        <p:spPr>
          <a:xfrm>
            <a:off x="3200400" y="1876806"/>
            <a:ext cx="5940384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85800" y="20955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4º</a:t>
            </a:r>
          </a:p>
        </p:txBody>
      </p:sp>
      <p:sp>
        <p:nvSpPr>
          <p:cNvPr id="16" name="forma 16"/>
          <p:cNvSpPr/>
          <p:nvPr/>
        </p:nvSpPr>
        <p:spPr>
          <a:xfrm>
            <a:off x="1193800" y="20955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17" name="forma 17"/>
          <p:cNvSpPr/>
          <p:nvPr/>
        </p:nvSpPr>
        <p:spPr>
          <a:xfrm>
            <a:off x="3200400" y="2143506"/>
            <a:ext cx="5592313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23622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5º</a:t>
            </a:r>
          </a:p>
        </p:txBody>
      </p:sp>
      <p:sp>
        <p:nvSpPr>
          <p:cNvPr id="19" name="forma 19"/>
          <p:cNvSpPr/>
          <p:nvPr/>
        </p:nvSpPr>
        <p:spPr>
          <a:xfrm>
            <a:off x="1193800" y="23622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20" name="forma 20"/>
          <p:cNvSpPr/>
          <p:nvPr/>
        </p:nvSpPr>
        <p:spPr>
          <a:xfrm>
            <a:off x="3200400" y="2410206"/>
            <a:ext cx="5543526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1" name="forma 21"/>
          <p:cNvSpPr/>
          <p:nvPr/>
        </p:nvSpPr>
        <p:spPr>
          <a:xfrm>
            <a:off x="685800" y="26289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6º</a:t>
            </a:r>
          </a:p>
        </p:txBody>
      </p:sp>
      <p:sp>
        <p:nvSpPr>
          <p:cNvPr id="22" name="forma 22"/>
          <p:cNvSpPr/>
          <p:nvPr/>
        </p:nvSpPr>
        <p:spPr>
          <a:xfrm>
            <a:off x="1193800" y="26289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23" name="forma 23"/>
          <p:cNvSpPr/>
          <p:nvPr/>
        </p:nvSpPr>
        <p:spPr>
          <a:xfrm>
            <a:off x="3200400" y="2676906"/>
            <a:ext cx="5336234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685800" y="28956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7º</a:t>
            </a:r>
          </a:p>
        </p:txBody>
      </p:sp>
      <p:sp>
        <p:nvSpPr>
          <p:cNvPr id="25" name="forma 25"/>
          <p:cNvSpPr/>
          <p:nvPr/>
        </p:nvSpPr>
        <p:spPr>
          <a:xfrm>
            <a:off x="1193800" y="28956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b="1" dirty="0">
                <a:solidFill>
                  <a:srgbClr val="0B0B0B"/>
                </a:solidFill>
                <a:latin typeface="Calibri"/>
                <a:cs typeface="Calibri"/>
              </a:rPr>
              <a:t>Amparo</a:t>
            </a:r>
          </a:p>
        </p:txBody>
      </p:sp>
      <p:sp>
        <p:nvSpPr>
          <p:cNvPr id="26" name="forma 26"/>
          <p:cNvSpPr/>
          <p:nvPr/>
        </p:nvSpPr>
        <p:spPr>
          <a:xfrm>
            <a:off x="3200400" y="2943606"/>
            <a:ext cx="4586820" cy="154686"/>
          </a:xfrm>
          <a:prstGeom prst="roundRect">
            <a:avLst>
              <a:gd name="adj" fmla="val 26000"/>
            </a:avLst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7" name="forma 27"/>
          <p:cNvSpPr/>
          <p:nvPr/>
        </p:nvSpPr>
        <p:spPr>
          <a:xfrm>
            <a:off x="10363200" y="2895600"/>
            <a:ext cx="1143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b="1" dirty="0">
                <a:solidFill>
                  <a:srgbClr val="2A78D6"/>
                </a:solidFill>
                <a:latin typeface="Calibri"/>
                <a:cs typeface="Calibri"/>
              </a:rPr>
              <a:t>21,3%</a:t>
            </a:r>
          </a:p>
        </p:txBody>
      </p:sp>
      <p:sp>
        <p:nvSpPr>
          <p:cNvPr id="28" name="forma 28"/>
          <p:cNvSpPr/>
          <p:nvPr/>
        </p:nvSpPr>
        <p:spPr>
          <a:xfrm>
            <a:off x="685800" y="31623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8º</a:t>
            </a:r>
          </a:p>
        </p:txBody>
      </p:sp>
      <p:sp>
        <p:nvSpPr>
          <p:cNvPr id="29" name="forma 29"/>
          <p:cNvSpPr/>
          <p:nvPr/>
        </p:nvSpPr>
        <p:spPr>
          <a:xfrm>
            <a:off x="1193800" y="31623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30" name="forma 30"/>
          <p:cNvSpPr/>
          <p:nvPr/>
        </p:nvSpPr>
        <p:spPr>
          <a:xfrm>
            <a:off x="3200400" y="3210306"/>
            <a:ext cx="4526788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685800" y="34290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9º</a:t>
            </a:r>
          </a:p>
        </p:txBody>
      </p:sp>
      <p:sp>
        <p:nvSpPr>
          <p:cNvPr id="32" name="forma 32"/>
          <p:cNvSpPr/>
          <p:nvPr/>
        </p:nvSpPr>
        <p:spPr>
          <a:xfrm>
            <a:off x="1193800" y="34290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33" name="forma 33"/>
          <p:cNvSpPr/>
          <p:nvPr/>
        </p:nvSpPr>
        <p:spPr>
          <a:xfrm>
            <a:off x="3200400" y="3477006"/>
            <a:ext cx="4113609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685800" y="36957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10º</a:t>
            </a:r>
          </a:p>
        </p:txBody>
      </p:sp>
      <p:sp>
        <p:nvSpPr>
          <p:cNvPr id="35" name="forma 35"/>
          <p:cNvSpPr/>
          <p:nvPr/>
        </p:nvSpPr>
        <p:spPr>
          <a:xfrm>
            <a:off x="1193800" y="36957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b="1" dirty="0">
                <a:solidFill>
                  <a:srgbClr val="0B0B0B"/>
                </a:solidFill>
                <a:latin typeface="Calibri"/>
                <a:cs typeface="Calibri"/>
              </a:rPr>
              <a:t>Ouro Fino</a:t>
            </a:r>
          </a:p>
        </p:txBody>
      </p:sp>
      <p:sp>
        <p:nvSpPr>
          <p:cNvPr id="36" name="forma 36"/>
          <p:cNvSpPr/>
          <p:nvPr/>
        </p:nvSpPr>
        <p:spPr>
          <a:xfrm>
            <a:off x="3200400" y="3743706"/>
            <a:ext cx="3653687" cy="154686"/>
          </a:xfrm>
          <a:prstGeom prst="roundRect">
            <a:avLst>
              <a:gd name="adj" fmla="val 26000"/>
            </a:avLst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10363200" y="3695700"/>
            <a:ext cx="1143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b="1" dirty="0">
                <a:solidFill>
                  <a:srgbClr val="2A78D6"/>
                </a:solidFill>
                <a:latin typeface="Calibri"/>
                <a:cs typeface="Calibri"/>
              </a:rPr>
              <a:t>17,0%</a:t>
            </a:r>
          </a:p>
        </p:txBody>
      </p:sp>
      <p:sp>
        <p:nvSpPr>
          <p:cNvPr id="38" name="forma 38"/>
          <p:cNvSpPr/>
          <p:nvPr/>
        </p:nvSpPr>
        <p:spPr>
          <a:xfrm>
            <a:off x="685800" y="39624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11º</a:t>
            </a:r>
          </a:p>
        </p:txBody>
      </p:sp>
      <p:sp>
        <p:nvSpPr>
          <p:cNvPr id="39" name="forma 39"/>
          <p:cNvSpPr/>
          <p:nvPr/>
        </p:nvSpPr>
        <p:spPr>
          <a:xfrm>
            <a:off x="1193800" y="39624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40" name="forma 40"/>
          <p:cNvSpPr/>
          <p:nvPr/>
        </p:nvSpPr>
        <p:spPr>
          <a:xfrm>
            <a:off x="3200400" y="4010406"/>
            <a:ext cx="3231623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1" name="forma 41"/>
          <p:cNvSpPr/>
          <p:nvPr/>
        </p:nvSpPr>
        <p:spPr>
          <a:xfrm>
            <a:off x="685800" y="42291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12º</a:t>
            </a:r>
          </a:p>
        </p:txBody>
      </p:sp>
      <p:sp>
        <p:nvSpPr>
          <p:cNvPr id="42" name="forma 42"/>
          <p:cNvSpPr/>
          <p:nvPr/>
        </p:nvSpPr>
        <p:spPr>
          <a:xfrm>
            <a:off x="1193800" y="42291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43" name="forma 43"/>
          <p:cNvSpPr/>
          <p:nvPr/>
        </p:nvSpPr>
        <p:spPr>
          <a:xfrm>
            <a:off x="3200400" y="4277106"/>
            <a:ext cx="2804565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4" name="forma 44"/>
          <p:cNvSpPr/>
          <p:nvPr/>
        </p:nvSpPr>
        <p:spPr>
          <a:xfrm>
            <a:off x="685800" y="4495800"/>
            <a:ext cx="406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13º</a:t>
            </a:r>
          </a:p>
        </p:txBody>
      </p:sp>
      <p:sp>
        <p:nvSpPr>
          <p:cNvPr id="45" name="forma 45"/>
          <p:cNvSpPr/>
          <p:nvPr/>
        </p:nvSpPr>
        <p:spPr>
          <a:xfrm>
            <a:off x="1193800" y="4495800"/>
            <a:ext cx="1905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—</a:t>
            </a:r>
          </a:p>
        </p:txBody>
      </p:sp>
      <p:sp>
        <p:nvSpPr>
          <p:cNvPr id="46" name="forma 46"/>
          <p:cNvSpPr/>
          <p:nvPr/>
        </p:nvSpPr>
        <p:spPr>
          <a:xfrm>
            <a:off x="3200400" y="4543806"/>
            <a:ext cx="1173197" cy="154686"/>
          </a:xfrm>
          <a:prstGeom prst="roundRect">
            <a:avLst>
              <a:gd name="adj" fmla="val 26000"/>
            </a:avLst>
          </a:prstGeom>
          <a:solidFill>
            <a:srgbClr val="DCDBD4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7" name="forma 47"/>
          <p:cNvSpPr/>
          <p:nvPr/>
        </p:nvSpPr>
        <p:spPr>
          <a:xfrm>
            <a:off x="685800" y="5410200"/>
            <a:ext cx="10820400" cy="756126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8" name="forma 48"/>
          <p:cNvSpPr/>
          <p:nvPr/>
        </p:nvSpPr>
        <p:spPr>
          <a:xfrm>
            <a:off x="685800" y="5410200"/>
            <a:ext cx="50800" cy="756126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9" name="forma 49"/>
          <p:cNvSpPr/>
          <p:nvPr/>
        </p:nvSpPr>
        <p:spPr>
          <a:xfrm>
            <a:off x="889000" y="55372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SUA POSIÇÃO</a:t>
            </a:r>
          </a:p>
        </p:txBody>
      </p:sp>
      <p:sp>
        <p:nvSpPr>
          <p:cNvPr id="50" name="forma 50"/>
          <p:cNvSpPr/>
          <p:nvPr/>
        </p:nvSpPr>
        <p:spPr>
          <a:xfrm>
            <a:off x="9169400" y="55118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4B9B3F"/>
                </a:solidFill>
                <a:latin typeface="Calibri"/>
                <a:cs typeface="Calibri"/>
              </a:rPr>
              <a:t>7º · 10º</a:t>
            </a:r>
          </a:p>
        </p:txBody>
      </p:sp>
      <p:sp>
        <p:nvSpPr>
          <p:cNvPr id="51" name="forma 51"/>
          <p:cNvSpPr/>
          <p:nvPr/>
        </p:nvSpPr>
        <p:spPr>
          <a:xfrm>
            <a:off x="889000" y="5791200"/>
            <a:ext cx="8280400" cy="2227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de 13 áreas. As outras ficam sem nome de propósito — o que importa é que existe gente na mesma condição fazendo mais.</a:t>
            </a:r>
          </a:p>
        </p:txBody>
      </p:sp>
      <p:sp>
        <p:nvSpPr>
          <p:cNvPr id="52" name="forma 52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Share do mês fechado, por área operacional, dentro da carteira deste arquivo.</a:t>
            </a:r>
          </a:p>
        </p:txBody>
      </p:sp>
      <p:sp>
        <p:nvSpPr>
          <p:cNvPr id="53" name="forma 53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· ONDE VOCÊ ESTÁ AGORA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Agosto até 19/08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CARTA DO MÊS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9" name="forma 9"/>
          <p:cNvSpPr/>
          <p:nvPr/>
        </p:nvSpPr>
        <p:spPr>
          <a:xfrm>
            <a:off x="342265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5750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VENDIDO ATÉ AQUI</a:t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87 un</a:t>
            </a:r>
          </a:p>
        </p:txBody>
      </p:sp>
      <p:sp>
        <p:nvSpPr>
          <p:cNvPr id="12" name="forma 12"/>
          <p:cNvSpPr/>
          <p:nvPr/>
        </p:nvSpPr>
        <p:spPr>
          <a:xfrm>
            <a:off x="615950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63119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PROJEÇÃO DE FECHAMENTO</a:t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98A0B"/>
                </a:solidFill>
                <a:latin typeface="Calibri"/>
                <a:cs typeface="Calibri"/>
              </a:rPr>
              <a:t>153 un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981200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95,8% da carta</a:t>
            </a:r>
          </a:p>
        </p:txBody>
      </p:sp>
      <p:sp>
        <p:nvSpPr>
          <p:cNvPr id="16" name="forma 16"/>
          <p:cNvSpPr/>
          <p:nvPr/>
        </p:nvSpPr>
        <p:spPr>
          <a:xfrm>
            <a:off x="889635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POSIÇÃO NA REDE</a:t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5º de 9</a:t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2387600"/>
            <a:ext cx="10820400" cy="756126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387600"/>
            <a:ext cx="50800" cy="756126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1" name="forma 21"/>
          <p:cNvSpPr/>
          <p:nvPr/>
        </p:nvSpPr>
        <p:spPr>
          <a:xfrm>
            <a:off x="889000" y="2514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QUE FALTA</a:t>
            </a:r>
          </a:p>
        </p:txBody>
      </p:sp>
      <p:sp>
        <p:nvSpPr>
          <p:cNvPr id="22" name="forma 22"/>
          <p:cNvSpPr/>
          <p:nvPr/>
        </p:nvSpPr>
        <p:spPr>
          <a:xfrm>
            <a:off x="9169400" y="2489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3" name="forma 23"/>
          <p:cNvSpPr/>
          <p:nvPr/>
        </p:nvSpPr>
        <p:spPr>
          <a:xfrm>
            <a:off x="889000" y="2768600"/>
            <a:ext cx="8280400" cy="2227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No ritmo de 6,7 un/dia o mês fecha em 153 un. Precisa subir para 9,1 un/dia nos 8 dias úteis que restam.</a:t>
            </a:r>
          </a:p>
        </p:txBody>
      </p:sp>
      <p:sp>
        <p:nvSpPr>
          <p:cNvPr id="24" name="forma 24"/>
          <p:cNvSpPr/>
          <p:nvPr/>
        </p:nvSpPr>
        <p:spPr>
          <a:xfrm>
            <a:off x="685800" y="3372326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13 de 21 dias úteis corridos</a:t>
            </a:r>
          </a:p>
        </p:txBody>
      </p:sp>
      <p:sp>
        <p:nvSpPr>
          <p:cNvPr id="25" name="forma 25"/>
          <p:cNvSpPr/>
          <p:nvPr/>
        </p:nvSpPr>
        <p:spPr>
          <a:xfrm>
            <a:off x="685800" y="3662013"/>
            <a:ext cx="1651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Faz hoje</a:t>
            </a:r>
          </a:p>
        </p:txBody>
      </p:sp>
      <p:sp>
        <p:nvSpPr>
          <p:cNvPr id="26" name="forma 26"/>
          <p:cNvSpPr/>
          <p:nvPr/>
        </p:nvSpPr>
        <p:spPr>
          <a:xfrm>
            <a:off x="2463800" y="3674713"/>
            <a:ext cx="7010400" cy="1778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7" name="forma 27"/>
          <p:cNvSpPr/>
          <p:nvPr/>
        </p:nvSpPr>
        <p:spPr>
          <a:xfrm>
            <a:off x="2463800" y="3674713"/>
            <a:ext cx="5141452" cy="177800"/>
          </a:xfrm>
          <a:prstGeom prst="roundRect">
            <a:avLst>
              <a:gd name="adj" fmla="val 26000"/>
            </a:avLst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9601200" y="3662013"/>
            <a:ext cx="1905000" cy="185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200" b="1" dirty="0">
                <a:solidFill>
                  <a:srgbClr val="2A78D6"/>
                </a:solidFill>
                <a:latin typeface="Calibri"/>
                <a:cs typeface="Calibri"/>
              </a:rPr>
              <a:t>6,7 un/dia</a:t>
            </a:r>
          </a:p>
        </p:txBody>
      </p:sp>
      <p:sp>
        <p:nvSpPr>
          <p:cNvPr id="29" name="forma 29"/>
          <p:cNvSpPr/>
          <p:nvPr/>
        </p:nvSpPr>
        <p:spPr>
          <a:xfrm>
            <a:off x="685800" y="4170013"/>
            <a:ext cx="1651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Precisa fazer</a:t>
            </a:r>
          </a:p>
        </p:txBody>
      </p:sp>
      <p:sp>
        <p:nvSpPr>
          <p:cNvPr id="30" name="forma 30"/>
          <p:cNvSpPr/>
          <p:nvPr/>
        </p:nvSpPr>
        <p:spPr>
          <a:xfrm>
            <a:off x="2463800" y="4182713"/>
            <a:ext cx="7010400" cy="1778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2463800" y="4182713"/>
            <a:ext cx="7010400" cy="177800"/>
          </a:xfrm>
          <a:prstGeom prst="roundRect">
            <a:avLst>
              <a:gd name="adj" fmla="val 26000"/>
            </a:avLst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2" name="forma 32"/>
          <p:cNvSpPr/>
          <p:nvPr/>
        </p:nvSpPr>
        <p:spPr>
          <a:xfrm>
            <a:off x="9601200" y="4170013"/>
            <a:ext cx="1905000" cy="185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200" b="1" dirty="0">
                <a:solidFill>
                  <a:srgbClr val="D64545"/>
                </a:solidFill>
                <a:latin typeface="Calibri"/>
                <a:cs typeface="Calibri"/>
              </a:rPr>
              <a:t>9,1 un/dia</a:t>
            </a:r>
          </a:p>
        </p:txBody>
      </p:sp>
      <p:sp>
        <p:nvSpPr>
          <p:cNvPr id="33" name="forma 3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Carta, varejo e posição são do grupo inteiro — a planilha não separa meta por praça. A projeção pondera os últimos dias úteis do mês, que concentram a venda.</a:t>
            </a:r>
          </a:p>
        </p:txBody>
      </p:sp>
      <p:sp>
        <p:nvSpPr>
          <p:cNvPr id="34" name="forma 34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1 DE 5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42443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21899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o ritmo de vendas para fechar a carta de agosto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Vendidas 87 un de uma carta de 160 (54,4%) em 13 dos 21 dias úteis. No ritmo atual de 6,7 un/dia o mês fecha em 153 un (95,8%), 7 un abaixo da carta. 5º de 9 na rede.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Elevar o ritmo para 9,1 un/dia nos 8 dias úteis restantes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Levantar propostas em aberto e negociações paradas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Força-tarefa de fechamento nos 3 últimos dias úteis, que concentram a venda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Revisar estoque dos modelos de maior giro (hoje 28 dias)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Fechar agosto com 160 un (100% da carta). Faltam 73 un. Acompanhar o atingimento diariamente.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150–199cc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no território caiu de 17,1% para 14,6% (−2,5pp), o que representa −11,7 un/mês. O segmento movimenta 250 un/mês na área e encolheu 12% contra a média de Abr–Jun. Honda ganhou 5,9pp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5,9pp e hoje tem 79,9% do segmento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 segmento encolheu 12% na área: priorizar conversão dos leads que ainda entram, em vez de esperar o mercado voltar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17,1% no segmento = +6 un/mês. Medir semanalmente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888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Atibaia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 movimenta 173 un/mês e a Yamaha tem só 14,3% de share ali, contra 20,4% no restante do território. A diferença vale 10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Avaliar parceria com revenda local ou ponto de apoio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Atibaia = +10 un/mês. Acompanhar o emplacamento da cidade mês a mês.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 · fechamento de julho de 2026 por modelo, estoque e praça. Mesmas linhas do Plano de Ação em Excel, no mesmo formato do grupo.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2 DE 5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67609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869745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os segmentos com espaço em Amparo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 praça movimenta 620 un/mês e a Yamaha tem 21,3% de share ali. Fazendo em cada segmento o que as demais áreas do arquivo já fazem, seriam 147 un/mês em vez de 132 — 15 un/mês na mesa. A maior fatia está em Street 150–199cc (16% contra 19%, +7 un); Street/n 300–500cc Premium (13% contra 30%, +3 un); On/off 200–500cc (33% contra 37%, +2 un).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Street 150–199cc: sair de 16% para 19% de share (35% do mercado da praça) — garantir estoque, exposição e argumento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Street/n 300–500cc Premium: sair de 13% para 30% de share (3% do mercado da praça) — garantir estoque, exposição e argumento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On/off 200–500cc: sair de 33% para 37% de share (8% do mercado da praça) — garantir estoque, exposição e argumento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Comparar a operação de Amparo com a de as demais áreas do arquivo: mix de estoque, cobertura e conversão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139 un/mês em Amparo (metade do caminho, fator 0,5) = +7 un/mês. Acompanhar pelo emplacamento da área.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34914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Recompor o estoque de Factor 150 ED no chão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Em julho saíram 12 un contra 17 esperadas pela média do ano corrigida pelo mercado — −5 un. O mercado do segmento na área ficou em 1,02× (estável), mas a cobertura no chão está em 9 dias, com 5 un no chão e 9 na rede. Não foi venda, foi abastecimento.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Entrar com pedido de Factor 150 ED para recompor os 45 dias de cobertura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Revisar a cota do modelo com a fábrica — o giro atual não é atendido pelo alocado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Priorizar o que já está em trânsito (4 un) para faturamento imediato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Enquanto faltar moto, direcionar a demanda para o modelo substituto do mesmo segmento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Levar Factor 150 ED de 9 para 45 dias de cobertura no chão e recuperar 5 un/mês. Medir na virada do mês.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 · fechamento de julho de 2026 por modelo, estoque e praça. Mesmas linhas do Plano de Ação em Excel, no mesmo formato do grupo.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3 DE 5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67609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a venda de Factor 150 DX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Caiu 5 un contra o esperado de 8 em julho, com o mercado do segmento estável (1,02×) e 21 dias de estoque no chão. Não é mercado nem ruptura — sobra execução.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Revisar posicionamento de preço e parcela do modelo contra o concorrente direto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Conferir exposição no showroom e treinamento da equipe no argumento do modelo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Trabalhar o financiamento: taxa e entrada específicas para o modelo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Definir meta por vendedor para Factor 150 DX e acompanhar semanalmente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patamar de 8 un/mês = +5 un/mês. Medir no fechamento do mês seguinte.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739595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os segmentos com espaço em Ouro Fino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 praça movimenta 171 un/mês e a Yamaha tem 17,0% de share ali. Fazendo em cada segmento o que as demais áreas do arquivo já fazem, seriam 39 un/mês em vez de 29 — 10 un/mês na mesa. A maior fatia está em Street 150–199cc (10% contra 19%, +5 un); On/off 150–199cc (0% contra 12%, +4 un); Scooter até 200cc (30% contra 39%, +1 un).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Street 150–199cc: sair de 10% para 19% de share (35% do mercado da praça) — garantir estoque, exposição e argumento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On/off 150–199cc: sair de 0% para 12% de share (17% do mercado da praça) — garantir estoque, exposição e argumento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Scooter até 200cc: sair de 30% para 39% de share (6% do mercado da praça) — garantir estoque, exposição e argumento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Comparar a operação de Ouro Fino com a de as demais áreas do arquivo: mix de estoque, cobertura e conversão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34 un/mês em Ouro Fino (metade do caminho, fator 0,5) = +5 un/mês. Acompanhar pelo emplacamento da área.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 · fechamento de julho de 2026 por modelo, estoque e praça. Mesmas linhas do Plano de Ação em Excel, no mesmo formato do grupo.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4 DE 5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476493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34914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Recompor o estoque de Aerox no chão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Em julho saíram 10 un contra 15 esperadas pela média do ano corrigida pelo mercado — −5 un. O mercado do segmento na área ficou em 1,10× (estável), mas a cobertura no chão está em 10 dias, com 3 un no chão e 6 na rede. Não foi venda, foi abastecimento.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Entrar com pedido de Aerox para recompor os 45 dias de cobertura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Revisar a cota do modelo com a fábrica — o giro atual não é atendido pelo alocado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Priorizar o que já está em trânsito (3 un) para faturamento imediato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Enquanto faltar moto, direcionar a demanda para o modelo substituto do mesmo segmento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Levar Aerox de 10 para 45 dias de cobertura no chão e recuperar 5 un/mês. Medir na virada do mês.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a venda de MT-03 ABS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Caiu 4 un contra o esperado de 7 em julho, com o mercado do segmento estável (1,19×) e 18 dias de estoque no chão. Não é mercado nem ruptura — sobra execução.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Revisar posicionamento de preço e parcela do modelo contra o concorrente direto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Conferir exposição no showroom e treinamento da equipe no argumento do modelo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Trabalhar o financiamento: taxa e entrada específicas para o modelo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Definir meta por vendedor para MT-03 ABS e acompanhar semanalmente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patamar de 7 un/mês = +4 un/mês. Medir no fechamento do mês seguinte.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Street/n 300–500cc Premium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no território caiu de 40,3% para 14,3% (−26,0pp), o que representa −3,8 un/mês. O segmento movimenta 19 un/mês na área e variou +19% contra a média de Abr–Jun. Honda ganhou 14,9pp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14,9pp e hoje tem 19,0% do segmento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 mercado do segmento não caiu (+19%) — a perda é de disputa, não de demanda: revisar oferta e argumento de venda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40,3% no segmento = +5 un/mês. Medir semanalmente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 · fechamento de julho de 2026 por modelo, estoque e praça. Mesmas linhas do Plano de Ação em Excel, no mesmo formato do grupo.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5 DE 5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408879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0888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Socorro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Socorro movimenta 23 un/mês e a Yamaha tem só 4,0% de share ali, contra 20,4% no restante do território. A diferença vale 4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Avaliar parceria com revenda local ou ponto de apoio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Socorro = +4 un/mês. Acompanhar o emplacamento da cidade mês a mês.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Acompanhar semanalmente os modelos em queda persistente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Aerox, Factor 150 ED, MT-03 ABS, NMAX, R15 ABS estão −15% ou pior contra o baseline por dois meses seguidos. Queda de modelo dilui no total e só aparece no fechamento — quando já custou o mês inteiro.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Colocar esses modelos no acompanhamento semanal de venda e de estoque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Para cada um, separar se é mercado, ruptura ou execução antes de agir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Rever o pedido do mês seguinte com base na tendência, não na média do ano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19/09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Nenhum modelo com dois meses seguidos abaixo de −15% no próximo fechamento.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Scooter 201–449cc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no território caiu de 73,4% para 42,9% (−30,5pp), o que representa −1,2 un/mês. O segmento movimenta 19 un/mês na área e variou +49% contra a média de Abr–Jun. Zontes ganhou 34,4pp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Zontes, que subiu 34,4pp e hoje tem 47,6% do segmento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 mercado do segmento não caiu (+49%) — a perda é de disputa, não de demanda: revisar oferta e argumento de venda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Baixa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73,4% no segmento = +6 un/mês. Medir semanalmente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 · fechamento de julho de 2026 por modelo, estoque e praça. Mesmas linhas do Plano de Ação em Excel, no mesmo formato do grupo.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PARA LEVAR DA CONVERSA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Os três números do mês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371600"/>
            <a:ext cx="3522133" cy="3253467"/>
          </a:xfrm>
          <a:prstGeom prst="roundRect">
            <a:avLst>
              <a:gd name="adj" fmla="val 7000"/>
            </a:avLst>
          </a:prstGeom>
          <a:solidFill>
            <a:srgbClr val="FBEAEA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685800" y="1371600"/>
            <a:ext cx="3522133" cy="508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8" name="forma 8"/>
          <p:cNvSpPr/>
          <p:nvPr/>
        </p:nvSpPr>
        <p:spPr>
          <a:xfrm>
            <a:off x="914400" y="1651000"/>
            <a:ext cx="3064933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SUA EXECUÇÃO</a:t>
            </a:r>
          </a:p>
        </p:txBody>
      </p:sp>
      <p:sp>
        <p:nvSpPr>
          <p:cNvPr id="9" name="forma 9"/>
          <p:cNvSpPr/>
          <p:nvPr/>
        </p:nvSpPr>
        <p:spPr>
          <a:xfrm>
            <a:off x="914400" y="1905000"/>
            <a:ext cx="3064933" cy="526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D64545"/>
                </a:solidFill>
                <a:latin typeface="Calibri"/>
                <a:cs typeface="Calibri"/>
              </a:rPr>
              <a:t>−11 un</a:t>
            </a:r>
          </a:p>
        </p:txBody>
      </p:sp>
      <p:sp>
        <p:nvSpPr>
          <p:cNvPr id="10" name="forma 10"/>
          <p:cNvSpPr/>
          <p:nvPr/>
        </p:nvSpPr>
        <p:spPr>
          <a:xfrm>
            <a:off x="914400" y="2565400"/>
            <a:ext cx="3064933" cy="4632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É o que sobrou depois de descontar o mercado. Concentrado em Factor 150 ED.</a:t>
            </a:r>
          </a:p>
        </p:txBody>
      </p:sp>
      <p:sp>
        <p:nvSpPr>
          <p:cNvPr id="11" name="forma 11"/>
          <p:cNvSpPr/>
          <p:nvPr/>
        </p:nvSpPr>
        <p:spPr>
          <a:xfrm>
            <a:off x="4334933" y="1371600"/>
            <a:ext cx="3522133" cy="3253467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2" name="forma 12"/>
          <p:cNvSpPr/>
          <p:nvPr/>
        </p:nvSpPr>
        <p:spPr>
          <a:xfrm>
            <a:off x="4334933" y="1371600"/>
            <a:ext cx="3522133" cy="5080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4563533" y="1651000"/>
            <a:ext cx="3064933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NA MESA, TODO MÊS</a:t>
            </a:r>
          </a:p>
        </p:txBody>
      </p:sp>
      <p:sp>
        <p:nvSpPr>
          <p:cNvPr id="14" name="forma 14"/>
          <p:cNvSpPr/>
          <p:nvPr/>
        </p:nvSpPr>
        <p:spPr>
          <a:xfrm>
            <a:off x="4563533" y="1905000"/>
            <a:ext cx="3064933" cy="526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4B9B3F"/>
                </a:solidFill>
                <a:latin typeface="Calibri"/>
                <a:cs typeface="Calibri"/>
              </a:rPr>
              <a:t>+10 un</a:t>
            </a:r>
          </a:p>
        </p:txBody>
      </p:sp>
      <p:sp>
        <p:nvSpPr>
          <p:cNvPr id="15" name="forma 15"/>
          <p:cNvSpPr/>
          <p:nvPr/>
        </p:nvSpPr>
        <p:spPr>
          <a:xfrm>
            <a:off x="4563533" y="2565400"/>
            <a:ext cx="3064933" cy="6949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Metade do que falta para a referência nas suas praças — sem depender de o mercado crescer.</a:t>
            </a:r>
          </a:p>
        </p:txBody>
      </p:sp>
      <p:sp>
        <p:nvSpPr>
          <p:cNvPr id="16" name="forma 16"/>
          <p:cNvSpPr/>
          <p:nvPr/>
        </p:nvSpPr>
        <p:spPr>
          <a:xfrm>
            <a:off x="7984067" y="1371600"/>
            <a:ext cx="3522133" cy="3253467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7984067" y="1371600"/>
            <a:ext cx="3522133" cy="50800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8212667" y="1651000"/>
            <a:ext cx="3064933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PARA FECHAR AGOSTO</a:t>
            </a:r>
          </a:p>
        </p:txBody>
      </p:sp>
      <p:sp>
        <p:nvSpPr>
          <p:cNvPr id="19" name="forma 19"/>
          <p:cNvSpPr/>
          <p:nvPr/>
        </p:nvSpPr>
        <p:spPr>
          <a:xfrm>
            <a:off x="8212667" y="1905000"/>
            <a:ext cx="3064933" cy="526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D98A0B"/>
                </a:solidFill>
                <a:latin typeface="Calibri"/>
                <a:cs typeface="Calibri"/>
              </a:rPr>
              <a:t>9,1/dia</a:t>
            </a:r>
          </a:p>
        </p:txBody>
      </p:sp>
      <p:sp>
        <p:nvSpPr>
          <p:cNvPr id="20" name="forma 20"/>
          <p:cNvSpPr/>
          <p:nvPr/>
        </p:nvSpPr>
        <p:spPr>
          <a:xfrm>
            <a:off x="8212667" y="2565400"/>
            <a:ext cx="3064933" cy="4632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É o ritmo necessário nos 8 dias úteis que restam.</a:t>
            </a:r>
          </a:p>
        </p:txBody>
      </p:sp>
      <p:sp>
        <p:nvSpPr>
          <p:cNvPr id="21" name="forma 21"/>
          <p:cNvSpPr/>
          <p:nvPr/>
        </p:nvSpPr>
        <p:spPr>
          <a:xfrm>
            <a:off x="685800" y="4904467"/>
            <a:ext cx="10820400" cy="201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300" b="1" dirty="0">
                <a:solidFill>
                  <a:srgbClr val="0B0B0B"/>
                </a:solidFill>
                <a:latin typeface="Calibri"/>
                <a:cs typeface="Calibri"/>
              </a:rPr>
              <a:t>Próximos passos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5156689"/>
            <a:ext cx="10820400" cy="9883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marL="165100" indent="-165100">
              <a:lnSpc>
                <a:spcPct val="135000"/>
              </a:lnSpc>
              <a:spcBef>
                <a:spcPts val="700"/>
              </a:spcBef>
              <a:buClr>
                <a:srgbClr val="2A78D6"/>
              </a:buClr>
              <a:buChar char="•"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Fechar hoje o responsável e o prazo de cada ação de prioridade alta.</a:t>
            </a:r>
          </a:p>
          <a:p>
            <a:pPr marL="165100" indent="-165100">
              <a:lnSpc>
                <a:spcPct val="135000"/>
              </a:lnSpc>
              <a:spcBef>
                <a:spcPts val="700"/>
              </a:spcBef>
              <a:buClr>
                <a:srgbClr val="2A78D6"/>
              </a:buClr>
              <a:buChar char="•"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O plano completo vai em planilha no mesmo padrão do grupo.</a:t>
            </a:r>
          </a:p>
          <a:p>
            <a:pPr marL="165100" indent="-165100">
              <a:lnSpc>
                <a:spcPct val="135000"/>
              </a:lnSpc>
              <a:spcBef>
                <a:spcPts val="700"/>
              </a:spcBef>
              <a:buClr>
                <a:srgbClr val="2A78D6"/>
              </a:buClr>
              <a:buChar char="•"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Na próxima conversa a gente abre por estes mesmos números — e vê o que mexeu.</a:t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Nippon Motos · fechamento de julho de 2026 · dados de 19/08/2026 · Caique Oliveira</a:t>
            </a:r>
          </a:p>
        </p:txBody>
      </p:sp>
      <p:sp>
        <p:nvSpPr>
          <p:cNvPr id="24" name="forma 24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16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Nippon Motos — julho de 2026</dc:title>
  <dc:creator>Caique Oliveira</dc:creator>
  <cp:lastModifiedBy>Caique Oliveira</cp:lastModifiedBy>
</cp:coreProperties>
</file>