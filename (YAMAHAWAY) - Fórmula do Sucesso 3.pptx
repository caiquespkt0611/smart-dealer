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4"/>
  </p:notesMasterIdLst>
  <p:sldIdLst>
    <p:sldId id="2147472950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E9E2B-6B1A-4DDF-9E09-229802F109F8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  <p:custDataLst>
              <p:tags r:id="rId2"/>
            </p:custDataLst>
          </p:nvPr>
        </p:nvSpPr>
        <p:spPr>
          <a:xfrm>
            <a:off x="0" y="8685213"/>
            <a:ext cx="68580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36C502-E514-4509-A251-C115155F04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625799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4"/>
            <p:custDataLst>
              <p:tags r:id="rId1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7088BA-ABCA-CC4C-B984-72FAFF3C0D30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2297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EE32BCD-9586-49D4-965F-7E339F5F410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65000">
                <a:srgbClr val="083B7B"/>
              </a:gs>
              <a:gs pos="86000">
                <a:srgbClr val="2E75B6"/>
              </a:gs>
              <a:gs pos="100000">
                <a:srgbClr val="9DC3E6"/>
              </a:gs>
            </a:gsLst>
            <a:lin ang="189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 sz="1800">
              <a:latin typeface="+mn-lt"/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DDA73C9C-E2D8-4299-A67F-FD4FFDCFBE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clrChange>
              <a:clrFrom>
                <a:srgbClr val="013B82"/>
              </a:clrFrom>
              <a:clrTo>
                <a:srgbClr val="013B8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64" b="1630"/>
          <a:stretch/>
        </p:blipFill>
        <p:spPr>
          <a:xfrm>
            <a:off x="7152117" y="4414933"/>
            <a:ext cx="4887483" cy="233340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276363"/>
            <a:ext cx="10363200" cy="23876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84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56038"/>
            <a:ext cx="9144000" cy="1655762"/>
          </a:xfrm>
        </p:spPr>
        <p:txBody>
          <a:bodyPr/>
          <a:lstStyle>
            <a:lvl1pPr marL="0" indent="0" algn="l">
              <a:buNone/>
              <a:defRPr sz="192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440"/>
            </a:lvl3pPr>
            <a:lvl4pPr marL="1371600" indent="0" algn="ctr">
              <a:buNone/>
              <a:defRPr sz="1280"/>
            </a:lvl4pPr>
            <a:lvl5pPr marL="1828800" indent="0" algn="ctr">
              <a:buNone/>
              <a:defRPr sz="1280"/>
            </a:lvl5pPr>
            <a:lvl6pPr marL="2286000" indent="0" algn="ctr">
              <a:buNone/>
              <a:defRPr sz="1280"/>
            </a:lvl6pPr>
            <a:lvl7pPr marL="2743200" indent="0" algn="ctr">
              <a:buNone/>
              <a:defRPr sz="1280"/>
            </a:lvl7pPr>
            <a:lvl8pPr marL="3200400" indent="0" algn="ctr">
              <a:buNone/>
              <a:defRPr sz="1280"/>
            </a:lvl8pPr>
            <a:lvl9pPr marL="3657600" indent="0" algn="ctr">
              <a:buNone/>
              <a:defRPr sz="128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4A59A1E-94A7-4091-B022-BD8E77781E80}"/>
              </a:ext>
            </a:extLst>
          </p:cNvPr>
          <p:cNvSpPr txBox="1">
            <a:spLocks/>
          </p:cNvSpPr>
          <p:nvPr userDrawn="1"/>
        </p:nvSpPr>
        <p:spPr>
          <a:xfrm>
            <a:off x="9648395" y="6729636"/>
            <a:ext cx="2304256" cy="1283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kumimoji="1" sz="800" kern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6992BE8C-A117-42D6-A163-63717426B18D}" type="slidenum">
              <a:rPr lang="ja-JP" altLang="en-US" sz="10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pPr>
                <a:defRPr/>
              </a:pPr>
              <a:t>‹nº›</a:t>
            </a:fld>
            <a:endParaRPr lang="ja-JP" altLang="en-US" sz="1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A58E039-D05C-467B-BAA5-93371AA92C09}"/>
              </a:ext>
            </a:extLst>
          </p:cNvPr>
          <p:cNvSpPr txBox="1">
            <a:spLocks/>
          </p:cNvSpPr>
          <p:nvPr userDrawn="1"/>
        </p:nvSpPr>
        <p:spPr>
          <a:xfrm>
            <a:off x="4167051" y="6748340"/>
            <a:ext cx="3657600" cy="457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kumimoji="1" sz="800" kern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ja-JP" sz="1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Marketing Planning Group, LM Mobility  Total Strategic Section</a:t>
            </a:r>
            <a:endParaRPr lang="ja-JP" altLang="en-US" sz="1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63079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1270001"/>
            <a:ext cx="11521280" cy="490696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n"/>
              <a:defRPr sz="1800">
                <a:latin typeface="+mn-lt"/>
                <a:ea typeface="Meiryo UI" panose="020B0604030504040204" pitchFamily="50" charset="-128"/>
              </a:defRPr>
            </a:lvl1pPr>
            <a:lvl2pPr marL="800100" indent="-342900">
              <a:buFont typeface="Wingdings" panose="05000000000000000000" pitchFamily="2" charset="2"/>
              <a:buChar char="p"/>
              <a:defRPr sz="1600">
                <a:latin typeface="+mn-lt"/>
                <a:ea typeface="Meiryo UI" panose="020B0604030504040204" pitchFamily="50" charset="-128"/>
              </a:defRPr>
            </a:lvl2pPr>
            <a:lvl3pPr>
              <a:defRPr sz="1400">
                <a:latin typeface="+mn-lt"/>
                <a:ea typeface="Meiryo UI" panose="020B0604030504040204" pitchFamily="50" charset="-128"/>
              </a:defRPr>
            </a:lvl3pPr>
            <a:lvl4pPr>
              <a:defRPr sz="1400">
                <a:latin typeface="+mn-lt"/>
                <a:ea typeface="Meiryo UI" panose="020B0604030504040204" pitchFamily="50" charset="-128"/>
              </a:defRPr>
            </a:lvl4pPr>
            <a:lvl5pPr>
              <a:defRPr sz="1400">
                <a:latin typeface="+mn-lt"/>
                <a:ea typeface="Meiryo UI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F9C3A38-3028-47F9-94BC-E0D68EA510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" y="1"/>
            <a:ext cx="1137987" cy="500063"/>
          </a:xfrm>
          <a:prstGeom prst="rect">
            <a:avLst/>
          </a:prstGeom>
        </p:spPr>
      </p:pic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3D8C5365-A2F2-4853-B5AE-432353BAE4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583499" y="1"/>
            <a:ext cx="8932101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79363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 userDrawn="1"/>
        </p:nvSpPr>
        <p:spPr>
          <a:xfrm>
            <a:off x="0" y="-3175"/>
            <a:ext cx="10515600" cy="503238"/>
          </a:xfrm>
          <a:prstGeom prst="rect">
            <a:avLst/>
          </a:prstGeom>
          <a:gradFill flip="none" rotWithShape="1">
            <a:gsLst>
              <a:gs pos="5000">
                <a:schemeClr val="bg1"/>
              </a:gs>
              <a:gs pos="47000">
                <a:schemeClr val="accent1">
                  <a:lumMod val="75000"/>
                </a:schemeClr>
              </a:gs>
              <a:gs pos="83000">
                <a:schemeClr val="accent1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sz="1800">
              <a:solidFill>
                <a:prstClr val="white"/>
              </a:solidFill>
              <a:latin typeface="+mn-lt"/>
            </a:endParaRP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35360" y="908721"/>
            <a:ext cx="11521280" cy="5268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altLang="ja-JP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7580901-D828-40F6-A9E1-B96FE9260FBE}"/>
              </a:ext>
            </a:extLst>
          </p:cNvPr>
          <p:cNvSpPr txBox="1">
            <a:spLocks/>
          </p:cNvSpPr>
          <p:nvPr userDrawn="1"/>
        </p:nvSpPr>
        <p:spPr>
          <a:xfrm>
            <a:off x="10128448" y="6669360"/>
            <a:ext cx="1728192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kumimoji="1" sz="800" kern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6992BE8C-A117-42D6-A163-63717426B18D}" type="slidenum">
              <a:rPr lang="ja-JP" altLang="en-US" sz="800" smtClean="0">
                <a:latin typeface="+mn-lt"/>
              </a:rPr>
              <a:pPr>
                <a:defRPr/>
              </a:pPr>
              <a:t>‹nº›</a:t>
            </a:fld>
            <a:endParaRPr lang="ja-JP" altLang="en-US" sz="800">
              <a:latin typeface="+mn-lt"/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951CEEC1-DF3B-4EDD-A80F-0B504A7F005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" y="1"/>
            <a:ext cx="1137987" cy="500063"/>
          </a:xfrm>
          <a:prstGeom prst="rect">
            <a:avLst/>
          </a:prstGeom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F0A186D3-9D4C-4C38-BD4A-BB769254B3E6}"/>
              </a:ext>
            </a:extLst>
          </p:cNvPr>
          <p:cNvSpPr/>
          <p:nvPr userDrawn="1"/>
        </p:nvSpPr>
        <p:spPr>
          <a:xfrm>
            <a:off x="1088815" y="-3175"/>
            <a:ext cx="10737419" cy="503238"/>
          </a:xfrm>
          <a:prstGeom prst="rect">
            <a:avLst/>
          </a:prstGeom>
          <a:gradFill flip="none" rotWithShape="1">
            <a:gsLst>
              <a:gs pos="14000">
                <a:schemeClr val="bg1"/>
              </a:gs>
              <a:gs pos="35000">
                <a:srgbClr val="9DC3E6"/>
              </a:gs>
              <a:gs pos="58000">
                <a:srgbClr val="2E75B6"/>
              </a:gs>
              <a:gs pos="79000">
                <a:srgbClr val="013C82"/>
              </a:gs>
              <a:gs pos="100000">
                <a:srgbClr val="013C8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sz="1800">
              <a:solidFill>
                <a:prstClr val="white"/>
              </a:solidFill>
              <a:latin typeface="+mn-lt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7B4F4BD-6538-42BF-91C2-4BFD7177658F}"/>
              </a:ext>
            </a:extLst>
          </p:cNvPr>
          <p:cNvSpPr/>
          <p:nvPr userDrawn="1"/>
        </p:nvSpPr>
        <p:spPr>
          <a:xfrm flipH="1">
            <a:off x="0" y="6729636"/>
            <a:ext cx="12192000" cy="128364"/>
          </a:xfrm>
          <a:prstGeom prst="rect">
            <a:avLst/>
          </a:prstGeom>
          <a:gradFill flip="none" rotWithShape="1">
            <a:gsLst>
              <a:gs pos="5000">
                <a:schemeClr val="bg1"/>
              </a:gs>
              <a:gs pos="46000">
                <a:schemeClr val="accent1">
                  <a:lumMod val="75000"/>
                </a:schemeClr>
              </a:gs>
              <a:gs pos="72000">
                <a:schemeClr val="accent1">
                  <a:lumMod val="75000"/>
                </a:schemeClr>
              </a:gs>
              <a:gs pos="100000">
                <a:srgbClr val="013C8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sz="1800">
              <a:solidFill>
                <a:prstClr val="white"/>
              </a:solidFill>
              <a:latin typeface="+mn-lt"/>
            </a:endParaRP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91076BFF-D189-492C-9E78-89D55425F42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96000" y="1"/>
            <a:ext cx="9219600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マスター タイトルの書式設定</a:t>
            </a:r>
            <a:endParaRPr lang="en-US" altLang="ja-JP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B8C480E9-2CBA-4ECC-BE9B-78177357F9F5}"/>
              </a:ext>
            </a:extLst>
          </p:cNvPr>
          <p:cNvSpPr txBox="1">
            <a:spLocks/>
          </p:cNvSpPr>
          <p:nvPr userDrawn="1"/>
        </p:nvSpPr>
        <p:spPr>
          <a:xfrm>
            <a:off x="9648395" y="6729636"/>
            <a:ext cx="2304256" cy="1283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kumimoji="1" sz="800" kern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6992BE8C-A117-42D6-A163-63717426B18D}" type="slidenum">
              <a:rPr lang="ja-JP" altLang="en-US" sz="10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pPr>
                <a:defRPr/>
              </a:pPr>
              <a:t>‹nº›</a:t>
            </a:fld>
            <a:endParaRPr lang="ja-JP" altLang="en-US" sz="1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91AD8D8-BD11-4A10-A3D8-AD0B6DF07768}"/>
              </a:ext>
            </a:extLst>
          </p:cNvPr>
          <p:cNvSpPr txBox="1">
            <a:spLocks/>
          </p:cNvSpPr>
          <p:nvPr userDrawn="1"/>
        </p:nvSpPr>
        <p:spPr>
          <a:xfrm>
            <a:off x="4114801" y="6738433"/>
            <a:ext cx="4010297" cy="1283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kumimoji="1" sz="800" kern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ja-JP" sz="1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Marketing Planning Group, LM Mobility  Total Strategic Section</a:t>
            </a:r>
            <a:endParaRPr lang="ja-JP" altLang="en-US" sz="1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pic>
        <p:nvPicPr>
          <p:cNvPr id="19" name="図 6">
            <a:extLst>
              <a:ext uri="{FF2B5EF4-FFF2-40B4-BE49-F238E27FC236}">
                <a16:creationId xmlns:a16="http://schemas.microsoft.com/office/drawing/2014/main" id="{2FF0C34D-0F45-4ED3-B5CE-5296EA38CA5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2785" y="23813"/>
            <a:ext cx="1366837" cy="47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3412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marL="0" indent="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buFont typeface="Meiryo UI" panose="020B0604030504040204" pitchFamily="50" charset="-128"/>
        <a:buNone/>
        <a:defRPr kumimoji="1" sz="24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Meiryo UI" panose="020B0604030504040204" pitchFamily="50" charset="-128"/>
          <a:cs typeface="Arial" panose="020B0604020202020204" pitchFamily="34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240" b="1">
          <a:solidFill>
            <a:schemeClr val="bg1"/>
          </a:solidFill>
          <a:latin typeface="Arial" panose="020B0604020202020204" pitchFamily="34" charset="0"/>
          <a:ea typeface="HGPｺﾞｼｯｸM" panose="020B0600000000000000" pitchFamily="50" charset="-128"/>
          <a:cs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240" b="1">
          <a:solidFill>
            <a:schemeClr val="bg1"/>
          </a:solidFill>
          <a:latin typeface="Arial" panose="020B0604020202020204" pitchFamily="34" charset="0"/>
          <a:ea typeface="HGPｺﾞｼｯｸM" panose="020B0600000000000000" pitchFamily="50" charset="-128"/>
          <a:cs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240" b="1">
          <a:solidFill>
            <a:schemeClr val="bg1"/>
          </a:solidFill>
          <a:latin typeface="Arial" panose="020B0604020202020204" pitchFamily="34" charset="0"/>
          <a:ea typeface="HGPｺﾞｼｯｸM" panose="020B0600000000000000" pitchFamily="50" charset="-128"/>
          <a:cs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240" b="1">
          <a:solidFill>
            <a:schemeClr val="bg1"/>
          </a:solidFill>
          <a:latin typeface="Arial" panose="020B0604020202020204" pitchFamily="34" charset="0"/>
          <a:ea typeface="HGPｺﾞｼｯｸM" panose="020B0600000000000000" pitchFamily="50" charset="-128"/>
          <a:cs typeface="Arial" panose="020B06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2240" b="1">
          <a:solidFill>
            <a:schemeClr val="bg1"/>
          </a:solidFill>
          <a:latin typeface="Arial" panose="020B0604020202020204" pitchFamily="34" charset="0"/>
          <a:ea typeface="HGPｺﾞｼｯｸM" panose="020B0600000000000000" pitchFamily="50" charset="-128"/>
          <a:cs typeface="Arial" panose="020B0604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2240" b="1">
          <a:solidFill>
            <a:schemeClr val="bg1"/>
          </a:solidFill>
          <a:latin typeface="Arial" panose="020B0604020202020204" pitchFamily="34" charset="0"/>
          <a:ea typeface="HGPｺﾞｼｯｸM" panose="020B0600000000000000" pitchFamily="50" charset="-128"/>
          <a:cs typeface="Arial" panose="020B0604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2240" b="1">
          <a:solidFill>
            <a:schemeClr val="bg1"/>
          </a:solidFill>
          <a:latin typeface="Arial" panose="020B0604020202020204" pitchFamily="34" charset="0"/>
          <a:ea typeface="HGPｺﾞｼｯｸM" panose="020B0600000000000000" pitchFamily="50" charset="-128"/>
          <a:cs typeface="Arial" panose="020B0604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2240" b="1">
          <a:solidFill>
            <a:schemeClr val="bg1"/>
          </a:solidFill>
          <a:latin typeface="Arial" panose="020B0604020202020204" pitchFamily="34" charset="0"/>
          <a:ea typeface="HGPｺﾞｼｯｸM" panose="020B0600000000000000" pitchFamily="50" charset="-128"/>
          <a:cs typeface="Arial" panose="020B060402020202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Wingdings" panose="05000000000000000000" pitchFamily="2" charset="2"/>
        <a:buChar char="n"/>
        <a:defRPr kumimoji="1" sz="1800" kern="1200">
          <a:solidFill>
            <a:schemeClr val="tx1"/>
          </a:solidFill>
          <a:latin typeface="+mn-lt"/>
          <a:ea typeface="Meiryo UI" panose="020B0604030504040204" pitchFamily="50" charset="-128"/>
          <a:cs typeface="Arial" panose="020B0604020202020204" pitchFamily="34" charset="0"/>
        </a:defRPr>
      </a:lvl1pPr>
      <a:lvl2pPr marL="800100" indent="-3429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Wingdings" panose="05000000000000000000" pitchFamily="2" charset="2"/>
        <a:buChar char="p"/>
        <a:defRPr kumimoji="1" sz="1600" kern="1200">
          <a:solidFill>
            <a:schemeClr val="tx1"/>
          </a:solidFill>
          <a:latin typeface="+mn-lt"/>
          <a:ea typeface="Meiryo UI" panose="020B0604030504040204" pitchFamily="50" charset="-128"/>
          <a:cs typeface="Arial" panose="020B0604020202020204" pitchFamily="34" charset="0"/>
        </a:defRPr>
      </a:lvl2pPr>
      <a:lvl3pPr marL="1257300" indent="-3429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Wingdings" panose="05000000000000000000" pitchFamily="2" charset="2"/>
        <a:buChar char="Ø"/>
        <a:defRPr kumimoji="1" sz="1400" kern="1200">
          <a:solidFill>
            <a:schemeClr val="tx1"/>
          </a:solidFill>
          <a:latin typeface="+mn-lt"/>
          <a:ea typeface="Meiryo UI" panose="020B0604030504040204" pitchFamily="50" charset="-128"/>
          <a:cs typeface="Arial" panose="020B0604020202020204" pitchFamily="34" charset="0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Meiryo UI" panose="020B0604030504040204" pitchFamily="50" charset="-128"/>
          <a:cs typeface="Arial" panose="020B0604020202020204" pitchFamily="34" charset="0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 Unicode MS" panose="020B0604020202020204" pitchFamily="50" charset="-128"/>
        <a:buChar char="-"/>
        <a:defRPr kumimoji="1" sz="1400" kern="1200">
          <a:solidFill>
            <a:schemeClr val="tx1"/>
          </a:solidFill>
          <a:latin typeface="+mn-lt"/>
          <a:ea typeface="Meiryo UI" panose="020B0604030504040204" pitchFamily="50" charset="-128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320A67BC-3A50-488A-B373-945ADF24A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8625" y="0"/>
            <a:ext cx="8932101" cy="544513"/>
          </a:xfrm>
        </p:spPr>
        <p:txBody>
          <a:bodyPr/>
          <a:lstStyle/>
          <a:p>
            <a:r>
              <a:rPr lang="en-US" altLang="ja-JP" dirty="0" err="1">
                <a:latin typeface="Grandview" panose="020B0502040204020203" pitchFamily="34" charset="0"/>
              </a:rPr>
              <a:t>Fórmula</a:t>
            </a:r>
            <a:r>
              <a:rPr lang="en-US" altLang="ja-JP" dirty="0">
                <a:latin typeface="Grandview" panose="020B0502040204020203" pitchFamily="34" charset="0"/>
              </a:rPr>
              <a:t> do </a:t>
            </a:r>
            <a:r>
              <a:rPr lang="en-US" altLang="ja-JP" dirty="0" err="1">
                <a:latin typeface="Grandview" panose="020B0502040204020203" pitchFamily="34" charset="0"/>
              </a:rPr>
              <a:t>Sucesso</a:t>
            </a:r>
            <a:endParaRPr kumimoji="1" lang="ja-JP" altLang="en-US" dirty="0">
              <a:latin typeface="Grandview" panose="020B0502040204020203" pitchFamily="34" charset="0"/>
            </a:endParaRPr>
          </a:p>
        </p:txBody>
      </p:sp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DDB461CF-3F65-E9DE-C3CD-E719B008C9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614913"/>
              </p:ext>
            </p:extLst>
          </p:nvPr>
        </p:nvGraphicFramePr>
        <p:xfrm>
          <a:off x="1" y="856747"/>
          <a:ext cx="12191999" cy="5651105"/>
        </p:xfrm>
        <a:graphic>
          <a:graphicData uri="http://schemas.openxmlformats.org/drawingml/2006/table">
            <a:tbl>
              <a:tblPr/>
              <a:tblGrid>
                <a:gridCol w="2147877">
                  <a:extLst>
                    <a:ext uri="{9D8B030D-6E8A-4147-A177-3AD203B41FA5}">
                      <a16:colId xmlns:a16="http://schemas.microsoft.com/office/drawing/2014/main" val="1035831652"/>
                    </a:ext>
                  </a:extLst>
                </a:gridCol>
                <a:gridCol w="6095999">
                  <a:extLst>
                    <a:ext uri="{9D8B030D-6E8A-4147-A177-3AD203B41FA5}">
                      <a16:colId xmlns:a16="http://schemas.microsoft.com/office/drawing/2014/main" val="2034553046"/>
                    </a:ext>
                  </a:extLst>
                </a:gridCol>
                <a:gridCol w="670436">
                  <a:extLst>
                    <a:ext uri="{9D8B030D-6E8A-4147-A177-3AD203B41FA5}">
                      <a16:colId xmlns:a16="http://schemas.microsoft.com/office/drawing/2014/main" val="3294247031"/>
                    </a:ext>
                  </a:extLst>
                </a:gridCol>
                <a:gridCol w="670436">
                  <a:extLst>
                    <a:ext uri="{9D8B030D-6E8A-4147-A177-3AD203B41FA5}">
                      <a16:colId xmlns:a16="http://schemas.microsoft.com/office/drawing/2014/main" val="3918140966"/>
                    </a:ext>
                  </a:extLst>
                </a:gridCol>
                <a:gridCol w="670436">
                  <a:extLst>
                    <a:ext uri="{9D8B030D-6E8A-4147-A177-3AD203B41FA5}">
                      <a16:colId xmlns:a16="http://schemas.microsoft.com/office/drawing/2014/main" val="4117075237"/>
                    </a:ext>
                  </a:extLst>
                </a:gridCol>
                <a:gridCol w="670436">
                  <a:extLst>
                    <a:ext uri="{9D8B030D-6E8A-4147-A177-3AD203B41FA5}">
                      <a16:colId xmlns:a16="http://schemas.microsoft.com/office/drawing/2014/main" val="3564762797"/>
                    </a:ext>
                  </a:extLst>
                </a:gridCol>
                <a:gridCol w="670436">
                  <a:extLst>
                    <a:ext uri="{9D8B030D-6E8A-4147-A177-3AD203B41FA5}">
                      <a16:colId xmlns:a16="http://schemas.microsoft.com/office/drawing/2014/main" val="1774891273"/>
                    </a:ext>
                  </a:extLst>
                </a:gridCol>
                <a:gridCol w="595943">
                  <a:extLst>
                    <a:ext uri="{9D8B030D-6E8A-4147-A177-3AD203B41FA5}">
                      <a16:colId xmlns:a16="http://schemas.microsoft.com/office/drawing/2014/main" val="273784678"/>
                    </a:ext>
                  </a:extLst>
                </a:gridCol>
              </a:tblGrid>
              <a:tr h="333773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CITÉRIOS DE AVALIAÇÃO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DETALHAMENTO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A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5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018257"/>
                  </a:ext>
                </a:extLst>
              </a:tr>
              <a:tr h="163012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Pesquisa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Análises externas foram devidamente realizadas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155778"/>
                  </a:ext>
                </a:extLst>
              </a:tr>
              <a:tr h="16301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Análises dos concorrentes foram realizadas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027730"/>
                  </a:ext>
                </a:extLst>
              </a:tr>
              <a:tr h="16301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Pesquisas e análises de mercado foram suficientes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128520"/>
                  </a:ext>
                </a:extLst>
              </a:tr>
              <a:tr h="16301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 hipóteses do trabalho foram claras  a partir das análises realizadas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183577"/>
                  </a:ext>
                </a:extLst>
              </a:tr>
              <a:tr h="163012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Planejamento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 objetivo do trabalho é claro e definido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705203"/>
                  </a:ext>
                </a:extLst>
              </a:tr>
              <a:tr h="16301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 objetivo do trabalho é mensurável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828648"/>
                  </a:ext>
                </a:extLst>
              </a:tr>
              <a:tr h="16301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 objetivo foi atingido no prazo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335591"/>
                  </a:ext>
                </a:extLst>
              </a:tr>
              <a:tr h="16301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Os KPIs estão alinhados com os objetivos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863912"/>
                  </a:ext>
                </a:extLst>
              </a:tr>
              <a:tr h="16301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 plano de ação está alinhado com os objetivos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926125"/>
                  </a:ext>
                </a:extLst>
              </a:tr>
              <a:tr h="16301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 objetivo está relacionado aos resultados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687873"/>
                  </a:ext>
                </a:extLst>
              </a:tr>
              <a:tr h="163012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Foco no Cliente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 público alvo (cliente) foi claramente definido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7036642"/>
                  </a:ext>
                </a:extLst>
              </a:tr>
              <a:tr h="16301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 posicionamento Yamaha foi claramente definido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604665"/>
                  </a:ext>
                </a:extLst>
              </a:tr>
              <a:tr h="127554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Yamaha ficou claramente posicionada de forma diferenciada em relação aos concorrentes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1630640"/>
                  </a:ext>
                </a:extLst>
              </a:tr>
              <a:tr h="16301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Existe consistência entre o público alvo e as atividades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02506"/>
                  </a:ext>
                </a:extLst>
              </a:tr>
              <a:tr h="16301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Necessidades e desejos dos clientes foram definidos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260119"/>
                  </a:ext>
                </a:extLst>
              </a:tr>
              <a:tr h="16301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Os principais fatores de compra dos clientes foram definidos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743880"/>
                  </a:ext>
                </a:extLst>
              </a:tr>
              <a:tr h="16301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Os 7 passos foram claramente descritos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690888"/>
                  </a:ext>
                </a:extLst>
              </a:tr>
              <a:tr h="16301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Pesquisas com clientes foram realizadas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486014"/>
                  </a:ext>
                </a:extLst>
              </a:tr>
              <a:tr h="163012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Pensar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Fora da Caixa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 trabalho é revolucionário e capaz de mudar o comportamento do cliente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730522"/>
                  </a:ext>
                </a:extLst>
              </a:tr>
              <a:tr h="16301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 trabalho é revolucionário e mudou drasticamente o processo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4347864"/>
                  </a:ext>
                </a:extLst>
              </a:tr>
              <a:tr h="16301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 trabalho gerou uma vantagem competitiva para a Yamaha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609888"/>
                  </a:ext>
                </a:extLst>
              </a:tr>
              <a:tr h="16301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 trabalho resultou em um conhecimento avançado para nosso segmento (indústria)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13450"/>
                  </a:ext>
                </a:extLst>
              </a:tr>
              <a:tr h="16301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 trabalho gerou grandes receitas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326082"/>
                  </a:ext>
                </a:extLst>
              </a:tr>
              <a:tr h="16301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Trabalho em Equipe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 trabalho em equipe realizado pelo grupo foi claramente percebido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262629"/>
                  </a:ext>
                </a:extLst>
              </a:tr>
              <a:tr h="19669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 trabalho em equipe entre concessionária e grupo foi percebido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6734290"/>
                  </a:ext>
                </a:extLst>
              </a:tr>
              <a:tr h="163012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Viabilidade e Impacto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 trabalho é viável para implantação em outras concessionárias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245211"/>
                  </a:ext>
                </a:extLst>
              </a:tr>
              <a:tr h="146187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Há possibilidade de bons resultados se o trabalho for implementado em outras concessionárias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624382"/>
                  </a:ext>
                </a:extLst>
              </a:tr>
              <a:tr h="16301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Descreva o que você aprendeu com esta sessão de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Teach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&amp;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Learn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: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2673606"/>
                  </a:ext>
                </a:extLst>
              </a:tr>
              <a:tr h="16301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Comentários – Descreva o que você aprendeu com esta sessão de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Teach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&amp;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Learn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: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531805"/>
                  </a:ext>
                </a:extLst>
              </a:tr>
            </a:tbl>
          </a:graphicData>
        </a:graphic>
      </p:graphicFrame>
      <p:sp>
        <p:nvSpPr>
          <p:cNvPr id="4" name="BJPseudoFooter">
            <a:extLst>
              <a:ext uri="{FF2B5EF4-FFF2-40B4-BE49-F238E27FC236}">
                <a16:creationId xmlns:a16="http://schemas.microsoft.com/office/drawing/2014/main" id="{A526A311-703B-A4F6-2222-D84BDA9D000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880269" y="6488668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5600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heme/theme1.xml><?xml version="1.0" encoding="utf-8"?>
<a:theme xmlns:a="http://schemas.openxmlformats.org/drawingml/2006/main" name="7_Office テーマ">
  <a:themeElements>
    <a:clrScheme name="暖かみのある青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 テーマ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 kumimoji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isl xmlns:xsd="http://www.w3.org/2001/XMLSchema" xmlns:xsi="http://www.w3.org/2001/XMLSchema-instance" xmlns="http://www.boldonjames.com/2008/01/sie/internal/label" sislVersion="0" policy="06b056e2-7ddb-4f31-a510-f19fdcc3f692" origin="userSelected">
  <element uid="id_classification_nonbusiness" value=""/>
</sisl>
</file>

<file path=customXml/itemProps1.xml><?xml version="1.0" encoding="utf-8"?>
<ds:datastoreItem xmlns:ds="http://schemas.openxmlformats.org/officeDocument/2006/customXml" ds:itemID="{003F2F00-751F-40A3-9687-F82DFDA7C14A}">
  <ds:schemaRefs>
    <ds:schemaRef ds:uri="http://www.w3.org/2001/XMLSchema"/>
    <ds:schemaRef ds:uri="http://www.boldonjames.com/2008/01/sie/internal/label"/>
  </ds:schemaRefs>
</ds:datastoreItem>
</file>

<file path=docMetadata/LabelInfo.xml><?xml version="1.0" encoding="utf-8"?>
<clbl:labelList xmlns:clbl="http://schemas.microsoft.com/office/2020/mipLabelMetadata">
  <clbl:label id="{76684a67-d816-43ce-93f9-29b6f72f823f}" enabled="0" method="" siteId="{76684a67-d816-43ce-93f9-29b6f72f823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456</Words>
  <Application>Microsoft Office PowerPoint</Application>
  <PresentationFormat>Widescreen</PresentationFormat>
  <Paragraphs>219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Meiryo UI</vt:lpstr>
      <vt:lpstr>Arial</vt:lpstr>
      <vt:lpstr>Arial Unicode MS</vt:lpstr>
      <vt:lpstr>Calibri</vt:lpstr>
      <vt:lpstr>Grandview</vt:lpstr>
      <vt:lpstr>Wingdings</vt:lpstr>
      <vt:lpstr>7_Office テーマ</vt:lpstr>
      <vt:lpstr>Fórmula do Sucesso</vt:lpstr>
    </vt:vector>
  </TitlesOfParts>
  <Company>Yamaha Motors do Brasil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Fórmula do Sucesso</dc:title>
  <dc:creator>Hugo Leonardo Carolino Barros De Almeida</dc:creator>
  <cp:lastModifiedBy>Caique Goncalves De Oliveira</cp:lastModifiedBy>
  <cp:revision>2</cp:revision>
  <dcterms:created xsi:type="dcterms:W3CDTF">2024-04-16T14:55:11Z</dcterms:created>
  <dcterms:modified xsi:type="dcterms:W3CDTF">2026-08-07T01:44:19Z</dcterms:modified>
  <cp:category>XPTOPublic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1988eb1e-a7f3-4c35-ba73-9b34b082ece2</vt:lpwstr>
  </property>
  <property fmtid="{D5CDD505-2E9C-101B-9397-08002B2CF9AE}" pid="3" name="bjClsUserRVM">
    <vt:lpwstr>[]</vt:lpwstr>
  </property>
  <property fmtid="{D5CDD505-2E9C-101B-9397-08002B2CF9AE}" pid="4" name="bjSaver">
    <vt:lpwstr>vQIuPlaJEEMNECZVc/b9AjXk4DzVGuBM</vt:lpwstr>
  </property>
  <property fmtid="{D5CDD505-2E9C-101B-9397-08002B2CF9AE}" pid="5" name="bjDocumentSecurityLabel">
    <vt:lpwstr>NÃO CLASSIFICADA</vt:lpwstr>
  </property>
  <property fmtid="{D5CDD505-2E9C-101B-9397-08002B2CF9AE}" pid="6" name="X-BJ-Classification">
    <vt:lpwstr>X-BJ-CLASSIFICATION-{Classificação}</vt:lpwstr>
  </property>
  <property fmtid="{D5CDD505-2E9C-101B-9397-08002B2CF9AE}" pid="7" name="bjDocumentLabelXML">
    <vt:lpwstr>&lt;?xml version="1.0" encoding="us-ascii"?&gt;&lt;sisl xmlns:xsd="http://www.w3.org/2001/XMLSchema" xmlns:xsi="http://www.w3.org/2001/XMLSchema-instance" sislVersion="0" policy="06b056e2-7ddb-4f31-a510-f19fdcc3f692" origin="userSelected" xmlns="http://www.boldonj</vt:lpwstr>
  </property>
  <property fmtid="{D5CDD505-2E9C-101B-9397-08002B2CF9AE}" pid="8" name="bjDocumentLabelXML-0">
    <vt:lpwstr>ames.com/2008/01/sie/internal/label"&gt;&lt;element uid="id_classification_nonbusiness" value="" /&gt;&lt;/sisl&gt;</vt:lpwstr>
  </property>
</Properties>
</file>