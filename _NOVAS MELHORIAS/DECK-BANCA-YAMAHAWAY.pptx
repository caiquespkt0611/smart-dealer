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c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31720"/>
            <a:ext cx="6593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2ª BANCA · GRUPO 06 — SHOGUN RIDERS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2651760"/>
            <a:ext cx="6593373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77240" y="3749040"/>
            <a:ext cx="5955304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dados em experiências memoráveis?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apontamento da 1ª banca virou entrega. Esta é a prestação de contas.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5074920"/>
            <a:ext cx="3840480" cy="0"/>
          </a:xfrm>
          <a:prstGeom prst="line">
            <a:avLst/>
          </a:prstGeom>
          <a:noFill/>
          <a:ln w="12700">
            <a:solidFill>
              <a:srgbClr val="3D4F6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257800"/>
            <a:ext cx="6380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real: Nippon Motos · Bragança Paulista, Atibaia, Amparo e Extrema</a:t>
            </a:r>
            <a:endParaRPr lang="en-US" sz="1150" dirty="0"/>
          </a:p>
        </p:txBody>
      </p:sp>
      <p:pic>
        <p:nvPicPr>
          <p:cNvPr id="8" name="Image 1" descr="_NOVAS MELHORIAS/deck-assets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0000">
            <a:off x="7635240" y="1417320"/>
            <a:ext cx="5486400" cy="3257550"/>
          </a:xfrm>
          <a:prstGeom prst="rect">
            <a:avLst/>
          </a:prstGeom>
          <a:effectLst>
            <a:outerShdw sx="100000" sy="100000" kx="0" ky="0" algn="bl" rotWithShape="0" blurRad="279400" dist="101600" dir="5400000">
              <a:srgbClr val="05090F">
                <a:alpha val="6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9669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Prestação de contas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banca apontou e o que fizemos com cada ponto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460857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60857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hipóteses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0857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frase, três metas públicas, três hipóteses testáveis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01000" y="1965960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045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045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e cliente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0456" y="2788920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do Cliente, fatores de compra e benchmark da solução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99669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9669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mudou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9669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7 passos da venda e o processo trocado, não digitalizado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460857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0857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 viabilidade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0857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piloto produziu e como escala para a rede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01000" y="3767328"/>
            <a:ext cx="3410712" cy="1600200"/>
          </a:xfrm>
          <a:prstGeom prst="roundRect">
            <a:avLst>
              <a:gd name="adj" fmla="val 1714"/>
            </a:avLst>
          </a:prstGeom>
          <a:solidFill>
            <a:srgbClr val="F7F9FC"/>
          </a:solidFill>
          <a:ln/>
        </p:spPr>
      </p:sp>
      <p:sp>
        <p:nvSpPr>
          <p:cNvPr id="26" name="Text 24"/>
          <p:cNvSpPr/>
          <p:nvPr/>
        </p:nvSpPr>
        <p:spPr>
          <a:xfrm>
            <a:off x="8220456" y="3968496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220456" y="42245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0456" y="4590288"/>
            <a:ext cx="2971800" cy="6126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27 sub-itens do formulário, um a um, com a prova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PRESTAÇÃO DE CONTAS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vocês apontaram — e o que fizemos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feedback da 1ª banca ficou sem resposta construída dentro do sistema.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202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428232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APONTAMENTO DA BANCA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RESPOSTA DO GRUPO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"Qual a vantagem competitiva? Software qualquer um faz."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vantagem é o COMO: regras Yamaha codificadas (carta, K2, Kaizen, circulares, Premya). Benchmark nesta apresentação.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"Faltou pesquisa com o cliente final."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Feita: 32 respostas, satisfação 4,5/5, NPS 72, fatores de compra tabulados — dashboards ao vivo na tela Voz do Cliente.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"Cadê as hipóteses e as metas do projeto?"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hipóteses "se X, então Y — medido por Z" e três metas públicas com prazo. Todas medidas pelo sistema.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"O limbo do lead é a dor real." (Cintia)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Governança de CRM: SLA 10 min, escalonamento ao gerente, redistribuição — leads sem resposta caíram de 32% para 2%.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produ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PRESTAÇÃO DE CONTAS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isso está em produção — o sistema, ao vivo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77240" y="141732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reais, dados reais da Nippon — na banca, a demonstração é ao vivo, trocando de login por papel.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77240" y="2057400"/>
            <a:ext cx="5230368" cy="3379851"/>
          </a:xfrm>
          <a:prstGeom prst="roundRect">
            <a:avLst>
              <a:gd name="adj" fmla="val 1894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23544" y="214884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8" name="Shape 5"/>
          <p:cNvSpPr/>
          <p:nvPr/>
        </p:nvSpPr>
        <p:spPr>
          <a:xfrm>
            <a:off x="1078992" y="214884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6"/>
          <p:cNvSpPr/>
          <p:nvPr/>
        </p:nvSpPr>
        <p:spPr>
          <a:xfrm>
            <a:off x="1234440" y="214884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" name="Text 7"/>
          <p:cNvSpPr/>
          <p:nvPr/>
        </p:nvSpPr>
        <p:spPr>
          <a:xfrm>
            <a:off x="2020824" y="208483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11" name="Image 1" descr="_NOVAS MELHORIAS/deck-assets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2331720"/>
            <a:ext cx="5157216" cy="306895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17920" y="2057400"/>
            <a:ext cx="5230368" cy="3379851"/>
          </a:xfrm>
          <a:prstGeom prst="roundRect">
            <a:avLst>
              <a:gd name="adj" fmla="val 1894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64224" y="214884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14" name="Shape 10"/>
          <p:cNvSpPr/>
          <p:nvPr/>
        </p:nvSpPr>
        <p:spPr>
          <a:xfrm>
            <a:off x="6519672" y="214884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5" name="Shape 11"/>
          <p:cNvSpPr/>
          <p:nvPr/>
        </p:nvSpPr>
        <p:spPr>
          <a:xfrm>
            <a:off x="6675120" y="214884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6" name="Text 12"/>
          <p:cNvSpPr/>
          <p:nvPr/>
        </p:nvSpPr>
        <p:spPr>
          <a:xfrm>
            <a:off x="7461504" y="208483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17" name="Image 2" descr="_NOVAS MELHORIAS/deck-assets/pesquis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331720"/>
            <a:ext cx="5157216" cy="306895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77240" y="5532120"/>
            <a:ext cx="5230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do titular — carta, ritmo, ranking e Kaizen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6217920" y="5532120"/>
            <a:ext cx="5230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do Cliente — a pesquisa pedida pela banca, virou módulo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OBJETIVO E HIPÓTESES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objetivo. Três metas públicas. Sempre as mesmas.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10634472" cy="1005840"/>
          </a:xfrm>
          <a:prstGeom prst="roundRect">
            <a:avLst>
              <a:gd name="adj" fmla="val 2727"/>
            </a:avLst>
          </a:prstGeom>
          <a:solidFill>
            <a:srgbClr val="EEF4F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92938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 do trabalho — uma frase, repetida em todo material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51560" y="2240280"/>
            <a:ext cx="10085832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atingimento de carta e a absorção do pós-vendas da Nippon Motos usando decisão guiada por dados — medido por três metas públicas.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3410712" cy="1965960"/>
          </a:xfrm>
          <a:prstGeom prst="roundRect">
            <a:avLst>
              <a:gd name="adj" fmla="val 1395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996696" y="32461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1 · CARTA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96696" y="3493008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100%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96696" y="40965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setembro/2026 — julho fechou em 90,0% e o prêmio da campanha está em jogo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89120" y="3063240"/>
            <a:ext cx="3410712" cy="1965960"/>
          </a:xfrm>
          <a:prstGeom prst="roundRect">
            <a:avLst>
              <a:gd name="adj" fmla="val 1395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4608576" y="32461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2 · ABSORÇÃO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08576" y="3493008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608576" y="40965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dezembro/2026 — saímos de 30% e já estamos em 49,4% (K2 lido do DRE)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01000" y="3063240"/>
            <a:ext cx="3410712" cy="1965960"/>
          </a:xfrm>
          <a:prstGeom prst="roundRect">
            <a:avLst>
              <a:gd name="adj" fmla="val 1395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8220456" y="3246120"/>
            <a:ext cx="2971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3 · LEAD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20456" y="3493008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10 min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220456" y="40965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de atendimento — hoje 81% dentro do SLA; era 22% antes do piloto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77240" y="534924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mede as três ao vivo — a meta virou compromisso público, não promessa.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OBJETIVO E HIPÓTESES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hipóteses testáveis — e a medida de cada uma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formato que a banca pediu: "se X, então Y — medido por Z".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10634472" cy="1170432"/>
          </a:xfrm>
          <a:prstGeom prst="roundRect">
            <a:avLst>
              <a:gd name="adj" fmla="val 2344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1014984" y="2066544"/>
            <a:ext cx="10158984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Se o lead for respondido em até 10 minutos, a conversão em venda sobe.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14984" y="2697480"/>
            <a:ext cx="1015898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MEDIDA: tempo de resposta × conversão no relatório de Atendimento Diário.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3246120"/>
            <a:ext cx="10634472" cy="1170432"/>
          </a:xfrm>
          <a:prstGeom prst="roundRect">
            <a:avLst>
              <a:gd name="adj" fmla="val 2344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1014984" y="3392424"/>
            <a:ext cx="10158984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Se o plano de ação nasce dos números (e não de opinião), ele é executado e o resultado aparece na carta.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14984" y="4023360"/>
            <a:ext cx="1015898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MEDIDA: ações do PDCA concluídas × atingimento mensal.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4572000"/>
            <a:ext cx="10634472" cy="1170432"/>
          </a:xfrm>
          <a:prstGeom prst="roundRect">
            <a:avLst>
              <a:gd name="adj" fmla="val 2344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1014984" y="4718304"/>
            <a:ext cx="10158984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Se o pós-vendas absorve 65% das despesas fixas, a operação para de depender da venda de motos para pagar a conta.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014984" y="5349240"/>
            <a:ext cx="10158984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MEDIDA: taxa K2 mensal × ponto de equilíbrio.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PESQUISA E CLIENTE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Concorrentes da solução: o que só o Smart Dealer 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direta à pergunta da 1ª banca — a vantagem competitiva é o método Yamaha codificado; o software é o veículo.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1168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600200"/>
                <a:gridCol w="1691640"/>
                <a:gridCol w="1554480"/>
                <a:gridCol w="176479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GENÉRICO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DMS DA LOJA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PLANILHAS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DEALER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Regras Yamaha (carta, Kaizen, K2, circular)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codificadas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PDCA no formato oficial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clique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Liberacred: recusa vira oportunidade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automático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Premya acompanhado em curso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Circulares no assistente de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robô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mensal por concessionária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R$ 800–2.500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pago, não analisa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"grátis" e caro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PESQUISA E CLIENTE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Voz do Cliente — feita pelo grupo, com clientes reais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28/07 a 14/08 · formulário WhatsApp + entrevista presencial na entrega e na sala de espera · 32 respostas (52% de adesão).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96696" y="289864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compraram · 14 não compraram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86150" y="196596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370560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SATISFAÇÃO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70560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 / 5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705606" y="289864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3,6 antes do piloto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5060" y="196596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641451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DA PESQUISA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1451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14516" y="289864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promotores − detratores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03970" y="1965960"/>
            <a:ext cx="2507742" cy="13716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123426" y="214884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RESPONDIDO EM 10 MIN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23426" y="238658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123426" y="289864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22% — percepção confirmada pelo cliente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3657600"/>
            <a:ext cx="3410712" cy="1783080"/>
          </a:xfrm>
          <a:prstGeom prst="roundRect">
            <a:avLst>
              <a:gd name="adj" fmla="val 1538"/>
            </a:avLst>
          </a:prstGeom>
          <a:solidFill>
            <a:srgbClr val="EE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978408" y="3840480"/>
            <a:ext cx="3008376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 responderam em uns cinco minutos. Na outra loja eu esperei dois dias e desisti."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5074920"/>
            <a:ext cx="300837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Eduardo · Bragança · comprou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89120" y="3657600"/>
            <a:ext cx="3410712" cy="1783080"/>
          </a:xfrm>
          <a:prstGeom prst="roundRect">
            <a:avLst>
              <a:gd name="adj" fmla="val 1538"/>
            </a:avLst>
          </a:prstGeom>
          <a:solidFill>
            <a:srgbClr val="EEF4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90288" y="3840480"/>
            <a:ext cx="3008376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"Meu crédito não passou e ninguém mais me procurou. Se tivessem uma segunda opção eu tinha fechado."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90288" y="5074920"/>
            <a:ext cx="300837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Vitor · Extrema · não comprou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01000" y="3657600"/>
            <a:ext cx="3410712" cy="1783080"/>
          </a:xfrm>
          <a:prstGeom prst="roundRect">
            <a:avLst>
              <a:gd name="adj" fmla="val 1538"/>
            </a:avLst>
          </a:prstGeom>
          <a:solidFill>
            <a:srgbClr val="EEF4FF"/>
          </a:solidFill>
          <a:ln/>
        </p:spPr>
      </p:sp>
      <p:sp>
        <p:nvSpPr>
          <p:cNvPr id="29" name="Text 27"/>
          <p:cNvSpPr/>
          <p:nvPr/>
        </p:nvSpPr>
        <p:spPr>
          <a:xfrm>
            <a:off x="8202168" y="3840480"/>
            <a:ext cx="3008376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que me convenceu foi a parcela. O vendedor já veio com a simulação pronta, nem precisei pedir."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02168" y="5074920"/>
            <a:ext cx="300837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Aparecida · Amparo · comprou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77240" y="566928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 dos que não compraram travaram no crédito — exatamente o público que o módulo Liberacred devolve à mesa.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PESQUISA E CLIENTE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decide a compra — e o que faz o cliente voltar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 escolha sobre os 32 respondentes · cada fator ligado ao módulo que o atende.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COMPRA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 que cabe no bolso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29000" y="2267712"/>
            <a:ext cx="310896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9" name="Shape 7"/>
          <p:cNvSpPr/>
          <p:nvPr/>
        </p:nvSpPr>
        <p:spPr>
          <a:xfrm>
            <a:off x="3429000" y="2267712"/>
            <a:ext cx="2238451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10" name="Text 8"/>
          <p:cNvSpPr/>
          <p:nvPr/>
        </p:nvSpPr>
        <p:spPr>
          <a:xfrm>
            <a:off x="6611112" y="2240280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29000" y="256946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simulador + bônus da circular na proposta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77240" y="2807208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rápido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2834640"/>
            <a:ext cx="310896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429000" y="2834640"/>
            <a:ext cx="2051914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15" name="Text 13"/>
          <p:cNvSpPr/>
          <p:nvPr/>
        </p:nvSpPr>
        <p:spPr>
          <a:xfrm>
            <a:off x="6611112" y="2807208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29000" y="31363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10 minutos governado no CRM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7240" y="3374136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crédito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29000" y="3401568"/>
            <a:ext cx="310896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19" name="Shape 17"/>
          <p:cNvSpPr/>
          <p:nvPr/>
        </p:nvSpPr>
        <p:spPr>
          <a:xfrm>
            <a:off x="3429000" y="3401568"/>
            <a:ext cx="1741018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3374136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29000" y="37033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BYMD primeiro + resgate Liberacred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77240" y="3941064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/ valor da entrada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29000" y="3968496"/>
            <a:ext cx="310896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24" name="Shape 22"/>
          <p:cNvSpPr/>
          <p:nvPr/>
        </p:nvSpPr>
        <p:spPr>
          <a:xfrm>
            <a:off x="3429000" y="3968496"/>
            <a:ext cx="1461211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25" name="Text 23"/>
          <p:cNvSpPr/>
          <p:nvPr/>
        </p:nvSpPr>
        <p:spPr>
          <a:xfrm>
            <a:off x="6611112" y="3941064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29000" y="427024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da montadora aplicados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77240" y="450799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Confiança / indicação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429000" y="4535424"/>
            <a:ext cx="3108960" cy="274320"/>
          </a:xfrm>
          <a:prstGeom prst="roundRect">
            <a:avLst>
              <a:gd name="adj" fmla="val 6667"/>
            </a:avLst>
          </a:prstGeom>
          <a:solidFill>
            <a:srgbClr val="E5EA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429000" y="4535424"/>
            <a:ext cx="1181405" cy="274320"/>
          </a:xfrm>
          <a:prstGeom prst="roundRect">
            <a:avLst>
              <a:gd name="adj" fmla="val 6667"/>
            </a:avLst>
          </a:prstGeom>
          <a:solidFill>
            <a:srgbClr val="0365FE"/>
          </a:solidFill>
          <a:ln/>
        </p:spPr>
      </p:sp>
      <p:sp>
        <p:nvSpPr>
          <p:cNvPr id="30" name="Text 28"/>
          <p:cNvSpPr/>
          <p:nvPr/>
        </p:nvSpPr>
        <p:spPr>
          <a:xfrm>
            <a:off x="6611112" y="4507992"/>
            <a:ext cx="5669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29000" y="483717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+ régua de pós-venda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89520" y="1874520"/>
            <a:ext cx="3822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FARIA VOCÊ VOLTAR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589520" y="2240280"/>
            <a:ext cx="3822192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0" y="2350008"/>
            <a:ext cx="345643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· a loja lembrar da revisão por mim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0" y="2660904"/>
            <a:ext cx="345643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régua automática do pós-vendas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589520" y="3200400"/>
            <a:ext cx="3822192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0" y="3310128"/>
            <a:ext cx="345643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· contato pós-compra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72400" y="3621024"/>
            <a:ext cx="345643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recontato subiu de 18% para 74% no piloto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160520"/>
            <a:ext cx="3822192" cy="841248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0" y="4270248"/>
            <a:ext cx="345643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· oferta certa na hora da troca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772400" y="4581144"/>
            <a:ext cx="3456432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quitação sugere o upgrade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77240" y="5349240"/>
            <a:ext cx="10634472" cy="960120"/>
          </a:xfrm>
          <a:prstGeom prst="roundRect">
            <a:avLst>
              <a:gd name="adj" fmla="val 2857"/>
            </a:avLst>
          </a:prstGeom>
          <a:solidFill>
            <a:srgbClr val="EEF4FF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" y="54955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Posicionamento que nasce da pesquisa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51560" y="5806440"/>
            <a:ext cx="10085832" cy="3931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Honda vende mais motos; a Yamaha pode atender melhor. O Smart Dealer posiciona a concessionária Yamaha como a que responde em minutos, é transparente no crédito e acompanha a moto a vida inteira — da primeira mensagem à revisão de 24.000 km. Diferenciação por experiência, não por volume.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O QUE MUDOU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7 passos da venda — e onde o sistema atua em cada um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explícito do formulário que estava em branco na 1ª banca. Dois passos demonstrados ao vivo na banca.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20240"/>
          <a:ext cx="106344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434072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DA VENDA YAMAHA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O SMART DEALER ATUA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Recepção / primeiro contato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Atendimento Diário: lead respondido em ≤10 min, linha monitorada (lead que cai em linha offline se perde)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Sondagem (entender a necessidade)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registra origem, modelo de interesse e estágio; conversas guardam o que o cliente pediu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Apresentação do produto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Playbook de Vendas: argumento por modelo + comparativo contra a Honda do segmento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Test-ride / demonstração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Estoque na tela: o vendedor sabe na hora se tem a moto (e a cor) para mostrar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Negociação / proposta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Campanhas vigentes na tela (bônus por modelo + condição do mês) — a melhor oferta sem ligar para ninguém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Fechamento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Linha de Crédito: semáforo e simulador respondem se o pedido cabe; leads quentes voltam para a mesa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Entrega e pós-venda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Régua de revisão com disparo de WhatsApp (1.000 → 24.000 km) + renovação estratégica em 2–4 anos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O QUE MUDOU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digitalizamos o processo antigo — trocamos o processo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28800"/>
          <a:ext cx="106344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291840"/>
                <a:gridCol w="45079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PROCESSO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SMART DEALER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 de performance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cruzando planilhas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PDCA oficial em um clique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sem resposta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 morriam no limbo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— régua + escalonamento ao gerente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Crédito recusado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fim da conversa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oportunidade Liberacred com mensagem-prêmio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Circular da montadora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e-mail de alguém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robô — a loja inteira responde igual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Premya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descoberto na apuração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acompanhado em curso, com simulador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Revisão vencida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esquecido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régua R1–R4 dispara sozinha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mensal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redigitação em cada tela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planilha publicada uma vez, telas se atualizam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235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 virou método replicável: decomposição mercado × share, absorção lida do DRE, dois relógios — documentado e rodando.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RESULTADOS E VIABILIDADE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piloto já produziu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01168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CAMPEÕES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96696" y="224942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R$ 7.500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96696" y="285292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garantidos em julho (90,0% da carta) + R$ 15 mil recuperáveis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86150" y="182880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3705606" y="201168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POR MODELO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05606" y="224942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R$ 66 mil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705606" y="285292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apurados em julho; com Campeões, R$ 73,5 mil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95060" y="182880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6414516" y="201168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ABSORÇÃO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14516" y="224942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 p.p.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414516" y="285292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30% para 49,4% — gap para 65% quantificado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03970" y="1828800"/>
            <a:ext cx="2507742" cy="1463040"/>
          </a:xfrm>
          <a:prstGeom prst="roundRect">
            <a:avLst>
              <a:gd name="adj" fmla="val 1875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9123426" y="2011680"/>
            <a:ext cx="206883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DE LEADS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23426" y="2249424"/>
            <a:ext cx="206883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 → 13,9%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123426" y="2852928"/>
            <a:ext cx="206883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SLA de 10 minutos governado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657600"/>
            <a:ext cx="10634472" cy="1143000"/>
          </a:xfrm>
          <a:prstGeom prst="roundRect">
            <a:avLst>
              <a:gd name="adj" fmla="val 2400"/>
            </a:avLst>
          </a:prstGeom>
          <a:solidFill>
            <a:srgbClr val="E7F6EE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380390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anual identificado pelo sistema: cerca de R$ 1,1 milhão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51560" y="4114800"/>
            <a:ext cx="10085832" cy="5760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Prêmios de campanha (~R$ 400 mil) + gap de absorção do K2 (~R$ 490 mil) + Premya, Seguros e Consórcio (~R$ 200 mil) — em uma única concessionária.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" y="5029200"/>
            <a:ext cx="10634472" cy="914400"/>
          </a:xfrm>
          <a:prstGeom prst="roundRect">
            <a:avLst>
              <a:gd name="adj" fmla="val 3000"/>
            </a:avLst>
          </a:prstGeom>
          <a:solidFill>
            <a:srgbClr val="EEF4FF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517550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do compromisso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51560" y="5486400"/>
            <a:ext cx="10085832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fecha a campanha e a Meta 1. Convidamos a banca a cobrar o resultado na apresentação final — o número estará na tela, ao vivo.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RESULTADOS E VIABILIDADE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fez o quê — e quem valida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de papéis explícita (apontamento da 1ª banca) · fala revezada na apresentação.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1965960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Caique Oliveira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532888"/>
            <a:ext cx="1527048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método e consultoria de campo — emplacamento, K2, PDCA, circulares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44368" y="1965960"/>
            <a:ext cx="1965960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3163824" y="216712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Klenilson Paiva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63824" y="2532888"/>
            <a:ext cx="1527048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Narrativa, arquitetura da solução e apresentação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11496" y="1965960"/>
            <a:ext cx="1965960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216712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Evandro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30952" y="2532888"/>
            <a:ext cx="1527048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comercial — CRM, playbook e cadências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78624" y="1965960"/>
            <a:ext cx="1965960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0" y="216712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Paulo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98080" y="2532888"/>
            <a:ext cx="1527048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pós-vendas — régua de revisões e retenção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45752" y="1965960"/>
            <a:ext cx="1965960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665208" y="2167128"/>
            <a:ext cx="1527048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65208" y="2532888"/>
            <a:ext cx="1527048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cliente — pesquisa Voz do Cliente e NPS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114800"/>
            <a:ext cx="10634472" cy="1097280"/>
          </a:xfrm>
          <a:prstGeom prst="roundRect">
            <a:avLst>
              <a:gd name="adj" fmla="val 2500"/>
            </a:avLst>
          </a:prstGeom>
          <a:solidFill>
            <a:srgbClr val="EEF4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426110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Concessionária + grupo, de verdade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51560" y="4572000"/>
            <a:ext cx="10085832" cy="5303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Nippon paga o piloto (R$ 600/mês) e usa no dia a dia — os dados desta apresentação são da operação real. Orientador Paulo Lopes acompanhando. Depoimento em vídeo do titular na apresentação final.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RESULTADOS E VIABILIDADE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Replicar é configurar, não reprogramar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216652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07568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PRONTOS PARA ESCALAR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96696" y="233172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9 grupos da regional já estão na base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697480"/>
            <a:ext cx="4777740" cy="932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Varejo e metas multi-grupo desde o dia 1 — falta só criar os acessos. SaaS sem instalação, R$ 600/mês; payback com um único prêmio de campanha. Governança (régua, regionalização, cadências) parametrizável por grupo.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95060" y="1874520"/>
            <a:ext cx="5216652" cy="1920240"/>
          </a:xfrm>
          <a:prstGeom prst="roundRect">
            <a:avLst>
              <a:gd name="adj" fmla="val 1429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6414516" y="207568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DE REPLICABILIDADE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14516" y="233172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método já rodou fora da Nippon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14516" y="2697480"/>
            <a:ext cx="4777740" cy="932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PDCAs da NOBRE Motos (Caraguatatuba e Mogi): mesmo método, outro grupo, sem mudar uma linha. O consultor da regional já acompanha as 9 CCYs neste formato de análise.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4114800"/>
            <a:ext cx="10634472" cy="914400"/>
          </a:xfrm>
          <a:prstGeom prst="roundRect">
            <a:avLst>
              <a:gd name="adj" fmla="val 3000"/>
            </a:avLst>
          </a:prstGeom>
          <a:solidFill>
            <a:srgbClr val="EEF4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26110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aprovado pela diretoria: rollout regional ainda em 2026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51560" y="4572000"/>
            <a:ext cx="10085832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YamahaWay terá gerado um padrão nacional — nascido dentro de uma concessionária, validado pela banca.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FÓRMULA DO SUCESSO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completo — critério a critério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27 sub-itens do formulário auditados um a um. Da 1ª banca para cá, 16 fechados · 11 parciais · 0 em branco.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749040" y="2029968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3,78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0" y="2057400"/>
            <a:ext cx="3515868" cy="237744"/>
          </a:xfrm>
          <a:prstGeom prst="roundRect">
            <a:avLst>
              <a:gd name="adj" fmla="val 7692"/>
            </a:avLst>
          </a:prstGeom>
          <a:solidFill>
            <a:srgbClr val="1E9E5A"/>
          </a:solidFill>
          <a:ln/>
        </p:spPr>
      </p:sp>
      <p:sp>
        <p:nvSpPr>
          <p:cNvPr id="9" name="Shape 7"/>
          <p:cNvSpPr/>
          <p:nvPr/>
        </p:nvSpPr>
        <p:spPr>
          <a:xfrm>
            <a:off x="9038844" y="2057400"/>
            <a:ext cx="1147572" cy="237744"/>
          </a:xfrm>
          <a:prstGeom prst="roundRect">
            <a:avLst>
              <a:gd name="adj" fmla="val 7692"/>
            </a:avLst>
          </a:prstGeom>
          <a:solidFill>
            <a:srgbClr val="E8B04B"/>
          </a:solidFill>
          <a:ln/>
        </p:spPr>
      </p:sp>
      <p:sp>
        <p:nvSpPr>
          <p:cNvPr id="10" name="Text 8"/>
          <p:cNvSpPr/>
          <p:nvPr/>
        </p:nvSpPr>
        <p:spPr>
          <a:xfrm>
            <a:off x="10268712" y="202996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1 · 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2523744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Objetivos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49040" y="254203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4,00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0" y="2569464"/>
            <a:ext cx="2331720" cy="237744"/>
          </a:xfrm>
          <a:prstGeom prst="roundRect">
            <a:avLst>
              <a:gd name="adj" fmla="val 7692"/>
            </a:avLst>
          </a:prstGeom>
          <a:solidFill>
            <a:srgbClr val="1E9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7854696" y="2569464"/>
            <a:ext cx="2331720" cy="237744"/>
          </a:xfrm>
          <a:prstGeom prst="roundRect">
            <a:avLst>
              <a:gd name="adj" fmla="val 7692"/>
            </a:avLst>
          </a:prstGeom>
          <a:solidFill>
            <a:srgbClr val="E8B04B"/>
          </a:solidFill>
          <a:ln/>
        </p:spPr>
      </p:sp>
      <p:sp>
        <p:nvSpPr>
          <p:cNvPr id="15" name="Text 13"/>
          <p:cNvSpPr/>
          <p:nvPr/>
        </p:nvSpPr>
        <p:spPr>
          <a:xfrm>
            <a:off x="10268712" y="25420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3 · 0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3035808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no Cliente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49040" y="305409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3,83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0" y="3081528"/>
            <a:ext cx="2923794" cy="237744"/>
          </a:xfrm>
          <a:prstGeom prst="roundRect">
            <a:avLst>
              <a:gd name="adj" fmla="val 7692"/>
            </a:avLst>
          </a:prstGeom>
          <a:solidFill>
            <a:srgbClr val="1E9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8446770" y="3081528"/>
            <a:ext cx="1739646" cy="237744"/>
          </a:xfrm>
          <a:prstGeom prst="roundRect">
            <a:avLst>
              <a:gd name="adj" fmla="val 7692"/>
            </a:avLst>
          </a:prstGeom>
          <a:solidFill>
            <a:srgbClr val="E8B04B"/>
          </a:solidFill>
          <a:ln/>
        </p:spPr>
      </p:sp>
      <p:sp>
        <p:nvSpPr>
          <p:cNvPr id="20" name="Text 18"/>
          <p:cNvSpPr/>
          <p:nvPr/>
        </p:nvSpPr>
        <p:spPr>
          <a:xfrm>
            <a:off x="10268712" y="3054096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3 · 0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" y="35478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Fora da Caixa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749040" y="356616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4,33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0" y="3593592"/>
            <a:ext cx="2805379" cy="237744"/>
          </a:xfrm>
          <a:prstGeom prst="roundRect">
            <a:avLst>
              <a:gd name="adj" fmla="val 7692"/>
            </a:avLst>
          </a:prstGeom>
          <a:solidFill>
            <a:srgbClr val="1E9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8328355" y="3593592"/>
            <a:ext cx="1858061" cy="237744"/>
          </a:xfrm>
          <a:prstGeom prst="roundRect">
            <a:avLst>
              <a:gd name="adj" fmla="val 7692"/>
            </a:avLst>
          </a:prstGeom>
          <a:solidFill>
            <a:srgbClr val="E8B04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68712" y="356616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2 · 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77240" y="4059936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em Equipe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49040" y="4078224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4,25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0" y="4105656"/>
            <a:ext cx="2331720" cy="237744"/>
          </a:xfrm>
          <a:prstGeom prst="roundRect">
            <a:avLst>
              <a:gd name="adj" fmla="val 7692"/>
            </a:avLst>
          </a:prstGeom>
          <a:solidFill>
            <a:srgbClr val="1E9E5A"/>
          </a:solidFill>
          <a:ln/>
        </p:spPr>
      </p:sp>
      <p:sp>
        <p:nvSpPr>
          <p:cNvPr id="29" name="Shape 27"/>
          <p:cNvSpPr/>
          <p:nvPr/>
        </p:nvSpPr>
        <p:spPr>
          <a:xfrm>
            <a:off x="7854696" y="4105656"/>
            <a:ext cx="2331720" cy="237744"/>
          </a:xfrm>
          <a:prstGeom prst="roundRect">
            <a:avLst>
              <a:gd name="adj" fmla="val 7692"/>
            </a:avLst>
          </a:prstGeom>
          <a:solidFill>
            <a:srgbClr val="E8B04B"/>
          </a:solidFill>
          <a:ln/>
        </p:spPr>
      </p:sp>
      <p:sp>
        <p:nvSpPr>
          <p:cNvPr id="30" name="Text 28"/>
          <p:cNvSpPr/>
          <p:nvPr/>
        </p:nvSpPr>
        <p:spPr>
          <a:xfrm>
            <a:off x="10268712" y="4078224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1 · 0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4572000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Viabilidade e Impacto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49040" y="4590288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1ª banca 4,17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0" y="4617720"/>
            <a:ext cx="2331720" cy="237744"/>
          </a:xfrm>
          <a:prstGeom prst="roundRect">
            <a:avLst>
              <a:gd name="adj" fmla="val 7692"/>
            </a:avLst>
          </a:prstGeom>
          <a:solidFill>
            <a:srgbClr val="1E9E5A"/>
          </a:solidFill>
          <a:ln/>
        </p:spPr>
      </p:sp>
      <p:sp>
        <p:nvSpPr>
          <p:cNvPr id="34" name="Shape 32"/>
          <p:cNvSpPr/>
          <p:nvPr/>
        </p:nvSpPr>
        <p:spPr>
          <a:xfrm>
            <a:off x="7854696" y="4617720"/>
            <a:ext cx="2331720" cy="237744"/>
          </a:xfrm>
          <a:prstGeom prst="roundRect">
            <a:avLst>
              <a:gd name="adj" fmla="val 7692"/>
            </a:avLst>
          </a:prstGeom>
          <a:solidFill>
            <a:srgbClr val="E8B04B"/>
          </a:solidFill>
          <a:ln/>
        </p:spPr>
      </p:sp>
      <p:sp>
        <p:nvSpPr>
          <p:cNvPr id="35" name="Text 33"/>
          <p:cNvSpPr/>
          <p:nvPr/>
        </p:nvSpPr>
        <p:spPr>
          <a:xfrm>
            <a:off x="10268712" y="459028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1 · 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0" y="5266944"/>
            <a:ext cx="164592" cy="164592"/>
          </a:xfrm>
          <a:prstGeom prst="roundRect">
            <a:avLst>
              <a:gd name="adj" fmla="val 11111"/>
            </a:avLst>
          </a:prstGeom>
          <a:solidFill>
            <a:srgbClr val="1E9E5A"/>
          </a:solidFill>
          <a:ln/>
        </p:spPr>
      </p:sp>
      <p:sp>
        <p:nvSpPr>
          <p:cNvPr id="37" name="Text 35"/>
          <p:cNvSpPr/>
          <p:nvPr/>
        </p:nvSpPr>
        <p:spPr>
          <a:xfrm>
            <a:off x="5705856" y="522122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temos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20840" y="5266944"/>
            <a:ext cx="164592" cy="164592"/>
          </a:xfrm>
          <a:prstGeom prst="roundRect">
            <a:avLst>
              <a:gd name="adj" fmla="val 11111"/>
            </a:avLst>
          </a:prstGeom>
          <a:solidFill>
            <a:srgbClr val="E8B04B"/>
          </a:solidFill>
          <a:ln/>
        </p:spPr>
      </p:sp>
      <p:sp>
        <p:nvSpPr>
          <p:cNvPr id="39" name="Text 37"/>
          <p:cNvSpPr/>
          <p:nvPr/>
        </p:nvSpPr>
        <p:spPr>
          <a:xfrm>
            <a:off x="6940296" y="522122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55280" y="5266944"/>
            <a:ext cx="164592" cy="164592"/>
          </a:xfrm>
          <a:prstGeom prst="roundRect">
            <a:avLst>
              <a:gd name="adj" fmla="val 11111"/>
            </a:avLst>
          </a:prstGeom>
          <a:solidFill>
            <a:srgbClr val="D64545"/>
          </a:solidFill>
          <a:ln/>
        </p:spPr>
      </p:sp>
      <p:sp>
        <p:nvSpPr>
          <p:cNvPr id="41" name="Text 39"/>
          <p:cNvSpPr/>
          <p:nvPr/>
        </p:nvSpPr>
        <p:spPr>
          <a:xfrm>
            <a:off x="8174736" y="522122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branco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77240" y="5586984"/>
            <a:ext cx="10634472" cy="914400"/>
          </a:xfrm>
          <a:prstGeom prst="roundRect">
            <a:avLst>
              <a:gd name="adj" fmla="val 3000"/>
            </a:avLst>
          </a:prstGeom>
          <a:solidFill>
            <a:srgbClr val="E7F6EE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" y="5733288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6 itens que estavam EM BRANCO na 1ª banca foram fechados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51560" y="6044184"/>
            <a:ext cx="10085832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com clientes · fatores de compra · hipóteses · objetivo mensurável · posicionamento · 7 passos. Nos próximos slides, cada critério aberto item a item.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FÓRMULA DO SUCESSO · 1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da 1ª banca — Pesquisa: 3,78 · todos os sub-itens do formulário, um a 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74520"/>
          <a:ext cx="106344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68680"/>
                <a:gridCol w="6199632"/>
              </a:tblGrid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SUB-ITEM DO FORMULÁRIO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ESTÁ A PROVA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Análises externas foram devidamente realizadas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 real de emplacamento (5.346 motos Jan–Jul nas áreas da Nippon), 13 áreas da regional mapeadas, dados da Receita/BrasilAPI. Telas Market Share e Performance.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Análises dos concorrentes foram realizadas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Concorrentes do MERCADO: 230 CNPJs mapeados, 175 nomeados, invasão de território por CNPJ. O que não foi feito formalmente: concorrentes da SOLUÇÃO (outros softwares de gestão/CRM para concessionárias).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Pesquisas e análises de mercado foram suficientes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duros: share por segmento/cidade, decomposição mercado×share, DRE (K2), circular de campanha. Tudo com fonte oficial.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hipóteses do trabalho foram claras a partir das análises realizadas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hipóteses formalizadas no formato "se X, então Y — medido por Z" (minuta neste dossiê) e MEDIDAS no sistema: SLA ≤10 min → conversão (Voz do Cliente: 22%→81% em ≤10 min, conversão 8,1%→13,9%);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FÓRMULA DO SUCESSO · 2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Objetivos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da 1ª banca — Planejamento: 4,00 · todos os sub-itens do formulário, um a 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74520"/>
          <a:ext cx="106344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68680"/>
                <a:gridCol w="6199632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SUB-ITEM DO FORMULÁRIO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ESTÁ A PROVA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objetivo do trabalho é claro e definido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"Sistema de gerenciamento inteligente para concessionário e cliente" — claro, mas amplo.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objetivo do trabalho é mensurável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metas públicas declaradas: (1) carta ≥100% em setembro; (2) absorção 65% até dezembro (hoje 49,4%); (3) lead atendido em ≤10 min (hoje 81% dentro do SLA).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objetivo foi atingido no prazo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entregas aconteceram (6 módulos em produção), mas sem cronograma formal apresentado.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KPIs estão alinhados com os objetivos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tela tem KPI com meta: carta do mês, absorção &gt;65%, PE &lt;50%, lead ≤10 min, NPS 93/87, pontos Kaizen.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plano de ação está alinhado com os objetivos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PDCA sai do sistema no formato oficial Yamaha, com ações nascidas dos números (ritmo, segmentos, praças, invasão).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objetivo está relacionado aos resultados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Resultados do piloto já existem: R$ 7.500 garantidos na campanha, absorção 30%→49%, mercado decomposto.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FÓRMULA DO SUCESSO · 3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no Cliente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da 1ª banca — Foco: 3,83 · todos os sub-itens do formulário, um a 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74520"/>
          <a:ext cx="106344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68680"/>
                <a:gridCol w="619963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SUB-ITEM DO FORMULÁRIO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ESTÁ A PROVA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público alvo (cliente) foi claramente definido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prática há dois clientes: o concessionário (titular/gerente/vendedor/mecânico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posicionamento Yamaha foi claramente definido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Declarado: "a Yamaha como a marca que responde em minutos e acompanha a moto a vida inteira (revisão → recompra)"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Yamaha ficou claramente posicionada de forma diferenciada em relação aos concorrentes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diferenciação aparece nos dados (share por segmento vs Honda), mas não como proposta de experiência.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Existe consistência entre o público alvo e as atividades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papel vê só o que usa: mecânico → assistente técnico; vendedor → CRM/campanhas/playbook; titular → tudo.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Necessidades e desejos dos clientes foram definidos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dor do "limbo do lead" foi validada pela própria banca (Cintia).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principais fatores de compra dos clientes foram definidos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Tabulados na pesquisa Voz do Cliente (32 respostas): parcela 72% · atendimento rápido 66% · aprovação de crédito 56% ·…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7 passos foram claramente descritos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Mapeados (recepção → sondagem → apresentação → test-ride → negociação → fechamento → entrega/pós) com o ponto de atuação do Smart…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Pesquisas com clientes foram realizadas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Pesquisa Voz do Cliente: 32 respostas (18 compradores + 14 não compradores), satisfação 4,5/5, NPS 72, verbatims reais, motivos…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FÓRMULA DO SUCESSO · 4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Fora da Caixa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da 1ª banca — Pensar: 4,33 · todos os sub-itens do formulário, um a 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74520"/>
          <a:ext cx="106344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68680"/>
                <a:gridCol w="6199632"/>
              </a:tblGrid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SUB-ITEM DO FORMULÁRIO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ESTÁ A PROVA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é revolucionário e capaz de mudar o comportamento do cliente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régua de revisão com disparo WhatsApp muda a relação pós-venda; o atendimento monitorado muda a experiência do lead.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é revolucionário e mudou drasticamente o processo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PDCA de horas para 1 clique; atualização mensal de redigitação para publicação única; crédito de ligação para semáforo. Tabela com/sem no Dossiê.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gerou uma vantagem competitiva para a Yamaha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know-how codificado (dois relógios, decomposição, K2, circulares) — respondendo à pergunta da 1ª banca: a vantagem é o COMO, não o software.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resultou em um conhecimento avançado para nosso segmento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 replicável: decomposição mercado×share, absorção lida do DRE, PDCA automático — documentado e rodando.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gerou grandes receitas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R$ 7.500 garantidos + até R$ 100 mil em jogo na campanha; gap de absorção quantificado (~R$ 41 mil/mês de MC).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FÓRMULA DO SUCESSO · 5 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em Equipe + Viabilidade e Impacto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da 1ª banca — Trabalho: 4,25 · Viabilidade: 4,17 · todos os sub-itens do formulário, um a 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10634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EM EQUIPE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68680"/>
                <a:gridCol w="619963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SUB-ITEM DO FORMULÁRIO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ESTÁ A PROVA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em equipe realizado pelo grupo foi claramente percebido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grupo funciona (nota 4,25), mas a divisão de papéis não foi explicitada na apresentação.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em equipe entre concessionária e grupo foi percebido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Nippon paga o piloto (R$ 600/mês), usa no dia a dia e os dados são dela. Orientador Paulo Lopes acompanhando.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777240" y="4379976"/>
            <a:ext cx="106344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VIABILIDADE E IMPACTO</a:t>
            </a:r>
            <a:endParaRPr lang="en-US" sz="10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654296"/>
          <a:ext cx="106344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68680"/>
                <a:gridCol w="619963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SUB-ITEM DO FORMULÁRIO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ESTÁ A PROVA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D3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trabalho é viável para implantação em outras concessionárias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6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sem instalação, R$ 600/mês, banco multi-grupo desde o dia 1 (os 9 grupos da regional já estão na base de varejo/metas).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9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Há possibilidade de bons resultados se o trabalho for implementado em outras concessionárias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método já rodou para outro grupo fora do sistema: os PDCAs da NOBRE MOTOS (Caraguatatuba e Mogi) existem no projeto Performance Concessionário.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"Como transformar dados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experiências memoráveis?"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Smart Dealer é mais do que uma plataforma tecnológica.</a:t>
            </a:r>
            <a:endParaRPr lang="en-US" sz="145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novo padrão de relacionamento entre cliente, concessionária e Yamaha.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1706453" y="4983480"/>
            <a:ext cx="877604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fecha a campanha e a Meta 1 — cobrem o resultado na apresentação final.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77240" y="63093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GRUPO 06 SHOGUN RIDERS · NIPPON MOTOS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Dealer — 2ª Banca YamahaWay 2026</dc:title>
  <dc:subject>PptxGenJS Presentation</dc:subject>
  <dc:creator>Grupo 06 — Shogun Riders</dc:creator>
  <cp:lastModifiedBy>Grupo 06 — Shogun Riders</cp:lastModifiedBy>
  <cp:revision>1</cp:revision>
  <dcterms:created xsi:type="dcterms:W3CDTF">2026-08-20T11:06:49Z</dcterms:created>
  <dcterms:modified xsi:type="dcterms:W3CDTF">2026-08-20T11:06:49Z</dcterms:modified>
</cp:coreProperties>
</file>