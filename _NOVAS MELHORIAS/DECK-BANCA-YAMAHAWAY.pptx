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_NOVAS MELHORIAS/deck-assets/bg-ca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331720"/>
            <a:ext cx="659337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4CD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YAMAHA WAY 2026 · 2ª BANCA · GRUPO 06 — SHOGUN RIDERS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2651760"/>
            <a:ext cx="6593373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Dealer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777240" y="3749040"/>
            <a:ext cx="5955304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transformar dados em experiências memoráveis?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Fórmula do Sucesso, requisito a requisito — cada slide preenche um item.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77240" y="5074920"/>
            <a:ext cx="3840480" cy="0"/>
          </a:xfrm>
          <a:prstGeom prst="line">
            <a:avLst/>
          </a:prstGeom>
          <a:noFill/>
          <a:ln w="12700">
            <a:solidFill>
              <a:srgbClr val="3D4F6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257800"/>
            <a:ext cx="6380683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real: Nippon Motos · Bragança Paulista, Atibaia, Amparo e Extrema</a:t>
            </a:r>
            <a:endParaRPr lang="en-US" sz="1150" dirty="0"/>
          </a:p>
        </p:txBody>
      </p:sp>
      <p:pic>
        <p:nvPicPr>
          <p:cNvPr id="8" name="Image 1" descr="_NOVAS MELHORIAS/deck-assets/dash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0000">
            <a:off x="7635240" y="1417320"/>
            <a:ext cx="5486400" cy="3257550"/>
          </a:xfrm>
          <a:prstGeom prst="rect">
            <a:avLst/>
          </a:prstGeom>
          <a:effectLst>
            <a:outerShdw sx="100000" sy="100000" kx="0" ky="0" algn="bl" rotWithShape="0" blurRad="279400" dist="101600" dir="5400000">
              <a:srgbClr val="05090F">
                <a:alpha val="6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Fórmula do Sucesso é o roteiro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critérios, 27 requisitos — um slide para cada um, com a entrega que o preenche.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3410712" cy="1600200"/>
          </a:xfrm>
          <a:prstGeom prst="roundRect">
            <a:avLst>
              <a:gd name="adj" fmla="val 1714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16712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42316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6696" y="2788920"/>
            <a:ext cx="2971800" cy="6126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requisitos do formulário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0" y="1965960"/>
            <a:ext cx="3410712" cy="1600200"/>
          </a:xfrm>
          <a:prstGeom prst="roundRect">
            <a:avLst>
              <a:gd name="adj" fmla="val 1714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4608576" y="216712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608576" y="242316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e Objetivos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08576" y="2788920"/>
            <a:ext cx="2971800" cy="6126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requisitos do formulário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01000" y="1965960"/>
            <a:ext cx="3410712" cy="1600200"/>
          </a:xfrm>
          <a:prstGeom prst="roundRect">
            <a:avLst>
              <a:gd name="adj" fmla="val 1714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8220456" y="216712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0456" y="242316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no Cliente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0456" y="2788920"/>
            <a:ext cx="2971800" cy="6126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requisitos do formulário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3767328"/>
            <a:ext cx="3410712" cy="1600200"/>
          </a:xfrm>
          <a:prstGeom prst="roundRect">
            <a:avLst>
              <a:gd name="adj" fmla="val 1714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996696" y="3968496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96696" y="42245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 Fora da Caixa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96696" y="4590288"/>
            <a:ext cx="2971800" cy="6126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requisitos do formulário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389120" y="3767328"/>
            <a:ext cx="3410712" cy="1600200"/>
          </a:xfrm>
          <a:prstGeom prst="roundRect">
            <a:avLst>
              <a:gd name="adj" fmla="val 1714"/>
            </a:avLst>
          </a:prstGeom>
          <a:solidFill>
            <a:srgbClr val="F7F9FC"/>
          </a:solidFill>
          <a:ln/>
        </p:spPr>
      </p:sp>
      <p:sp>
        <p:nvSpPr>
          <p:cNvPr id="23" name="Text 21"/>
          <p:cNvSpPr/>
          <p:nvPr/>
        </p:nvSpPr>
        <p:spPr>
          <a:xfrm>
            <a:off x="4608576" y="3968496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608576" y="42245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em Equipe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608576" y="4590288"/>
            <a:ext cx="2971800" cy="6126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requisitos do formulário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001000" y="3767328"/>
            <a:ext cx="3410712" cy="1600200"/>
          </a:xfrm>
          <a:prstGeom prst="roundRect">
            <a:avLst>
              <a:gd name="adj" fmla="val 1714"/>
            </a:avLst>
          </a:prstGeom>
          <a:solidFill>
            <a:srgbClr val="F7F9FC"/>
          </a:solidFill>
          <a:ln/>
        </p:spPr>
      </p:sp>
      <p:sp>
        <p:nvSpPr>
          <p:cNvPr id="27" name="Text 25"/>
          <p:cNvSpPr/>
          <p:nvPr/>
        </p:nvSpPr>
        <p:spPr>
          <a:xfrm>
            <a:off x="8220456" y="3968496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220456" y="42245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Viabilidade e Impacto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20456" y="4590288"/>
            <a:ext cx="2971800" cy="6126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requisitos do formulário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PESQUISA · ITEM 1 DE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existe no mercado de ferramentas — e o que falta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"Análises externas foram devidamente realizadas"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2507742" cy="2148840"/>
          </a:xfrm>
          <a:prstGeom prst="roundRect">
            <a:avLst>
              <a:gd name="adj" fmla="val 1277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121408"/>
            <a:ext cx="206883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DMS DA LOJA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377440"/>
            <a:ext cx="206883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Opera, não analisa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6696" y="2743200"/>
            <a:ext cx="2068830" cy="11612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fiscal, OS e estoque. Nenhuma leitura de carta, share ou campanha — e já está pago.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86150" y="1920240"/>
            <a:ext cx="2507742" cy="2148840"/>
          </a:xfrm>
          <a:prstGeom prst="roundRect">
            <a:avLst>
              <a:gd name="adj" fmla="val 1277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3705606" y="2121408"/>
            <a:ext cx="206883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GENÉRICO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705606" y="2377440"/>
            <a:ext cx="206883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Funil sem regra Yamaha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705606" y="2743200"/>
            <a:ext cx="2068830" cy="11612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R$ 800–2.500/mês. Gerencia leads, mas não conhece circular, Kaizen nem carta varejo.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95060" y="1920240"/>
            <a:ext cx="2507742" cy="2148840"/>
          </a:xfrm>
          <a:prstGeom prst="roundRect">
            <a:avLst>
              <a:gd name="adj" fmla="val 1277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6414516" y="2121408"/>
            <a:ext cx="206883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PLANILHAS E BI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414516" y="2377440"/>
            <a:ext cx="206883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 atrasado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14516" y="2743200"/>
            <a:ext cx="2068830" cy="11612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"Grátis" que custa horas de digitação — o indicador chega depois da decisão.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903970" y="1920240"/>
            <a:ext cx="2507742" cy="2148840"/>
          </a:xfrm>
          <a:prstGeom prst="roundRect">
            <a:avLst>
              <a:gd name="adj" fmla="val 1277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9123426" y="2121408"/>
            <a:ext cx="206883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PAINÉIS DA MONTADORA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123426" y="2377440"/>
            <a:ext cx="206883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 numa senha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123426" y="2743200"/>
            <a:ext cx="2068830" cy="11612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Liberacred, Seguros, Periodic Inspection: dados ricos, isolados, sem virar ação na loja.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7240" y="4434840"/>
            <a:ext cx="10634472" cy="1143000"/>
          </a:xfrm>
          <a:prstGeom prst="roundRect">
            <a:avLst>
              <a:gd name="adj" fmla="val 2400"/>
            </a:avLst>
          </a:prstGeom>
          <a:solidFill>
            <a:srgbClr val="EEF4FF"/>
          </a:solidFill>
          <a:ln/>
        </p:spPr>
      </p:sp>
      <p:sp>
        <p:nvSpPr>
          <p:cNvPr id="23" name="Text 21"/>
          <p:cNvSpPr/>
          <p:nvPr/>
        </p:nvSpPr>
        <p:spPr>
          <a:xfrm>
            <a:off x="1051560" y="458114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lacuna que a análise revelou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051560" y="4892040"/>
            <a:ext cx="10085832" cy="5760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ferramenta une as pontas — e nenhuma fala "Yamaha": carta, Kaizen, K2, Premya, circulares. A concessionária opera cega entre sistemas que não conversam. Essa lacuna é exatamente a oportunidade do Smart Dealer.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PESQUISA · ITEM 2 DE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Concorrentes do mercado — e da solução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"Análises dos concorrentes foram realizadas"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51343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MERCADO (quem vende moto)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7240" y="2240280"/>
            <a:ext cx="5134356" cy="822960"/>
          </a:xfrm>
          <a:prstGeom prst="roundRect">
            <a:avLst>
              <a:gd name="adj" fmla="val 3333"/>
            </a:avLst>
          </a:prstGeom>
          <a:solidFill>
            <a:srgbClr val="F7F9FC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350008"/>
            <a:ext cx="476859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 CNPJs concorrentes mapeados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60120" y="2660904"/>
            <a:ext cx="4768596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175 nomeados via Receita Federal / BrasilAPI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" y="3172968"/>
            <a:ext cx="5134356" cy="822960"/>
          </a:xfrm>
          <a:prstGeom prst="roundRect">
            <a:avLst>
              <a:gd name="adj" fmla="val 3333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282696"/>
            <a:ext cx="476859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Invasão de território por CNPJ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60120" y="3593592"/>
            <a:ext cx="4768596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emplaca dentro da área da Nippon, loja a loja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77240" y="4105656"/>
            <a:ext cx="5134356" cy="822960"/>
          </a:xfrm>
          <a:prstGeom prst="roundRect">
            <a:avLst>
              <a:gd name="adj" fmla="val 3333"/>
            </a:avLst>
          </a:prstGeom>
          <a:solidFill>
            <a:srgbClr val="F7F9FC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4215384"/>
            <a:ext cx="476859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Honda decomposta por segmento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60120" y="4526280"/>
            <a:ext cx="4768596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ela é imbatível e onde a Yamaha disputa de igual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77356" y="1920240"/>
            <a:ext cx="51343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SOLUÇÃO (quem disputa a gestão da CCY)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77356" y="2240280"/>
          <a:ext cx="5134356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143000"/>
                <a:gridCol w="914400"/>
                <a:gridCol w="1207008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CRM GENÉRICO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DMS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 DEALER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Regras Yamaha codificadas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PDCA oficial em 1 clique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Liberacred / Premya / circulares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mensal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R$ 800–2.500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já pago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R$ 600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777240" y="5257800"/>
            <a:ext cx="10634472" cy="960120"/>
          </a:xfrm>
          <a:prstGeom prst="roundRect">
            <a:avLst>
              <a:gd name="adj" fmla="val 2857"/>
            </a:avLst>
          </a:prstGeom>
          <a:solidFill>
            <a:srgbClr val="EEF4FF"/>
          </a:solidFill>
          <a:ln/>
        </p:spPr>
      </p:sp>
      <p:sp>
        <p:nvSpPr>
          <p:cNvPr id="19" name="Text 16"/>
          <p:cNvSpPr/>
          <p:nvPr/>
        </p:nvSpPr>
        <p:spPr>
          <a:xfrm>
            <a:off x="1051560" y="540410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resposta à pergunta da 1ª banca ("qual a exclusividade?")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1051560" y="5715000"/>
            <a:ext cx="10085832" cy="3931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vantagem competitiva é o método Yamaha codificado — o software é só o veículo. Nenhum concorrente carrega carta, Kaizen, K2, Premya e circulares dentro do produto.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PESQUISA · ITEM 3 DE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dor, medida dentro da operação real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"Pesquisas e análises de mercado foram suficientes"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250774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10312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ISOLADOS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34086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9+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96696" y="285292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CRM, Banco, Consórcio, Seguros, NPS, DMS, planilhas...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86150" y="1920240"/>
            <a:ext cx="250774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3705606" y="210312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POR ANÁLISE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705606" y="234086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30min–3h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705606" y="285292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abrir, cruzar e analisar manualmente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95060" y="1920240"/>
            <a:ext cx="250774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6414516" y="210312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NO LIMBO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414516" y="234086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32%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414516" y="285292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morriam sem resposta antes do piloto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903970" y="1920240"/>
            <a:ext cx="250774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9123426" y="210312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RESPOSTA AO LEAD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123426" y="234086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3h47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9123426" y="285292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de 2026 não espera — compara com Amazon e Nubank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240" y="3566160"/>
            <a:ext cx="3410712" cy="1143000"/>
          </a:xfrm>
          <a:prstGeom prst="roundRect">
            <a:avLst>
              <a:gd name="adj" fmla="val 2400"/>
            </a:avLst>
          </a:prstGeom>
          <a:solidFill>
            <a:srgbClr val="F7F9FC"/>
          </a:solidFill>
          <a:ln/>
        </p:spPr>
      </p:sp>
      <p:sp>
        <p:nvSpPr>
          <p:cNvPr id="23" name="Text 21"/>
          <p:cNvSpPr/>
          <p:nvPr/>
        </p:nvSpPr>
        <p:spPr>
          <a:xfrm>
            <a:off x="996696" y="37673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recusado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96696" y="4133088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mais procurado — mesmo com o Liberacred aprovando de novo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9120" y="3566160"/>
            <a:ext cx="3410712" cy="1143000"/>
          </a:xfrm>
          <a:prstGeom prst="roundRect">
            <a:avLst>
              <a:gd name="adj" fmla="val 2400"/>
            </a:avLst>
          </a:prstGeom>
          <a:solidFill>
            <a:srgbClr val="F7F9FC"/>
          </a:solidFill>
          <a:ln/>
        </p:spPr>
      </p:sp>
      <p:sp>
        <p:nvSpPr>
          <p:cNvPr id="26" name="Text 24"/>
          <p:cNvSpPr/>
          <p:nvPr/>
        </p:nvSpPr>
        <p:spPr>
          <a:xfrm>
            <a:off x="4608576" y="37673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quitando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08576" y="4133088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volta ao mercado em silêncio — o concorrente chama primeiro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001000" y="3566160"/>
            <a:ext cx="3410712" cy="1143000"/>
          </a:xfrm>
          <a:prstGeom prst="roundRect">
            <a:avLst>
              <a:gd name="adj" fmla="val 2400"/>
            </a:avLst>
          </a:prstGeom>
          <a:solidFill>
            <a:srgbClr val="F7F9FC"/>
          </a:solidFill>
          <a:ln/>
        </p:spPr>
      </p:sp>
      <p:sp>
        <p:nvSpPr>
          <p:cNvPr id="29" name="Text 27"/>
          <p:cNvSpPr/>
          <p:nvPr/>
        </p:nvSpPr>
        <p:spPr>
          <a:xfrm>
            <a:off x="8220456" y="37673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vencida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220456" y="4133088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oficina não avisa — e a absorção fica no papel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77240" y="4937760"/>
            <a:ext cx="10634472" cy="960120"/>
          </a:xfrm>
          <a:prstGeom prst="roundRect">
            <a:avLst>
              <a:gd name="adj" fmla="val 2857"/>
            </a:avLst>
          </a:prstGeom>
          <a:solidFill>
            <a:srgbClr val="E7F6EE"/>
          </a:solidFill>
          <a:ln/>
        </p:spPr>
      </p:sp>
      <p:sp>
        <p:nvSpPr>
          <p:cNvPr id="32" name="Text 30"/>
          <p:cNvSpPr/>
          <p:nvPr/>
        </p:nvSpPr>
        <p:spPr>
          <a:xfrm>
            <a:off x="1051560" y="508406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suficiente para fundamentar a solução — e para dimensionar o prêmio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1051560" y="5394960"/>
            <a:ext cx="10085832" cy="3931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dados existiam; a oportunidade passava despercebida. O valor deixado na mesa foi quantificado: ~R$ 1,1 milhão/ano em uma única concessionária.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PESQUISA · ITEM 4 DE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hipóteses testáveis — e a medida de cada uma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"As hipóteses do trabalho foram claras a partir das análises realizadas"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10634472" cy="1170432"/>
          </a:xfrm>
          <a:prstGeom prst="roundRect">
            <a:avLst>
              <a:gd name="adj" fmla="val 2344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1014984" y="2112264"/>
            <a:ext cx="10158984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— Se o lead for respondido em até 10 minutos, a conversão em venda sobe.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14984" y="2743200"/>
            <a:ext cx="1015898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MEDIDA: tempo de resposta × conversão no relatório de Atendimento Diário.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3291840"/>
            <a:ext cx="10634472" cy="1170432"/>
          </a:xfrm>
          <a:prstGeom prst="roundRect">
            <a:avLst>
              <a:gd name="adj" fmla="val 2344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1014984" y="3438144"/>
            <a:ext cx="10158984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— Se o plano de ação nasce dos números (e não de opinião), ele é executado e o resultado aparece na carta.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14984" y="4069080"/>
            <a:ext cx="1015898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MEDIDA: ações do PDCA concluídas × atingimento mensal.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" y="4617720"/>
            <a:ext cx="10634472" cy="1170432"/>
          </a:xfrm>
          <a:prstGeom prst="roundRect">
            <a:avLst>
              <a:gd name="adj" fmla="val 2344"/>
            </a:avLst>
          </a:prstGeom>
          <a:solidFill>
            <a:srgbClr val="F7F9FC"/>
          </a:solidFill>
          <a:ln/>
        </p:spPr>
      </p:sp>
      <p:sp>
        <p:nvSpPr>
          <p:cNvPr id="13" name="Text 11"/>
          <p:cNvSpPr/>
          <p:nvPr/>
        </p:nvSpPr>
        <p:spPr>
          <a:xfrm>
            <a:off x="1014984" y="4764024"/>
            <a:ext cx="10158984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— Se o pós-vendas absorve 65% das despesas fixas, a operação para de depender da venda de motos para pagar a conta.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014984" y="5394960"/>
            <a:ext cx="1015898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MEDIDA: taxa K2 mensal × ponto de equilíbrio.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6053328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já tem resultado: SLA de 10 min subiu de 22% para 81% — e a conversão foi de 8,1% para 13,9%.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PESQUISA · A CONCLUSÃO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resposta: o Centro de Inteligência da Rede Yamaha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lacuna do mercado nasceu o Smart Dealer — a plataforma que une as pontas e fala Yamaha.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6596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79776" y="1965960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9" name="Text 7"/>
          <p:cNvSpPr/>
          <p:nvPr/>
        </p:nvSpPr>
        <p:spPr>
          <a:xfrm>
            <a:off x="2779776" y="196596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" y="2542032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54203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Yamaha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79776" y="2542032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13" name="Text 11"/>
          <p:cNvSpPr/>
          <p:nvPr/>
        </p:nvSpPr>
        <p:spPr>
          <a:xfrm>
            <a:off x="2779776" y="254203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Consórcio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7240" y="3118104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118104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79776" y="3118104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17" name="Text 15"/>
          <p:cNvSpPr/>
          <p:nvPr/>
        </p:nvSpPr>
        <p:spPr>
          <a:xfrm>
            <a:off x="2779776" y="3118104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Pós-venda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7240" y="3694176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369417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79776" y="3694176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21" name="Text 19"/>
          <p:cNvSpPr/>
          <p:nvPr/>
        </p:nvSpPr>
        <p:spPr>
          <a:xfrm>
            <a:off x="2779776" y="369417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240" y="4270248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4270248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779776" y="4270248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25" name="Text 23"/>
          <p:cNvSpPr/>
          <p:nvPr/>
        </p:nvSpPr>
        <p:spPr>
          <a:xfrm>
            <a:off x="2779776" y="4270248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Kaizen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46320" y="356616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Shape 25"/>
          <p:cNvSpPr/>
          <p:nvPr/>
        </p:nvSpPr>
        <p:spPr>
          <a:xfrm>
            <a:off x="5486400" y="2788920"/>
            <a:ext cx="2514600" cy="2011680"/>
          </a:xfrm>
          <a:prstGeom prst="roundRect">
            <a:avLst>
              <a:gd name="adj" fmla="val 3636"/>
            </a:avLst>
          </a:prstGeom>
          <a:solidFill>
            <a:srgbClr val="091426"/>
          </a:solidFill>
          <a:ln/>
          <a:effectLst>
            <a:outerShdw sx="100000" sy="100000" kx="0" ky="0" algn="bl" rotWithShape="0" blurRad="203200" dist="50800" dir="5400000">
              <a:srgbClr val="B8CDEA">
                <a:alpha val="5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0" y="30632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</a:t>
            </a:r>
            <a:endParaRPr lang="en-US" sz="2100" dirty="0"/>
          </a:p>
          <a:p>
            <a:pPr algn="ctr" indent="0" marL="0">
              <a:lnSpc>
                <a:spcPts val="24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DEALER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5486400" y="402336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+ regras Yamaha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codificadas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138160" y="356616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8778240" y="1965960"/>
            <a:ext cx="2633472" cy="804672"/>
          </a:xfrm>
          <a:prstGeom prst="roundRect">
            <a:avLst>
              <a:gd name="adj" fmla="val 4545"/>
            </a:avLst>
          </a:prstGeom>
          <a:solidFill>
            <a:srgbClr val="EEF4FF"/>
          </a:solidFill>
          <a:ln/>
        </p:spPr>
      </p:sp>
      <p:sp>
        <p:nvSpPr>
          <p:cNvPr id="32" name="Text 30"/>
          <p:cNvSpPr/>
          <p:nvPr/>
        </p:nvSpPr>
        <p:spPr>
          <a:xfrm>
            <a:off x="8961120" y="2075688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Oportunidades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961120" y="2368296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identificadas sozinhas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778240" y="2898648"/>
            <a:ext cx="2633472" cy="804672"/>
          </a:xfrm>
          <a:prstGeom prst="roundRect">
            <a:avLst>
              <a:gd name="adj" fmla="val 4545"/>
            </a:avLst>
          </a:prstGeom>
          <a:solidFill>
            <a:srgbClr val="EEF4FF"/>
          </a:solidFill>
          <a:ln/>
        </p:spPr>
      </p:sp>
      <p:sp>
        <p:nvSpPr>
          <p:cNvPr id="35" name="Text 33"/>
          <p:cNvSpPr/>
          <p:nvPr/>
        </p:nvSpPr>
        <p:spPr>
          <a:xfrm>
            <a:off x="8961120" y="3008376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8961120" y="3300984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operacionais na hora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778240" y="3831336"/>
            <a:ext cx="2633472" cy="804672"/>
          </a:xfrm>
          <a:prstGeom prst="roundRect">
            <a:avLst>
              <a:gd name="adj" fmla="val 4545"/>
            </a:avLst>
          </a:prstGeom>
          <a:solidFill>
            <a:srgbClr val="EEF4FF"/>
          </a:solidFill>
          <a:ln/>
        </p:spPr>
      </p:sp>
      <p:sp>
        <p:nvSpPr>
          <p:cNvPr id="38" name="Text 36"/>
          <p:cNvSpPr/>
          <p:nvPr/>
        </p:nvSpPr>
        <p:spPr>
          <a:xfrm>
            <a:off x="8961120" y="3941064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8961120" y="4233672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 do cliente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778240" y="4764024"/>
            <a:ext cx="2633472" cy="804672"/>
          </a:xfrm>
          <a:prstGeom prst="roundRect">
            <a:avLst>
              <a:gd name="adj" fmla="val 4545"/>
            </a:avLst>
          </a:prstGeom>
          <a:solidFill>
            <a:srgbClr val="EEF4FF"/>
          </a:solidFill>
          <a:ln/>
        </p:spPr>
      </p:sp>
      <p:sp>
        <p:nvSpPr>
          <p:cNvPr id="41" name="Text 39"/>
          <p:cNvSpPr/>
          <p:nvPr/>
        </p:nvSpPr>
        <p:spPr>
          <a:xfrm>
            <a:off x="8961120" y="4873752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8961120" y="5166360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recomendada com IA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77240" y="576072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produção na Nippon Motos: 4 lojas, 25 módulos, pago pela própria CCY — daqui em diante, cada critério mostra a solução em ação.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PLANEJAMENTO E OBJETIVOS · ITEM 1 DE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objetivo. Uma frase. Sempre a mesma.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objetivo do trabalho é claro e definido"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2468880"/>
            <a:ext cx="10634472" cy="1737360"/>
          </a:xfrm>
          <a:prstGeom prst="roundRect">
            <a:avLst>
              <a:gd name="adj" fmla="val 3158"/>
            </a:avLst>
          </a:prstGeom>
          <a:solidFill>
            <a:srgbClr val="091426"/>
          </a:solidFill>
          <a:ln/>
        </p:spPr>
      </p:sp>
      <p:sp>
        <p:nvSpPr>
          <p:cNvPr id="7" name="Text 5"/>
          <p:cNvSpPr/>
          <p:nvPr/>
        </p:nvSpPr>
        <p:spPr>
          <a:xfrm>
            <a:off x="1234440" y="2468880"/>
            <a:ext cx="9720072" cy="1737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19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"Aumentar o atingimento de carta e a absorção do pós-vendas da Nippon Motos usando decisão guiada por dados — medido por três metas públicas."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777240" y="4572000"/>
            <a:ext cx="3410712" cy="1051560"/>
          </a:xfrm>
          <a:prstGeom prst="roundRect">
            <a:avLst>
              <a:gd name="adj" fmla="val 2609"/>
            </a:avLst>
          </a:prstGeom>
          <a:solidFill>
            <a:srgbClr val="F7F9FC"/>
          </a:solidFill>
          <a:ln/>
        </p:spPr>
      </p:sp>
      <p:sp>
        <p:nvSpPr>
          <p:cNvPr id="9" name="Text 7"/>
          <p:cNvSpPr/>
          <p:nvPr/>
        </p:nvSpPr>
        <p:spPr>
          <a:xfrm>
            <a:off x="996696" y="477316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verbo e alvo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96696" y="5138928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carta e absorção — não "melhorar a gestão"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0" y="4572000"/>
            <a:ext cx="3410712" cy="1051560"/>
          </a:xfrm>
          <a:prstGeom prst="roundRect">
            <a:avLst>
              <a:gd name="adj" fmla="val 2609"/>
            </a:avLst>
          </a:prstGeom>
          <a:solidFill>
            <a:srgbClr val="F7F9FC"/>
          </a:solidFill>
          <a:ln/>
        </p:spPr>
      </p:sp>
      <p:sp>
        <p:nvSpPr>
          <p:cNvPr id="12" name="Text 10"/>
          <p:cNvSpPr/>
          <p:nvPr/>
        </p:nvSpPr>
        <p:spPr>
          <a:xfrm>
            <a:off x="4608576" y="477316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Repetida em todo material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08576" y="5138928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sistema, dossiê — a mesma frase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01000" y="4572000"/>
            <a:ext cx="3410712" cy="1051560"/>
          </a:xfrm>
          <a:prstGeom prst="roundRect">
            <a:avLst>
              <a:gd name="adj" fmla="val 2609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8220456" y="477316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 por 3 metas públicas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0456" y="5138928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próximo slide as declara com número e prazo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PLANEJAMENTO E OBJETIVOS · ITEM 2 DE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metas públicas, com número e prazo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objetivo do trabalho é mensurável"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2103120"/>
            <a:ext cx="3410712" cy="2286000"/>
          </a:xfrm>
          <a:prstGeom prst="roundRect">
            <a:avLst>
              <a:gd name="adj" fmla="val 1200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331720"/>
            <a:ext cx="2971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1 · CARTA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60604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100%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996696" y="3291840"/>
            <a:ext cx="2971800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setembro/2026 — julho fechou em 90,0% e o prêmio da campanha está em jogo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0" y="2103120"/>
            <a:ext cx="3410712" cy="2286000"/>
          </a:xfrm>
          <a:prstGeom prst="roundRect">
            <a:avLst>
              <a:gd name="adj" fmla="val 1200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4608576" y="2331720"/>
            <a:ext cx="2971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2 · ABSORÇÃO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608576" y="260604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4608576" y="3291840"/>
            <a:ext cx="2971800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dezembro/2026 — saímos de 30% e já estamos em 49,4% (K2 lido do DRE)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01000" y="2103120"/>
            <a:ext cx="3410712" cy="2286000"/>
          </a:xfrm>
          <a:prstGeom prst="roundRect">
            <a:avLst>
              <a:gd name="adj" fmla="val 1200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8220456" y="2331720"/>
            <a:ext cx="2971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3 · LEAD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0456" y="260604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10 min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8220456" y="3291840"/>
            <a:ext cx="2971800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 de atendimento — hoje 81% dentro do SLA; era 22% antes do piloto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7240" y="4709160"/>
            <a:ext cx="10634472" cy="914400"/>
          </a:xfrm>
          <a:prstGeom prst="roundRect">
            <a:avLst>
              <a:gd name="adj" fmla="val 3000"/>
            </a:avLst>
          </a:prstGeom>
          <a:solidFill>
            <a:srgbClr val="EEF4FF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" y="485546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mede as três, ao vivo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51560" y="5166360"/>
            <a:ext cx="10085832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meta virou compromisso público, não promessa — convidamos a banca a cobrar o resultado na apresentação final.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PLANEJAMENTO E OBJETIVOS · ITEM 3 DE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entregas, com data — tudo dentro do cronograma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objetivo foi atingido no prazo"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60120" y="2514600"/>
            <a:ext cx="10268712" cy="0"/>
          </a:xfrm>
          <a:prstGeom prst="line">
            <a:avLst/>
          </a:prstGeom>
          <a:noFill/>
          <a:ln w="19050">
            <a:solidFill>
              <a:srgbClr val="E5EA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21714" y="2441448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057400"/>
            <a:ext cx="16352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Jun/26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77240" y="2834640"/>
            <a:ext cx="1635252" cy="1783080"/>
          </a:xfrm>
          <a:prstGeom prst="roundRect">
            <a:avLst>
              <a:gd name="adj" fmla="val 2237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971800"/>
            <a:ext cx="145237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Fundação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86968" y="3291840"/>
            <a:ext cx="1415796" cy="12344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varejo, estoque, NPS e leads no ar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321558" y="2441448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77084" y="2057400"/>
            <a:ext cx="16352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21/06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577084" y="2834640"/>
            <a:ext cx="1635252" cy="1783080"/>
          </a:xfrm>
          <a:prstGeom prst="roundRect">
            <a:avLst>
              <a:gd name="adj" fmla="val 2237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2668524" y="2971800"/>
            <a:ext cx="145237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Inteligência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686812" y="3291840"/>
            <a:ext cx="1415796" cy="12344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Share, Kaizen e Treinamento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121402" y="2441448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6928" y="2057400"/>
            <a:ext cx="16352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22/06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376928" y="2834640"/>
            <a:ext cx="1635252" cy="1783080"/>
          </a:xfrm>
          <a:prstGeom prst="roundRect">
            <a:avLst>
              <a:gd name="adj" fmla="val 2237"/>
            </a:avLst>
          </a:prstGeom>
          <a:solidFill>
            <a:srgbClr val="F7F9FC"/>
          </a:solidFill>
          <a:ln/>
        </p:spPr>
      </p:sp>
      <p:sp>
        <p:nvSpPr>
          <p:cNvPr id="20" name="Text 18"/>
          <p:cNvSpPr/>
          <p:nvPr/>
        </p:nvSpPr>
        <p:spPr>
          <a:xfrm>
            <a:off x="4468368" y="2971800"/>
            <a:ext cx="145237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486656" y="3291840"/>
            <a:ext cx="1415796" cy="12344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CRM, campanhas IA, playbook e pós-vendas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921246" y="2441448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76772" y="2057400"/>
            <a:ext cx="16352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06/08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76772" y="2834640"/>
            <a:ext cx="1635252" cy="1783080"/>
          </a:xfrm>
          <a:prstGeom prst="roundRect">
            <a:avLst>
              <a:gd name="adj" fmla="val 2237"/>
            </a:avLst>
          </a:prstGeom>
          <a:solidFill>
            <a:srgbClr val="F7F9FC"/>
          </a:solidFill>
          <a:ln/>
        </p:spPr>
      </p:sp>
      <p:sp>
        <p:nvSpPr>
          <p:cNvPr id="25" name="Text 23"/>
          <p:cNvSpPr/>
          <p:nvPr/>
        </p:nvSpPr>
        <p:spPr>
          <a:xfrm>
            <a:off x="6268212" y="2971800"/>
            <a:ext cx="145237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286500" y="3291840"/>
            <a:ext cx="1415796" cy="12344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decomposição mercado × share + PDCA em 1 clique + K2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721090" y="2441448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76616" y="2057400"/>
            <a:ext cx="16352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07/08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976616" y="2834640"/>
            <a:ext cx="1635252" cy="1783080"/>
          </a:xfrm>
          <a:prstGeom prst="roundRect">
            <a:avLst>
              <a:gd name="adj" fmla="val 2237"/>
            </a:avLst>
          </a:prstGeom>
          <a:solidFill>
            <a:srgbClr val="F7F9FC"/>
          </a:solidFill>
          <a:ln/>
        </p:spPr>
      </p:sp>
      <p:sp>
        <p:nvSpPr>
          <p:cNvPr id="30" name="Text 28"/>
          <p:cNvSpPr/>
          <p:nvPr/>
        </p:nvSpPr>
        <p:spPr>
          <a:xfrm>
            <a:off x="8068056" y="2971800"/>
            <a:ext cx="145237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086344" y="3291840"/>
            <a:ext cx="1415796" cy="12344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vouchers por modelo + Campeões de Vendas codificados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0520934" y="2441448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776460" y="2057400"/>
            <a:ext cx="16352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20/08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9776460" y="2834640"/>
            <a:ext cx="1635252" cy="1783080"/>
          </a:xfrm>
          <a:prstGeom prst="roundRect">
            <a:avLst>
              <a:gd name="adj" fmla="val 2237"/>
            </a:avLst>
          </a:prstGeom>
          <a:solidFill>
            <a:srgbClr val="F7F9FC"/>
          </a:solidFill>
          <a:ln/>
        </p:spPr>
      </p:sp>
      <p:sp>
        <p:nvSpPr>
          <p:cNvPr id="35" name="Text 33"/>
          <p:cNvSpPr/>
          <p:nvPr/>
        </p:nvSpPr>
        <p:spPr>
          <a:xfrm>
            <a:off x="9867900" y="2971800"/>
            <a:ext cx="145237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&amp; cliente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886188" y="3291840"/>
            <a:ext cx="1415796" cy="12344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Liberacred, Premya, Seguros, Consórcio, Voz do Cliente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77240" y="502920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módulos em produção em 10 semanas — metodologia ágil com PDCA sobre o próprio projeto.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PLANEJAMENTO E OBJETIVOS · ITEM 4 DE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KPI tem meta — e cada meta tem tela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"Os KPIs estão alinhados com os objetivos"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20240"/>
          <a:ext cx="106344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554480"/>
                <a:gridCol w="3017520"/>
                <a:gridCol w="2496312"/>
              </a:tblGrid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HOJE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VIVE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Atingimento da carta varejo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90,0% (jul)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365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+ Varejo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Absorção do pós-vendas (K2)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365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K2 · Absorção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 de 1ª resposta ao lead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10 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min · 81% no SLA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365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Atendimento Diário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NPS Vendas / Pós-vendas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 / 87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94,5 / 87,7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365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Pontos Kaizen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(LCR e NPS a recuperar)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365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Kaizen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Índice de Fidelidade Premya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Ouro (85%)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Bronze · 71,6%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365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Premya + simulador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553212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 = meta batida · âmbar = em curso. Nenhum KPI decorativo: todos ligados às 3 metas públicas.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PLANEJAMENTO E OBJETIVOS · ITEM 5 DE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nasce dos números — PDCA oficial em um clique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plano de ação está alinhado com os objetivos"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4846320" cy="841248"/>
          </a:xfrm>
          <a:prstGeom prst="roundRect">
            <a:avLst>
              <a:gd name="adj" fmla="val 3261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07568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 sistema decompõe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60120" y="237744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× share: o desvio é demanda da praça ou execução nossa?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2926080"/>
            <a:ext cx="4846320" cy="841248"/>
          </a:xfrm>
          <a:prstGeom prst="roundRect">
            <a:avLst>
              <a:gd name="adj" fmla="val 3261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30358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Aponta onde agir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60120" y="3337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segmento em disputa, cidade em queda, invasão de território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" y="3886200"/>
            <a:ext cx="4846320" cy="841248"/>
          </a:xfrm>
          <a:prstGeom prst="roundRect">
            <a:avLst>
              <a:gd name="adj" fmla="val 3261"/>
            </a:avLst>
          </a:prstGeom>
          <a:solidFill>
            <a:srgbClr val="F7F9FC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399592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Escreve o PDCA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60120" y="429768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formato oficial Yamaha, pronto para a regional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77240" y="4846320"/>
            <a:ext cx="4846320" cy="841248"/>
          </a:xfrm>
          <a:prstGeom prst="roundRect">
            <a:avLst>
              <a:gd name="adj" fmla="val 3261"/>
            </a:avLst>
          </a:prstGeom>
          <a:solidFill>
            <a:srgbClr val="F7F9FC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495604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Cobra a execução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60120" y="52578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com dono e prazo — reaberta no mês seguinte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989320" y="1965960"/>
            <a:ext cx="5513832" cy="3548158"/>
          </a:xfrm>
          <a:prstGeom prst="roundRect">
            <a:avLst>
              <a:gd name="adj" fmla="val 1804"/>
            </a:avLst>
          </a:prstGeom>
          <a:solidFill>
            <a:srgbClr val="0E1D36"/>
          </a:solidFill>
          <a:ln w="9525">
            <a:solidFill>
              <a:srgbClr val="22304A"/>
            </a:solidFill>
            <a:prstDash val="solid"/>
          </a:ln>
          <a:effectLst>
            <a:outerShdw sx="100000" sy="100000" kx="0" ky="0" algn="bl" rotWithShape="0" blurRad="177800" dist="63500" dir="5400000">
              <a:srgbClr val="0A1220">
                <a:alpha val="5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35624" y="2057400"/>
            <a:ext cx="91440" cy="91440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20" name="Shape 18"/>
          <p:cNvSpPr/>
          <p:nvPr/>
        </p:nvSpPr>
        <p:spPr>
          <a:xfrm>
            <a:off x="6291072" y="2057400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21" name="Shape 19"/>
          <p:cNvSpPr/>
          <p:nvPr/>
        </p:nvSpPr>
        <p:spPr>
          <a:xfrm>
            <a:off x="6446520" y="2057400"/>
            <a:ext cx="91440" cy="91440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22" name="Text 20"/>
          <p:cNvSpPr/>
          <p:nvPr/>
        </p:nvSpPr>
        <p:spPr>
          <a:xfrm>
            <a:off x="7374636" y="1993392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smart-dealer.vercel.app</a:t>
            </a:r>
            <a:endParaRPr lang="en-US" sz="800" dirty="0"/>
          </a:p>
        </p:txBody>
      </p:sp>
      <p:pic>
        <p:nvPicPr>
          <p:cNvPr id="23" name="Image 0" descr="_NOVAS MELHORIAS/deck-assets/perform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25896" y="2240280"/>
            <a:ext cx="5440680" cy="3237262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5989320" y="5623560"/>
            <a:ext cx="5513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Momento mais forte da demonstração: o PDCA gerado ao vivo, na frente da banca.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PLANEJAMENTO E OBJETIVOS · ITEM 6 DE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piloto já produziu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objetivo está relacionado aos resultados"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2507742" cy="1463040"/>
          </a:xfrm>
          <a:prstGeom prst="roundRect">
            <a:avLst>
              <a:gd name="adj" fmla="val 1875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14884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CAMPEÕES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38658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R$ 7.500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96696" y="299008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garantidos em julho (90,0% da carta) + R$ 15 mil recuperáveis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86150" y="1965960"/>
            <a:ext cx="2507742" cy="1463040"/>
          </a:xfrm>
          <a:prstGeom prst="roundRect">
            <a:avLst>
              <a:gd name="adj" fmla="val 1875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3705606" y="214884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VOUCHERS POR MODELO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705606" y="238658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R$ 66 mil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705606" y="299008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apurados em julho; com Campeões, R$ 73,5 mil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95060" y="1965960"/>
            <a:ext cx="2507742" cy="1463040"/>
          </a:xfrm>
          <a:prstGeom prst="roundRect">
            <a:avLst>
              <a:gd name="adj" fmla="val 1875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6414516" y="214884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ABSORÇÃO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414516" y="238658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 p.p.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414516" y="299008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30% para 49,4% — a caminho da meta de 65%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903970" y="1965960"/>
            <a:ext cx="2507742" cy="1463040"/>
          </a:xfrm>
          <a:prstGeom prst="roundRect">
            <a:avLst>
              <a:gd name="adj" fmla="val 1875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9123426" y="214884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CONVERSÃO DE LEADS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123426" y="238658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8,1 → 13,9%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9123426" y="299008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SLA de 10 minutos governado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240" y="3840480"/>
            <a:ext cx="10634472" cy="1143000"/>
          </a:xfrm>
          <a:prstGeom prst="roundRect">
            <a:avLst>
              <a:gd name="adj" fmla="val 2400"/>
            </a:avLst>
          </a:prstGeom>
          <a:solidFill>
            <a:srgbClr val="E7F6EE"/>
          </a:solidFill>
          <a:ln/>
        </p:spPr>
      </p:sp>
      <p:sp>
        <p:nvSpPr>
          <p:cNvPr id="23" name="Text 21"/>
          <p:cNvSpPr/>
          <p:nvPr/>
        </p:nvSpPr>
        <p:spPr>
          <a:xfrm>
            <a:off x="1051560" y="398678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Potencial anual identificado pelo sistema: cerca de R$ 1,1 milhão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051560" y="4297680"/>
            <a:ext cx="10085832" cy="5760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Prêmios de campanha (~R$ 400 mil) + gap de absorção do K2 (~R$ 490 mil) + Premya, Seguros e Consórcio (~R$ 200 mil) — em uma única concessionária.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77240" y="521208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Setembro fecha a campanha e a Meta 1 — o resultado estará na tela, ao vivo, na apresentação final.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FOCO NO CLIENTE · ITEM 1 DE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personas — cinco dentro da loja, uma na garupa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público alvo (cliente) foi claramente definido"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341071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16712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TITULAR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42316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Paulo Zorzi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6696" y="2788920"/>
            <a:ext cx="297180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vê o negócio inteiro: carta, crédito, absorção, ranking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0" y="1965960"/>
            <a:ext cx="341071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4608576" y="216712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608576" y="242316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Gerência comercial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08576" y="2788920"/>
            <a:ext cx="297180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funil, SLA, ranking de vendedores, campanhas do mês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01000" y="1965960"/>
            <a:ext cx="341071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8220456" y="216712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VENDEDOR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0456" y="242316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de vendas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0456" y="2788920"/>
            <a:ext cx="297180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seus leads, playbook, estoque e bônus da circular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3538728"/>
            <a:ext cx="341071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996696" y="3739896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MECÂNICO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96696" y="39959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96696" y="4361688"/>
            <a:ext cx="297180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assistente técnico com manual oficial e revisões R1–R4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389120" y="3538728"/>
            <a:ext cx="341071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23" name="Text 21"/>
          <p:cNvSpPr/>
          <p:nvPr/>
        </p:nvSpPr>
        <p:spPr>
          <a:xfrm>
            <a:off x="4608576" y="3739896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608576" y="39959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Yamaha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608576" y="4361688"/>
            <a:ext cx="297180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agregados das CCYs, sem dados pessoais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001000" y="3538728"/>
            <a:ext cx="341071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27" name="Text 25"/>
          <p:cNvSpPr/>
          <p:nvPr/>
        </p:nvSpPr>
        <p:spPr>
          <a:xfrm>
            <a:off x="8220456" y="3739896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FINAL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220456" y="39959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compra a moto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20456" y="4361688"/>
            <a:ext cx="297180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em minutos, crédito transparente, revisão lembrada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persona é um login real do sistema — a prova é a demonstração, trocando de papel em 30 segundos.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FOCO NO CLIENTE · ITEM 2 DE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Diferenciação por experiência, não por volume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posicionamento Yamaha foi claramente definido"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2057400"/>
            <a:ext cx="10634472" cy="1554480"/>
          </a:xfrm>
          <a:prstGeom prst="roundRect">
            <a:avLst>
              <a:gd name="adj" fmla="val 3529"/>
            </a:avLst>
          </a:prstGeom>
          <a:solidFill>
            <a:srgbClr val="091426"/>
          </a:solidFill>
          <a:ln/>
        </p:spPr>
      </p:sp>
      <p:sp>
        <p:nvSpPr>
          <p:cNvPr id="7" name="Text 5"/>
          <p:cNvSpPr/>
          <p:nvPr/>
        </p:nvSpPr>
        <p:spPr>
          <a:xfrm>
            <a:off x="1234440" y="2057400"/>
            <a:ext cx="9720072" cy="1554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Yamaha como a marca que responde em minutos, é transparente no crédito</a:t>
            </a:r>
            <a:endParaRPr lang="en-US" sz="1600" dirty="0"/>
          </a:p>
          <a:p>
            <a:pPr algn="ctr" indent="0" marL="0">
              <a:lnSpc>
                <a:spcPts val="2400"/>
              </a:lnSpc>
              <a:buNone/>
            </a:pPr>
            <a:r>
              <a:rPr lang="en-US" sz="1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acompanha a moto a vida inteira — da primeira mensagem à revisão de 24.000 km."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3977640"/>
            <a:ext cx="3410712" cy="1188720"/>
          </a:xfrm>
          <a:prstGeom prst="roundRect">
            <a:avLst>
              <a:gd name="adj" fmla="val 2308"/>
            </a:avLst>
          </a:prstGeom>
          <a:solidFill>
            <a:srgbClr val="F7F9FC"/>
          </a:solidFill>
          <a:ln/>
        </p:spPr>
      </p:sp>
      <p:sp>
        <p:nvSpPr>
          <p:cNvPr id="9" name="Text 7"/>
          <p:cNvSpPr/>
          <p:nvPr/>
        </p:nvSpPr>
        <p:spPr>
          <a:xfrm>
            <a:off x="996696" y="417880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 em minutos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96696" y="4544568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de 10 min governado — 81% dos leads dentro do padrão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0" y="3977640"/>
            <a:ext cx="3410712" cy="1188720"/>
          </a:xfrm>
          <a:prstGeom prst="roundRect">
            <a:avLst>
              <a:gd name="adj" fmla="val 2308"/>
            </a:avLst>
          </a:prstGeom>
          <a:solidFill>
            <a:srgbClr val="F7F9FC"/>
          </a:solidFill>
          <a:ln/>
        </p:spPr>
      </p:sp>
      <p:sp>
        <p:nvSpPr>
          <p:cNvPr id="12" name="Text 10"/>
          <p:cNvSpPr/>
          <p:nvPr/>
        </p:nvSpPr>
        <p:spPr>
          <a:xfrm>
            <a:off x="4608576" y="417880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Transparente no crédito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08576" y="4544568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BYMD primeiro; recusa vira Liberacred com condições claras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01000" y="3977640"/>
            <a:ext cx="3410712" cy="1188720"/>
          </a:xfrm>
          <a:prstGeom prst="roundRect">
            <a:avLst>
              <a:gd name="adj" fmla="val 2308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8220456" y="417880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 a vida inteira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0456" y="4544568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régua R1–R4 + recompra na quitação — o ciclo nunca solta o cliente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FOCO NO CLIENTE · ITEM 3 DE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Honda vende mais motos. A Yamaha atende melhor.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Yamaha ficou claramente posicionada de forma diferenciada em relação aos concorrentes"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011680"/>
          <a:ext cx="106344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291840"/>
                <a:gridCol w="40507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EXPERIÊNCIA DO CLIENTE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PADRÃO DO MERCADO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YAMAHA COM SMART DEALER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Primeira resposta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ou dias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minutos, monitorado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Crédito recusado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fim da conversa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segunda chance com mensagem-prêmio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Depois da compra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silêncio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recontato em 74% + régua de revisão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troca da moto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 procura sozinho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loja chama primeiro, com oferta pronta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4892040"/>
            <a:ext cx="10634472" cy="960120"/>
          </a:xfrm>
          <a:prstGeom prst="roundRect">
            <a:avLst>
              <a:gd name="adj" fmla="val 2857"/>
            </a:avLst>
          </a:prstGeom>
          <a:solidFill>
            <a:srgbClr val="EEF4FF"/>
          </a:solidFill>
          <a:ln/>
        </p:spPr>
      </p:sp>
      <p:sp>
        <p:nvSpPr>
          <p:cNvPr id="8" name="Text 5"/>
          <p:cNvSpPr/>
          <p:nvPr/>
        </p:nvSpPr>
        <p:spPr>
          <a:xfrm>
            <a:off x="1051560" y="503834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 Honda é imbatível em volume, a disputa muda de campo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051560" y="5349240"/>
            <a:ext cx="10085832" cy="3931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share por segmento mostra onde competir; a experiência define quem ganha o cliente que pesquisou os dois. Diferenciação medida, não declarada.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FOCO NO CLIENTE · ITEM 4 DE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papel vê só o que usa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"Existe consistência entre o público alvo e as atividades"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65960"/>
          <a:ext cx="106344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754880"/>
                <a:gridCol w="3502152"/>
              </a:tblGrid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ABRE AO LOGAR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NÃO VÊ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Titular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tudo: carta, crédito, K2, Premya, ranking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funil, SLA, campanhas, pós-vendas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financeiro do grupo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Vendedor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apenas os próprios leads + playbook + estoque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dos colegas, DRE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Mecânico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assistente técnico + revisões do 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 o comercial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Consultor regional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indicadores agregados das 9 CCYs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 pessoais de clientes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512064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na banca: logout → login em outro papel — 30 segundos, efeito grande.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FOCO NO CLIENTE · ITEM 5 DE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necessidades, cada uma com evidência — e com tela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"Necessidades e desejos dos clientes foram definidos"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65960"/>
          <a:ext cx="106344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4480560"/>
                <a:gridCol w="3136392"/>
              </a:tblGrid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NECESSIDADE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EVIDÊNCIA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TELA QUE ATENDE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rápida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66% citam rapidez · "esperei dois dias e desisti"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365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Atendimento Diário (SLA 10 min)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Parcela que cabe no bolso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72% — o fator nº 1 da pesquisa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365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Simulador + bônus da circular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Transparência no crédito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56% citam aprovação · 43% das perdas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365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Banco Yamaha + Liberacred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 lembrado da revisão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 voltariam por isso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365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Pós-vendas (régua R1–R4)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Oferta certa na troca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 · quitação = janela de recompra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365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Banco Yamaha (quitações)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512064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dor do "limbo do lead" foi validada pela própria banca (Cintia) — e virou a régua de cobrança do CRM.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FOCO NO CLIENTE · ITEM 6 DE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Fatores de compra medidos, não achados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"Os principais fatores de compra dos clientes foram definidos"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20116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Parcela que cabe no bolso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749040" y="2029968"/>
            <a:ext cx="4206240" cy="274320"/>
          </a:xfrm>
          <a:prstGeom prst="roundRect">
            <a:avLst>
              <a:gd name="adj" fmla="val 6667"/>
            </a:avLst>
          </a:prstGeom>
          <a:solidFill>
            <a:srgbClr val="E5EAF2"/>
          </a:solidFill>
          <a:ln/>
        </p:spPr>
      </p:sp>
      <p:sp>
        <p:nvSpPr>
          <p:cNvPr id="8" name="Shape 6"/>
          <p:cNvSpPr/>
          <p:nvPr/>
        </p:nvSpPr>
        <p:spPr>
          <a:xfrm>
            <a:off x="3749040" y="2029968"/>
            <a:ext cx="3028493" cy="274320"/>
          </a:xfrm>
          <a:prstGeom prst="roundRect">
            <a:avLst>
              <a:gd name="adj" fmla="val 6667"/>
            </a:avLst>
          </a:prstGeom>
          <a:solidFill>
            <a:srgbClr val="0365FE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0" y="2011680"/>
            <a:ext cx="594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72%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686800" y="2029968"/>
            <a:ext cx="2724912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simulador + bônus da circular na proposta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77240" y="2523744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Atendimento rápido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749040" y="2542032"/>
            <a:ext cx="4206240" cy="274320"/>
          </a:xfrm>
          <a:prstGeom prst="roundRect">
            <a:avLst>
              <a:gd name="adj" fmla="val 6667"/>
            </a:avLst>
          </a:prstGeom>
          <a:solidFill>
            <a:srgbClr val="E5EA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749040" y="2542032"/>
            <a:ext cx="2776118" cy="274320"/>
          </a:xfrm>
          <a:prstGeom prst="roundRect">
            <a:avLst>
              <a:gd name="adj" fmla="val 6667"/>
            </a:avLst>
          </a:prstGeom>
          <a:solidFill>
            <a:srgbClr val="0365FE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0" y="2523744"/>
            <a:ext cx="594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66%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686800" y="2542032"/>
            <a:ext cx="2724912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de 10 minutos governado no CRM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77240" y="303580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do crédito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749040" y="3054096"/>
            <a:ext cx="4206240" cy="274320"/>
          </a:xfrm>
          <a:prstGeom prst="roundRect">
            <a:avLst>
              <a:gd name="adj" fmla="val 6667"/>
            </a:avLst>
          </a:prstGeom>
          <a:solidFill>
            <a:srgbClr val="E5EAF2"/>
          </a:solidFill>
          <a:ln/>
        </p:spPr>
      </p:sp>
      <p:sp>
        <p:nvSpPr>
          <p:cNvPr id="18" name="Shape 16"/>
          <p:cNvSpPr/>
          <p:nvPr/>
        </p:nvSpPr>
        <p:spPr>
          <a:xfrm>
            <a:off x="3749040" y="3054096"/>
            <a:ext cx="2355494" cy="274320"/>
          </a:xfrm>
          <a:prstGeom prst="roundRect">
            <a:avLst>
              <a:gd name="adj" fmla="val 6667"/>
            </a:avLst>
          </a:prstGeom>
          <a:solidFill>
            <a:srgbClr val="0365FE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0" y="3035808"/>
            <a:ext cx="594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686800" y="3054096"/>
            <a:ext cx="2724912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BYMD primeiro + resgate Liberacred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77240" y="3547872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/ valor da entrada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749040" y="3566160"/>
            <a:ext cx="4206240" cy="274320"/>
          </a:xfrm>
          <a:prstGeom prst="roundRect">
            <a:avLst>
              <a:gd name="adj" fmla="val 6667"/>
            </a:avLst>
          </a:prstGeom>
          <a:solidFill>
            <a:srgbClr val="E5EAF2"/>
          </a:solidFill>
          <a:ln/>
        </p:spPr>
      </p:sp>
      <p:sp>
        <p:nvSpPr>
          <p:cNvPr id="23" name="Shape 21"/>
          <p:cNvSpPr/>
          <p:nvPr/>
        </p:nvSpPr>
        <p:spPr>
          <a:xfrm>
            <a:off x="3749040" y="3566160"/>
            <a:ext cx="1976933" cy="274320"/>
          </a:xfrm>
          <a:prstGeom prst="roundRect">
            <a:avLst>
              <a:gd name="adj" fmla="val 6667"/>
            </a:avLst>
          </a:prstGeom>
          <a:solidFill>
            <a:srgbClr val="0365FE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0" y="3547872"/>
            <a:ext cx="594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47%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686800" y="3566160"/>
            <a:ext cx="2724912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vouchers da montadora aplicados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77240" y="4059936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Confiança / indicação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749040" y="4078224"/>
            <a:ext cx="4206240" cy="274320"/>
          </a:xfrm>
          <a:prstGeom prst="roundRect">
            <a:avLst>
              <a:gd name="adj" fmla="val 6667"/>
            </a:avLst>
          </a:prstGeom>
          <a:solidFill>
            <a:srgbClr val="E5EAF2"/>
          </a:solidFill>
          <a:ln/>
        </p:spPr>
      </p:sp>
      <p:sp>
        <p:nvSpPr>
          <p:cNvPr id="28" name="Shape 26"/>
          <p:cNvSpPr/>
          <p:nvPr/>
        </p:nvSpPr>
        <p:spPr>
          <a:xfrm>
            <a:off x="3749040" y="4078224"/>
            <a:ext cx="1598371" cy="274320"/>
          </a:xfrm>
          <a:prstGeom prst="roundRect">
            <a:avLst>
              <a:gd name="adj" fmla="val 6667"/>
            </a:avLst>
          </a:prstGeom>
          <a:solidFill>
            <a:srgbClr val="0365FE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0" y="4059936"/>
            <a:ext cx="594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686800" y="4078224"/>
            <a:ext cx="2724912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+ régua de pós-venda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77240" y="45720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 de entrega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749040" y="4590288"/>
            <a:ext cx="4206240" cy="274320"/>
          </a:xfrm>
          <a:prstGeom prst="roundRect">
            <a:avLst>
              <a:gd name="adj" fmla="val 6667"/>
            </a:avLst>
          </a:prstGeom>
          <a:solidFill>
            <a:srgbClr val="E5EAF2"/>
          </a:solidFill>
          <a:ln/>
        </p:spPr>
      </p:sp>
      <p:sp>
        <p:nvSpPr>
          <p:cNvPr id="33" name="Shape 31"/>
          <p:cNvSpPr/>
          <p:nvPr/>
        </p:nvSpPr>
        <p:spPr>
          <a:xfrm>
            <a:off x="3749040" y="4590288"/>
            <a:ext cx="1051560" cy="274320"/>
          </a:xfrm>
          <a:prstGeom prst="roundRect">
            <a:avLst>
              <a:gd name="adj" fmla="val 6667"/>
            </a:avLst>
          </a:prstGeom>
          <a:solidFill>
            <a:srgbClr val="0365FE"/>
          </a:solidFill>
          <a:ln/>
        </p:spPr>
      </p:sp>
      <p:sp>
        <p:nvSpPr>
          <p:cNvPr id="34" name="Text 32"/>
          <p:cNvSpPr/>
          <p:nvPr/>
        </p:nvSpPr>
        <p:spPr>
          <a:xfrm>
            <a:off x="8046720" y="4572000"/>
            <a:ext cx="594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686800" y="4590288"/>
            <a:ext cx="2724912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 real das 4 lojas na tela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77240" y="5084064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Test-ride antes de decidir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749040" y="5102352"/>
            <a:ext cx="4206240" cy="274320"/>
          </a:xfrm>
          <a:prstGeom prst="roundRect">
            <a:avLst>
              <a:gd name="adj" fmla="val 6667"/>
            </a:avLst>
          </a:prstGeom>
          <a:solidFill>
            <a:srgbClr val="E5EAF2"/>
          </a:solidFill>
          <a:ln/>
        </p:spPr>
      </p:sp>
      <p:sp>
        <p:nvSpPr>
          <p:cNvPr id="38" name="Shape 36"/>
          <p:cNvSpPr/>
          <p:nvPr/>
        </p:nvSpPr>
        <p:spPr>
          <a:xfrm>
            <a:off x="3749040" y="5102352"/>
            <a:ext cx="925373" cy="274320"/>
          </a:xfrm>
          <a:prstGeom prst="roundRect">
            <a:avLst>
              <a:gd name="adj" fmla="val 6667"/>
            </a:avLst>
          </a:prstGeom>
          <a:solidFill>
            <a:srgbClr val="0365FE"/>
          </a:solidFill>
          <a:ln/>
        </p:spPr>
      </p:sp>
      <p:sp>
        <p:nvSpPr>
          <p:cNvPr id="39" name="Text 37"/>
          <p:cNvSpPr/>
          <p:nvPr/>
        </p:nvSpPr>
        <p:spPr>
          <a:xfrm>
            <a:off x="8046720" y="5084064"/>
            <a:ext cx="594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8686800" y="5102352"/>
            <a:ext cx="2724912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agendamento na cadência do CRM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77240" y="576072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 escolha sobre os 32 respondentes da pesquisa Voz do Cliente — cada fator já ligado ao módulo que o atende.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FOCO NO CLIENTE · ITEM 7 DE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7 passos da venda — e onde o sistema atua em cada um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"Os 7 passos foram claramente descritos"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65960"/>
          <a:ext cx="106344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7434072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 DA VENDA YAMAHA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O SMART DEALER ATUA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Recepção / primeiro contato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Atendimento Diário: lead respondido em ≤10 min, linha monitorada (lead que cai em linha offline se perde)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Sondagem (entender a necessidade)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CRM registra origem, modelo de interesse e estágio; conversas guardam o que o cliente pediu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Apresentação do produto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Playbook de Vendas: argumento por modelo + comparativo contra a Honda do segmento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Test-ride / demonstração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Estoque na tela: o vendedor sabe na hora se tem a moto (e a cor) para mostrar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 Negociação / proposta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Campanhas vigentes na tela (bônus por modelo + condição do mês) — a melhor oferta sem ligar para ninguém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 Fechamento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Linha de Crédito: semáforo e simulador respondem se o pedido cabe; leads quentes voltam para a mesa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 Entrega e pós-venda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Régua de revisão com disparo de WhatsApp (1.000 → 24.000 km) + renovação estratégica em 2–4 anos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5806440"/>
            <a:ext cx="10634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banca, dois passos demonstrados ao vivo: a sondagem (CRM) e a entrega/pós (régua de revisão).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FOCO NO CLIENTE · ITEM 8 DE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pesquisa, pergunta a pergunta — 32 clientes reais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"Pesquisas com clientes foram realizadas"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51343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· "COMO FOI SER ATENDIDO?" (1–5)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77240" y="2176272"/>
            <a:ext cx="274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124712" y="2194560"/>
            <a:ext cx="3945636" cy="201168"/>
          </a:xfrm>
          <a:prstGeom prst="roundRect">
            <a:avLst>
              <a:gd name="adj" fmla="val 9091"/>
            </a:avLst>
          </a:prstGeom>
          <a:solidFill>
            <a:srgbClr val="1E9E5A"/>
          </a:solidFill>
          <a:ln/>
        </p:spPr>
      </p:sp>
      <p:sp>
        <p:nvSpPr>
          <p:cNvPr id="9" name="Text 7"/>
          <p:cNvSpPr/>
          <p:nvPr/>
        </p:nvSpPr>
        <p:spPr>
          <a:xfrm>
            <a:off x="5180076" y="217627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2487168"/>
            <a:ext cx="274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124712" y="2505456"/>
            <a:ext cx="2076651" cy="201168"/>
          </a:xfrm>
          <a:prstGeom prst="roundRect">
            <a:avLst>
              <a:gd name="adj" fmla="val 9091"/>
            </a:avLst>
          </a:prstGeom>
          <a:solidFill>
            <a:srgbClr val="1E9E5A"/>
          </a:solidFill>
          <a:ln/>
        </p:spPr>
      </p:sp>
      <p:sp>
        <p:nvSpPr>
          <p:cNvPr id="12" name="Text 10"/>
          <p:cNvSpPr/>
          <p:nvPr/>
        </p:nvSpPr>
        <p:spPr>
          <a:xfrm>
            <a:off x="5180076" y="248716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798064"/>
            <a:ext cx="274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124712" y="2816352"/>
            <a:ext cx="415330" cy="201168"/>
          </a:xfrm>
          <a:prstGeom prst="roundRect">
            <a:avLst>
              <a:gd name="adj" fmla="val 9091"/>
            </a:avLst>
          </a:prstGeom>
          <a:solidFill>
            <a:srgbClr val="E8B04B"/>
          </a:solidFill>
          <a:ln/>
        </p:spPr>
      </p:sp>
      <p:sp>
        <p:nvSpPr>
          <p:cNvPr id="15" name="Text 13"/>
          <p:cNvSpPr/>
          <p:nvPr/>
        </p:nvSpPr>
        <p:spPr>
          <a:xfrm>
            <a:off x="5180076" y="279806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3108960"/>
            <a:ext cx="274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24712" y="3127248"/>
            <a:ext cx="207665" cy="201168"/>
          </a:xfrm>
          <a:prstGeom prst="roundRect">
            <a:avLst>
              <a:gd name="adj" fmla="val 9091"/>
            </a:avLst>
          </a:prstGeom>
          <a:solidFill>
            <a:srgbClr val="D64545"/>
          </a:solidFill>
          <a:ln/>
        </p:spPr>
      </p:sp>
      <p:sp>
        <p:nvSpPr>
          <p:cNvPr id="18" name="Text 16"/>
          <p:cNvSpPr/>
          <p:nvPr/>
        </p:nvSpPr>
        <p:spPr>
          <a:xfrm>
            <a:off x="5180076" y="310896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3419856"/>
            <a:ext cx="274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124712" y="3438144"/>
            <a:ext cx="27432" cy="201168"/>
          </a:xfrm>
          <a:prstGeom prst="roundRect">
            <a:avLst>
              <a:gd name="adj" fmla="val 66667"/>
            </a:avLst>
          </a:prstGeom>
          <a:solidFill>
            <a:srgbClr val="D64545"/>
          </a:solidFill>
          <a:ln/>
        </p:spPr>
      </p:sp>
      <p:sp>
        <p:nvSpPr>
          <p:cNvPr id="21" name="Text 19"/>
          <p:cNvSpPr/>
          <p:nvPr/>
        </p:nvSpPr>
        <p:spPr>
          <a:xfrm>
            <a:off x="5180076" y="341985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" y="3794760"/>
            <a:ext cx="51343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 4,5 · NPS da pesquisa 72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277356" y="1874520"/>
            <a:ext cx="51343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· "EM QUANTO TEMPO TE RESPONDERAM?"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277356" y="2212848"/>
            <a:ext cx="3234644" cy="310896"/>
          </a:xfrm>
          <a:prstGeom prst="roundRect">
            <a:avLst>
              <a:gd name="adj" fmla="val 5882"/>
            </a:avLst>
          </a:prstGeom>
          <a:solidFill>
            <a:srgbClr val="1E9E5A"/>
          </a:solidFill>
          <a:ln/>
        </p:spPr>
      </p:sp>
      <p:sp>
        <p:nvSpPr>
          <p:cNvPr id="25" name="Shape 23"/>
          <p:cNvSpPr/>
          <p:nvPr/>
        </p:nvSpPr>
        <p:spPr>
          <a:xfrm>
            <a:off x="9512000" y="2212848"/>
            <a:ext cx="1129558" cy="310896"/>
          </a:xfrm>
          <a:prstGeom prst="roundRect">
            <a:avLst>
              <a:gd name="adj" fmla="val 5882"/>
            </a:avLst>
          </a:prstGeom>
          <a:solidFill>
            <a:srgbClr val="84CC16"/>
          </a:solidFill>
          <a:ln/>
        </p:spPr>
      </p:sp>
      <p:sp>
        <p:nvSpPr>
          <p:cNvPr id="26" name="Shape 24"/>
          <p:cNvSpPr/>
          <p:nvPr/>
        </p:nvSpPr>
        <p:spPr>
          <a:xfrm>
            <a:off x="10641559" y="2212848"/>
            <a:ext cx="462092" cy="310896"/>
          </a:xfrm>
          <a:prstGeom prst="roundRect">
            <a:avLst>
              <a:gd name="adj" fmla="val 5882"/>
            </a:avLst>
          </a:prstGeom>
          <a:solidFill>
            <a:srgbClr val="E8B04B"/>
          </a:solidFill>
          <a:ln/>
        </p:spPr>
      </p:sp>
      <p:sp>
        <p:nvSpPr>
          <p:cNvPr id="27" name="Shape 25"/>
          <p:cNvSpPr/>
          <p:nvPr/>
        </p:nvSpPr>
        <p:spPr>
          <a:xfrm>
            <a:off x="11103651" y="2212848"/>
            <a:ext cx="308061" cy="310896"/>
          </a:xfrm>
          <a:prstGeom prst="roundRect">
            <a:avLst>
              <a:gd name="adj" fmla="val 5936"/>
            </a:avLst>
          </a:prstGeom>
          <a:solidFill>
            <a:srgbClr val="D64545"/>
          </a:solidFill>
          <a:ln/>
        </p:spPr>
      </p:sp>
      <p:sp>
        <p:nvSpPr>
          <p:cNvPr id="28" name="Text 26"/>
          <p:cNvSpPr/>
          <p:nvPr/>
        </p:nvSpPr>
        <p:spPr>
          <a:xfrm>
            <a:off x="6277356" y="2651760"/>
            <a:ext cx="25671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hora · 63%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844534" y="2651760"/>
            <a:ext cx="25671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1 hora · 22%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277356" y="2926080"/>
            <a:ext cx="25671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mesmo dia · 9%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844534" y="2926080"/>
            <a:ext cx="25671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de um dia · 6%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77356" y="3291840"/>
            <a:ext cx="51343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 respondidos em até 10 minutos — era 22% antes do piloto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77240" y="4206240"/>
            <a:ext cx="51343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· "O QUE FARIA VOCÊ VOLTAR?"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77240" y="450799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Loja lembrar da revisão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246120" y="4535424"/>
            <a:ext cx="2025396" cy="182880"/>
          </a:xfrm>
          <a:prstGeom prst="roundRect">
            <a:avLst>
              <a:gd name="adj" fmla="val 10000"/>
            </a:avLst>
          </a:prstGeom>
          <a:solidFill>
            <a:srgbClr val="0365FE"/>
          </a:solidFill>
          <a:ln/>
        </p:spPr>
      </p:sp>
      <p:sp>
        <p:nvSpPr>
          <p:cNvPr id="36" name="Text 34"/>
          <p:cNvSpPr/>
          <p:nvPr/>
        </p:nvSpPr>
        <p:spPr>
          <a:xfrm>
            <a:off x="5317236" y="4507992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77240" y="48920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 pós-compra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46120" y="4919472"/>
            <a:ext cx="1819424" cy="182880"/>
          </a:xfrm>
          <a:prstGeom prst="roundRect">
            <a:avLst>
              <a:gd name="adj" fmla="val 10000"/>
            </a:avLst>
          </a:prstGeom>
          <a:solidFill>
            <a:srgbClr val="0365FE"/>
          </a:solidFill>
          <a:ln/>
        </p:spPr>
      </p:sp>
      <p:sp>
        <p:nvSpPr>
          <p:cNvPr id="39" name="Text 37"/>
          <p:cNvSpPr/>
          <p:nvPr/>
        </p:nvSpPr>
        <p:spPr>
          <a:xfrm>
            <a:off x="5317236" y="489204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77240" y="527608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certa na troca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246120" y="5303520"/>
            <a:ext cx="1510465" cy="182880"/>
          </a:xfrm>
          <a:prstGeom prst="roundRect">
            <a:avLst>
              <a:gd name="adj" fmla="val 10000"/>
            </a:avLst>
          </a:prstGeom>
          <a:solidFill>
            <a:srgbClr val="0365FE"/>
          </a:solidFill>
          <a:ln/>
        </p:spPr>
      </p:sp>
      <p:sp>
        <p:nvSpPr>
          <p:cNvPr id="42" name="Text 40"/>
          <p:cNvSpPr/>
          <p:nvPr/>
        </p:nvSpPr>
        <p:spPr>
          <a:xfrm>
            <a:off x="5317236" y="5276088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277356" y="4206240"/>
            <a:ext cx="51343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· "POR QUE NÃO FECHOU?" (14 não compradores)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277356" y="4507992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não aprovado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9020556" y="4544568"/>
            <a:ext cx="1751076" cy="164592"/>
          </a:xfrm>
          <a:prstGeom prst="roundRect">
            <a:avLst>
              <a:gd name="adj" fmla="val 11111"/>
            </a:avLst>
          </a:prstGeom>
          <a:solidFill>
            <a:srgbClr val="D64545"/>
          </a:solidFill>
          <a:ln/>
        </p:spPr>
      </p:sp>
      <p:sp>
        <p:nvSpPr>
          <p:cNvPr id="46" name="Text 44"/>
          <p:cNvSpPr/>
          <p:nvPr/>
        </p:nvSpPr>
        <p:spPr>
          <a:xfrm>
            <a:off x="10954512" y="4507992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277356" y="4818888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Parcela alta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9020556" y="4855464"/>
            <a:ext cx="875538" cy="164592"/>
          </a:xfrm>
          <a:prstGeom prst="roundRect">
            <a:avLst>
              <a:gd name="adj" fmla="val 11111"/>
            </a:avLst>
          </a:prstGeom>
          <a:solidFill>
            <a:srgbClr val="D64545"/>
          </a:solidFill>
          <a:ln/>
        </p:spPr>
      </p:sp>
      <p:sp>
        <p:nvSpPr>
          <p:cNvPr id="49" name="Text 47"/>
          <p:cNvSpPr/>
          <p:nvPr/>
        </p:nvSpPr>
        <p:spPr>
          <a:xfrm>
            <a:off x="10954512" y="481888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277356" y="5129784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Comprou usado/outra marca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9020556" y="5166360"/>
            <a:ext cx="875538" cy="164592"/>
          </a:xfrm>
          <a:prstGeom prst="roundRect">
            <a:avLst>
              <a:gd name="adj" fmla="val 11111"/>
            </a:avLst>
          </a:prstGeom>
          <a:solidFill>
            <a:srgbClr val="D64545"/>
          </a:solidFill>
          <a:ln/>
        </p:spPr>
      </p:sp>
      <p:sp>
        <p:nvSpPr>
          <p:cNvPr id="52" name="Text 50"/>
          <p:cNvSpPr/>
          <p:nvPr/>
        </p:nvSpPr>
        <p:spPr>
          <a:xfrm>
            <a:off x="10954512" y="5129784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277356" y="544068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Adiou a compra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9020556" y="5477256"/>
            <a:ext cx="583692" cy="164592"/>
          </a:xfrm>
          <a:prstGeom prst="roundRect">
            <a:avLst>
              <a:gd name="adj" fmla="val 11111"/>
            </a:avLst>
          </a:prstGeom>
          <a:solidFill>
            <a:srgbClr val="D64545"/>
          </a:solidFill>
          <a:ln/>
        </p:spPr>
      </p:sp>
      <p:sp>
        <p:nvSpPr>
          <p:cNvPr id="55" name="Text 53"/>
          <p:cNvSpPr/>
          <p:nvPr/>
        </p:nvSpPr>
        <p:spPr>
          <a:xfrm>
            <a:off x="10954512" y="5440680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777240" y="5870448"/>
            <a:ext cx="10634472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formulário via WhatsApp após o atendimento + entrevista presencial na entrega e na sala de espera · 28/07–14/08 · 61 convidados, 32 respostas (52%).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PENSAR FORA DA CAIXA · ITEM 1 DE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que voltou sem ninguém ligar para ele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trabalho é revolucionário e capaz de mudar o comportamento do cliente"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2011680"/>
            <a:ext cx="10634472" cy="1691640"/>
          </a:xfrm>
          <a:prstGeom prst="roundRect">
            <a:avLst>
              <a:gd name="adj" fmla="val 2703"/>
            </a:avLst>
          </a:prstGeom>
          <a:solidFill>
            <a:srgbClr val="EEF4F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194560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caso A. Paulo — Bragança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2514600"/>
            <a:ext cx="10085832" cy="1097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Comprou uma Fazer 250 em março. Em julho, a régua identificou a R1 vencendo e disparou o lembrete no WhatsApp — sem nenhum humano na fila. Ele agendou pelo link, fez a revisão (R$ 289 de receita) e respondeu a pesquisa: "voltar eu volto se vocês me avisarem da revisão. Da última vez passou do prazo e eu nem vi."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77240" y="3977640"/>
            <a:ext cx="341071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996696" y="4160520"/>
            <a:ext cx="297180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RECONTATO PÓS-VENDA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96696" y="4398264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 → 74%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996696" y="4910328"/>
            <a:ext cx="297180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contatados após a compra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89120" y="3977640"/>
            <a:ext cx="341071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14" name="Text 12"/>
          <p:cNvSpPr/>
          <p:nvPr/>
        </p:nvSpPr>
        <p:spPr>
          <a:xfrm>
            <a:off x="4608576" y="4160520"/>
            <a:ext cx="297180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À OFICINA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608576" y="4398264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+31%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608576" y="4910328"/>
            <a:ext cx="297180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agendamentos de revisão vs. semestre anterior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01000" y="3977640"/>
            <a:ext cx="341071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18" name="Text 16"/>
          <p:cNvSpPr/>
          <p:nvPr/>
        </p:nvSpPr>
        <p:spPr>
          <a:xfrm>
            <a:off x="8220456" y="4160520"/>
            <a:ext cx="297180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COMPORTAMENTO NOVO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220456" y="4398264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220456" y="4910328"/>
            <a:ext cx="297180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dizem que voltam se a loja lembrar — e agora ela lembra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PENSAR FORA DA CAIXA · ITEM 2 DE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digitalizamos o processo antigo — trocamos o processo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trabalho é revolucionário e mudou drasticamente o processo"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65960"/>
          <a:ext cx="106344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291840"/>
                <a:gridCol w="450799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PROCESSO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SMART DEALER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Análise de performance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cruzando planilhas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PDCA oficial em um clique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sem resposta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32% morriam no limbo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 — régua + escalonamento ao gerente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Crédito recusado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fim da conversa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oportunidade Liberacred com mensagem-prêmio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Circular da montadora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e-mail de alguém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robô — a loja inteira responde igual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Índice Premya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descoberto na apuração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acompanhado em curso, com simulador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Revisão vencida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 esquecido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régua R1–R4 dispara sozinha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mensal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redigitação em cada tela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planilha publicada uma vez, telas se atualizam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PENSAR FORA DA CAIXA · ITEM 3 DE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vantagem é o COMO — o método Yamaha codificado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trabalho gerou uma vantagem competitiva para a Yamaha"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2057400"/>
            <a:ext cx="1951330" cy="56692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57400"/>
            <a:ext cx="185989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RELÓGIOS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948026" y="2057400"/>
            <a:ext cx="1951330" cy="56692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</p:spPr>
      </p:sp>
      <p:sp>
        <p:nvSpPr>
          <p:cNvPr id="9" name="Text 7"/>
          <p:cNvSpPr/>
          <p:nvPr/>
        </p:nvSpPr>
        <p:spPr>
          <a:xfrm>
            <a:off x="2993746" y="2057400"/>
            <a:ext cx="185989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CARTA VAREJO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118811" y="2057400"/>
            <a:ext cx="1951330" cy="56692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</p:spPr>
      </p:sp>
      <p:sp>
        <p:nvSpPr>
          <p:cNvPr id="11" name="Text 9"/>
          <p:cNvSpPr/>
          <p:nvPr/>
        </p:nvSpPr>
        <p:spPr>
          <a:xfrm>
            <a:off x="5164531" y="2057400"/>
            <a:ext cx="185989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DECOMPOSIÇÃO MERCADO × SHARE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289597" y="2057400"/>
            <a:ext cx="1951330" cy="56692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</p:spPr>
      </p:sp>
      <p:sp>
        <p:nvSpPr>
          <p:cNvPr id="13" name="Text 11"/>
          <p:cNvSpPr/>
          <p:nvPr/>
        </p:nvSpPr>
        <p:spPr>
          <a:xfrm>
            <a:off x="7335317" y="2057400"/>
            <a:ext cx="185989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K2 DO DRE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9460382" y="2057400"/>
            <a:ext cx="1951330" cy="56692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</p:spPr>
      </p:sp>
      <p:sp>
        <p:nvSpPr>
          <p:cNvPr id="15" name="Text 13"/>
          <p:cNvSpPr/>
          <p:nvPr/>
        </p:nvSpPr>
        <p:spPr>
          <a:xfrm>
            <a:off x="9506102" y="2057400"/>
            <a:ext cx="185989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KAIZEN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77240" y="2834640"/>
            <a:ext cx="1951330" cy="56692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2834640"/>
            <a:ext cx="185989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CIRCULARES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948026" y="2834640"/>
            <a:ext cx="1951330" cy="56692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</p:spPr>
      </p:sp>
      <p:sp>
        <p:nvSpPr>
          <p:cNvPr id="19" name="Text 17"/>
          <p:cNvSpPr/>
          <p:nvPr/>
        </p:nvSpPr>
        <p:spPr>
          <a:xfrm>
            <a:off x="2993746" y="2834640"/>
            <a:ext cx="185989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PREMYA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118811" y="2834640"/>
            <a:ext cx="1951330" cy="56692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</p:spPr>
      </p:sp>
      <p:sp>
        <p:nvSpPr>
          <p:cNvPr id="21" name="Text 19"/>
          <p:cNvSpPr/>
          <p:nvPr/>
        </p:nvSpPr>
        <p:spPr>
          <a:xfrm>
            <a:off x="5164531" y="2834640"/>
            <a:ext cx="185989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LIBERACRED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289597" y="2834640"/>
            <a:ext cx="1951330" cy="56692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</p:spPr>
      </p:sp>
      <p:sp>
        <p:nvSpPr>
          <p:cNvPr id="23" name="Text 21"/>
          <p:cNvSpPr/>
          <p:nvPr/>
        </p:nvSpPr>
        <p:spPr>
          <a:xfrm>
            <a:off x="7335317" y="2834640"/>
            <a:ext cx="185989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PDCA OFICIAL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460382" y="2834640"/>
            <a:ext cx="1951330" cy="56692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</p:spPr>
      </p:sp>
      <p:sp>
        <p:nvSpPr>
          <p:cNvPr id="25" name="Text 23"/>
          <p:cNvSpPr/>
          <p:nvPr/>
        </p:nvSpPr>
        <p:spPr>
          <a:xfrm>
            <a:off x="9506102" y="2834640"/>
            <a:ext cx="185989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RÉGUA R1–R4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77240" y="3840480"/>
            <a:ext cx="10634472" cy="1188720"/>
          </a:xfrm>
          <a:prstGeom prst="roundRect">
            <a:avLst>
              <a:gd name="adj" fmla="val 2308"/>
            </a:avLst>
          </a:prstGeom>
          <a:solidFill>
            <a:srgbClr val="EEF4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51560" y="398678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um compra software. Ninguém compra o know-how.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051560" y="4297680"/>
            <a:ext cx="10085832" cy="6217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regras que fazem uma concessionária Yamaha performar — carta, campanha, fidelidade ao banco, absorção — só existem codificadas aqui. Replicá-las exige viver a operação, não contratar um dev. Essa foi a resposta que a 1ª banca pediu.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77240" y="525780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 know-how continua rendendo: cada circular nova entra no robô no dia da publicação.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PENSAR FORA DA CAIXA · ITEM 4 DE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documentado, replicável — e já em uso pela regional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trabalho resultou em um conhecimento avançado para nosso segmento"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2011680"/>
            <a:ext cx="5216652" cy="1554480"/>
          </a:xfrm>
          <a:prstGeom prst="roundRect">
            <a:avLst>
              <a:gd name="adj" fmla="val 1765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212848"/>
            <a:ext cx="47777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468880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Decomposição mercado × share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6696" y="2834640"/>
            <a:ext cx="4777740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desvio do mês é demanda da praça ou execução da loja? A pergunta que toda CCY faz — agora com resposta calculada, não achada.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95060" y="2011680"/>
            <a:ext cx="5216652" cy="1554480"/>
          </a:xfrm>
          <a:prstGeom prst="roundRect">
            <a:avLst>
              <a:gd name="adj" fmla="val 1765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6414516" y="2212848"/>
            <a:ext cx="47777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414516" y="2468880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Absorção lida direto do DRE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14516" y="2834640"/>
            <a:ext cx="4777740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K2 deixou de ser conta de padaria: taxa oficial, mês a mês, com o gap para 65% quantificado em reais.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" y="3767328"/>
            <a:ext cx="5216652" cy="1554480"/>
          </a:xfrm>
          <a:prstGeom prst="roundRect">
            <a:avLst>
              <a:gd name="adj" fmla="val 1765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996696" y="3968496"/>
            <a:ext cx="47777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96696" y="4224528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relógios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96696" y="4590288"/>
            <a:ext cx="4777740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Carta e varejo no mês corrente; mercado e share no mês fechado. A régua que evita comparar coisas incomparáveis.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95060" y="3767328"/>
            <a:ext cx="5216652" cy="1554480"/>
          </a:xfrm>
          <a:prstGeom prst="roundRect">
            <a:avLst>
              <a:gd name="adj" fmla="val 1765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6414516" y="3968496"/>
            <a:ext cx="47777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ADOÇÃO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414516" y="4224528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consultor da regional já usa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14516" y="4590288"/>
            <a:ext cx="4777740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formato de análise virou o padrão do acompanhamento das 9 CCYs — o conhecimento saiu do grupo e virou prática de rede.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PENSAR FORA DA CAIXA · ITEM 5 DE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número-manchete — e a conta aberta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trabalho gerou grandes receitas"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2057400"/>
            <a:ext cx="10634472" cy="1463040"/>
          </a:xfrm>
          <a:prstGeom prst="roundRect">
            <a:avLst>
              <a:gd name="adj" fmla="val 3750"/>
            </a:avLst>
          </a:prstGeom>
          <a:solidFill>
            <a:srgbClr val="0E2A1E"/>
          </a:solidFill>
          <a:ln w="19050">
            <a:solidFill>
              <a:srgbClr val="1E9E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2240280"/>
            <a:ext cx="99029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~R$ 1,1 milhão/ano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143000" y="2971800"/>
            <a:ext cx="9902952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7F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potencial identificado pelo sistema em UMA concessionária — contra R$ 7.200/ano de custo da plataforma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3794760"/>
            <a:ext cx="3410712" cy="1463040"/>
          </a:xfrm>
          <a:prstGeom prst="roundRect">
            <a:avLst>
              <a:gd name="adj" fmla="val 1875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996696" y="3977640"/>
            <a:ext cx="297180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CAMPANHAS DA MONTADORA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96696" y="4215384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R$ 400 mil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996696" y="4818888"/>
            <a:ext cx="297180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prêmios + vouchers por disciplina de carta · R$ 73,5 mil já apurados em julho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89120" y="3794760"/>
            <a:ext cx="3410712" cy="1463040"/>
          </a:xfrm>
          <a:prstGeom prst="roundRect">
            <a:avLst>
              <a:gd name="adj" fmla="val 1875"/>
            </a:avLst>
          </a:prstGeom>
          <a:solidFill>
            <a:srgbClr val="F7F9FC"/>
          </a:solidFill>
          <a:ln/>
        </p:spPr>
      </p:sp>
      <p:sp>
        <p:nvSpPr>
          <p:cNvPr id="14" name="Text 12"/>
          <p:cNvSpPr/>
          <p:nvPr/>
        </p:nvSpPr>
        <p:spPr>
          <a:xfrm>
            <a:off x="4608576" y="3977640"/>
            <a:ext cx="297180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DO K2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608576" y="4215384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R$ 490 mil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608576" y="4818888"/>
            <a:ext cx="297180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margem de pós-vendas entre 49,4% e a meta de 65% de absorção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01000" y="3794760"/>
            <a:ext cx="3410712" cy="1463040"/>
          </a:xfrm>
          <a:prstGeom prst="roundRect">
            <a:avLst>
              <a:gd name="adj" fmla="val 1875"/>
            </a:avLst>
          </a:prstGeom>
          <a:solidFill>
            <a:srgbClr val="F7F9FC"/>
          </a:solidFill>
          <a:ln/>
        </p:spPr>
      </p:sp>
      <p:sp>
        <p:nvSpPr>
          <p:cNvPr id="18" name="Text 16"/>
          <p:cNvSpPr/>
          <p:nvPr/>
        </p:nvSpPr>
        <p:spPr>
          <a:xfrm>
            <a:off x="8220456" y="3977640"/>
            <a:ext cx="297180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PREMYA + SEGUROS + CONSÓRCIO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220456" y="4215384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R$ 200 mil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220456" y="4818888"/>
            <a:ext cx="297180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 Ouro + penetração de seguros + Bônus Quality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TRABALHO EM EQUIPE · ITEM 1 DE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pessoas, cinco frentes — e a fala revezada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trabalho em equipe realizado pelo grupo foi claramente percebido"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2011680"/>
            <a:ext cx="1965960" cy="1920240"/>
          </a:xfrm>
          <a:prstGeom prst="roundRect">
            <a:avLst>
              <a:gd name="adj" fmla="val 1429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212848"/>
            <a:ext cx="1527048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Caique Oliveira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96696" y="2578608"/>
            <a:ext cx="1527048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dados, método e consultoria de campo — emplacamento, K2, PDCA, circulares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944368" y="2011680"/>
            <a:ext cx="1965960" cy="1920240"/>
          </a:xfrm>
          <a:prstGeom prst="roundRect">
            <a:avLst>
              <a:gd name="adj" fmla="val 1429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3163824" y="2212848"/>
            <a:ext cx="1527048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Klenilson Paiva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63824" y="2578608"/>
            <a:ext cx="1527048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narrativa, arquitetura da solução e apresentação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111496" y="2011680"/>
            <a:ext cx="1965960" cy="1920240"/>
          </a:xfrm>
          <a:prstGeom prst="roundRect">
            <a:avLst>
              <a:gd name="adj" fmla="val 1429"/>
            </a:avLst>
          </a:prstGeom>
          <a:solidFill>
            <a:srgbClr val="F7F9FC"/>
          </a:solidFill>
          <a:ln/>
        </p:spPr>
      </p:sp>
      <p:sp>
        <p:nvSpPr>
          <p:cNvPr id="13" name="Text 11"/>
          <p:cNvSpPr/>
          <p:nvPr/>
        </p:nvSpPr>
        <p:spPr>
          <a:xfrm>
            <a:off x="5330952" y="2212848"/>
            <a:ext cx="1527048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Evandro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330952" y="2578608"/>
            <a:ext cx="1527048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comercial — CRM, playbook e cadências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78624" y="2011680"/>
            <a:ext cx="1965960" cy="1920240"/>
          </a:xfrm>
          <a:prstGeom prst="roundRect">
            <a:avLst>
              <a:gd name="adj" fmla="val 1429"/>
            </a:avLst>
          </a:prstGeom>
          <a:solidFill>
            <a:srgbClr val="F7F9FC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0" y="2212848"/>
            <a:ext cx="1527048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Paulo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498080" y="2578608"/>
            <a:ext cx="1527048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pós-vendas — régua de revisões e retenção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445752" y="2011680"/>
            <a:ext cx="1965960" cy="1920240"/>
          </a:xfrm>
          <a:prstGeom prst="roundRect">
            <a:avLst>
              <a:gd name="adj" fmla="val 1429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9665208" y="2212848"/>
            <a:ext cx="1527048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Camila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665208" y="2578608"/>
            <a:ext cx="1527048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cliente — pesquisa Voz do Cliente e NPS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7240" y="4251960"/>
            <a:ext cx="10634472" cy="960120"/>
          </a:xfrm>
          <a:prstGeom prst="roundRect">
            <a:avLst>
              <a:gd name="adj" fmla="val 2857"/>
            </a:avLst>
          </a:prstGeom>
          <a:solidFill>
            <a:srgbClr val="EEF4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51560" y="439826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2ª banca, cada um apresenta a própria frente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051560" y="4709160"/>
            <a:ext cx="10085832" cy="3931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Foi o critério com a maior distância para o Top 3 na 1ª banca (−0,11) — a divisão de papéis agora é explícita no material e na fala.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TRABALHO EM EQUIPE · ITEM 2 DE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Nippon não apoia o projeto. Ela o paga.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trabalho em equipe entre concessionária e grupo foi percebido"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2011680"/>
            <a:ext cx="4937760" cy="804672"/>
          </a:xfrm>
          <a:prstGeom prst="roundRect">
            <a:avLst>
              <a:gd name="adj" fmla="val 3409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1031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R$ 600/mês do próprio bolso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60120" y="23957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concessionária paga o piloto — validação com a régua mais dura que existe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77240" y="2926080"/>
            <a:ext cx="4937760" cy="804672"/>
          </a:xfrm>
          <a:prstGeom prst="roundRect">
            <a:avLst>
              <a:gd name="adj" fmla="val 3409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3017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diário real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60120" y="33101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 desta apresentação são da operação, não de ambiente de teste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77240" y="3840480"/>
            <a:ext cx="4937760" cy="804672"/>
          </a:xfrm>
          <a:prstGeom prst="roundRect">
            <a:avLst>
              <a:gd name="adj" fmla="val 3409"/>
            </a:avLst>
          </a:prstGeom>
          <a:solidFill>
            <a:srgbClr val="F7F9FC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3931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Orientador acompanhando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60120" y="42245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Paulo Lopes segue o projeto e o formato já circula pela regional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77240" y="4754880"/>
            <a:ext cx="4937760" cy="804672"/>
          </a:xfrm>
          <a:prstGeom prst="roundRect">
            <a:avLst>
              <a:gd name="adj" fmla="val 3409"/>
            </a:avLst>
          </a:prstGeom>
          <a:solidFill>
            <a:srgbClr val="F7F9FC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Depoimento na final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60120" y="51389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do titular contando o que mudou — combinado para a apresentação final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080760" y="2011680"/>
            <a:ext cx="5422392" cy="3493865"/>
          </a:xfrm>
          <a:prstGeom prst="roundRect">
            <a:avLst>
              <a:gd name="adj" fmla="val 1832"/>
            </a:avLst>
          </a:prstGeom>
          <a:solidFill>
            <a:srgbClr val="0E1D36"/>
          </a:solidFill>
          <a:ln w="9525">
            <a:solidFill>
              <a:srgbClr val="22304A"/>
            </a:solidFill>
            <a:prstDash val="solid"/>
          </a:ln>
          <a:effectLst>
            <a:outerShdw sx="100000" sy="100000" kx="0" ky="0" algn="bl" rotWithShape="0" blurRad="177800" dist="63500" dir="5400000">
              <a:srgbClr val="0A1220">
                <a:alpha val="5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27064" y="2103120"/>
            <a:ext cx="91440" cy="91440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20" name="Shape 18"/>
          <p:cNvSpPr/>
          <p:nvPr/>
        </p:nvSpPr>
        <p:spPr>
          <a:xfrm>
            <a:off x="6382512" y="2103120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21" name="Shape 19"/>
          <p:cNvSpPr/>
          <p:nvPr/>
        </p:nvSpPr>
        <p:spPr>
          <a:xfrm>
            <a:off x="6537960" y="2103120"/>
            <a:ext cx="91440" cy="91440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22" name="Text 20"/>
          <p:cNvSpPr/>
          <p:nvPr/>
        </p:nvSpPr>
        <p:spPr>
          <a:xfrm>
            <a:off x="7420356" y="2039112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smart-dealer.vercel.app</a:t>
            </a:r>
            <a:endParaRPr lang="en-US" sz="800" dirty="0"/>
          </a:p>
        </p:txBody>
      </p:sp>
      <p:pic>
        <p:nvPicPr>
          <p:cNvPr id="23" name="Image 0" descr="_NOVAS MELHORIAS/deck-assets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7336" y="2286000"/>
            <a:ext cx="5349240" cy="3182969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6080760" y="5577840"/>
            <a:ext cx="5422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tela que o titular abre todos os dias — carta, ritmo, ranking e Kaizen do grupo.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VIABILIDADE E IMPACTO · ITEM 1 DE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Replicar é configurar, não reprogramar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trabalho é viável para implantação em outras concessionárias"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2011680"/>
            <a:ext cx="3410712" cy="1920240"/>
          </a:xfrm>
          <a:prstGeom prst="roundRect">
            <a:avLst>
              <a:gd name="adj" fmla="val 1429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21284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46888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Multi-grupo desde o dia 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6696" y="2834640"/>
            <a:ext cx="2971800" cy="9326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9 grupos da regional já estão na base de varejo e metas — falta só criar os acessos de cada um.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0" y="2011680"/>
            <a:ext cx="3410712" cy="1920240"/>
          </a:xfrm>
          <a:prstGeom prst="roundRect">
            <a:avLst>
              <a:gd name="adj" fmla="val 1429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4608576" y="221284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608576" y="246888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· R$ 600/mês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08576" y="2834640"/>
            <a:ext cx="2971800" cy="9326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instalação, sem hardware, sem projeto de TI local. Um prêmio de campanha capturado paga o ano.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01000" y="2011680"/>
            <a:ext cx="3410712" cy="1920240"/>
          </a:xfrm>
          <a:prstGeom prst="roundRect">
            <a:avLst>
              <a:gd name="adj" fmla="val 1429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8220456" y="221284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GOVERNANÇA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0456" y="246888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Parametrizável por grupo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0456" y="2834640"/>
            <a:ext cx="2971800" cy="9326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Régua, regionalização e cadências são configuração — cada CCY com suas lojas e suas regras.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4251960"/>
            <a:ext cx="10634472" cy="960120"/>
          </a:xfrm>
          <a:prstGeom prst="roundRect">
            <a:avLst>
              <a:gd name="adj" fmla="val 2857"/>
            </a:avLst>
          </a:prstGeom>
          <a:solidFill>
            <a:srgbClr val="EEF4FF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" y="439826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diretoria aprovar: rollout regional ainda em 2026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51560" y="4709160"/>
            <a:ext cx="10085832" cy="3931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 YamahaWay terá gerado um padrão nacional — nascido dentro de uma concessionária, validado por esta banca.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VIABILIDADE E IMPACTO · ITEM 2 DE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prova: o método já rodou fora da Nippon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"Há possibilidade de bons resultados se o trabalho for implementado em outras concessionárias"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2011680"/>
            <a:ext cx="5134356" cy="3017520"/>
          </a:xfrm>
          <a:prstGeom prst="roundRect">
            <a:avLst>
              <a:gd name="adj" fmla="val 1212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240280"/>
            <a:ext cx="4677156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NOBRE MOTOS · Caraguatatuba e Mogi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606040"/>
            <a:ext cx="4677156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PDCAs da NOBRE foram gerados com o mesmo método — decomposição, segmentos, praças — em outro grupo, sem mudar uma linha do sistema. É o argumento de escala mais barato que existe: já aconteceu.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05840" y="4480560"/>
            <a:ext cx="46771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método · outro grupo · zero adaptação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77356" y="2011680"/>
            <a:ext cx="5134356" cy="3017520"/>
          </a:xfrm>
          <a:prstGeom prst="roundRect">
            <a:avLst>
              <a:gd name="adj" fmla="val 1212"/>
            </a:avLst>
          </a:prstGeom>
          <a:solidFill>
            <a:srgbClr val="EEF4FF"/>
          </a:solidFill>
          <a:ln/>
        </p:spPr>
      </p:sp>
      <p:sp>
        <p:nvSpPr>
          <p:cNvPr id="11" name="Text 9"/>
          <p:cNvSpPr/>
          <p:nvPr/>
        </p:nvSpPr>
        <p:spPr>
          <a:xfrm>
            <a:off x="6505956" y="2240280"/>
            <a:ext cx="4677156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consultor da regional nas 9 CCYs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05956" y="2606040"/>
            <a:ext cx="4677156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formato de análise do Smart Dealer virou o padrão do acompanhamento mensal da regional — os outros 8 grupos já veem os próprios números lidos pelo método antes mesmo de terem acesso ao sistema.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05956" y="4480560"/>
            <a:ext cx="46771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demanda já existe — falta só o acesso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77240" y="534924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Ganhos esperados por CCY no rollout: +8% varejo · +15% conversão de leads · +10% aprovação financeira · +5 pts NPS.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9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_NOVAS MELHORIAS/deck-assets/bg-fech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148840"/>
            <a:ext cx="10634472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"Como transformar dados</a:t>
            </a:r>
            <a:endParaRPr lang="en-US" sz="3200" dirty="0"/>
          </a:p>
          <a:p>
            <a:pPr algn="ctr"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experiências memoráveis?"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1706453" y="3977640"/>
            <a:ext cx="877604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Smart Dealer é mais do que uma plataforma tecnológica.</a:t>
            </a:r>
            <a:endParaRPr lang="en-US" sz="145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novo padrão de relacionamento entre cliente, concessionária e Yamaha.</a:t>
            </a:r>
            <a:endParaRPr lang="en-US" sz="1450" dirty="0"/>
          </a:p>
        </p:txBody>
      </p:sp>
      <p:sp>
        <p:nvSpPr>
          <p:cNvPr id="5" name="Text 2"/>
          <p:cNvSpPr/>
          <p:nvPr/>
        </p:nvSpPr>
        <p:spPr>
          <a:xfrm>
            <a:off x="1706453" y="4983480"/>
            <a:ext cx="877604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requisitos da Fórmula do Sucesso · 27 entregas — e setembro fecha a campanha e a Meta 1.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77240" y="630936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3D4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YAMAHA WAY 2026 · GRUPO 06 SHOGUN RIDERS · NIPPON MOTOS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Dealer — 2ª Banca YamahaWay 2026</dc:title>
  <dc:subject>PptxGenJS Presentation</dc:subject>
  <dc:creator>Grupo 06 — Shogun Riders</dc:creator>
  <cp:lastModifiedBy>Grupo 06 — Shogun Riders</cp:lastModifiedBy>
  <cp:revision>1</cp:revision>
  <dcterms:created xsi:type="dcterms:W3CDTF">2026-08-20T12:17:48Z</dcterms:created>
  <dcterms:modified xsi:type="dcterms:W3CDTF">2026-08-20T12:17:48Z</dcterms:modified>
</cp:coreProperties>
</file>