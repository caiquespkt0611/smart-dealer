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8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1ª banca</c:v>
                </c:pt>
              </c:strCache>
            </c:strRef>
          </c:tx>
          <c:spPr>
            <a:solidFill>
              <a:srgbClr val="0365FE">
                <a:alpha val="35000"/>
              </a:srgbClr>
            </a:solidFill>
            <a:ln w="25400" cap="flat">
              <a:solidFill>
                <a:srgbClr val="0365FE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365FE"/>
              </a:solidFill>
              <a:ln w="9525" cap="flat">
                <a:solidFill>
                  <a:srgbClr val="0365F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Pesquisa</c:v>
                  </c:pt>
                  <c:pt idx="1">
                    <c:v>Planejamento</c:v>
                  </c:pt>
                  <c:pt idx="2">
                    <c:v>Foco no Cliente</c:v>
                  </c:pt>
                  <c:pt idx="3">
                    <c:v>Fora da Caixa</c:v>
                  </c:pt>
                  <c:pt idx="4">
                    <c:v>Equipe</c:v>
                  </c:pt>
                  <c:pt idx="5">
                    <c:v>Viabilidade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3.78</c:v>
                </c:pt>
                <c:pt idx="1">
                  <c:v>4</c:v>
                </c:pt>
                <c:pt idx="2">
                  <c:v>3.83</c:v>
                </c:pt>
                <c:pt idx="3">
                  <c:v>4.33</c:v>
                </c:pt>
                <c:pt idx="4">
                  <c:v>4.25</c:v>
                </c:pt>
                <c:pt idx="5">
                  <c:v>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2ª banca</c:v>
                </c:pt>
              </c:strCache>
            </c:strRef>
          </c:tx>
          <c:spPr>
            <a:solidFill>
              <a:srgbClr val="2ECC71">
                <a:alpha val="35000"/>
              </a:srgbClr>
            </a:solidFill>
            <a:ln w="25400" cap="flat">
              <a:solidFill>
                <a:srgbClr val="2ECC71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ECC71"/>
              </a:solidFill>
              <a:ln w="9525" cap="flat">
                <a:solidFill>
                  <a:srgbClr val="2ECC7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Pesquisa</c:v>
                  </c:pt>
                  <c:pt idx="1">
                    <c:v>Planejamento</c:v>
                  </c:pt>
                  <c:pt idx="2">
                    <c:v>Foco no Cliente</c:v>
                  </c:pt>
                  <c:pt idx="3">
                    <c:v>Fora da Caixa</c:v>
                  </c:pt>
                  <c:pt idx="4">
                    <c:v>Equipe</c:v>
                  </c:pt>
                  <c:pt idx="5">
                    <c:v>Viabilidade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4.6</c:v>
                </c:pt>
                <c:pt idx="1">
                  <c:v>4.6</c:v>
                </c:pt>
                <c:pt idx="2">
                  <c:v>4.6</c:v>
                </c:pt>
                <c:pt idx="3">
                  <c:v>4.6</c:v>
                </c:pt>
                <c:pt idx="4">
                  <c:v>4.6</c:v>
                </c:pt>
                <c:pt idx="5">
                  <c:v>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Meta 1 · Carta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AF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feito</c:v>
                </c:pt>
                <c:pt idx="1">
                  <c:v>falta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Meta 2 · Absorção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AF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feito</c:v>
                </c:pt>
                <c:pt idx="1">
                  <c:v>falta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Meta 3 · Lead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AF2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feito</c:v>
                </c:pt>
                <c:pt idx="1">
                  <c:v>falta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81</c:v>
                </c:pt>
                <c:pt idx="1">
                  <c:v>19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dos respondentes</c:v>
                </c:pt>
              </c:strCache>
            </c:strRef>
          </c:tx>
          <c:spPr>
            <a:solidFill>
              <a:srgbClr val="0365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91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Test-ride antes de decidir</c:v>
                  </c:pt>
                  <c:pt idx="1">
                    <c:v>Prazo de entrega</c:v>
                  </c:pt>
                  <c:pt idx="2">
                    <c:v>Confiança / indicação</c:v>
                  </c:pt>
                  <c:pt idx="3">
                    <c:v>Preço / valor da entrada</c:v>
                  </c:pt>
                  <c:pt idx="4">
                    <c:v>Aprovação do crédito</c:v>
                  </c:pt>
                  <c:pt idx="5">
                    <c:v>Atendimento rápido</c:v>
                  </c:pt>
                  <c:pt idx="6">
                    <c:v>Parcela que cabe no bolso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25</c:v>
                </c:pt>
                <c:pt idx="2">
                  <c:v>38</c:v>
                </c:pt>
                <c:pt idx="3">
                  <c:v>47</c:v>
                </c:pt>
                <c:pt idx="4">
                  <c:v>56</c:v>
                </c:pt>
                <c:pt idx="5">
                  <c:v>66</c:v>
                </c:pt>
                <c:pt idx="6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91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respostas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914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10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914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tempo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84CC1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8B04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5A5A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Na hora 63%</c:v>
                </c:pt>
                <c:pt idx="1">
                  <c:v>Até 1 hora 22%</c:v>
                </c:pt>
                <c:pt idx="2">
                  <c:v>No mesmo dia 9%</c:v>
                </c:pt>
                <c:pt idx="3">
                  <c:v>Mais de um dia 6%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63</c:v>
                </c:pt>
                <c:pt idx="1">
                  <c:v>22</c:v>
                </c:pt>
                <c:pt idx="2">
                  <c:v>9</c:v>
                </c:pt>
                <c:pt idx="3">
                  <c:v>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composição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365F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8B04B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Campanhas R$ 400 mil</c:v>
                </c:pt>
                <c:pt idx="1">
                  <c:v>Gap do K2 R$ 490 mil</c:v>
                </c:pt>
                <c:pt idx="2">
                  <c:v>Seguros + Consórcio R$ 50 mil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400</c:v>
                </c:pt>
                <c:pt idx="1">
                  <c:v>490</c:v>
                </c:pt>
                <c:pt idx="2">
                  <c:v>50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1720"/>
            <a:ext cx="65933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WAY 2026 · 2ª BANCA · GRUPO 06 — SHOGUN RIDERS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2651760"/>
            <a:ext cx="659337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77240" y="3749040"/>
            <a:ext cx="595530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transformar dados em experiências memoráveis?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do Sucesso, requisito a requisito — cada slide preenche um item.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3840480" cy="0"/>
          </a:xfrm>
          <a:prstGeom prst="line">
            <a:avLst/>
          </a:prstGeom>
          <a:noFill/>
          <a:ln w="12700">
            <a:solidFill>
              <a:srgbClr val="3D4F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57800"/>
            <a:ext cx="6380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real: Nippon Motos · Bragança Paulista, Atibaia, Amparo e Extrema</a:t>
            </a:r>
            <a:endParaRPr lang="en-US" sz="1150" dirty="0"/>
          </a:p>
        </p:txBody>
      </p:sp>
      <p:pic>
        <p:nvPicPr>
          <p:cNvPr id="8" name="Image 1" descr="_NOVAS MELHORIAS/deck-asset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7635240" y="1417320"/>
            <a:ext cx="5486400" cy="3257550"/>
          </a:xfrm>
          <a:prstGeom prst="rect">
            <a:avLst/>
          </a:prstGeom>
          <a:effectLst>
            <a:outerShdw sx="100000" sy="100000" kx="0" ky="0" algn="bl" rotWithShape="0" blurRad="279400" dist="101600" dir="5400000">
              <a:srgbClr val="05090F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do Sucesso é o roteiro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critérios, 27 requisitos — um slide para cada um, com a entrega que o preenche.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788920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requisitos do formulário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Objetivos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requisitos do formulário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045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Cliente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0456" y="2788920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requisitos do formulário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767328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39684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6696" y="42245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Fora da Caixa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6696" y="4590288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requisitos do formulário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3767328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4608576" y="39684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08576" y="42245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08576" y="4590288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requisitos do formulário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3767328"/>
            <a:ext cx="3410712" cy="1600200"/>
          </a:xfrm>
          <a:prstGeom prst="roundRect">
            <a:avLst>
              <a:gd name="adj" fmla="val 1714"/>
            </a:avLst>
          </a:prstGeom>
          <a:solidFill>
            <a:srgbClr val="F7F9F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456" y="39684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0456" y="42245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e Impacto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0456" y="4590288"/>
            <a:ext cx="2971800" cy="6126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requisitos do formulário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radar da 1ª banca — e onde atacamos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notas oficiais por critério, no formato do gráfico de aranha da avaliação — contra a meta da 2ª banca.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828800"/>
          <a:ext cx="55778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828800"/>
            <a:ext cx="4690872" cy="9144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1938528"/>
            <a:ext cx="432511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a maior distância para o Top 3 (−0,11)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03720" y="2249424"/>
            <a:ext cx="432511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atacada com papéis explícitos e fala revezada — critério 05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20840" y="2880360"/>
            <a:ext cx="4690872" cy="9144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2990088"/>
            <a:ext cx="432511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a menor nota (3,78)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903720" y="3300984"/>
            <a:ext cx="432511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virou o pitch de abertura: mercado de ferramentas + dor medida + hipóteses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720840" y="3931920"/>
            <a:ext cx="4690872" cy="9144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/>
        </p:spPr>
      </p:sp>
      <p:sp>
        <p:nvSpPr>
          <p:cNvPr id="14" name="Text 11"/>
          <p:cNvSpPr/>
          <p:nvPr/>
        </p:nvSpPr>
        <p:spPr>
          <a:xfrm>
            <a:off x="6903720" y="4041648"/>
            <a:ext cx="432511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Cliente: 2 itens estavam em branco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4352544"/>
            <a:ext cx="432511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própria com 32 clientes e fatores tabulados — critério 03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0840" y="4983480"/>
            <a:ext cx="4690872" cy="91440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5093208"/>
            <a:ext cx="432511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Caixa: nossa maior força (4,33)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5404104"/>
            <a:ext cx="432511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 com o caso real e o número-manchete — critério 04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01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externas foram devidamente realizadas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 dos concorrentes foram realizadas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" y="4133088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059936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e análises de mercado foram suficientes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4517136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43984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hipóteses do trabalho foram claras a partir das análises realizadas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PESQUISA · ITEM 1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existe no mercado de ferramentas — e o que falta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"Análises externas foram devidamente realizadas"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507742" cy="2148840"/>
          </a:xfrm>
          <a:prstGeom prst="roundRect">
            <a:avLst>
              <a:gd name="adj" fmla="val 1277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DA LOJA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Opera, não analisa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743200"/>
            <a:ext cx="2068830" cy="1161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fiscal, OS e estoque. Nenhuma leitura de carta, share ou campanha — e já está pago.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86150" y="1920240"/>
            <a:ext cx="2507742" cy="2148840"/>
          </a:xfrm>
          <a:prstGeom prst="roundRect">
            <a:avLst>
              <a:gd name="adj" fmla="val 1277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370560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GENÉRICO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560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 sem regra Yamaha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05606" y="2743200"/>
            <a:ext cx="2068830" cy="1161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R$ 800–2.500/mês. Gerencia leads, mas não conhece circular, Kaizen nem carta varejo.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5060" y="1920240"/>
            <a:ext cx="2507742" cy="2148840"/>
          </a:xfrm>
          <a:prstGeom prst="roundRect">
            <a:avLst>
              <a:gd name="adj" fmla="val 1277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E BI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1451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 atrasado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4516" y="2743200"/>
            <a:ext cx="2068830" cy="1161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"Grátis" que custa horas de digitação — o indicador chega depois da decisão.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03970" y="1920240"/>
            <a:ext cx="2507742" cy="2148840"/>
          </a:xfrm>
          <a:prstGeom prst="roundRect">
            <a:avLst>
              <a:gd name="adj" fmla="val 1277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2342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DA MONTADORA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342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numa senha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23426" y="2743200"/>
            <a:ext cx="2068830" cy="1161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Liberacred, Seguros, Periodic Inspection: dados ricos, isolados, sem virar ação na loja.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434840"/>
            <a:ext cx="10634472" cy="1143000"/>
          </a:xfrm>
          <a:prstGeom prst="roundRect">
            <a:avLst>
              <a:gd name="adj" fmla="val 2400"/>
            </a:avLst>
          </a:prstGeom>
          <a:solidFill>
            <a:srgbClr val="EE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58114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 que a análise revelou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4892040"/>
            <a:ext cx="10085832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une as pontas — e nenhuma fala "Yamaha": carta, Kaizen, K2, circulares. A concessionária opera cega entre sistemas que não conversam. Essa lacuna é exatamente a oportunidade do Smart Dealer.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PESQUISA · ITEM 2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do mercado — e da solução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"Análises dos concorrentes foram realizadas"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1343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MERCADO (quem vende moto)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5134356" cy="82296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350008"/>
            <a:ext cx="476859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CNPJs concorrentes mapeados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660904"/>
            <a:ext cx="47685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nomeados via Receita Federal / BrasilAPI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172968"/>
            <a:ext cx="5134356" cy="82296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282696"/>
            <a:ext cx="476859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Invasão de território por CNPJ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593592"/>
            <a:ext cx="47685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emplaca dentro da área da Nippon, loja a loja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105656"/>
            <a:ext cx="5134356" cy="82296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215384"/>
            <a:ext cx="4768596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Honda decomposta por segmento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4768596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ela é imbatível e onde a Yamaha disputa de igual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7356" y="1920240"/>
            <a:ext cx="51343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SOLUÇÃO (quem disputa a gestão da CCY)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7356" y="2240280"/>
          <a:ext cx="5134356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143000"/>
                <a:gridCol w="914400"/>
                <a:gridCol w="120700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GENÉRICO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DEALER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Yamaha codificadas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PDCA oficial em 1 clique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Liberacred / circulares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mensal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R$ 800–2.500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já pago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77240" y="5257800"/>
            <a:ext cx="10634472" cy="960120"/>
          </a:xfrm>
          <a:prstGeom prst="roundRect">
            <a:avLst>
              <a:gd name="adj" fmla="val 2857"/>
            </a:avLst>
          </a:prstGeom>
          <a:solidFill>
            <a:srgbClr val="EEF4FF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40410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à pergunta da 1ª banca ("qual a exclusividade?")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51560" y="5715000"/>
            <a:ext cx="10085832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competitiva é o método Yamaha codificado — o software é só o veículo. Nenhum concorrente carrega carta, Kaizen, K2 e circulares dentro do produto.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PESQUISA · ITEM 3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dor, medida dentro da operação real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"Pesquisas e análises de mercado foram suficientes"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250774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0312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ISOLADOS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34086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96696" y="285292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Banco, Consórcio, Seguros, NPS, DMS, planilhas...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6150" y="1920240"/>
            <a:ext cx="250774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3705606" y="210312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POR ANÁLISE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5606" y="234086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30min–3h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5606" y="285292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abrir, cruzar e analisar manualmente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5060" y="1920240"/>
            <a:ext cx="250774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210312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NO LIMBO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14516" y="234086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14516" y="285292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morriam sem resposta antes do piloto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3970" y="1920240"/>
            <a:ext cx="250774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23426" y="210312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RESPOSTA AO LEAD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3426" y="234086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3h47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23426" y="285292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de 2026 não espera — compara com Amazon e Nubank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3566160"/>
            <a:ext cx="341071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996696" y="37673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recusado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96696" y="41330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mais procurado — mesmo com o Liberacred aprovando de novo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3566160"/>
            <a:ext cx="341071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7673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quitando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08576" y="41330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volta ao mercado em silêncio — o concorrente chama primeiro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01000" y="3566160"/>
            <a:ext cx="341071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0456" y="37673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vencida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0456" y="4133088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oficina não avisa — e a absorção fica no papel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937760"/>
            <a:ext cx="10634472" cy="960120"/>
          </a:xfrm>
          <a:prstGeom prst="roundRect">
            <a:avLst>
              <a:gd name="adj" fmla="val 2857"/>
            </a:avLst>
          </a:prstGeom>
          <a:solidFill>
            <a:srgbClr val="E7F6EE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50840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suficiente para fundamentar a solução — e para dimensionar o prêmio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51560" y="5394960"/>
            <a:ext cx="10085832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existiam; a oportunidade passava despercebida. O valor deixado na mesa foi quantificado: ~R$ 940 mil/ano em uma única concessionária.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PESQUISA · ITEM 4 DE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hipóteses testáveis — e a medida de cada uma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hipóteses do trabalho foram claras a partir das análises realizadas"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10634472" cy="1170432"/>
          </a:xfrm>
          <a:prstGeom prst="roundRect">
            <a:avLst>
              <a:gd name="adj" fmla="val 2344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1014984" y="2112264"/>
            <a:ext cx="1015898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Se o lead for respondido em até 10 minutos, a conversão em venda sobe.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14984" y="2743200"/>
            <a:ext cx="101589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tempo de resposta × conversão no relatório de Atendimento Diário.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291840"/>
            <a:ext cx="10634472" cy="1170432"/>
          </a:xfrm>
          <a:prstGeom prst="roundRect">
            <a:avLst>
              <a:gd name="adj" fmla="val 2344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1014984" y="3438144"/>
            <a:ext cx="1015898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Se o plano de ação nasce dos números (e não de opinião), ele é executado e o resultado aparece na carta.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14984" y="4069080"/>
            <a:ext cx="101589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ações do PDCA concluídas × atingimento mensal.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4617720"/>
            <a:ext cx="10634472" cy="1170432"/>
          </a:xfrm>
          <a:prstGeom prst="roundRect">
            <a:avLst>
              <a:gd name="adj" fmla="val 2344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14984" y="4764024"/>
            <a:ext cx="10158984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Se o pós-vendas absorve 65% das despesas fixas, a operação para de depender da venda de motos para pagar a conta.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14984" y="5394960"/>
            <a:ext cx="1015898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MEDIDA: taxa K2 mensal × ponto de equilíbrio.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6053328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já tem resultado: SLA de 10 min subiu de 22% para 81% — e a conversão foi de 8,1% para 13,9%.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PESQUISA · A CONCLUSÃO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resposta: o Centro de Inteligência da Rede Yamaha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lacuna do mercado nasceu o Smart Dealer — a plataforma que une as pontas e fala Yamaha.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79776" y="196596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2779776" y="1965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542032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Yamaha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9776" y="2542032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25420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118104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181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79776" y="3118104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2779776" y="31181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694176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941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79776" y="3694176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2779776" y="36941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270248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70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79776" y="4270248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2779776" y="4270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0" y="2788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091426"/>
          </a:solidFill>
          <a:ln/>
          <a:effectLst>
            <a:outerShdw sx="100000" sy="100000" kx="0" ky="0" algn="bl" rotWithShape="0" blurRad="203200" dist="50800" dir="5400000">
              <a:srgbClr val="B8CDEA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3063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21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48640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regras Yamaha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3816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778240" y="1965960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0" y="20756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1120" y="236829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sozinhas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78240" y="2898648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0" y="300837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961120" y="33009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 na hora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78240" y="3831336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0" y="394106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961120" y="423367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do cliente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4764024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487375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961120" y="5166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 com IA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77240" y="576072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na Nippon Motos: 4 lojas, 25 módulos, pago pela própria CCY — daqui em diante, cada critério mostra a solução em ação.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02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 Objetivos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trabalho é claro e definido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trabalho é mensurável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" y="4133088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059936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foi atingido no prazo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4517136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43984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KPIs estão alinhados com os objetivos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" y="4901184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28032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ação está alinhado com os objetivos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" y="528523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21208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está relacionado aos resultados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1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objetivo. Uma frase. Sempre a mesma.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objetivo do trabalho é claro e definido"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0634472" cy="1737360"/>
          </a:xfrm>
          <a:prstGeom prst="roundRect">
            <a:avLst>
              <a:gd name="adj" fmla="val 3158"/>
            </a:avLst>
          </a:prstGeom>
          <a:solidFill>
            <a:srgbClr val="09142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68880"/>
            <a:ext cx="9720072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"Aumentar o atingimento de carta e a absorção do pós-vendas da Nippon Motos usando decisão guiada por dados — medido por três metas públicas."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4572000"/>
            <a:ext cx="3410712" cy="105156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477316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verbo e alvo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5138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carta e absorção — não "melhorar a gestão"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4572000"/>
            <a:ext cx="3410712" cy="105156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477316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Repetida em todo material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5138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sistema, dossiê — a mesma frase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4572000"/>
            <a:ext cx="3410712" cy="105156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477316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por 3 metas públicas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0456" y="5138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slide as declara com número e prazo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2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metas públicas, com número e prazo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objetivo do trabalho é mensurável"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410712" cy="2286000"/>
          </a:xfrm>
          <a:prstGeom prst="roundRect">
            <a:avLst>
              <a:gd name="adj" fmla="val 12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331720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1 · CARTA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60604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100%</a:t>
            </a:r>
            <a:endParaRPr lang="en-US" sz="3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816352" y="2286000"/>
          <a:ext cx="11887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2816352" y="27249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96696" y="34290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setembro/2026 — julho fechou em 90,0% e o prêmio da campanha está em jogo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89120" y="2103120"/>
            <a:ext cx="3410712" cy="2286000"/>
          </a:xfrm>
          <a:prstGeom prst="roundRect">
            <a:avLst>
              <a:gd name="adj" fmla="val 1200"/>
            </a:avLst>
          </a:prstGeom>
          <a:solidFill>
            <a:srgbClr val="F7F9FC"/>
          </a:solidFill>
          <a:ln/>
        </p:spPr>
      </p:sp>
      <p:sp>
        <p:nvSpPr>
          <p:cNvPr id="13" name="Text 10"/>
          <p:cNvSpPr/>
          <p:nvPr/>
        </p:nvSpPr>
        <p:spPr>
          <a:xfrm>
            <a:off x="4608576" y="2331720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 · ABSORÇÃO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08576" y="260604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0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6428232" y="2286000"/>
          <a:ext cx="11887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6428232" y="27249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08576" y="34290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dezembro/2026 — saímos de 30% e já estamos em 49,4% (K2 lido do DRE)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01000" y="2103120"/>
            <a:ext cx="3410712" cy="2286000"/>
          </a:xfrm>
          <a:prstGeom prst="roundRect">
            <a:avLst>
              <a:gd name="adj" fmla="val 1200"/>
            </a:avLst>
          </a:prstGeom>
          <a:solidFill>
            <a:srgbClr val="F7F9FC"/>
          </a:solidFill>
          <a:ln/>
        </p:spPr>
      </p:sp>
      <p:sp>
        <p:nvSpPr>
          <p:cNvPr id="19" name="Text 15"/>
          <p:cNvSpPr/>
          <p:nvPr/>
        </p:nvSpPr>
        <p:spPr>
          <a:xfrm>
            <a:off x="8220456" y="2331720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3 · LEAD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8220456" y="2606040"/>
            <a:ext cx="1947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min</a:t>
            </a:r>
            <a:endParaRPr lang="en-US" sz="3000" dirty="0"/>
          </a:p>
        </p:txBody>
      </p:sp>
      <p:graphicFrame>
        <p:nvGraphicFramePr>
          <p:cNvPr id="21" name="Chart 2" descr=""/>
          <p:cNvGraphicFramePr/>
          <p:nvPr/>
        </p:nvGraphicFramePr>
        <p:xfrm>
          <a:off x="10040112" y="2286000"/>
          <a:ext cx="11887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 17"/>
          <p:cNvSpPr/>
          <p:nvPr/>
        </p:nvSpPr>
        <p:spPr>
          <a:xfrm>
            <a:off x="10040112" y="27249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0456" y="342900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atendimento — hoje 81% dentro do SLA; era 22% antes do piloto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77240" y="4709160"/>
            <a:ext cx="10634472" cy="914400"/>
          </a:xfrm>
          <a:prstGeom prst="roundRect">
            <a:avLst>
              <a:gd name="adj" fmla="val 3000"/>
            </a:avLst>
          </a:prstGeom>
          <a:solidFill>
            <a:srgbClr val="EEF4FF"/>
          </a:solidFill>
          <a:ln/>
        </p:spPr>
      </p:sp>
      <p:sp>
        <p:nvSpPr>
          <p:cNvPr id="25" name="Text 20"/>
          <p:cNvSpPr/>
          <p:nvPr/>
        </p:nvSpPr>
        <p:spPr>
          <a:xfrm>
            <a:off x="1051560" y="48554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mede as três, ao vivo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051560" y="5166360"/>
            <a:ext cx="10085832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 virou compromisso público, não promessa — convidamos a banca a cobrar o resultado na apresentação final.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3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entregas, com data — tudo dentro do cronograma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objetivo foi atingido no prazo"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2514600"/>
            <a:ext cx="10268712" cy="0"/>
          </a:xfrm>
          <a:prstGeom prst="line">
            <a:avLst/>
          </a:prstGeom>
          <a:noFill/>
          <a:ln w="19050">
            <a:solidFill>
              <a:srgbClr val="E5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1714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varejo, estoque, NPS e leads no 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21558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7084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77084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2668524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6812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Share, Kaizen e Treinamento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1402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6928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76928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4468368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6656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campanhas IA, playbook e pós-vendas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21246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6772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06/08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6772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8212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86500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mercado × share + PDCA em 1 clique + K2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21090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6616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6616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30" name="Text 28"/>
          <p:cNvSpPr/>
          <p:nvPr/>
        </p:nvSpPr>
        <p:spPr>
          <a:xfrm>
            <a:off x="8068056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86344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por modelo + Campeões de Vendas codificados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520934" y="24414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76460" y="2057400"/>
            <a:ext cx="16352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20/08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76460" y="2834640"/>
            <a:ext cx="1635252" cy="1783080"/>
          </a:xfrm>
          <a:prstGeom prst="roundRect">
            <a:avLst>
              <a:gd name="adj" fmla="val 2237"/>
            </a:avLst>
          </a:prstGeom>
          <a:solidFill>
            <a:srgbClr val="F7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9867900" y="2971800"/>
            <a:ext cx="145237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&amp; cliente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86188" y="3291840"/>
            <a:ext cx="1415796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Liberacred, Seguros, Consórcio, Voz do Cliente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" y="502920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módulos em produção em 10 semanas — metodologia ágil com PDCA sobre o próprio projeto.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4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KPI tem meta — e cada meta tem tela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KPIs estão alinhados com os objetivos"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44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554480"/>
                <a:gridCol w="3017520"/>
                <a:gridCol w="249631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Atingimento da carta varejo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90,0% (jul)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+ Varejo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Absorção do pós-vendas (K2)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 · Absorção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de 1ª resposta ao lead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 · 81% no SLA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Diário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 Vendas / Pós-vendas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 / 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94,5 / 87,7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 Kaizen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(LCR e NPS a recuperar)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Kaizen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53212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meta batida · âmbar = em curso. Nenhum KPI decorativo: todos ligados às 3 metas públicas.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5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nasce dos números — PDCA oficial em um clique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plano de ação está alinhado com os objetivos"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84632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756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 sistema decompõe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× share: o desvio é demanda da praça ou execução nossa?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484632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358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Aponta onde agir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em disputa, cidade em queda, invasão de território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84632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9592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Escreve o PDCA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formato oficial Yamaha, pronto para a regional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4846320"/>
            <a:ext cx="4846320" cy="841248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560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Cobra a execução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com dono e prazo — reaberta no mês seguinte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89320" y="1965960"/>
            <a:ext cx="5513832" cy="3548158"/>
          </a:xfrm>
          <a:prstGeom prst="roundRect">
            <a:avLst>
              <a:gd name="adj" fmla="val 1804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sx="100000" sy="100000" kx="0" ky="0" algn="bl" rotWithShape="0" blurRad="177800" dist="63500" dir="5400000">
              <a:srgbClr val="0A12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35624" y="205740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20574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205740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7374636" y="19933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800" dirty="0"/>
          </a:p>
        </p:txBody>
      </p:sp>
      <p:pic>
        <p:nvPicPr>
          <p:cNvPr id="23" name="Image 0" descr="_NOVAS MELHORIAS/deck-assets/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5896" y="2240280"/>
            <a:ext cx="5440680" cy="323726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89320" y="5623560"/>
            <a:ext cx="5513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mais forte da demonstração: o PDCA gerado ao vivo, na frente da banca.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PLANEJAMENTO E OBJETIVOS · ITEM 6 DE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piloto já produziu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objetivo está relacionado aos resultados"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2507742" cy="146304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4884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CAMPEÕES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38658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R$ 7.500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96696" y="299008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garantidos em julho (90,0% da carta) + R$ 15 mil recuperáveis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86150" y="1965960"/>
            <a:ext cx="2507742" cy="146304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3705606" y="214884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POR MODELO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5606" y="238658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R$ 66 mil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05606" y="299008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apurados em julho; com Campeões, R$ 73,5 mil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5060" y="1965960"/>
            <a:ext cx="2507742" cy="146304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214884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ABSORÇÃO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14516" y="238658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p.p.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14516" y="299008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30% para 49,4% — a caminho da meta de 65%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3970" y="1965960"/>
            <a:ext cx="2507742" cy="1463040"/>
          </a:xfrm>
          <a:prstGeom prst="roundRect">
            <a:avLst>
              <a:gd name="adj" fmla="val 1875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123426" y="2148840"/>
            <a:ext cx="206883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LEADS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23426" y="2386584"/>
            <a:ext cx="206883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 → 13,9%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123426" y="2990088"/>
            <a:ext cx="206883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SLA de 10 minutos governado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3840480"/>
            <a:ext cx="10634472" cy="1143000"/>
          </a:xfrm>
          <a:prstGeom prst="roundRect">
            <a:avLst>
              <a:gd name="adj" fmla="val 2400"/>
            </a:avLst>
          </a:prstGeom>
          <a:solidFill>
            <a:srgbClr val="E7F6EE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98678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anual identificado pelo sistema: cerca de R$ 940 mil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4297680"/>
            <a:ext cx="10085832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Prêmios de campanha (~R$ 400 mil) + gap de absorção do K2 (~R$ 490 mil) + Seguros e Consórcio (~R$ 50 mil) — em uma única concessionária.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77240" y="52120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fecha a campanha e a Meta 1 — o resultado estará na tela, ao vivo, na apresentação final.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03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Cliente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público alvo (cliente) foi claramente definido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posicionamento Yamaha foi claramente definido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" y="4133088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059936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Yamaha ficou claramente posicionada de forma diferenciada em relação aos concorrentes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4517136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43984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consistência entre o público alvo e as atividades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" y="4901184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28032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Necessidades e desejos dos clientes foram definidos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" y="528523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21208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principais fatores de compra dos clientes foram definidos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95528" y="566928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59612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passos foram claramente descritos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95528" y="6053328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2" name="Text 19"/>
          <p:cNvSpPr/>
          <p:nvPr/>
        </p:nvSpPr>
        <p:spPr>
          <a:xfrm>
            <a:off x="1051560" y="5980176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Pesquisas com clientes foram realizadas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1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personas — cinco dentro da loja, uma na garupa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público alvo (cliente) foi claramente definido"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Paulo Zorzi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788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 negócio inteiro: carta, crédito, absorção, ranking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comercial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funil, SLA, ranking de vendedores, campanhas do mês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045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vendas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0456" y="278892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leads, playbook, estoque e bônus da circular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538728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96696" y="37398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96696" y="39959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6696" y="436168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técnico com manual oficial e revisões R1–R4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3538728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4608576" y="37398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08576" y="39959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Yamaha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08576" y="436168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agregados das CCYs, sem dados pessoais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3538728"/>
            <a:ext cx="3410712" cy="1371600"/>
          </a:xfrm>
          <a:prstGeom prst="roundRect">
            <a:avLst>
              <a:gd name="adj" fmla="val 2000"/>
            </a:avLst>
          </a:prstGeom>
          <a:solidFill>
            <a:srgbClr val="F7F9F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0456" y="373989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FINAL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220456" y="39959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compra a moto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0456" y="436168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minutos, crédito transparente, revisão lembrada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é um login real do sistema — a prova é a demonstração, trocando de papel em 30 segundos.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2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Diferenciação por experiência, não por volume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posicionamento Yamaha foi claramente definido"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634472" cy="1554480"/>
          </a:xfrm>
          <a:prstGeom prst="roundRect">
            <a:avLst>
              <a:gd name="adj" fmla="val 3529"/>
            </a:avLst>
          </a:prstGeom>
          <a:solidFill>
            <a:srgbClr val="091426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057400"/>
            <a:ext cx="9720072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Yamaha como a marca que responde em minutos, é transparente no crédito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acompanha a moto a vida inteira — da primeira mensagem à revisão de 24.000 km."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3410712" cy="1188720"/>
          </a:xfrm>
          <a:prstGeom prst="roundRect">
            <a:avLst>
              <a:gd name="adj" fmla="val 2308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996696" y="41788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em minutos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6696" y="45445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10 min governado — 81% dos leads dentro do padrão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3977640"/>
            <a:ext cx="3410712" cy="1188720"/>
          </a:xfrm>
          <a:prstGeom prst="roundRect">
            <a:avLst>
              <a:gd name="adj" fmla="val 2308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41788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no crédito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45445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BYMD primeiro; recusa vira Liberacred com condições claras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3977640"/>
            <a:ext cx="3410712" cy="1188720"/>
          </a:xfrm>
          <a:prstGeom prst="roundRect">
            <a:avLst>
              <a:gd name="adj" fmla="val 2308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41788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a vida inteira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0456" y="454456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R1–R4 + recompra na quitação — o ciclo nunca solta o cliente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3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Honda vende mais motos. A Yamaha atende melhor.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Yamaha ficou claramente posicionada de forma diferenciada em relação aos concorrentes"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011680"/>
          <a:ext cx="106344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  <a:gridCol w="40507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EXPERIÊNCIA DO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PADRÃO DO MERCADO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YAMAHA COM SMART DEALER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 resposta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ou dias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minutos, monitorado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recusado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conversa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segunda chance com mensagem-prêmio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Depois da compra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silêncio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recontato em 74% + régua de revisão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troca da moto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procura sozinho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loja chama primeiro, com oferta pronta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892040"/>
            <a:ext cx="10634472" cy="960120"/>
          </a:xfrm>
          <a:prstGeom prst="roundRect">
            <a:avLst>
              <a:gd name="adj" fmla="val 2857"/>
            </a:avLst>
          </a:prstGeom>
          <a:solidFill>
            <a:srgbClr val="EEF4FF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503834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Honda é imbatível em volume, a disputa muda de campo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1560" y="5349240"/>
            <a:ext cx="10085832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share por segmento mostra onde competir; a experiência define quem ganha o cliente que pesquisou os dois. Diferenciação medida, não declarada.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4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papel vê só o que usa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"Existe consistência entre o público alvo e as atividades"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44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754880"/>
                <a:gridCol w="350215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ABRE AO LOGAR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NÃO VÊ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tudo: carta, crédito, K2, 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funil, SLA, campanhas, pós-vendas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financeiro do grupo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apenas os próprios leads + playbook + estoque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dos colegas, DRE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Mecânico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 técnico + revisões do 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o comercial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agregados das 9 CCYs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pessoais de clientes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2064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na banca: logout → login em outro papel — 30 segundos, efeito grande.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5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necessidades, cada uma com evidência — e com tela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"Necessidades e desejos dos clientes foram definidos"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44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480560"/>
                <a:gridCol w="313639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NECESSIDADE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EVIDÊNCIA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TELA QUE ATENDE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 rápida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66% citam rapidez · "esperei dois dias e desisti"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Diário (SLA 10 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Parcela que cabe no bolso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 — o fator nº 1 da pesquisa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Simulador + bônus da circular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Transparência no crédito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 citam aprovação · 43% das perdas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Yamaha + Liberacred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 lembrado da revisão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59% voltariam por isso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Pós-vendas (régua R1–R4)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certa na troca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 · quitação = janela de recompra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365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Yamaha (quitações)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12064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do "limbo do lead" foi validada pela própria banca (Cintia) — e virou a régua de cobrança do CRM.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6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de compra medidos, não achados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principais fatores de compra dos clientes foram definidos"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920240"/>
          <a:ext cx="64008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920240"/>
            <a:ext cx="3822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MÓDULO QUE ATENDE CADA FATOR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589520" y="2286000"/>
            <a:ext cx="3822192" cy="585216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/>
        </p:spPr>
      </p:sp>
      <p:sp>
        <p:nvSpPr>
          <p:cNvPr id="9" name="Text 6"/>
          <p:cNvSpPr/>
          <p:nvPr/>
        </p:nvSpPr>
        <p:spPr>
          <a:xfrm>
            <a:off x="7735824" y="2359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· Parcela que cabe no bolso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35824" y="259689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+ bônus da circular na proposta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589520" y="2980944"/>
            <a:ext cx="3822192" cy="585216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/>
        </p:spPr>
      </p:sp>
      <p:sp>
        <p:nvSpPr>
          <p:cNvPr id="12" name="Text 9"/>
          <p:cNvSpPr/>
          <p:nvPr/>
        </p:nvSpPr>
        <p:spPr>
          <a:xfrm>
            <a:off x="7735824" y="3054096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 · Atendimento rápido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735824" y="329184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de 10 minutos governado no CRM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89520" y="3675888"/>
            <a:ext cx="3822192" cy="585216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/>
        </p:spPr>
      </p:sp>
      <p:sp>
        <p:nvSpPr>
          <p:cNvPr id="15" name="Text 12"/>
          <p:cNvSpPr/>
          <p:nvPr/>
        </p:nvSpPr>
        <p:spPr>
          <a:xfrm>
            <a:off x="7735824" y="3749040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· Aprovação do crédito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35824" y="398678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BYMD primeiro + resgate Liberacred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7589520" y="4370832"/>
            <a:ext cx="3822192" cy="585216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/>
        </p:spPr>
      </p:sp>
      <p:sp>
        <p:nvSpPr>
          <p:cNvPr id="18" name="Text 15"/>
          <p:cNvSpPr/>
          <p:nvPr/>
        </p:nvSpPr>
        <p:spPr>
          <a:xfrm>
            <a:off x="7735824" y="4443984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· Preço / valor da entrada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35824" y="468172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vouchers da montadora aplicados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589520" y="5065776"/>
            <a:ext cx="3822192" cy="585216"/>
          </a:xfrm>
          <a:prstGeom prst="roundRect">
            <a:avLst>
              <a:gd name="adj" fmla="val 4688"/>
            </a:avLst>
          </a:prstGeom>
          <a:solidFill>
            <a:srgbClr val="F7F9FC"/>
          </a:solidFill>
          <a:ln/>
        </p:spPr>
      </p:sp>
      <p:sp>
        <p:nvSpPr>
          <p:cNvPr id="21" name="Text 18"/>
          <p:cNvSpPr/>
          <p:nvPr/>
        </p:nvSpPr>
        <p:spPr>
          <a:xfrm>
            <a:off x="7735824" y="5138928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· Confiança / indicação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735824" y="537667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 régua de pós-venda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77240" y="580644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 sobre os 32 respondentes da pesquisa Voz do Cliente.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7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passos da venda — e onde o sistema atua em cada 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7 passos foram claramente descritos"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44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434072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 DA VENDA YAMAHA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O SMART DEALER ATUA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Recepção / primeiro contato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Atendimento Diário: lead respondido em ≤10 min, linha monitorada (lead que cai em linha offline se perde)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Sondagem (entender a necessidade)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registra origem, modelo de interesse e estágio; conversas guardam o que o cliente pediu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Apresentação do 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 de Vendas: argumento por modelo + comparativo contra a Honda do segmento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Test-ride / demonstração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Estoque na tela: o vendedor sabe na hora se tem a moto (e a cor) para mostrar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Negociação / proposta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Campanhas vigentes na tela (bônus por modelo + condição do mês) — a melhor oferta sem ligar para ninguém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Fechamento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 de Crédito: semáforo e simulador respondem se o pedido cabe; leads quentes voltam para a mesa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Entrega e pós-venda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Régua de revisão com disparo de WhatsApp (1.000 → 24.000 km) + renovação estratégica em 2–4 anos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5806440"/>
            <a:ext cx="10634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banca, dois passos demonstrados ao vivo: a sondagem (CRM) e a entrega/pós (régua de revisão).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FOCO NO CLIENTE · ITEM 8 DE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pesquisa, pergunta a pergunta — 32 clientes reais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"Pesquisas com clientes foram realizadas"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51343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"COMO FOI SER ATENDIDO?" (1–5)</a:t>
            </a:r>
            <a:endParaRPr lang="en-US" sz="9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7240" y="2139696"/>
          <a:ext cx="4951476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3794760"/>
            <a:ext cx="51343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4,5 · NPS da pesquisa 72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77356" y="1874520"/>
            <a:ext cx="51343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"EM QUANTO TEMPO TE RESPONDERAM?"</a:t>
            </a:r>
            <a:endParaRPr lang="en-US" sz="9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185916" y="2103120"/>
          <a:ext cx="18288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151876" y="2212848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2ECC71"/>
          </a:solidFill>
          <a:ln/>
        </p:spPr>
      </p:sp>
      <p:sp>
        <p:nvSpPr>
          <p:cNvPr id="12" name="Text 8"/>
          <p:cNvSpPr/>
          <p:nvPr/>
        </p:nvSpPr>
        <p:spPr>
          <a:xfrm>
            <a:off x="8362188" y="2139696"/>
            <a:ext cx="30312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 · 63%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8151876" y="2523744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84CC16"/>
          </a:solidFill>
          <a:ln/>
        </p:spPr>
      </p:sp>
      <p:sp>
        <p:nvSpPr>
          <p:cNvPr id="14" name="Text 10"/>
          <p:cNvSpPr/>
          <p:nvPr/>
        </p:nvSpPr>
        <p:spPr>
          <a:xfrm>
            <a:off x="8362188" y="2450592"/>
            <a:ext cx="30312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 hora · 22%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51876" y="2834640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E8B04B"/>
          </a:solidFill>
          <a:ln/>
        </p:spPr>
      </p:sp>
      <p:sp>
        <p:nvSpPr>
          <p:cNvPr id="16" name="Text 12"/>
          <p:cNvSpPr/>
          <p:nvPr/>
        </p:nvSpPr>
        <p:spPr>
          <a:xfrm>
            <a:off x="8362188" y="2761488"/>
            <a:ext cx="30312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dia · 9%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51876" y="3145536"/>
            <a:ext cx="128016" cy="128016"/>
          </a:xfrm>
          <a:prstGeom prst="roundRect">
            <a:avLst>
              <a:gd name="adj" fmla="val 14286"/>
            </a:avLst>
          </a:prstGeom>
          <a:solidFill>
            <a:srgbClr val="FF5A5A"/>
          </a:solidFill>
          <a:ln/>
        </p:spPr>
      </p:sp>
      <p:sp>
        <p:nvSpPr>
          <p:cNvPr id="18" name="Text 14"/>
          <p:cNvSpPr/>
          <p:nvPr/>
        </p:nvSpPr>
        <p:spPr>
          <a:xfrm>
            <a:off x="8362188" y="3072384"/>
            <a:ext cx="30312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um dia · 6%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277356" y="3794760"/>
            <a:ext cx="5134356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em até 10 minutos — era 22% antes do piloto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77240" y="4206240"/>
            <a:ext cx="51343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· "O QUE FARIA VOCÊ VOLTAR?"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777240" y="4507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lembrar da revisão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46120" y="4535424"/>
            <a:ext cx="2025396" cy="182880"/>
          </a:xfrm>
          <a:prstGeom prst="roundRect">
            <a:avLst>
              <a:gd name="adj" fmla="val 10000"/>
            </a:avLst>
          </a:prstGeom>
          <a:solidFill>
            <a:srgbClr val="0365FE"/>
          </a:solidFill>
          <a:ln/>
        </p:spPr>
      </p:sp>
      <p:sp>
        <p:nvSpPr>
          <p:cNvPr id="23" name="Text 19"/>
          <p:cNvSpPr/>
          <p:nvPr/>
        </p:nvSpPr>
        <p:spPr>
          <a:xfrm>
            <a:off x="5317236" y="450799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77240" y="4892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pós-compra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246120" y="4919472"/>
            <a:ext cx="1819424" cy="182880"/>
          </a:xfrm>
          <a:prstGeom prst="roundRect">
            <a:avLst>
              <a:gd name="adj" fmla="val 10000"/>
            </a:avLst>
          </a:prstGeom>
          <a:solidFill>
            <a:srgbClr val="0365FE"/>
          </a:solidFill>
          <a:ln/>
        </p:spPr>
      </p:sp>
      <p:sp>
        <p:nvSpPr>
          <p:cNvPr id="26" name="Text 22"/>
          <p:cNvSpPr/>
          <p:nvPr/>
        </p:nvSpPr>
        <p:spPr>
          <a:xfrm>
            <a:off x="5317236" y="48920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77240" y="5276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certa na troca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3246120" y="5303520"/>
            <a:ext cx="1510465" cy="182880"/>
          </a:xfrm>
          <a:prstGeom prst="roundRect">
            <a:avLst>
              <a:gd name="adj" fmla="val 10000"/>
            </a:avLst>
          </a:prstGeom>
          <a:solidFill>
            <a:srgbClr val="0365FE"/>
          </a:solidFill>
          <a:ln/>
        </p:spPr>
      </p:sp>
      <p:sp>
        <p:nvSpPr>
          <p:cNvPr id="29" name="Text 25"/>
          <p:cNvSpPr/>
          <p:nvPr/>
        </p:nvSpPr>
        <p:spPr>
          <a:xfrm>
            <a:off x="5317236" y="5276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277356" y="4206240"/>
            <a:ext cx="51343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· "POR QUE NÃO FECHOU?" (14 não compradores)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6277356" y="45079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não aprovado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9020556" y="4544568"/>
            <a:ext cx="1751076" cy="164592"/>
          </a:xfrm>
          <a:prstGeom prst="roundRect">
            <a:avLst>
              <a:gd name="adj" fmla="val 11111"/>
            </a:avLst>
          </a:prstGeom>
          <a:solidFill>
            <a:srgbClr val="D64545"/>
          </a:solidFill>
          <a:ln/>
        </p:spPr>
      </p:sp>
      <p:sp>
        <p:nvSpPr>
          <p:cNvPr id="33" name="Text 29"/>
          <p:cNvSpPr/>
          <p:nvPr/>
        </p:nvSpPr>
        <p:spPr>
          <a:xfrm>
            <a:off x="10954512" y="450799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277356" y="48188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alta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9020556" y="4855464"/>
            <a:ext cx="875538" cy="164592"/>
          </a:xfrm>
          <a:prstGeom prst="roundRect">
            <a:avLst>
              <a:gd name="adj" fmla="val 11111"/>
            </a:avLst>
          </a:prstGeom>
          <a:solidFill>
            <a:srgbClr val="D64545"/>
          </a:solidFill>
          <a:ln/>
        </p:spPr>
      </p:sp>
      <p:sp>
        <p:nvSpPr>
          <p:cNvPr id="36" name="Text 32"/>
          <p:cNvSpPr/>
          <p:nvPr/>
        </p:nvSpPr>
        <p:spPr>
          <a:xfrm>
            <a:off x="10954512" y="48188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277356" y="51297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usado/outra marca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9020556" y="5166360"/>
            <a:ext cx="875538" cy="164592"/>
          </a:xfrm>
          <a:prstGeom prst="roundRect">
            <a:avLst>
              <a:gd name="adj" fmla="val 11111"/>
            </a:avLst>
          </a:prstGeom>
          <a:solidFill>
            <a:srgbClr val="D64545"/>
          </a:solidFill>
          <a:ln/>
        </p:spPr>
      </p:sp>
      <p:sp>
        <p:nvSpPr>
          <p:cNvPr id="39" name="Text 35"/>
          <p:cNvSpPr/>
          <p:nvPr/>
        </p:nvSpPr>
        <p:spPr>
          <a:xfrm>
            <a:off x="10954512" y="512978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277356" y="5440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Adiou a compra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9020556" y="5477256"/>
            <a:ext cx="583692" cy="164592"/>
          </a:xfrm>
          <a:prstGeom prst="roundRect">
            <a:avLst>
              <a:gd name="adj" fmla="val 11111"/>
            </a:avLst>
          </a:prstGeom>
          <a:solidFill>
            <a:srgbClr val="D64545"/>
          </a:solidFill>
          <a:ln/>
        </p:spPr>
      </p:sp>
      <p:sp>
        <p:nvSpPr>
          <p:cNvPr id="42" name="Text 38"/>
          <p:cNvSpPr/>
          <p:nvPr/>
        </p:nvSpPr>
        <p:spPr>
          <a:xfrm>
            <a:off x="10954512" y="544068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777240" y="5870448"/>
            <a:ext cx="106344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formulário via WhatsApp após o atendimento + entrevista presencial na entrega e na sala de espera · 28/07–14/08 · 61 convidados, 32 respostas (52%).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04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Fora da Caixa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é revolucionário e capaz de mudar o comportamento do cliente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é revolucionário e mudou drasticamente o processo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5528" y="4133088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059936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gerou uma vantagem competitiva para a Yamaha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4517136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443984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resultou em um conhecimento avançado para nosso segmento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" y="4901184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28032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gerou grandes receitas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PENSAR FORA DA CAIXA · ITEM 1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que voltou sem ninguém ligar para ele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é revolucionário e capaz de mudar o comportamento do cliente"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4983480" cy="2331720"/>
          </a:xfrm>
          <a:prstGeom prst="roundRect">
            <a:avLst>
              <a:gd name="adj" fmla="val 1961"/>
            </a:avLst>
          </a:prstGeom>
          <a:solidFill>
            <a:srgbClr val="EEF4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21408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A. Paulo — Bragança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26280" cy="1783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55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Comprou uma Fazer 250 em março. Em julho, a régua identificou a R1 vencendo e disparou o lembrete no WhatsApp — sem nenhum humano na fila. Ele agendou pelo link, fez a revisão (R$ 289 de receita) e respondeu a pesquisa: "voltar eu volto se vocês me avisarem da revisão."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4480560"/>
            <a:ext cx="4983480" cy="493776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4553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→ 74%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4535424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Recontato pós-venda  </a:t>
            </a:r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contatados após a compra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5047488"/>
            <a:ext cx="4983480" cy="493776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51206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51023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à oficina  </a:t>
            </a:r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 de revisão vs. semestre anterior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5614416"/>
            <a:ext cx="4983480" cy="493776"/>
          </a:xfrm>
          <a:prstGeom prst="roundRect">
            <a:avLst>
              <a:gd name="adj" fmla="val 5556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56875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3160" y="566928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novo  </a:t>
            </a:r>
            <a:pPr indent="0" marL="0">
              <a:buNone/>
            </a:pPr>
            <a:r>
              <a:rPr lang="en-US" sz="8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dizem que voltam se a loja lembrar — e agora ela lembra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1965960"/>
            <a:ext cx="5468112" cy="3521012"/>
          </a:xfrm>
          <a:prstGeom prst="roundRect">
            <a:avLst>
              <a:gd name="adj" fmla="val 1818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sx="100000" sy="100000" kx="0" ky="0" algn="bl" rotWithShape="0" blurRad="177800" dist="63500" dir="5400000">
              <a:srgbClr val="0A12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205740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0574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205740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7397496" y="19933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800" dirty="0"/>
          </a:p>
        </p:txBody>
      </p:sp>
      <p:pic>
        <p:nvPicPr>
          <p:cNvPr id="23" name="Image 0" descr="_NOVAS MELHORIAS/deck-assets/posvend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616" y="2240280"/>
            <a:ext cx="5394960" cy="321011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35040" y="5596128"/>
            <a:ext cx="5468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R1–R4 e a fila de disparo — a tela que fez o A. Paulo voltar.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PENSAR FORA DA CAIXA · ITEM 2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digitalizamos o processo antigo — trocamos o processo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é revolucionário e mudou drasticamente o processo"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106344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291840"/>
                <a:gridCol w="4507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PROCESSO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SMART DEALER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performance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cruzando planilhas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PDCA oficial em um clique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sem resposta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32% morriam no limbo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— régua + escalonamento ao gerente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Crédito recusado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conversa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oportunidade Liberacred com mensagem-prêmio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da montadora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e-mail de alguém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robô — a loja inteira responde igual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vencida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esquecido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régua R1–R4 dispara sozinha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9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mensal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redigitação em cada tela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9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publicada uma vez, telas se atualizam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PENSAR FORA DA CAIXA · ITEM 3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é o COMO — o método Yamaha codificado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gerou uma vantagem competitiva para a Yamaha"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RELÓGIOS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48026" y="205740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9" name="Text 7"/>
          <p:cNvSpPr/>
          <p:nvPr/>
        </p:nvSpPr>
        <p:spPr>
          <a:xfrm>
            <a:off x="2993746" y="205740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VAREJO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18811" y="205740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5164531" y="205740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MERCADO × SHARE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89597" y="205740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35317" y="205740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DO DRE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460382" y="205740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5" name="Text 13"/>
          <p:cNvSpPr/>
          <p:nvPr/>
        </p:nvSpPr>
        <p:spPr>
          <a:xfrm>
            <a:off x="9506102" y="205740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283464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83464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48026" y="283464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93746" y="283464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18811" y="283464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21" name="Text 19"/>
          <p:cNvSpPr/>
          <p:nvPr/>
        </p:nvSpPr>
        <p:spPr>
          <a:xfrm>
            <a:off x="5164531" y="283464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OFICIAL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89597" y="2834640"/>
            <a:ext cx="1951330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35317" y="2834640"/>
            <a:ext cx="185989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R1–R4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" y="3840480"/>
            <a:ext cx="10634472" cy="1188720"/>
          </a:xfrm>
          <a:prstGeom prst="roundRect">
            <a:avLst>
              <a:gd name="adj" fmla="val 2308"/>
            </a:avLst>
          </a:prstGeom>
          <a:solidFill>
            <a:srgbClr val="EEF4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98678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 compra software. Ninguém compra o know-how.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51560" y="4297680"/>
            <a:ext cx="10085832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que fazem uma concessionária Yamaha performar — carta, campanha, crédito, absorção — só existem codificadas aqui. Replicá-las exige viver a operação, não contratar um dev. Essa foi a resposta que a 1ª banca pediu.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" y="525780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know-how continua rendendo: cada circular nova entra no robô no dia da publicação.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PENSAR FORA DA CAIXA · ITEM 4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documentado, replicável — e já em uso pela regional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resultou em um conhecimento avançado para nosso segmento"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216652" cy="1554480"/>
          </a:xfrm>
          <a:prstGeom prst="roundRect">
            <a:avLst>
              <a:gd name="adj" fmla="val 1765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212848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6888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Decomposição mercado × share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834640"/>
            <a:ext cx="477774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desvio do mês é demanda da praça ou execução da loja? A pergunta que toda CCY faz — agora com resposta calculada, não achada.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5060" y="2011680"/>
            <a:ext cx="5216652" cy="1554480"/>
          </a:xfrm>
          <a:prstGeom prst="roundRect">
            <a:avLst>
              <a:gd name="adj" fmla="val 1765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2212848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14516" y="246888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Absorção lida direto do DRE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4516" y="2834640"/>
            <a:ext cx="477774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K2 deixou de ser conta de padaria: taxa oficial, mês a mês, com o gap para 65% quantificado em reais.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767328"/>
            <a:ext cx="5216652" cy="1554480"/>
          </a:xfrm>
          <a:prstGeom prst="roundRect">
            <a:avLst>
              <a:gd name="adj" fmla="val 1765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3968496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96696" y="422452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relógios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6696" y="4590288"/>
            <a:ext cx="477774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e varejo no mês corrente; mercado e share no mês fechado. A régua que evita comparar coisas incomparáveis.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5060" y="3767328"/>
            <a:ext cx="5216652" cy="1554480"/>
          </a:xfrm>
          <a:prstGeom prst="roundRect">
            <a:avLst>
              <a:gd name="adj" fmla="val 1765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3968496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14516" y="422452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consultor da regional já usa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4516" y="4590288"/>
            <a:ext cx="4777740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de análise virou o padrão do acompanhamento das 9 CCYs — o conhecimento saiu do grupo e virou prática de rede.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PENSAR FORA DA CAIXA · ITEM 5 DE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número-manchete — e a conta aberta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gerou grandes receitas"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0634472" cy="1463040"/>
          </a:xfrm>
          <a:prstGeom prst="roundRect">
            <a:avLst>
              <a:gd name="adj" fmla="val 3750"/>
            </a:avLst>
          </a:prstGeom>
          <a:solidFill>
            <a:srgbClr val="0E2A1E"/>
          </a:solidFill>
          <a:ln w="19050">
            <a:solidFill>
              <a:srgbClr val="1E9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40280"/>
            <a:ext cx="9902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~R$ 940 mil/ano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990295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7F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identificado pelo sistema em UMA concessionária — contra R$ 7.200/ano de custo da plataforma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3749040"/>
          <a:ext cx="23774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3337560" y="3840480"/>
            <a:ext cx="8074152" cy="64008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4059936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0365FE"/>
          </a:solidFill>
          <a:ln/>
        </p:spPr>
      </p:sp>
      <p:sp>
        <p:nvSpPr>
          <p:cNvPr id="12" name="Text 9"/>
          <p:cNvSpPr/>
          <p:nvPr/>
        </p:nvSpPr>
        <p:spPr>
          <a:xfrm>
            <a:off x="3813048" y="392277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da montadora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13048" y="4187952"/>
            <a:ext cx="60624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prêmios + vouchers por disciplina de carta · R$ 73,5 mil já apurados em julho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811512" y="395935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R$ 400 mil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37560" y="4590288"/>
            <a:ext cx="8074152" cy="64008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/>
        </p:spPr>
      </p:sp>
      <p:sp>
        <p:nvSpPr>
          <p:cNvPr id="16" name="Shape 13"/>
          <p:cNvSpPr/>
          <p:nvPr/>
        </p:nvSpPr>
        <p:spPr>
          <a:xfrm>
            <a:off x="3502152" y="4809744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ECC71"/>
          </a:solidFill>
          <a:ln/>
        </p:spPr>
      </p:sp>
      <p:sp>
        <p:nvSpPr>
          <p:cNvPr id="17" name="Text 14"/>
          <p:cNvSpPr/>
          <p:nvPr/>
        </p:nvSpPr>
        <p:spPr>
          <a:xfrm>
            <a:off x="3813048" y="46725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do K2 (absorção)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813048" y="4937760"/>
            <a:ext cx="60624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de pós-vendas entre 49,4% e a meta de 65%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811512" y="470916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R$ 490 mil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337560" y="5340096"/>
            <a:ext cx="8074152" cy="64008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/>
        </p:spPr>
      </p:sp>
      <p:sp>
        <p:nvSpPr>
          <p:cNvPr id="21" name="Shape 18"/>
          <p:cNvSpPr/>
          <p:nvPr/>
        </p:nvSpPr>
        <p:spPr>
          <a:xfrm>
            <a:off x="3502152" y="555955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8B04B"/>
          </a:solidFill>
          <a:ln/>
        </p:spPr>
      </p:sp>
      <p:sp>
        <p:nvSpPr>
          <p:cNvPr id="22" name="Text 19"/>
          <p:cNvSpPr/>
          <p:nvPr/>
        </p:nvSpPr>
        <p:spPr>
          <a:xfrm>
            <a:off x="3813048" y="54223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+ Consórcio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813048" y="5687568"/>
            <a:ext cx="606247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penetração de seguros (33,6% → 45%) + Bônus Quality do consórcio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811512" y="545896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 mil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05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em equipe realizado pelo grupo foi claramente percebido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em equipe entre concessionária e grupo foi percebido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TRABALHO EM EQUIPE · ITEM 1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pessoas, cinco frentes — e a fala revezada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em equipe realizado pelo grupo foi claramente percebido"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1965960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212848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Caique Oliveira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696" y="2578608"/>
            <a:ext cx="15270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método e consultoria de campo — emplacamento, K2, PDCA, circulares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2011680"/>
            <a:ext cx="1965960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163824" y="2212848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Klenilson Paiva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63824" y="2578608"/>
            <a:ext cx="15270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narrativa, arquitetura da solução e apresentação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11496" y="2011680"/>
            <a:ext cx="1965960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5330952" y="2212848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Evandro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30952" y="2578608"/>
            <a:ext cx="15270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comercial — CRM, playbook e cadências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78624" y="2011680"/>
            <a:ext cx="1965960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0" y="2212848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Paulo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2578608"/>
            <a:ext cx="15270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pós-vendas — régua de revisões e retenção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45752" y="2011680"/>
            <a:ext cx="1965960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665208" y="2212848"/>
            <a:ext cx="15270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65208" y="2578608"/>
            <a:ext cx="1527048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cliente — pesquisa Voz do Cliente e NPS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251960"/>
            <a:ext cx="10634472" cy="960120"/>
          </a:xfrm>
          <a:prstGeom prst="roundRect">
            <a:avLst>
              <a:gd name="adj" fmla="val 2857"/>
            </a:avLst>
          </a:prstGeom>
          <a:solidFill>
            <a:srgbClr val="EEF4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3982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2ª banca, cada um apresenta a própria frente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4709160"/>
            <a:ext cx="10085832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o critério com a maior distância para o Top 3 na 1ª banca (−0,11) — a divisão de papéis agora é explícita no material e na fala.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TRABALHO EM EQUIPE · ITEM 2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Nippon não apoia o projeto. Ela o paga.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em equipe entre concessionária e grupo foi percebido"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4937760" cy="804672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R$ 600/mês do próprio bolso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concessionária paga o piloto — validação com a régua mais dura que existe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4937760" cy="804672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diário real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desta apresentação são da operação, não de ambiente de teste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3840480"/>
            <a:ext cx="4937760" cy="804672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 acompanhando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224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Lopes segue o projeto e o formato já circula pela regional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4754880"/>
            <a:ext cx="4937760" cy="804672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na final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51389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do titular contando o que mudou — combinado para a apresentação final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80760" y="2011680"/>
            <a:ext cx="5422392" cy="3493865"/>
          </a:xfrm>
          <a:prstGeom prst="roundRect">
            <a:avLst>
              <a:gd name="adj" fmla="val 1832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sx="100000" sy="100000" kx="0" ky="0" algn="bl" rotWithShape="0" blurRad="177800" dist="63500" dir="5400000">
              <a:srgbClr val="0A1220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210312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Shape 18"/>
          <p:cNvSpPr/>
          <p:nvPr/>
        </p:nvSpPr>
        <p:spPr>
          <a:xfrm>
            <a:off x="6382512" y="210312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210312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2" name="Text 20"/>
          <p:cNvSpPr/>
          <p:nvPr/>
        </p:nvSpPr>
        <p:spPr>
          <a:xfrm>
            <a:off x="7420356" y="203911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800" dirty="0"/>
          </a:p>
        </p:txBody>
      </p:sp>
      <p:pic>
        <p:nvPicPr>
          <p:cNvPr id="23" name="Image 0" descr="_NOVAS MELHORIAS/deck-asset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36" y="2286000"/>
            <a:ext cx="5349240" cy="318296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080760" y="5577840"/>
            <a:ext cx="5422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que o titular abre todos os dias — carta, ritmo, ranking e Kaizen do grupo.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232" y="822960"/>
            <a:ext cx="530352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4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0" dirty="0"/>
          </a:p>
        </p:txBody>
      </p:sp>
      <p:sp>
        <p:nvSpPr>
          <p:cNvPr id="4" name="Text 1"/>
          <p:cNvSpPr/>
          <p:nvPr/>
        </p:nvSpPr>
        <p:spPr>
          <a:xfrm>
            <a:off x="777240" y="15544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06 · FÓRMULA DO SUCESSO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1874520"/>
            <a:ext cx="797585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e Impacto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PROVAR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5528" y="3364992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291840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é viável para implantação em outras concessionárias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" y="3749040"/>
            <a:ext cx="100584" cy="10058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675888"/>
            <a:ext cx="7231441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possibilidade de bons resultados se o trabalho for implementado em outras concessionárias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VIABILIDADE E IMPACTO · ITEM 1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é configurar, não reprogramar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trabalho é viável para implantação em outras concessionárias"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3410712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21284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6888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Multi-grupo desde o dia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834640"/>
            <a:ext cx="2971800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9 grupos da regional já estão na base de varejo e metas — falta só criar os acessos de cada um.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410712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21284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246888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R$ 600/mês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834640"/>
            <a:ext cx="2971800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instalação, sem hardware, sem projeto de TI local. Um prêmio de campanha capturado paga o ano.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011680"/>
            <a:ext cx="3410712" cy="1920240"/>
          </a:xfrm>
          <a:prstGeom prst="roundRect">
            <a:avLst>
              <a:gd name="adj" fmla="val 1429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221284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0456" y="246888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Parametrizável por grupo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0456" y="2834640"/>
            <a:ext cx="2971800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Régua, regionalização e cadências são configuração — cada CCY com suas lojas e suas regras.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251960"/>
            <a:ext cx="10634472" cy="960120"/>
          </a:xfrm>
          <a:prstGeom prst="roundRect">
            <a:avLst>
              <a:gd name="adj" fmla="val 2857"/>
            </a:avLst>
          </a:prstGeom>
          <a:solidFill>
            <a:srgbClr val="EE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3982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diretoria aprovar: rollout regional ainda em 2026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4709160"/>
            <a:ext cx="10085832" cy="393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YamahaWay terá gerado um padrão nacional — nascido dentro de uma concessionária, validado por esta banca.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VIABILIDADE E IMPACTO · ITEM 2 DE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prova: o método já rodou fora da Nippon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426464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DO SUCESSO:  </a:t>
            </a:r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"Há possibilidade de bons resultados se o trabalho for implementado em outras concessionárias"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5134356" cy="3017520"/>
          </a:xfrm>
          <a:prstGeom prst="roundRect">
            <a:avLst>
              <a:gd name="adj" fmla="val 121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67715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NOBRE MOTOS · Caraguatatuba e Mogi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6771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PDCAs da NOBRE foram gerados com o mesmo método — decomposição, segmentos, praças — em outro grupo, sem mudar uma linha do sistema. É o argumento de escala mais barato que existe: já aconteceu.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4480560"/>
            <a:ext cx="4677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 · outro grupo · zero adaptação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77356" y="2011680"/>
            <a:ext cx="5134356" cy="3017520"/>
          </a:xfrm>
          <a:prstGeom prst="roundRect">
            <a:avLst>
              <a:gd name="adj" fmla="val 1212"/>
            </a:avLst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240280"/>
            <a:ext cx="467715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consultor da regional nas 9 CCYs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05956" y="2606040"/>
            <a:ext cx="46771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de análise do Smart Dealer virou o padrão do acompanhamento mensal da regional — os outros 8 grupos já veem os próprios números lidos pelo método antes mesmo de terem acesso ao sistema.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05956" y="4480560"/>
            <a:ext cx="46771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 já existe — falta só o acesso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534924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 por CCY no rollout: +8% varejo · +15% conversão de leads · +10% aprovação financeira · +5 pts NPS.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10634472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"Como transformar dados</a:t>
            </a:r>
            <a:endParaRPr lang="en-US" sz="32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experiências memoráveis?"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706453" y="3977640"/>
            <a:ext cx="877604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Smart Dealer é mais do que uma plataforma tecnológica.</a:t>
            </a:r>
            <a:endParaRPr lang="en-US" sz="14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novo padrão de relacionamento entre cliente, concessionária e Yamaha.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706453" y="4983480"/>
            <a:ext cx="877604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requisitos da Fórmula do Sucesso · 27 entregas — e setembro fecha a campanha e a Meta 1.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630936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WAY 2026 · GRUPO 06 SHOGUN RIDERS · NIPPON MOTOS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Dealer — 2ª Banca YamahaWay 2026</dc:title>
  <dc:subject>PptxGenJS Presentation</dc:subject>
  <dc:creator>Grupo 06 — Shogun Riders</dc:creator>
  <cp:lastModifiedBy>Grupo 06 — Shogun Riders</cp:lastModifiedBy>
  <cp:revision>1</cp:revision>
  <dcterms:created xsi:type="dcterms:W3CDTF">2026-08-25T19:02:42Z</dcterms:created>
  <dcterms:modified xsi:type="dcterms:W3CDTF">2026-08-25T19:02:42Z</dcterms:modified>
</cp:coreProperties>
</file>