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815584"/>
            <a:ext cx="12188952" cy="36576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2ª BANCA · GRUPO 06 — SHOGUN RIDERS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</a:t>
            </a:r>
            <a:pPr indent="0" marL="0">
              <a:buNone/>
            </a:pPr>
            <a:r>
              <a:rPr lang="en-US" sz="66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dados em experiências memoráveis?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1ª banca para cá: cada apontamento de vocês virou entrega. Esta é a prestação de contas.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080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real: NIPPON MOTOS · Bragança Paulista, Atibaia, Amparo e Extrema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PRESTAÇÃO DE CONTAS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banca apontou — e o que fizemos com cada ponto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042416"/>
          </a:xfrm>
          <a:prstGeom prst="roundRect">
            <a:avLst>
              <a:gd name="adj" fmla="val 7018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08760"/>
            <a:ext cx="4581693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a vantagem competitiva? Software qualquer um faz."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39948" y="1801368"/>
            <a:ext cx="274320" cy="274320"/>
          </a:xfrm>
          <a:prstGeom prst="rightArrow">
            <a:avLst/>
          </a:prstGeom>
          <a:solidFill>
            <a:srgbClr val="2ECC71"/>
          </a:solidFill>
          <a:ln/>
        </p:spPr>
      </p:sp>
      <p:sp>
        <p:nvSpPr>
          <p:cNvPr id="8" name="Text 6"/>
          <p:cNvSpPr/>
          <p:nvPr/>
        </p:nvSpPr>
        <p:spPr>
          <a:xfrm>
            <a:off x="5767212" y="1508760"/>
            <a:ext cx="556348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é o COMO: regras Yamaha codificadas (carta, K2, Kaizen, circulares, Premya). Slide de benchmark nesta apresentação.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908792" cy="1042416"/>
          </a:xfrm>
          <a:prstGeom prst="roundRect">
            <a:avLst>
              <a:gd name="adj" fmla="val 7018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97480"/>
            <a:ext cx="4581693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"Faltou pesquisa com o cliente final."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39948" y="2990088"/>
            <a:ext cx="274320" cy="274320"/>
          </a:xfrm>
          <a:prstGeom prst="rightArrow">
            <a:avLst/>
          </a:prstGeom>
          <a:solidFill>
            <a:srgbClr val="2ECC71"/>
          </a:solidFill>
          <a:ln/>
        </p:spPr>
      </p:sp>
      <p:sp>
        <p:nvSpPr>
          <p:cNvPr id="12" name="Text 10"/>
          <p:cNvSpPr/>
          <p:nvPr/>
        </p:nvSpPr>
        <p:spPr>
          <a:xfrm>
            <a:off x="5767212" y="2697480"/>
            <a:ext cx="556348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Feita: 32 respostas, satisfação 4,5/5, NPS 72, fatores de compra tabulados — dashboards ao vivo na tela Voz do Cliente.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0908792" cy="1042416"/>
          </a:xfrm>
          <a:prstGeom prst="roundRect">
            <a:avLst>
              <a:gd name="adj" fmla="val 7018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886200"/>
            <a:ext cx="4581693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"Cadê as hipóteses e as metas do projeto?"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39948" y="4178808"/>
            <a:ext cx="274320" cy="274320"/>
          </a:xfrm>
          <a:prstGeom prst="rightArrow">
            <a:avLst/>
          </a:prstGeom>
          <a:solidFill>
            <a:srgbClr val="2ECC71"/>
          </a:solidFill>
          <a:ln/>
        </p:spPr>
      </p:sp>
      <p:sp>
        <p:nvSpPr>
          <p:cNvPr id="16" name="Text 14"/>
          <p:cNvSpPr/>
          <p:nvPr/>
        </p:nvSpPr>
        <p:spPr>
          <a:xfrm>
            <a:off x="5767212" y="3886200"/>
            <a:ext cx="556348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hipóteses no formato "se X, então Y — medido por Z" + 3 metas públicas com prazo. Todas medidas pelo sistema.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908792" cy="1042416"/>
          </a:xfrm>
          <a:prstGeom prst="roundRect">
            <a:avLst>
              <a:gd name="adj" fmla="val 7018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074920"/>
            <a:ext cx="4581693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limbo do lead é a dor real." (Cintia)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39948" y="5367528"/>
            <a:ext cx="274320" cy="274320"/>
          </a:xfrm>
          <a:prstGeom prst="rightArrow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5767212" y="5074920"/>
            <a:ext cx="556348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CRM: SLA 10 min, escalonamento ao gerente, redistribuição — leads sem resposta caíram de 32% para 2%.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objetivo. Três metas públicas. Sempre as mesmas.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002060"/>
          </a:solidFill>
          <a:ln w="19050">
            <a:solidFill>
              <a:srgbClr val="00C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63040"/>
            <a:ext cx="10360152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"Aumentar o atingimento de carta e a absorção do pós-vendas da Nippon Motos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decisão guiada por dados — medido por três metas públicas."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3514344" cy="2377440"/>
          </a:xfrm>
          <a:prstGeom prst="roundRect">
            <a:avLst>
              <a:gd name="adj" fmla="val 3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94436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04672" y="3246120"/>
            <a:ext cx="3185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≥ 100%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3185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setembro/2026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318516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fechou em 90,0% — prêmio da campanha em jogo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37304" y="2834640"/>
            <a:ext cx="3514344" cy="2377440"/>
          </a:xfrm>
          <a:prstGeom prst="roundRect">
            <a:avLst>
              <a:gd name="adj" fmla="val 3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1896" y="294436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01896" y="3246120"/>
            <a:ext cx="3185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65%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01896" y="3749040"/>
            <a:ext cx="3185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dezembro/2026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01896" y="4069080"/>
            <a:ext cx="318516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saímos de 30% e já estamos em 49,4% (K2 do DRE)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34528" y="2834640"/>
            <a:ext cx="3514344" cy="2377440"/>
          </a:xfrm>
          <a:prstGeom prst="roundRect">
            <a:avLst>
              <a:gd name="adj" fmla="val 3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99120" y="294436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199120" y="3246120"/>
            <a:ext cx="3185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≤ 10 min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199120" y="3749040"/>
            <a:ext cx="3185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de atendimento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199120" y="4069080"/>
            <a:ext cx="318516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81% dentro do SLA — era 22% antes do piloto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5440680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mede as três, ao vivo — a meta virou compromisso público, não promessa.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hipóteses testáveis — e a prova de cada uma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27048"/>
            <a:ext cx="5672572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Se o lead é atendido em ≤10 minutos, a conversão sobe.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5454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MEDIDO: SLA no CRM + pesquisa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39916" y="1527048"/>
            <a:ext cx="4690781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Atendidos em ≤10 min: 22% → 81%. Conversão: 8,1% → 13,9%. Na pesquisa, 66% citam rapidez como fator de compra.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99816"/>
            <a:ext cx="5672572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Se o plano de ação nasce dos números, ele é executado.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3995928"/>
            <a:ext cx="5454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MEDIDO: PDCA gerado do sistema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39916" y="3099816"/>
            <a:ext cx="4690781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oficial sai em 1 clique com ações nascidas de mercado, segmento e praça — e é o que a regional acompanha.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4562856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672584"/>
            <a:ext cx="5672572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Se o pós-vendas absorve 65%, a pressão sobre o varejo cai.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568696"/>
            <a:ext cx="5454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MEDIDO: K2 lido do DRE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39916" y="4672584"/>
            <a:ext cx="4690781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30% → 49,4% (pico 62,5% em março). Gap para 65% quantificado: ~R$ 41 mil/mês de MC. Régua R1–R4 ataca a evasão.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· CONCORRENTES DA SOLUÇÃO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só o Smart Dealer tem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08792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1600200"/>
                <a:gridCol w="1600200"/>
                <a:gridCol w="1600200"/>
                <a:gridCol w="213055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 da loja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DEALER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Yamaha (carta, Kaizen, K2, circular)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codificadas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no formato oficial da regional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1 clique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Liberacred: recusa vira oportunidade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automático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Premya em curso (não só na apuração)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simulador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Circulares no assistente de 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no robô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mensal por CCY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R$ 800–2.500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pago, não analisa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grátis e caro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direta à pergunta da 1ª banca: a vantagem competitiva é o método Yamaha codificado — o software é só o veículo.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Voz do Cliente — feita pelo grupo, com clientes reais da Nippon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28/07–14/08 · 32 respostas · 52% adesão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compraram · 14 não compraram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403854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014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41014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4,5/5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1014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3,6 antes do piloto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167628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4788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DA PESQUISA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04788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4788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promotores − detratores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8931402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8562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COMPROU: MOTIVO Nº 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068562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43%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68562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fila do Liberacred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40080" y="2624328"/>
            <a:ext cx="5999836" cy="2880360"/>
          </a:xfrm>
          <a:prstGeom prst="roundRect">
            <a:avLst>
              <a:gd name="adj" fmla="val 254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734056"/>
            <a:ext cx="567065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 (MEDIDOS, NÃO ACHADOS)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" y="309981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que cabe no bolso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520440" y="3127248"/>
            <a:ext cx="1488899" cy="219456"/>
          </a:xfrm>
          <a:prstGeom prst="roundRect">
            <a:avLst>
              <a:gd name="adj" fmla="val 8333"/>
            </a:avLst>
          </a:prstGeom>
          <a:solidFill>
            <a:srgbClr val="1A72D4"/>
          </a:solidFill>
          <a:ln/>
        </p:spPr>
      </p:sp>
      <p:sp>
        <p:nvSpPr>
          <p:cNvPr id="26" name="Text 24"/>
          <p:cNvSpPr/>
          <p:nvPr/>
        </p:nvSpPr>
        <p:spPr>
          <a:xfrm>
            <a:off x="5862676" y="309981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355701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rápido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520440" y="3584448"/>
            <a:ext cx="1364824" cy="219456"/>
          </a:xfrm>
          <a:prstGeom prst="roundRect">
            <a:avLst>
              <a:gd name="adj" fmla="val 8333"/>
            </a:avLst>
          </a:prstGeom>
          <a:solidFill>
            <a:srgbClr val="1A72D4"/>
          </a:solidFill>
          <a:ln/>
        </p:spPr>
      </p:sp>
      <p:sp>
        <p:nvSpPr>
          <p:cNvPr id="29" name="Text 27"/>
          <p:cNvSpPr/>
          <p:nvPr/>
        </p:nvSpPr>
        <p:spPr>
          <a:xfrm>
            <a:off x="5862676" y="355701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" y="401421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crédito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20440" y="4041648"/>
            <a:ext cx="1158033" cy="219456"/>
          </a:xfrm>
          <a:prstGeom prst="roundRect">
            <a:avLst>
              <a:gd name="adj" fmla="val 8333"/>
            </a:avLst>
          </a:prstGeom>
          <a:solidFill>
            <a:srgbClr val="1A72D4"/>
          </a:solidFill>
          <a:ln/>
        </p:spPr>
      </p:sp>
      <p:sp>
        <p:nvSpPr>
          <p:cNvPr id="32" name="Text 30"/>
          <p:cNvSpPr/>
          <p:nvPr/>
        </p:nvSpPr>
        <p:spPr>
          <a:xfrm>
            <a:off x="5862676" y="401421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" y="447141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/ entrada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520440" y="4498848"/>
            <a:ext cx="971920" cy="219456"/>
          </a:xfrm>
          <a:prstGeom prst="roundRect">
            <a:avLst>
              <a:gd name="adj" fmla="val 8333"/>
            </a:avLst>
          </a:prstGeom>
          <a:solidFill>
            <a:srgbClr val="1A72D4"/>
          </a:solidFill>
          <a:ln/>
        </p:spPr>
      </p:sp>
      <p:sp>
        <p:nvSpPr>
          <p:cNvPr id="35" name="Text 33"/>
          <p:cNvSpPr/>
          <p:nvPr/>
        </p:nvSpPr>
        <p:spPr>
          <a:xfrm>
            <a:off x="5862676" y="447141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" y="492861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/ indicação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520440" y="4956048"/>
            <a:ext cx="785808" cy="219456"/>
          </a:xfrm>
          <a:prstGeom prst="roundRect">
            <a:avLst>
              <a:gd name="adj" fmla="val 8333"/>
            </a:avLst>
          </a:prstGeom>
          <a:solidFill>
            <a:srgbClr val="1A72D4"/>
          </a:solidFill>
          <a:ln/>
        </p:spPr>
      </p:sp>
      <p:sp>
        <p:nvSpPr>
          <p:cNvPr id="38" name="Text 36"/>
          <p:cNvSpPr/>
          <p:nvPr/>
        </p:nvSpPr>
        <p:spPr>
          <a:xfrm>
            <a:off x="5862676" y="4928616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777076" y="2624328"/>
            <a:ext cx="4771796" cy="2880360"/>
          </a:xfrm>
          <a:prstGeom prst="roundRect">
            <a:avLst>
              <a:gd name="adj" fmla="val 254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1668" y="2734056"/>
            <a:ext cx="44426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FARIA O CLIENTE VOLTAR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959956" y="3035808"/>
            <a:ext cx="4406036" cy="2377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— a loja lembrar da revisão por mim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automática faz exatamente isso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— contato pós-compra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recontato subiu de 18% para 74% no piloto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— oferta certa na hora da troca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quitação sugere o upgrade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 · dashboards completos na tela Voz do Cliente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 e os 7 passos da venda — com o sistema em cada passo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002060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17320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Yamaha como a marca que responde o cliente em minutos e acompanha a moto a vida inteira — da primeira resposta à recompra."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Recepção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distribuído em segundos, SLA 10 min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218073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91225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Sondagem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91225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e origem do lead na tela do vendedor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96066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69218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Apresentação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69218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real das 4 lojas + ficha técnica via IA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374059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7211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Test-ride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47211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agendado na cadência do CRM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952053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25205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Negociação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25205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da circular aplicada na proposta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530046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03198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Fechamento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603198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BYMD primeiro (Premya) + Liberacred se recusar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08039" y="2468880"/>
            <a:ext cx="1440833" cy="2286000"/>
          </a:xfrm>
          <a:prstGeom prst="roundRect">
            <a:avLst>
              <a:gd name="adj" fmla="val 507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81191" y="2606040"/>
            <a:ext cx="1294529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Entrega &amp; pós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181191" y="3108960"/>
            <a:ext cx="1294529" cy="1508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na entrega, régua R1–R4, quitação → recompra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0080" y="5029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personas atendidas: titular, gerente, vendedor, mecânico, consultor da regional — e o cliente final. Cada papel vê só o que usa (demonstração ao vivo trocando de login).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digitalizamos o processo antigo — trocamos o processo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0879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66160"/>
                <a:gridCol w="405079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processo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SMART DEALER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 de performance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cruzando planilhas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PDCA oficial em 1 clique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sem resposta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morriam no limbo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— régua + escalonamento ao gerente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recusado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conversa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oportunidade Liberacred com mensagem-prêmio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Circular da montadora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e-mail de alguém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robô — a loja inteira responde igual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Premya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descoberto na apuração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acompanhado em curso, com simulador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E6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Revisão vencida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esquecido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régua R1–R4 dispara sozinha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2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1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conhecimento virou método replicável: decomposição mercado×share, absorção do DRE, dois relógios — documentado e rodando.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piloto já produziu — e o número-manchete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CAMPEÕES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R$ 7.500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garantidos em julho (90,0% da carta) + R$ 15 mil recuperáveis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3403854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1014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POR MODELO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541014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R$ 66 mil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41014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apurados em julho + Campeões = R$ 73,5 mil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4788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04788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p.p.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4788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30% para 49,4% — gap p/ 65% = R$ 41 mil/mês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931402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68562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DE LEADS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68562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 → 13,9%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68562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SLA de 10 minutos governado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640080" y="274320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0E2A1E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2880360"/>
            <a:ext cx="10451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ANUAL IDENTIFICADO PELO SISTEMA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3200400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~R$ 1,1 milhão/ano  </a:t>
            </a:r>
            <a:pPr indent="0" marL="0"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prêmios de campanha (R$ 400k) + gap do K2 (R$ 490k) + Premya/Seguros/Consórcio (R$ 200k)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40080" y="43434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do compromisso: setembro fecha a campanha e a meta 1. Convidamos a banca a cobrar o resultado na apresentação final.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— e quem valida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072030" cy="228600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18525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148840"/>
            <a:ext cx="1852574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método e consultoria de campo — emplacamento, K2, PDCA, circulares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849270" y="1463040"/>
            <a:ext cx="2072030" cy="228600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58998" y="1627632"/>
            <a:ext cx="18525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Klenilson Paiva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58998" y="2148840"/>
            <a:ext cx="1852574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Narrativa, arquitetura da solução e apresentação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58461" y="1463040"/>
            <a:ext cx="2072030" cy="228600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68189" y="1627632"/>
            <a:ext cx="18525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Evandro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8189" y="2148840"/>
            <a:ext cx="1852574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comercial — CRM, playbook e cadências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67651" y="1463040"/>
            <a:ext cx="2072030" cy="228600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7379" y="1627632"/>
            <a:ext cx="18525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Paulo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77379" y="2148840"/>
            <a:ext cx="1852574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pós-vendas — régua de revisões e retenção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476842" y="1463040"/>
            <a:ext cx="2072030" cy="228600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86570" y="1627632"/>
            <a:ext cx="18525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586570" y="2148840"/>
            <a:ext cx="1852574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cliente — pesquisa Voz do Cliente e NPS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3977640"/>
            <a:ext cx="10908792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087368"/>
            <a:ext cx="105796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CONCESSIONÁRIA + GRUPO, DE VERDADE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1248" y="4361688"/>
            <a:ext cx="10451592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Nippon PAGA o piloto (R$ 600/mês) e usa no dia a dia — os dados desta apresentação são da operação real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 Paulo Lopes acompanhando · depoimento em vídeo do titular na apresentação final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é configurar, não reprogramar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362956" cy="3017520"/>
          </a:xfrm>
          <a:prstGeom prst="roundRect">
            <a:avLst>
              <a:gd name="adj" fmla="val 2424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527048"/>
            <a:ext cx="50337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PRONTOS PARA ESCALAR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1828800"/>
            <a:ext cx="4997196" cy="2514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varejo e metas multi-grupo desde o dia 1 — falta só o acesso de cada um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sem instalação · R$ 600/mês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hardware, sem projeto de TI — payback com um prêmio de campanha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parametrizável por grupo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régua, regionalização e cadências são configuração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85916" y="1417320"/>
            <a:ext cx="5362956" cy="3017520"/>
          </a:xfrm>
          <a:prstGeom prst="roundRect">
            <a:avLst>
              <a:gd name="adj" fmla="val 2424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0508" y="1527048"/>
            <a:ext cx="50337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DE REPLICABILIDADE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87084" y="1828800"/>
            <a:ext cx="4997196" cy="2514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já rodou fora da Nippon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PDCAs da NOBRE Motos (Caraguatatuba e Mogi) — mesmo método, outro grupo, sem mudar uma linha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 da regional usa nas 9 CCYs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formato de análise virou o padrão do acompanhamento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7548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aprovado pela diretoria: rollout regional ainda em 2026 — e o YamahaWay terá gerado um padrão nacional.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DO SUCESSO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critério da 1ª banca, atacado item a item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vivo na tela Dossiê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49961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20440" y="149961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545336"/>
            <a:ext cx="5481901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9" name="Text 7"/>
          <p:cNvSpPr/>
          <p:nvPr/>
        </p:nvSpPr>
        <p:spPr>
          <a:xfrm>
            <a:off x="4251960" y="1764792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própria + benchmark de concorrentes da solução + hipóteses formalizadas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215798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Objetivos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20440" y="2157984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51960" y="2203704"/>
            <a:ext cx="5800954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13" name="Text 11"/>
          <p:cNvSpPr/>
          <p:nvPr/>
        </p:nvSpPr>
        <p:spPr>
          <a:xfrm>
            <a:off x="4251960" y="2423160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objetivo-frase + 3 metas públicas medidas + linha do tempo real das entregas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0080" y="281635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no Cliente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816352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2862072"/>
            <a:ext cx="5554413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17" name="Text 15"/>
          <p:cNvSpPr/>
          <p:nvPr/>
        </p:nvSpPr>
        <p:spPr>
          <a:xfrm>
            <a:off x="4251960" y="3081528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 + fatores tabulados + posicionamento + 7 passos + personas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Fora da Caixa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34747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3520440"/>
            <a:ext cx="6279532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21" name="Text 19"/>
          <p:cNvSpPr/>
          <p:nvPr/>
        </p:nvSpPr>
        <p:spPr>
          <a:xfrm>
            <a:off x="4251960" y="3739896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trocado (tabela com/sem) + know-how codificado como vantagem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0080" y="413308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em Equipe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20440" y="41330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4178808"/>
            <a:ext cx="6163513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25" name="Text 23"/>
          <p:cNvSpPr/>
          <p:nvPr/>
        </p:nvSpPr>
        <p:spPr>
          <a:xfrm>
            <a:off x="4251960" y="4398264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explícitos + revezamento na fala + depoimento da Nippon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40080" y="479145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Viabilidade e Impacto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4791456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4,17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51960" y="4837176"/>
            <a:ext cx="6047494" cy="201168"/>
          </a:xfrm>
          <a:prstGeom prst="roundRect">
            <a:avLst>
              <a:gd name="adj" fmla="val 9091"/>
            </a:avLst>
          </a:prstGeom>
          <a:solidFill>
            <a:srgbClr val="1A72D4"/>
          </a:solidFill>
          <a:ln/>
        </p:spPr>
      </p:sp>
      <p:sp>
        <p:nvSpPr>
          <p:cNvPr id="29" name="Text 27"/>
          <p:cNvSpPr/>
          <p:nvPr/>
        </p:nvSpPr>
        <p:spPr>
          <a:xfrm>
            <a:off x="4251960" y="5056632"/>
            <a:ext cx="725119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número-manchete R$ 1,1 mi/ano + NOBRE como prova + 9 grupos na base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" y="5504688"/>
            <a:ext cx="10908792" cy="685800"/>
          </a:xfrm>
          <a:prstGeom prst="roundRect">
            <a:avLst>
              <a:gd name="adj" fmla="val 10667"/>
            </a:avLst>
          </a:prstGeom>
          <a:solidFill>
            <a:srgbClr val="0E2A1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504688"/>
            <a:ext cx="10451592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dos 27 sub-itens: 6 itens que FALTAVAM na 1ª banca foram fechados — hoje: 16 temos · 11 parciais · 0 em branco.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2ª Banca YamahaWay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transformar dados em experiências memoráveis?"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521458" cy="1188720"/>
          </a:xfrm>
          <a:prstGeom prst="roundRect">
            <a:avLst>
              <a:gd name="adj" fmla="val 7692"/>
            </a:avLst>
          </a:prstGeom>
          <a:solidFill>
            <a:srgbClr val="13213A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51760"/>
            <a:ext cx="252145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35858" y="2651760"/>
            <a:ext cx="2521458" cy="1188720"/>
          </a:xfrm>
          <a:prstGeom prst="roundRect">
            <a:avLst>
              <a:gd name="adj" fmla="val 7692"/>
            </a:avLst>
          </a:prstGeom>
          <a:solidFill>
            <a:srgbClr val="13213A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35858" y="2651760"/>
            <a:ext cx="252145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1636" y="2651760"/>
            <a:ext cx="2521458" cy="1188720"/>
          </a:xfrm>
          <a:prstGeom prst="roundRect">
            <a:avLst>
              <a:gd name="adj" fmla="val 7692"/>
            </a:avLst>
          </a:prstGeom>
          <a:solidFill>
            <a:srgbClr val="13213A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31636" y="2651760"/>
            <a:ext cx="252145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Memoráveis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027414" y="2651760"/>
            <a:ext cx="2521458" cy="1188720"/>
          </a:xfrm>
          <a:prstGeom prst="roundRect">
            <a:avLst>
              <a:gd name="adj" fmla="val 7692"/>
            </a:avLst>
          </a:prstGeom>
          <a:solidFill>
            <a:srgbClr val="13213A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27414" y="2651760"/>
            <a:ext cx="252145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Sustentável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mais do que uma plataforma tecnológica.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fecha a campanha e a meta 1 — cobrem o resultado na final.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06 SHOGUN RIDERS · NIPPON MOTOS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2ª Banca YamahaWay 2026</dc:title>
  <dc:subject>PptxGenJS Presentation</dc:subject>
  <dc:creator>Grupo 06 — Shogun Riders</dc:creator>
  <cp:lastModifiedBy>Grupo 06 — Shogun Riders</cp:lastModifiedBy>
  <cp:revision>1</cp:revision>
  <dcterms:created xsi:type="dcterms:W3CDTF">2026-08-20T10:33:10Z</dcterms:created>
  <dcterms:modified xsi:type="dcterms:W3CDTF">2026-08-20T10:33:10Z</dcterms:modified>
</cp:coreProperties>
</file>