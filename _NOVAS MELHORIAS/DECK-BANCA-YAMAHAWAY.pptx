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914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_NOVAS MELHORIAS/deck-assets/bg-cap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2331720"/>
            <a:ext cx="6593373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4CD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YAMAHA WAY 2026 · 2ª BANCA · GRUPO 06 — SHOGUN RIDERS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777240" y="2651760"/>
            <a:ext cx="6593373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Dealer</a:t>
            </a:r>
            <a:endParaRPr lang="en-US" sz="5400" dirty="0"/>
          </a:p>
        </p:txBody>
      </p:sp>
      <p:sp>
        <p:nvSpPr>
          <p:cNvPr id="5" name="Text 2"/>
          <p:cNvSpPr/>
          <p:nvPr/>
        </p:nvSpPr>
        <p:spPr>
          <a:xfrm>
            <a:off x="777240" y="3749040"/>
            <a:ext cx="5955304" cy="8686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B8C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transformar dados em experiências memoráveis?</a:t>
            </a:r>
            <a:endParaRPr lang="en-US" sz="16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B8C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Fórmula do Sucesso, requisito a requisito — cada slide preenche um item.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777240" y="5074920"/>
            <a:ext cx="3840480" cy="0"/>
          </a:xfrm>
          <a:prstGeom prst="line">
            <a:avLst/>
          </a:prstGeom>
          <a:noFill/>
          <a:ln w="12700">
            <a:solidFill>
              <a:srgbClr val="3D4F61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77240" y="5257800"/>
            <a:ext cx="6380683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8A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Piloto real: Nippon Motos · Bragança Paulista, Atibaia, Amparo e Extrema</a:t>
            </a:r>
            <a:endParaRPr lang="en-US" sz="1150" dirty="0"/>
          </a:p>
        </p:txBody>
      </p:sp>
      <p:pic>
        <p:nvPicPr>
          <p:cNvPr id="8" name="Image 1" descr="_NOVAS MELHORIAS/deck-assets/dashboar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80000">
            <a:off x="7635240" y="1417320"/>
            <a:ext cx="5486400" cy="3257550"/>
          </a:xfrm>
          <a:prstGeom prst="rect">
            <a:avLst/>
          </a:prstGeom>
          <a:effectLst>
            <a:outerShdw sx="100000" sy="100000" kx="0" ky="0" algn="bl" rotWithShape="0" blurRad="279400" dist="101600" dir="5400000">
              <a:srgbClr val="05090F">
                <a:alpha val="60000"/>
              </a:srgbClr>
            </a:outerShdw>
          </a:effec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1063447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777240"/>
            <a:ext cx="1063447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Fórmula do Sucesso é o roteiro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77240" y="1444752"/>
            <a:ext cx="10634472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Seis critérios, 27 requisitos — um slide para cada um, com a entrega que o preenche.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1095451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3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777240" y="1965960"/>
            <a:ext cx="3410712" cy="1600200"/>
          </a:xfrm>
          <a:prstGeom prst="roundRect">
            <a:avLst>
              <a:gd name="adj" fmla="val 1714"/>
            </a:avLst>
          </a:prstGeom>
          <a:solidFill>
            <a:srgbClr val="F7F9FC"/>
          </a:solidFill>
          <a:ln/>
        </p:spPr>
      </p:sp>
      <p:sp>
        <p:nvSpPr>
          <p:cNvPr id="7" name="Text 5"/>
          <p:cNvSpPr/>
          <p:nvPr/>
        </p:nvSpPr>
        <p:spPr>
          <a:xfrm>
            <a:off x="996696" y="2167128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B8C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996696" y="2423160"/>
            <a:ext cx="297180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Pesquisa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96696" y="2788920"/>
            <a:ext cx="2971800" cy="61264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requisitos do formulário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389120" y="1965960"/>
            <a:ext cx="3410712" cy="1600200"/>
          </a:xfrm>
          <a:prstGeom prst="roundRect">
            <a:avLst>
              <a:gd name="adj" fmla="val 1714"/>
            </a:avLst>
          </a:prstGeom>
          <a:solidFill>
            <a:srgbClr val="F7F9FC"/>
          </a:solidFill>
          <a:ln/>
        </p:spPr>
      </p:sp>
      <p:sp>
        <p:nvSpPr>
          <p:cNvPr id="11" name="Text 9"/>
          <p:cNvSpPr/>
          <p:nvPr/>
        </p:nvSpPr>
        <p:spPr>
          <a:xfrm>
            <a:off x="4608576" y="2167128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B8C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608576" y="2423160"/>
            <a:ext cx="297180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Planejamento e Objetivos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608576" y="2788920"/>
            <a:ext cx="2971800" cy="61264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requisitos do formulário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001000" y="1965960"/>
            <a:ext cx="3410712" cy="1600200"/>
          </a:xfrm>
          <a:prstGeom prst="roundRect">
            <a:avLst>
              <a:gd name="adj" fmla="val 1714"/>
            </a:avLst>
          </a:prstGeom>
          <a:solidFill>
            <a:srgbClr val="F7F9FC"/>
          </a:solidFill>
          <a:ln/>
        </p:spPr>
      </p:sp>
      <p:sp>
        <p:nvSpPr>
          <p:cNvPr id="15" name="Text 13"/>
          <p:cNvSpPr/>
          <p:nvPr/>
        </p:nvSpPr>
        <p:spPr>
          <a:xfrm>
            <a:off x="8220456" y="2167128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B8C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8220456" y="2423160"/>
            <a:ext cx="297180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Foco no Cliente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220456" y="2788920"/>
            <a:ext cx="2971800" cy="61264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requisitos do formulário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77240" y="3767328"/>
            <a:ext cx="3410712" cy="1600200"/>
          </a:xfrm>
          <a:prstGeom prst="roundRect">
            <a:avLst>
              <a:gd name="adj" fmla="val 1714"/>
            </a:avLst>
          </a:prstGeom>
          <a:solidFill>
            <a:srgbClr val="F7F9FC"/>
          </a:solidFill>
          <a:ln/>
        </p:spPr>
      </p:sp>
      <p:sp>
        <p:nvSpPr>
          <p:cNvPr id="19" name="Text 17"/>
          <p:cNvSpPr/>
          <p:nvPr/>
        </p:nvSpPr>
        <p:spPr>
          <a:xfrm>
            <a:off x="996696" y="3968496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B8C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996696" y="4224528"/>
            <a:ext cx="297180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Pensar Fora da Caixa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996696" y="4590288"/>
            <a:ext cx="2971800" cy="61264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requisitos do formulário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389120" y="3767328"/>
            <a:ext cx="3410712" cy="1600200"/>
          </a:xfrm>
          <a:prstGeom prst="roundRect">
            <a:avLst>
              <a:gd name="adj" fmla="val 1714"/>
            </a:avLst>
          </a:prstGeom>
          <a:solidFill>
            <a:srgbClr val="F7F9FC"/>
          </a:solidFill>
          <a:ln/>
        </p:spPr>
      </p:sp>
      <p:sp>
        <p:nvSpPr>
          <p:cNvPr id="23" name="Text 21"/>
          <p:cNvSpPr/>
          <p:nvPr/>
        </p:nvSpPr>
        <p:spPr>
          <a:xfrm>
            <a:off x="4608576" y="3968496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B8C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4608576" y="4224528"/>
            <a:ext cx="297180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Trabalho em Equipe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4608576" y="4590288"/>
            <a:ext cx="2971800" cy="61264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requisitos do formulário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8001000" y="3767328"/>
            <a:ext cx="3410712" cy="1600200"/>
          </a:xfrm>
          <a:prstGeom prst="roundRect">
            <a:avLst>
              <a:gd name="adj" fmla="val 1714"/>
            </a:avLst>
          </a:prstGeom>
          <a:solidFill>
            <a:srgbClr val="F7F9FC"/>
          </a:solidFill>
          <a:ln/>
        </p:spPr>
      </p:sp>
      <p:sp>
        <p:nvSpPr>
          <p:cNvPr id="27" name="Text 25"/>
          <p:cNvSpPr/>
          <p:nvPr/>
        </p:nvSpPr>
        <p:spPr>
          <a:xfrm>
            <a:off x="8220456" y="3968496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B8C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8220456" y="4224528"/>
            <a:ext cx="297180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Viabilidade e Impacto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8220456" y="4590288"/>
            <a:ext cx="2971800" cy="61264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requisitos do formulário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1063447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PESQUISA · ITEM 1 DE 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777240"/>
            <a:ext cx="1063447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mercado, medido na fonte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95451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3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77240" y="1426464"/>
            <a:ext cx="10634472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FÓRMULA DO SUCESSO:  </a:t>
            </a:r>
            <a:pPr indent="0" marL="0">
              <a:buNone/>
            </a:pPr>
            <a:r>
              <a:rPr lang="en-US" sz="115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"Análises externas foram devidamente realizadas"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777240" y="1920240"/>
            <a:ext cx="2507742" cy="1371600"/>
          </a:xfrm>
          <a:prstGeom prst="roundRect">
            <a:avLst>
              <a:gd name="adj" fmla="val 2000"/>
            </a:avLst>
          </a:prstGeom>
          <a:solidFill>
            <a:srgbClr val="F7F9FC"/>
          </a:solidFill>
          <a:ln/>
        </p:spPr>
      </p:sp>
      <p:sp>
        <p:nvSpPr>
          <p:cNvPr id="7" name="Text 5"/>
          <p:cNvSpPr/>
          <p:nvPr/>
        </p:nvSpPr>
        <p:spPr>
          <a:xfrm>
            <a:off x="996696" y="2103120"/>
            <a:ext cx="2068830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 JAN–JUL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996696" y="2340864"/>
            <a:ext cx="206883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5.346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996696" y="2852928"/>
            <a:ext cx="2068830" cy="38404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motos emplacadas nas áreas da Nippon (Amparo + Ouro Fino)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486150" y="1920240"/>
            <a:ext cx="2507742" cy="1371600"/>
          </a:xfrm>
          <a:prstGeom prst="roundRect">
            <a:avLst>
              <a:gd name="adj" fmla="val 2000"/>
            </a:avLst>
          </a:prstGeom>
          <a:solidFill>
            <a:srgbClr val="F7F9FC"/>
          </a:solidFill>
          <a:ln/>
        </p:spPr>
      </p:sp>
      <p:sp>
        <p:nvSpPr>
          <p:cNvPr id="11" name="Text 9"/>
          <p:cNvSpPr/>
          <p:nvPr/>
        </p:nvSpPr>
        <p:spPr>
          <a:xfrm>
            <a:off x="3705606" y="2103120"/>
            <a:ext cx="2068830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YAMAHA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3705606" y="2340864"/>
            <a:ext cx="206883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20,0%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3705606" y="2852928"/>
            <a:ext cx="2068830" cy="38404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Honda lidera com 63,7% — o tamanho da disputa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195060" y="1920240"/>
            <a:ext cx="2507742" cy="1371600"/>
          </a:xfrm>
          <a:prstGeom prst="roundRect">
            <a:avLst>
              <a:gd name="adj" fmla="val 2000"/>
            </a:avLst>
          </a:prstGeom>
          <a:solidFill>
            <a:srgbClr val="F7F9FC"/>
          </a:solidFill>
          <a:ln/>
        </p:spPr>
      </p:sp>
      <p:sp>
        <p:nvSpPr>
          <p:cNvPr id="15" name="Text 13"/>
          <p:cNvSpPr/>
          <p:nvPr/>
        </p:nvSpPr>
        <p:spPr>
          <a:xfrm>
            <a:off x="6414516" y="2103120"/>
            <a:ext cx="2068830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NIPPON NA YAMAHA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414516" y="2340864"/>
            <a:ext cx="206883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83,6%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6414516" y="2852928"/>
            <a:ext cx="2068830" cy="38404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893 motos — o peso do grupo na marca regional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903970" y="1920240"/>
            <a:ext cx="2507742" cy="1371600"/>
          </a:xfrm>
          <a:prstGeom prst="roundRect">
            <a:avLst>
              <a:gd name="adj" fmla="val 2000"/>
            </a:avLst>
          </a:prstGeom>
          <a:solidFill>
            <a:srgbClr val="F7F9FC"/>
          </a:solidFill>
          <a:ln/>
        </p:spPr>
      </p:sp>
      <p:sp>
        <p:nvSpPr>
          <p:cNvPr id="19" name="Text 17"/>
          <p:cNvSpPr/>
          <p:nvPr/>
        </p:nvSpPr>
        <p:spPr>
          <a:xfrm>
            <a:off x="9123426" y="2103120"/>
            <a:ext cx="2068830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ÁREAS MAPEADAS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9123426" y="2340864"/>
            <a:ext cx="206883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9123426" y="2852928"/>
            <a:ext cx="2068830" cy="38404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 a regional, cidade a cidade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396996" y="3310128"/>
            <a:ext cx="5394960" cy="3477578"/>
          </a:xfrm>
          <a:prstGeom prst="roundRect">
            <a:avLst>
              <a:gd name="adj" fmla="val 1841"/>
            </a:avLst>
          </a:prstGeom>
          <a:solidFill>
            <a:srgbClr val="0E1D36"/>
          </a:solidFill>
          <a:ln w="9525">
            <a:solidFill>
              <a:srgbClr val="22304A"/>
            </a:solidFill>
            <a:prstDash val="solid"/>
          </a:ln>
          <a:effectLst>
            <a:outerShdw sx="100000" sy="100000" kx="0" ky="0" algn="bl" rotWithShape="0" blurRad="177800" dist="63500" dir="5400000">
              <a:srgbClr val="0A1220">
                <a:alpha val="5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3543300" y="3401568"/>
            <a:ext cx="91440" cy="91440"/>
          </a:xfrm>
          <a:prstGeom prst="ellipse">
            <a:avLst/>
          </a:prstGeom>
          <a:solidFill>
            <a:srgbClr val="FF5F57"/>
          </a:solidFill>
          <a:ln/>
        </p:spPr>
      </p:sp>
      <p:sp>
        <p:nvSpPr>
          <p:cNvPr id="24" name="Shape 22"/>
          <p:cNvSpPr/>
          <p:nvPr/>
        </p:nvSpPr>
        <p:spPr>
          <a:xfrm>
            <a:off x="3698748" y="3401568"/>
            <a:ext cx="91440" cy="91440"/>
          </a:xfrm>
          <a:prstGeom prst="ellipse">
            <a:avLst/>
          </a:prstGeom>
          <a:solidFill>
            <a:srgbClr val="FFBD2E"/>
          </a:solidFill>
          <a:ln/>
        </p:spPr>
      </p:sp>
      <p:sp>
        <p:nvSpPr>
          <p:cNvPr id="25" name="Shape 23"/>
          <p:cNvSpPr/>
          <p:nvPr/>
        </p:nvSpPr>
        <p:spPr>
          <a:xfrm>
            <a:off x="3854196" y="3401568"/>
            <a:ext cx="91440" cy="91440"/>
          </a:xfrm>
          <a:prstGeom prst="ellipse">
            <a:avLst/>
          </a:prstGeom>
          <a:solidFill>
            <a:srgbClr val="28C840"/>
          </a:solidFill>
          <a:ln/>
        </p:spPr>
      </p:sp>
      <p:sp>
        <p:nvSpPr>
          <p:cNvPr id="26" name="Text 24"/>
          <p:cNvSpPr/>
          <p:nvPr/>
        </p:nvSpPr>
        <p:spPr>
          <a:xfrm>
            <a:off x="4722876" y="3337560"/>
            <a:ext cx="2743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FA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smart-dealer.vercel.app</a:t>
            </a:r>
            <a:endParaRPr lang="en-US" sz="800" dirty="0"/>
          </a:p>
        </p:txBody>
      </p:sp>
      <p:pic>
        <p:nvPicPr>
          <p:cNvPr id="27" name="Image 0" descr="_NOVAS MELHORIAS/deck-assets/marketsha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33572" y="3584448"/>
            <a:ext cx="5321808" cy="316668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1063447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PESQUISA · ITEM 2 DE 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777240"/>
            <a:ext cx="1063447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Concorrentes do mercado — e da solução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95451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3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77240" y="1426464"/>
            <a:ext cx="10634472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FÓRMULA DO SUCESSO:  </a:t>
            </a:r>
            <a:pPr indent="0" marL="0">
              <a:buNone/>
            </a:pPr>
            <a:r>
              <a:rPr lang="en-US" sz="115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"Análises dos concorrentes foram realizadas"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77240" y="1920240"/>
            <a:ext cx="513435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MERCADO (quem vende moto)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777240" y="2240280"/>
            <a:ext cx="5134356" cy="822960"/>
          </a:xfrm>
          <a:prstGeom prst="roundRect">
            <a:avLst>
              <a:gd name="adj" fmla="val 3333"/>
            </a:avLst>
          </a:prstGeom>
          <a:solidFill>
            <a:srgbClr val="F7F9FC"/>
          </a:solidFill>
          <a:ln/>
        </p:spPr>
      </p:sp>
      <p:sp>
        <p:nvSpPr>
          <p:cNvPr id="8" name="Text 6"/>
          <p:cNvSpPr/>
          <p:nvPr/>
        </p:nvSpPr>
        <p:spPr>
          <a:xfrm>
            <a:off x="960120" y="2350008"/>
            <a:ext cx="4768596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230 CNPJs concorrentes mapeados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960120" y="2660904"/>
            <a:ext cx="4768596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175 nomeados via Receita Federal / BrasilAPI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777240" y="3172968"/>
            <a:ext cx="5134356" cy="822960"/>
          </a:xfrm>
          <a:prstGeom prst="roundRect">
            <a:avLst>
              <a:gd name="adj" fmla="val 3333"/>
            </a:avLst>
          </a:prstGeom>
          <a:solidFill>
            <a:srgbClr val="F7F9FC"/>
          </a:solidFill>
          <a:ln/>
        </p:spPr>
      </p:sp>
      <p:sp>
        <p:nvSpPr>
          <p:cNvPr id="11" name="Text 9"/>
          <p:cNvSpPr/>
          <p:nvPr/>
        </p:nvSpPr>
        <p:spPr>
          <a:xfrm>
            <a:off x="960120" y="3282696"/>
            <a:ext cx="4768596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Invasão de território por CNPJ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960120" y="3593592"/>
            <a:ext cx="4768596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emplaca dentro da área da Nippon, loja a loja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77240" y="4105656"/>
            <a:ext cx="5134356" cy="822960"/>
          </a:xfrm>
          <a:prstGeom prst="roundRect">
            <a:avLst>
              <a:gd name="adj" fmla="val 3333"/>
            </a:avLst>
          </a:prstGeom>
          <a:solidFill>
            <a:srgbClr val="F7F9FC"/>
          </a:solidFill>
          <a:ln/>
        </p:spPr>
      </p:sp>
      <p:sp>
        <p:nvSpPr>
          <p:cNvPr id="14" name="Text 12"/>
          <p:cNvSpPr/>
          <p:nvPr/>
        </p:nvSpPr>
        <p:spPr>
          <a:xfrm>
            <a:off x="960120" y="4215384"/>
            <a:ext cx="4768596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Honda decomposta por segmento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960120" y="4526280"/>
            <a:ext cx="4768596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ela é imbatível e onde a Yamaha disputa de igual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277356" y="1920240"/>
            <a:ext cx="513435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SOLUÇÃO (quem disputa a gestão da CCY)</a:t>
            </a:r>
            <a:endParaRPr lang="en-US" sz="1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77356" y="2240280"/>
          <a:ext cx="5134356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1143000"/>
                <a:gridCol w="914400"/>
                <a:gridCol w="1207008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D3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CRM GENÉRICO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D3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DMS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D3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SMART DEALER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D3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9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Regras Yamaha codificadas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D64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D64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E9E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9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PDCA oficial em 1 clique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D64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D64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E9E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9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Liberacred / Premya / circulares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D64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D64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E9E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9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 mensal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R$ 800–2.500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já pago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E9E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R$ 600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18" name="Shape 15"/>
          <p:cNvSpPr/>
          <p:nvPr/>
        </p:nvSpPr>
        <p:spPr>
          <a:xfrm>
            <a:off x="777240" y="5257800"/>
            <a:ext cx="10634472" cy="960120"/>
          </a:xfrm>
          <a:prstGeom prst="roundRect">
            <a:avLst>
              <a:gd name="adj" fmla="val 2857"/>
            </a:avLst>
          </a:prstGeom>
          <a:solidFill>
            <a:srgbClr val="EEF4FF"/>
          </a:solidFill>
          <a:ln/>
        </p:spPr>
      </p:sp>
      <p:sp>
        <p:nvSpPr>
          <p:cNvPr id="19" name="Text 16"/>
          <p:cNvSpPr/>
          <p:nvPr/>
        </p:nvSpPr>
        <p:spPr>
          <a:xfrm>
            <a:off x="1051560" y="5404104"/>
            <a:ext cx="10085832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resposta à pergunta da 1ª banca ("qual a exclusividade?")</a:t>
            </a:r>
            <a:endParaRPr lang="en-US" sz="1350" dirty="0"/>
          </a:p>
        </p:txBody>
      </p:sp>
      <p:sp>
        <p:nvSpPr>
          <p:cNvPr id="20" name="Text 17"/>
          <p:cNvSpPr/>
          <p:nvPr/>
        </p:nvSpPr>
        <p:spPr>
          <a:xfrm>
            <a:off x="1051560" y="5715000"/>
            <a:ext cx="10085832" cy="39319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vantagem competitiva é o método Yamaha codificado — o software é só o veículo. Nenhum concorrente carrega carta, Kaizen, K2, Premya e circulares dentro do produto.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1063447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PESQUISA · ITEM 3 DE 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777240"/>
            <a:ext cx="1063447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análise ancorada numa fonte oficial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95451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3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77240" y="1426464"/>
            <a:ext cx="10634472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FÓRMULA DO SUCESSO:  </a:t>
            </a:r>
            <a:pPr indent="0" marL="0">
              <a:buNone/>
            </a:pPr>
            <a:r>
              <a:rPr lang="en-US" sz="115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"Pesquisas e análises de mercado foram suficientes"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920240"/>
          <a:ext cx="10634472" cy="914400"/>
        </p:xfrm>
        <a:graphic>
          <a:graphicData uri="http://schemas.openxmlformats.org/drawingml/2006/table">
            <a:tbl>
              <a:tblPr/>
              <a:tblGrid>
                <a:gridCol w="3931920"/>
                <a:gridCol w="3657600"/>
                <a:gridCol w="3044952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ANÁLISE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D3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FONTE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D3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ONDE VIVE NO SISTEMA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D3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9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 por segmento e cidade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 de emplacamento Yamaha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365F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tela Market Share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9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Decomposição mercado × share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Emplacamento + metodologia própria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365F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tela Performance + PDCA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9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Absorção do pós-vendas (K2)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DRE oficial BMI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365F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tela K2 · Absorção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9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Campanhas e prêmios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Circulares CA-MTC 028–033 e 080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365F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telas Campanhas + robô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9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Fidelidade ao Banco Yamaha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Folder oficial Premya 3ª edição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365F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tela Premya + simulador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9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Concorrentes nomeados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Receita Federal / BrasilAPI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365F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tela Market Share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9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Voz do cliente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Pesquisa própria (32 respostas)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365F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tela Voz do Cliente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777240" y="5623560"/>
            <a:ext cx="106344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Rastreabilidade total: na banca, qualquer número desta apresentação abre ao vivo na tela que o gerou.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1063447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PESQUISA · ITEM 4 DE 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777240"/>
            <a:ext cx="1063447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Três hipóteses testáveis — e a medida de cada uma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95451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3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77240" y="1426464"/>
            <a:ext cx="10634472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FÓRMULA DO SUCESSO:  </a:t>
            </a:r>
            <a:pPr indent="0" marL="0">
              <a:buNone/>
            </a:pPr>
            <a:r>
              <a:rPr lang="en-US" sz="115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"As hipóteses do trabalho foram claras a partir das análises realizadas"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777240" y="1965960"/>
            <a:ext cx="10634472" cy="1170432"/>
          </a:xfrm>
          <a:prstGeom prst="roundRect">
            <a:avLst>
              <a:gd name="adj" fmla="val 2344"/>
            </a:avLst>
          </a:prstGeom>
          <a:solidFill>
            <a:srgbClr val="F7F9FC"/>
          </a:solidFill>
          <a:ln/>
        </p:spPr>
      </p:sp>
      <p:sp>
        <p:nvSpPr>
          <p:cNvPr id="7" name="Text 5"/>
          <p:cNvSpPr/>
          <p:nvPr/>
        </p:nvSpPr>
        <p:spPr>
          <a:xfrm>
            <a:off x="1014984" y="2112264"/>
            <a:ext cx="10158984" cy="5669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— Se o lead for respondido em até 10 minutos, a conversão em venda sobe.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1014984" y="2743200"/>
            <a:ext cx="10158984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MEDIDA: tempo de resposta × conversão no relatório de Atendimento Diário.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777240" y="3291840"/>
            <a:ext cx="10634472" cy="1170432"/>
          </a:xfrm>
          <a:prstGeom prst="roundRect">
            <a:avLst>
              <a:gd name="adj" fmla="val 2344"/>
            </a:avLst>
          </a:prstGeom>
          <a:solidFill>
            <a:srgbClr val="F7F9FC"/>
          </a:solidFill>
          <a:ln/>
        </p:spPr>
      </p:sp>
      <p:sp>
        <p:nvSpPr>
          <p:cNvPr id="10" name="Text 8"/>
          <p:cNvSpPr/>
          <p:nvPr/>
        </p:nvSpPr>
        <p:spPr>
          <a:xfrm>
            <a:off x="1014984" y="3438144"/>
            <a:ext cx="10158984" cy="5669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H2 — Se o plano de ação nasce dos números (e não de opinião), ele é executado e o resultado aparece na carta.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1014984" y="4069080"/>
            <a:ext cx="10158984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MEDIDA: ações do PDCA concluídas × atingimento mensal.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777240" y="4617720"/>
            <a:ext cx="10634472" cy="1170432"/>
          </a:xfrm>
          <a:prstGeom prst="roundRect">
            <a:avLst>
              <a:gd name="adj" fmla="val 2344"/>
            </a:avLst>
          </a:prstGeom>
          <a:solidFill>
            <a:srgbClr val="F7F9FC"/>
          </a:solidFill>
          <a:ln/>
        </p:spPr>
      </p:sp>
      <p:sp>
        <p:nvSpPr>
          <p:cNvPr id="13" name="Text 11"/>
          <p:cNvSpPr/>
          <p:nvPr/>
        </p:nvSpPr>
        <p:spPr>
          <a:xfrm>
            <a:off x="1014984" y="4764024"/>
            <a:ext cx="10158984" cy="5669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H3 — Se o pós-vendas absorve 65% das despesas fixas, a operação para de depender da venda de motos para pagar a conta.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1014984" y="5394960"/>
            <a:ext cx="10158984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MEDIDA: taxa K2 mensal × ponto de equilíbrio.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77240" y="6053328"/>
            <a:ext cx="106344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1E9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já tem resultado: SLA de 10 min subiu de 22% para 81% — e a conversão foi de 8,1% para 13,9%.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1063447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PLANEJAMENTO E OBJETIVOS · ITEM 1 DE 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777240"/>
            <a:ext cx="1063447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objetivo. Uma frase. Sempre a mesma.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95451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3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77240" y="1426464"/>
            <a:ext cx="10634472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FÓRMULA DO SUCESSO:  </a:t>
            </a:r>
            <a:pPr indent="0" marL="0">
              <a:buNone/>
            </a:pPr>
            <a:r>
              <a:rPr lang="en-US" sz="115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"O objetivo do trabalho é claro e definido"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777240" y="2468880"/>
            <a:ext cx="10634472" cy="1737360"/>
          </a:xfrm>
          <a:prstGeom prst="roundRect">
            <a:avLst>
              <a:gd name="adj" fmla="val 3158"/>
            </a:avLst>
          </a:prstGeom>
          <a:solidFill>
            <a:srgbClr val="091426"/>
          </a:solidFill>
          <a:ln/>
        </p:spPr>
      </p:sp>
      <p:sp>
        <p:nvSpPr>
          <p:cNvPr id="7" name="Text 5"/>
          <p:cNvSpPr/>
          <p:nvPr/>
        </p:nvSpPr>
        <p:spPr>
          <a:xfrm>
            <a:off x="1234440" y="2468880"/>
            <a:ext cx="9720072" cy="17373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ts val="2700"/>
              </a:lnSpc>
              <a:buNone/>
            </a:pPr>
            <a:r>
              <a:rPr lang="en-US" sz="1900" b="1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"Aumentar o atingimento de carta e a absorção do pós-vendas da Nippon Motos usando decisão guiada por dados — medido por três metas públicas."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777240" y="4572000"/>
            <a:ext cx="3410712" cy="1051560"/>
          </a:xfrm>
          <a:prstGeom prst="roundRect">
            <a:avLst>
              <a:gd name="adj" fmla="val 2609"/>
            </a:avLst>
          </a:prstGeom>
          <a:solidFill>
            <a:srgbClr val="F7F9FC"/>
          </a:solidFill>
          <a:ln/>
        </p:spPr>
      </p:sp>
      <p:sp>
        <p:nvSpPr>
          <p:cNvPr id="9" name="Text 7"/>
          <p:cNvSpPr/>
          <p:nvPr/>
        </p:nvSpPr>
        <p:spPr>
          <a:xfrm>
            <a:off x="996696" y="4773168"/>
            <a:ext cx="297180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verbo e alvo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96696" y="5138928"/>
            <a:ext cx="2971800" cy="3200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aumentar carta e absorção — não "melhorar a gestão"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89120" y="4572000"/>
            <a:ext cx="3410712" cy="1051560"/>
          </a:xfrm>
          <a:prstGeom prst="roundRect">
            <a:avLst>
              <a:gd name="adj" fmla="val 2609"/>
            </a:avLst>
          </a:prstGeom>
          <a:solidFill>
            <a:srgbClr val="F7F9FC"/>
          </a:solidFill>
          <a:ln/>
        </p:spPr>
      </p:sp>
      <p:sp>
        <p:nvSpPr>
          <p:cNvPr id="12" name="Text 10"/>
          <p:cNvSpPr/>
          <p:nvPr/>
        </p:nvSpPr>
        <p:spPr>
          <a:xfrm>
            <a:off x="4608576" y="4773168"/>
            <a:ext cx="297180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Repetida em todo material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608576" y="5138928"/>
            <a:ext cx="2971800" cy="3200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slides, sistema, dossiê — a mesma frase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001000" y="4572000"/>
            <a:ext cx="3410712" cy="1051560"/>
          </a:xfrm>
          <a:prstGeom prst="roundRect">
            <a:avLst>
              <a:gd name="adj" fmla="val 2609"/>
            </a:avLst>
          </a:prstGeom>
          <a:solidFill>
            <a:srgbClr val="F7F9FC"/>
          </a:solidFill>
          <a:ln/>
        </p:spPr>
      </p:sp>
      <p:sp>
        <p:nvSpPr>
          <p:cNvPr id="15" name="Text 13"/>
          <p:cNvSpPr/>
          <p:nvPr/>
        </p:nvSpPr>
        <p:spPr>
          <a:xfrm>
            <a:off x="8220456" y="4773168"/>
            <a:ext cx="297180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Medida por 3 metas públicas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220456" y="5138928"/>
            <a:ext cx="2971800" cy="3200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próximo slide as declara com número e prazo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1063447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PLANEJAMENTO E OBJETIVOS · ITEM 2 DE 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777240"/>
            <a:ext cx="1063447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Três metas públicas, com número e prazo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95451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3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77240" y="1426464"/>
            <a:ext cx="10634472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FÓRMULA DO SUCESSO:  </a:t>
            </a:r>
            <a:pPr indent="0" marL="0">
              <a:buNone/>
            </a:pPr>
            <a:r>
              <a:rPr lang="en-US" sz="115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"O objetivo do trabalho é mensurável"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777240" y="2103120"/>
            <a:ext cx="3410712" cy="2286000"/>
          </a:xfrm>
          <a:prstGeom prst="roundRect">
            <a:avLst>
              <a:gd name="adj" fmla="val 1200"/>
            </a:avLst>
          </a:prstGeom>
          <a:solidFill>
            <a:srgbClr val="F7F9FC"/>
          </a:solidFill>
          <a:ln/>
        </p:spPr>
      </p:sp>
      <p:sp>
        <p:nvSpPr>
          <p:cNvPr id="7" name="Text 5"/>
          <p:cNvSpPr/>
          <p:nvPr/>
        </p:nvSpPr>
        <p:spPr>
          <a:xfrm>
            <a:off x="996696" y="2331720"/>
            <a:ext cx="2971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 1 · CARTA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996696" y="2606040"/>
            <a:ext cx="2971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9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 100%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996696" y="3291840"/>
            <a:ext cx="2971800" cy="9601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setembro/2026 — julho fechou em 90,0% e o prêmio da campanha está em jogo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389120" y="2103120"/>
            <a:ext cx="3410712" cy="2286000"/>
          </a:xfrm>
          <a:prstGeom prst="roundRect">
            <a:avLst>
              <a:gd name="adj" fmla="val 1200"/>
            </a:avLst>
          </a:prstGeom>
          <a:solidFill>
            <a:srgbClr val="F7F9FC"/>
          </a:solidFill>
          <a:ln/>
        </p:spPr>
      </p:sp>
      <p:sp>
        <p:nvSpPr>
          <p:cNvPr id="11" name="Text 9"/>
          <p:cNvSpPr/>
          <p:nvPr/>
        </p:nvSpPr>
        <p:spPr>
          <a:xfrm>
            <a:off x="4608576" y="2331720"/>
            <a:ext cx="2971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 2 · ABSORÇÃO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608576" y="2606040"/>
            <a:ext cx="2971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9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65%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4608576" y="3291840"/>
            <a:ext cx="2971800" cy="9601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até dezembro/2026 — saímos de 30% e já estamos em 49,4% (K2 lido do DRE)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001000" y="2103120"/>
            <a:ext cx="3410712" cy="2286000"/>
          </a:xfrm>
          <a:prstGeom prst="roundRect">
            <a:avLst>
              <a:gd name="adj" fmla="val 1200"/>
            </a:avLst>
          </a:prstGeom>
          <a:solidFill>
            <a:srgbClr val="F7F9FC"/>
          </a:solidFill>
          <a:ln/>
        </p:spPr>
      </p:sp>
      <p:sp>
        <p:nvSpPr>
          <p:cNvPr id="15" name="Text 13"/>
          <p:cNvSpPr/>
          <p:nvPr/>
        </p:nvSpPr>
        <p:spPr>
          <a:xfrm>
            <a:off x="8220456" y="2331720"/>
            <a:ext cx="2971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 3 · LEAD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8220456" y="2606040"/>
            <a:ext cx="2971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9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≤ 10 min</a:t>
            </a:r>
            <a:endParaRPr lang="en-US" sz="3400" dirty="0"/>
          </a:p>
        </p:txBody>
      </p:sp>
      <p:sp>
        <p:nvSpPr>
          <p:cNvPr id="17" name="Text 15"/>
          <p:cNvSpPr/>
          <p:nvPr/>
        </p:nvSpPr>
        <p:spPr>
          <a:xfrm>
            <a:off x="8220456" y="3291840"/>
            <a:ext cx="2971800" cy="9601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padrão de atendimento — hoje 81% dentro do SLA; era 22% antes do piloto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777240" y="4709160"/>
            <a:ext cx="10634472" cy="914400"/>
          </a:xfrm>
          <a:prstGeom prst="roundRect">
            <a:avLst>
              <a:gd name="adj" fmla="val 3000"/>
            </a:avLst>
          </a:prstGeom>
          <a:solidFill>
            <a:srgbClr val="EEF4FF"/>
          </a:solidFill>
          <a:ln/>
        </p:spPr>
      </p:sp>
      <p:sp>
        <p:nvSpPr>
          <p:cNvPr id="19" name="Text 17"/>
          <p:cNvSpPr/>
          <p:nvPr/>
        </p:nvSpPr>
        <p:spPr>
          <a:xfrm>
            <a:off x="1051560" y="4855464"/>
            <a:ext cx="10085832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sistema mede as três, ao vivo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1051560" y="5166360"/>
            <a:ext cx="10085832" cy="34747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meta virou compromisso público, não promessa — convidamos a banca a cobrar o resultado na apresentação final.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1063447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PLANEJAMENTO E OBJETIVOS · ITEM 3 DE 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777240"/>
            <a:ext cx="1063447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entregas, com data — tudo dentro do cronograma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95451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3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77240" y="1426464"/>
            <a:ext cx="10634472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FÓRMULA DO SUCESSO:  </a:t>
            </a:r>
            <a:pPr indent="0" marL="0">
              <a:buNone/>
            </a:pPr>
            <a:r>
              <a:rPr lang="en-US" sz="115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"O objetivo foi atingido no prazo"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960120" y="2514600"/>
            <a:ext cx="10268712" cy="0"/>
          </a:xfrm>
          <a:prstGeom prst="line">
            <a:avLst/>
          </a:prstGeom>
          <a:noFill/>
          <a:ln w="19050">
            <a:solidFill>
              <a:srgbClr val="E5EAF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521714" y="2441448"/>
            <a:ext cx="146304" cy="146304"/>
          </a:xfrm>
          <a:prstGeom prst="ellipse">
            <a:avLst/>
          </a:prstGeom>
          <a:solidFill>
            <a:srgbClr val="1E9E5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2057400"/>
            <a:ext cx="16352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Jun/26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777240" y="2834640"/>
            <a:ext cx="1635252" cy="1783080"/>
          </a:xfrm>
          <a:prstGeom prst="roundRect">
            <a:avLst>
              <a:gd name="adj" fmla="val 2237"/>
            </a:avLst>
          </a:prstGeom>
          <a:solidFill>
            <a:srgbClr val="F7F9FC"/>
          </a:solidFill>
          <a:ln/>
        </p:spPr>
      </p:sp>
      <p:sp>
        <p:nvSpPr>
          <p:cNvPr id="10" name="Text 8"/>
          <p:cNvSpPr/>
          <p:nvPr/>
        </p:nvSpPr>
        <p:spPr>
          <a:xfrm>
            <a:off x="868680" y="2971800"/>
            <a:ext cx="1452372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Fundação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886968" y="3291840"/>
            <a:ext cx="1415796" cy="12344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ctr" indent="0" marL="0">
              <a:lnSpc>
                <a:spcPts val="1250"/>
              </a:lnSpc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dashboard, varejo, estoque, NPS e leads no ar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321558" y="2441448"/>
            <a:ext cx="146304" cy="146304"/>
          </a:xfrm>
          <a:prstGeom prst="ellipse">
            <a:avLst/>
          </a:prstGeom>
          <a:solidFill>
            <a:srgbClr val="1E9E5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577084" y="2057400"/>
            <a:ext cx="16352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21/06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2577084" y="2834640"/>
            <a:ext cx="1635252" cy="1783080"/>
          </a:xfrm>
          <a:prstGeom prst="roundRect">
            <a:avLst>
              <a:gd name="adj" fmla="val 2237"/>
            </a:avLst>
          </a:prstGeom>
          <a:solidFill>
            <a:srgbClr val="F7F9FC"/>
          </a:solidFill>
          <a:ln/>
        </p:spPr>
      </p:sp>
      <p:sp>
        <p:nvSpPr>
          <p:cNvPr id="15" name="Text 13"/>
          <p:cNvSpPr/>
          <p:nvPr/>
        </p:nvSpPr>
        <p:spPr>
          <a:xfrm>
            <a:off x="2668524" y="2971800"/>
            <a:ext cx="1452372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Inteligência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2686812" y="3291840"/>
            <a:ext cx="1415796" cy="12344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ctr" indent="0" marL="0">
              <a:lnSpc>
                <a:spcPts val="1250"/>
              </a:lnSpc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Share, Kaizen e Treinamento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121402" y="2441448"/>
            <a:ext cx="146304" cy="146304"/>
          </a:xfrm>
          <a:prstGeom prst="ellipse">
            <a:avLst/>
          </a:prstGeom>
          <a:solidFill>
            <a:srgbClr val="1E9E5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376928" y="2057400"/>
            <a:ext cx="16352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22/06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376928" y="2834640"/>
            <a:ext cx="1635252" cy="1783080"/>
          </a:xfrm>
          <a:prstGeom prst="roundRect">
            <a:avLst>
              <a:gd name="adj" fmla="val 2237"/>
            </a:avLst>
          </a:prstGeom>
          <a:solidFill>
            <a:srgbClr val="F7F9FC"/>
          </a:solidFill>
          <a:ln/>
        </p:spPr>
      </p:sp>
      <p:sp>
        <p:nvSpPr>
          <p:cNvPr id="20" name="Text 18"/>
          <p:cNvSpPr/>
          <p:nvPr/>
        </p:nvSpPr>
        <p:spPr>
          <a:xfrm>
            <a:off x="4468368" y="2971800"/>
            <a:ext cx="1452372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Comercial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486656" y="3291840"/>
            <a:ext cx="1415796" cy="12344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ctr" indent="0" marL="0">
              <a:lnSpc>
                <a:spcPts val="1250"/>
              </a:lnSpc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CRM, campanhas IA, playbook e pós-vendas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6921246" y="2441448"/>
            <a:ext cx="146304" cy="146304"/>
          </a:xfrm>
          <a:prstGeom prst="ellipse">
            <a:avLst/>
          </a:prstGeom>
          <a:solidFill>
            <a:srgbClr val="1E9E5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176772" y="2057400"/>
            <a:ext cx="16352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06/08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176772" y="2834640"/>
            <a:ext cx="1635252" cy="1783080"/>
          </a:xfrm>
          <a:prstGeom prst="roundRect">
            <a:avLst>
              <a:gd name="adj" fmla="val 2237"/>
            </a:avLst>
          </a:prstGeom>
          <a:solidFill>
            <a:srgbClr val="F7F9FC"/>
          </a:solidFill>
          <a:ln/>
        </p:spPr>
      </p:sp>
      <p:sp>
        <p:nvSpPr>
          <p:cNvPr id="25" name="Text 23"/>
          <p:cNvSpPr/>
          <p:nvPr/>
        </p:nvSpPr>
        <p:spPr>
          <a:xfrm>
            <a:off x="6268212" y="2971800"/>
            <a:ext cx="1452372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286500" y="3291840"/>
            <a:ext cx="1415796" cy="12344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ctr" indent="0" marL="0">
              <a:lnSpc>
                <a:spcPts val="1250"/>
              </a:lnSpc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decomposição mercado × share + PDCA em 1 clique + K2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8721090" y="2441448"/>
            <a:ext cx="146304" cy="146304"/>
          </a:xfrm>
          <a:prstGeom prst="ellipse">
            <a:avLst/>
          </a:prstGeom>
          <a:solidFill>
            <a:srgbClr val="1E9E5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976616" y="2057400"/>
            <a:ext cx="16352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07/08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7976616" y="2834640"/>
            <a:ext cx="1635252" cy="1783080"/>
          </a:xfrm>
          <a:prstGeom prst="roundRect">
            <a:avLst>
              <a:gd name="adj" fmla="val 2237"/>
            </a:avLst>
          </a:prstGeom>
          <a:solidFill>
            <a:srgbClr val="F7F9FC"/>
          </a:solidFill>
          <a:ln/>
        </p:spPr>
      </p:sp>
      <p:sp>
        <p:nvSpPr>
          <p:cNvPr id="30" name="Text 28"/>
          <p:cNvSpPr/>
          <p:nvPr/>
        </p:nvSpPr>
        <p:spPr>
          <a:xfrm>
            <a:off x="8068056" y="2971800"/>
            <a:ext cx="1452372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Campanhas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8086344" y="3291840"/>
            <a:ext cx="1415796" cy="12344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ctr" indent="0" marL="0">
              <a:lnSpc>
                <a:spcPts val="1250"/>
              </a:lnSpc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vouchers por modelo + Campeões de Vendas codificados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10520934" y="2441448"/>
            <a:ext cx="146304" cy="146304"/>
          </a:xfrm>
          <a:prstGeom prst="ellipse">
            <a:avLst/>
          </a:prstGeom>
          <a:solidFill>
            <a:srgbClr val="1E9E5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776460" y="2057400"/>
            <a:ext cx="16352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20/08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9776460" y="2834640"/>
            <a:ext cx="1635252" cy="1783080"/>
          </a:xfrm>
          <a:prstGeom prst="roundRect">
            <a:avLst>
              <a:gd name="adj" fmla="val 2237"/>
            </a:avLst>
          </a:prstGeom>
          <a:solidFill>
            <a:srgbClr val="F7F9FC"/>
          </a:solidFill>
          <a:ln/>
        </p:spPr>
      </p:sp>
      <p:sp>
        <p:nvSpPr>
          <p:cNvPr id="35" name="Text 33"/>
          <p:cNvSpPr/>
          <p:nvPr/>
        </p:nvSpPr>
        <p:spPr>
          <a:xfrm>
            <a:off x="9867900" y="2971800"/>
            <a:ext cx="1452372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Banco &amp; cliente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9886188" y="3291840"/>
            <a:ext cx="1415796" cy="12344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ctr" indent="0" marL="0">
              <a:lnSpc>
                <a:spcPts val="1250"/>
              </a:lnSpc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Liberacred, Premya, Seguros, Consórcio, Voz do Cliente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777240" y="5029200"/>
            <a:ext cx="106344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8A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módulos em produção em 10 semanas — metodologia ágil com PDCA sobre o próprio projeto.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1063447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PLANEJAMENTO E OBJETIVOS · ITEM 4 DE 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777240"/>
            <a:ext cx="1063447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KPI tem meta — e cada meta tem tela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95451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3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77240" y="1426464"/>
            <a:ext cx="10634472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FÓRMULA DO SUCESSO:  </a:t>
            </a:r>
            <a:pPr indent="0" marL="0">
              <a:buNone/>
            </a:pPr>
            <a:r>
              <a:rPr lang="en-US" sz="115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"Os KPIs estão alinhados com os objetivos"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920240"/>
          <a:ext cx="10634472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1554480"/>
                <a:gridCol w="3017520"/>
                <a:gridCol w="2496312"/>
              </a:tblGrid>
              <a:tr h="4937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KPI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D3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D3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HOJE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D3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ONDE VIVE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D36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9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Atingimento da carta varejo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 100%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B779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90,0% (jul)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365F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Dashboard + Varejo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9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Absorção do pós-vendas (K2)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B779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49,4%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365F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K2 · Absorção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9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Tempo de 1ª resposta ao lead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≤ 10 min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E9E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 min · 81% no SLA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365F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Atendimento Diário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9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NPS Vendas / Pós-vendas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 / 87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E9E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94,5 / 87,7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365F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9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Pontos Kaizen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B779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 (LCR e NPS a recuperar)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365F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Kaizen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9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Índice de Fidelidade Premya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Ouro (85%)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B779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Bronze · 71,6%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365F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Premya + simulador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777240" y="5532120"/>
            <a:ext cx="106344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Verde = meta batida · âmbar = em curso. Nenhum KPI decorativo: todos ligados às 3 metas públicas.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1063447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PLANEJAMENTO E OBJETIVOS · ITEM 5 DE 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777240"/>
            <a:ext cx="1063447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plano nasce dos números — PDCA oficial em um clique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95451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3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77240" y="1426464"/>
            <a:ext cx="10634472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FÓRMULA DO SUCESSO:  </a:t>
            </a:r>
            <a:pPr indent="0" marL="0">
              <a:buNone/>
            </a:pPr>
            <a:r>
              <a:rPr lang="en-US" sz="115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"O plano de ação está alinhado com os objetivos"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777240" y="1965960"/>
            <a:ext cx="4846320" cy="841248"/>
          </a:xfrm>
          <a:prstGeom prst="roundRect">
            <a:avLst>
              <a:gd name="adj" fmla="val 3261"/>
            </a:avLst>
          </a:prstGeom>
          <a:solidFill>
            <a:srgbClr val="F7F9FC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2075688"/>
            <a:ext cx="4480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O sistema decompõe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960120" y="237744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 × share: o desvio é demanda da praça ou execução nossa?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777240" y="2926080"/>
            <a:ext cx="4846320" cy="841248"/>
          </a:xfrm>
          <a:prstGeom prst="roundRect">
            <a:avLst>
              <a:gd name="adj" fmla="val 3261"/>
            </a:avLst>
          </a:prstGeom>
          <a:solidFill>
            <a:srgbClr val="F7F9FC"/>
          </a:solidFill>
          <a:ln/>
        </p:spPr>
      </p:sp>
      <p:sp>
        <p:nvSpPr>
          <p:cNvPr id="10" name="Text 8"/>
          <p:cNvSpPr/>
          <p:nvPr/>
        </p:nvSpPr>
        <p:spPr>
          <a:xfrm>
            <a:off x="960120" y="3035808"/>
            <a:ext cx="4480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Aponta onde agir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960120" y="333756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segmento em disputa, cidade em queda, invasão de território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777240" y="3886200"/>
            <a:ext cx="4846320" cy="841248"/>
          </a:xfrm>
          <a:prstGeom prst="roundRect">
            <a:avLst>
              <a:gd name="adj" fmla="val 3261"/>
            </a:avLst>
          </a:prstGeom>
          <a:solidFill>
            <a:srgbClr val="F7F9FC"/>
          </a:solidFill>
          <a:ln/>
        </p:spPr>
      </p:sp>
      <p:sp>
        <p:nvSpPr>
          <p:cNvPr id="13" name="Text 11"/>
          <p:cNvSpPr/>
          <p:nvPr/>
        </p:nvSpPr>
        <p:spPr>
          <a:xfrm>
            <a:off x="960120" y="3995928"/>
            <a:ext cx="4480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Escreve o PDCA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960120" y="429768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formato oficial Yamaha, pronto para a regional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77240" y="4846320"/>
            <a:ext cx="4846320" cy="841248"/>
          </a:xfrm>
          <a:prstGeom prst="roundRect">
            <a:avLst>
              <a:gd name="adj" fmla="val 3261"/>
            </a:avLst>
          </a:prstGeom>
          <a:solidFill>
            <a:srgbClr val="F7F9FC"/>
          </a:solidFill>
          <a:ln/>
        </p:spPr>
      </p:sp>
      <p:sp>
        <p:nvSpPr>
          <p:cNvPr id="16" name="Text 14"/>
          <p:cNvSpPr/>
          <p:nvPr/>
        </p:nvSpPr>
        <p:spPr>
          <a:xfrm>
            <a:off x="960120" y="4956048"/>
            <a:ext cx="4480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Cobra a execução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960120" y="525780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ação com dono e prazo — reaberta no mês seguinte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989320" y="1965960"/>
            <a:ext cx="5513832" cy="3548158"/>
          </a:xfrm>
          <a:prstGeom prst="roundRect">
            <a:avLst>
              <a:gd name="adj" fmla="val 1804"/>
            </a:avLst>
          </a:prstGeom>
          <a:solidFill>
            <a:srgbClr val="0E1D36"/>
          </a:solidFill>
          <a:ln w="9525">
            <a:solidFill>
              <a:srgbClr val="22304A"/>
            </a:solidFill>
            <a:prstDash val="solid"/>
          </a:ln>
          <a:effectLst>
            <a:outerShdw sx="100000" sy="100000" kx="0" ky="0" algn="bl" rotWithShape="0" blurRad="177800" dist="63500" dir="5400000">
              <a:srgbClr val="0A1220">
                <a:alpha val="5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135624" y="2057400"/>
            <a:ext cx="91440" cy="91440"/>
          </a:xfrm>
          <a:prstGeom prst="ellipse">
            <a:avLst/>
          </a:prstGeom>
          <a:solidFill>
            <a:srgbClr val="FF5F57"/>
          </a:solidFill>
          <a:ln/>
        </p:spPr>
      </p:sp>
      <p:sp>
        <p:nvSpPr>
          <p:cNvPr id="20" name="Shape 18"/>
          <p:cNvSpPr/>
          <p:nvPr/>
        </p:nvSpPr>
        <p:spPr>
          <a:xfrm>
            <a:off x="6291072" y="2057400"/>
            <a:ext cx="91440" cy="91440"/>
          </a:xfrm>
          <a:prstGeom prst="ellipse">
            <a:avLst/>
          </a:prstGeom>
          <a:solidFill>
            <a:srgbClr val="FFBD2E"/>
          </a:solidFill>
          <a:ln/>
        </p:spPr>
      </p:sp>
      <p:sp>
        <p:nvSpPr>
          <p:cNvPr id="21" name="Shape 19"/>
          <p:cNvSpPr/>
          <p:nvPr/>
        </p:nvSpPr>
        <p:spPr>
          <a:xfrm>
            <a:off x="6446520" y="2057400"/>
            <a:ext cx="91440" cy="91440"/>
          </a:xfrm>
          <a:prstGeom prst="ellipse">
            <a:avLst/>
          </a:prstGeom>
          <a:solidFill>
            <a:srgbClr val="28C840"/>
          </a:solidFill>
          <a:ln/>
        </p:spPr>
      </p:sp>
      <p:sp>
        <p:nvSpPr>
          <p:cNvPr id="22" name="Text 20"/>
          <p:cNvSpPr/>
          <p:nvPr/>
        </p:nvSpPr>
        <p:spPr>
          <a:xfrm>
            <a:off x="7374636" y="1993392"/>
            <a:ext cx="2743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FA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smart-dealer.vercel.app</a:t>
            </a:r>
            <a:endParaRPr lang="en-US" sz="800" dirty="0"/>
          </a:p>
        </p:txBody>
      </p:sp>
      <p:pic>
        <p:nvPicPr>
          <p:cNvPr id="23" name="Image 0" descr="_NOVAS MELHORIAS/deck-assets/performan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25896" y="2240280"/>
            <a:ext cx="5440680" cy="3237262"/>
          </a:xfrm>
          <a:prstGeom prst="rect">
            <a:avLst/>
          </a:prstGeom>
        </p:spPr>
      </p:pic>
      <p:sp>
        <p:nvSpPr>
          <p:cNvPr id="24" name="Text 21"/>
          <p:cNvSpPr/>
          <p:nvPr/>
        </p:nvSpPr>
        <p:spPr>
          <a:xfrm>
            <a:off x="5989320" y="5623560"/>
            <a:ext cx="55138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Momento mais forte da demonstração: o PDCA gerado ao vivo, na frente da banca.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1063447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PLANEJAMENTO E OBJETIVOS · ITEM 6 DE 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777240"/>
            <a:ext cx="1063447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o piloto já produziu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95451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3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77240" y="1426464"/>
            <a:ext cx="10634472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FÓRMULA DO SUCESSO:  </a:t>
            </a:r>
            <a:pPr indent="0" marL="0">
              <a:buNone/>
            </a:pPr>
            <a:r>
              <a:rPr lang="en-US" sz="115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"O objetivo está relacionado aos resultados"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777240" y="1965960"/>
            <a:ext cx="2507742" cy="1463040"/>
          </a:xfrm>
          <a:prstGeom prst="roundRect">
            <a:avLst>
              <a:gd name="adj" fmla="val 1875"/>
            </a:avLst>
          </a:prstGeom>
          <a:solidFill>
            <a:srgbClr val="F7F9FC"/>
          </a:solidFill>
          <a:ln/>
        </p:spPr>
      </p:sp>
      <p:sp>
        <p:nvSpPr>
          <p:cNvPr id="7" name="Text 5"/>
          <p:cNvSpPr/>
          <p:nvPr/>
        </p:nvSpPr>
        <p:spPr>
          <a:xfrm>
            <a:off x="996696" y="2148840"/>
            <a:ext cx="2068830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CAMPANHA CAMPEÕES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996696" y="2386584"/>
            <a:ext cx="206883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E9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R$ 7.500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996696" y="2990088"/>
            <a:ext cx="2068830" cy="38404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garantidos em julho (90,0% da carta) + R$ 15 mil recuperáveis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486150" y="1965960"/>
            <a:ext cx="2507742" cy="1463040"/>
          </a:xfrm>
          <a:prstGeom prst="roundRect">
            <a:avLst>
              <a:gd name="adj" fmla="val 1875"/>
            </a:avLst>
          </a:prstGeom>
          <a:solidFill>
            <a:srgbClr val="F7F9FC"/>
          </a:solidFill>
          <a:ln/>
        </p:spPr>
      </p:sp>
      <p:sp>
        <p:nvSpPr>
          <p:cNvPr id="11" name="Text 9"/>
          <p:cNvSpPr/>
          <p:nvPr/>
        </p:nvSpPr>
        <p:spPr>
          <a:xfrm>
            <a:off x="3705606" y="2148840"/>
            <a:ext cx="2068830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VOUCHERS POR MODELO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3705606" y="2386584"/>
            <a:ext cx="206883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E9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R$ 66 mil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3705606" y="2990088"/>
            <a:ext cx="2068830" cy="38404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apurados em julho; com Campeões, R$ 73,5 mil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195060" y="1965960"/>
            <a:ext cx="2507742" cy="1463040"/>
          </a:xfrm>
          <a:prstGeom prst="roundRect">
            <a:avLst>
              <a:gd name="adj" fmla="val 1875"/>
            </a:avLst>
          </a:prstGeom>
          <a:solidFill>
            <a:srgbClr val="F7F9FC"/>
          </a:solidFill>
          <a:ln/>
        </p:spPr>
      </p:sp>
      <p:sp>
        <p:nvSpPr>
          <p:cNvPr id="15" name="Text 13"/>
          <p:cNvSpPr/>
          <p:nvPr/>
        </p:nvSpPr>
        <p:spPr>
          <a:xfrm>
            <a:off x="6414516" y="2148840"/>
            <a:ext cx="2068830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ABSORÇÃO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414516" y="2386584"/>
            <a:ext cx="206883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E9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+19 p.p.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6414516" y="2990088"/>
            <a:ext cx="2068830" cy="38404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30% para 49,4% — a caminho da meta de 65%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903970" y="1965960"/>
            <a:ext cx="2507742" cy="1463040"/>
          </a:xfrm>
          <a:prstGeom prst="roundRect">
            <a:avLst>
              <a:gd name="adj" fmla="val 1875"/>
            </a:avLst>
          </a:prstGeom>
          <a:solidFill>
            <a:srgbClr val="F7F9FC"/>
          </a:solidFill>
          <a:ln/>
        </p:spPr>
      </p:sp>
      <p:sp>
        <p:nvSpPr>
          <p:cNvPr id="19" name="Text 17"/>
          <p:cNvSpPr/>
          <p:nvPr/>
        </p:nvSpPr>
        <p:spPr>
          <a:xfrm>
            <a:off x="9123426" y="2148840"/>
            <a:ext cx="2068830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CONVERSÃO DE LEADS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9123426" y="2386584"/>
            <a:ext cx="206883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E9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8,1 → 13,9%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9123426" y="2990088"/>
            <a:ext cx="2068830" cy="38404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o SLA de 10 minutos governado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77240" y="3840480"/>
            <a:ext cx="10634472" cy="1143000"/>
          </a:xfrm>
          <a:prstGeom prst="roundRect">
            <a:avLst>
              <a:gd name="adj" fmla="val 2400"/>
            </a:avLst>
          </a:prstGeom>
          <a:solidFill>
            <a:srgbClr val="E7F6EE"/>
          </a:solidFill>
          <a:ln/>
        </p:spPr>
      </p:sp>
      <p:sp>
        <p:nvSpPr>
          <p:cNvPr id="23" name="Text 21"/>
          <p:cNvSpPr/>
          <p:nvPr/>
        </p:nvSpPr>
        <p:spPr>
          <a:xfrm>
            <a:off x="1051560" y="3986784"/>
            <a:ext cx="10085832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Potencial anual identificado pelo sistema: cerca de R$ 1,1 milhão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1051560" y="4297680"/>
            <a:ext cx="10085832" cy="57607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Prêmios de campanha (~R$ 400 mil) + gap de absorção do K2 (~R$ 490 mil) + Premya, Seguros e Consórcio (~R$ 200 mil) — em uma única concessionária.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777240" y="5212080"/>
            <a:ext cx="106344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Setembro fecha a campanha e a Meta 1 — o resultado estará na tela, ao vivo, na apresentação final.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1063447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FOCO NO CLIENTE · ITEM 1 DE 8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777240"/>
            <a:ext cx="1063447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Seis personas — cinco dentro da loja, uma na garupa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95451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3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77240" y="1426464"/>
            <a:ext cx="10634472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FÓRMULA DO SUCESSO:  </a:t>
            </a:r>
            <a:pPr indent="0" marL="0">
              <a:buNone/>
            </a:pPr>
            <a:r>
              <a:rPr lang="en-US" sz="115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"O público alvo (cliente) foi claramente definido"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777240" y="1965960"/>
            <a:ext cx="3410712" cy="1371600"/>
          </a:xfrm>
          <a:prstGeom prst="roundRect">
            <a:avLst>
              <a:gd name="adj" fmla="val 2000"/>
            </a:avLst>
          </a:prstGeom>
          <a:solidFill>
            <a:srgbClr val="F7F9FC"/>
          </a:solidFill>
          <a:ln/>
        </p:spPr>
      </p:sp>
      <p:sp>
        <p:nvSpPr>
          <p:cNvPr id="7" name="Text 5"/>
          <p:cNvSpPr/>
          <p:nvPr/>
        </p:nvSpPr>
        <p:spPr>
          <a:xfrm>
            <a:off x="996696" y="2167128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TITULAR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996696" y="2423160"/>
            <a:ext cx="297180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João Paulo Zorzi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96696" y="2788920"/>
            <a:ext cx="2971800" cy="38404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vê o negócio inteiro: carta, crédito, absorção, ranking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389120" y="1965960"/>
            <a:ext cx="3410712" cy="1371600"/>
          </a:xfrm>
          <a:prstGeom prst="roundRect">
            <a:avLst>
              <a:gd name="adj" fmla="val 2000"/>
            </a:avLst>
          </a:prstGeom>
          <a:solidFill>
            <a:srgbClr val="F7F9FC"/>
          </a:solidFill>
          <a:ln/>
        </p:spPr>
      </p:sp>
      <p:sp>
        <p:nvSpPr>
          <p:cNvPr id="11" name="Text 9"/>
          <p:cNvSpPr/>
          <p:nvPr/>
        </p:nvSpPr>
        <p:spPr>
          <a:xfrm>
            <a:off x="4608576" y="2167128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GERENTE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608576" y="2423160"/>
            <a:ext cx="297180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Gerência comercial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608576" y="2788920"/>
            <a:ext cx="2971800" cy="38404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funil, SLA, ranking de vendedores, campanhas do mês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001000" y="1965960"/>
            <a:ext cx="3410712" cy="1371600"/>
          </a:xfrm>
          <a:prstGeom prst="roundRect">
            <a:avLst>
              <a:gd name="adj" fmla="val 2000"/>
            </a:avLst>
          </a:prstGeom>
          <a:solidFill>
            <a:srgbClr val="F7F9FC"/>
          </a:solidFill>
          <a:ln/>
        </p:spPr>
      </p:sp>
      <p:sp>
        <p:nvSpPr>
          <p:cNvPr id="15" name="Text 13"/>
          <p:cNvSpPr/>
          <p:nvPr/>
        </p:nvSpPr>
        <p:spPr>
          <a:xfrm>
            <a:off x="8220456" y="2167128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VENDEDOR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8220456" y="2423160"/>
            <a:ext cx="297180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Equipe de vendas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220456" y="2788920"/>
            <a:ext cx="2971800" cy="38404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seus leads, playbook, estoque e bônus da circular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77240" y="3538728"/>
            <a:ext cx="3410712" cy="1371600"/>
          </a:xfrm>
          <a:prstGeom prst="roundRect">
            <a:avLst>
              <a:gd name="adj" fmla="val 2000"/>
            </a:avLst>
          </a:prstGeom>
          <a:solidFill>
            <a:srgbClr val="F7F9FC"/>
          </a:solidFill>
          <a:ln/>
        </p:spPr>
      </p:sp>
      <p:sp>
        <p:nvSpPr>
          <p:cNvPr id="19" name="Text 17"/>
          <p:cNvSpPr/>
          <p:nvPr/>
        </p:nvSpPr>
        <p:spPr>
          <a:xfrm>
            <a:off x="996696" y="3739896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MECÂNICO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996696" y="3995928"/>
            <a:ext cx="297180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Oficina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996696" y="4361688"/>
            <a:ext cx="2971800" cy="38404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assistente técnico com manual oficial e revisões R1–R4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389120" y="3538728"/>
            <a:ext cx="3410712" cy="1371600"/>
          </a:xfrm>
          <a:prstGeom prst="roundRect">
            <a:avLst>
              <a:gd name="adj" fmla="val 2000"/>
            </a:avLst>
          </a:prstGeom>
          <a:solidFill>
            <a:srgbClr val="F7F9FC"/>
          </a:solidFill>
          <a:ln/>
        </p:spPr>
      </p:sp>
      <p:sp>
        <p:nvSpPr>
          <p:cNvPr id="23" name="Text 21"/>
          <p:cNvSpPr/>
          <p:nvPr/>
        </p:nvSpPr>
        <p:spPr>
          <a:xfrm>
            <a:off x="4608576" y="3739896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CONSULTOR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4608576" y="3995928"/>
            <a:ext cx="297180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Regional Yamaha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4608576" y="4361688"/>
            <a:ext cx="2971800" cy="38404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agregados das CCYs, sem dados pessoais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8001000" y="3538728"/>
            <a:ext cx="3410712" cy="1371600"/>
          </a:xfrm>
          <a:prstGeom prst="roundRect">
            <a:avLst>
              <a:gd name="adj" fmla="val 2000"/>
            </a:avLst>
          </a:prstGeom>
          <a:solidFill>
            <a:srgbClr val="F7F9FC"/>
          </a:solidFill>
          <a:ln/>
        </p:spPr>
      </p:sp>
      <p:sp>
        <p:nvSpPr>
          <p:cNvPr id="27" name="Text 25"/>
          <p:cNvSpPr/>
          <p:nvPr/>
        </p:nvSpPr>
        <p:spPr>
          <a:xfrm>
            <a:off x="8220456" y="3739896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1E9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 FINAL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8220456" y="3995928"/>
            <a:ext cx="297180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compra a moto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8220456" y="4361688"/>
            <a:ext cx="2971800" cy="38404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 em minutos, crédito transparente, revisão lembrada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777240" y="5257800"/>
            <a:ext cx="106344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persona é um login real do sistema — a prova é a demonstração, trocando de papel em 30 segundos.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1063447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FOCO NO CLIENTE · ITEM 2 DE 8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777240"/>
            <a:ext cx="1063447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Diferenciação por experiência, não por volume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95451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3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77240" y="1426464"/>
            <a:ext cx="10634472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FÓRMULA DO SUCESSO:  </a:t>
            </a:r>
            <a:pPr indent="0" marL="0">
              <a:buNone/>
            </a:pPr>
            <a:r>
              <a:rPr lang="en-US" sz="115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"O posicionamento Yamaha foi claramente definido"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777240" y="2057400"/>
            <a:ext cx="10634472" cy="1554480"/>
          </a:xfrm>
          <a:prstGeom prst="roundRect">
            <a:avLst>
              <a:gd name="adj" fmla="val 3529"/>
            </a:avLst>
          </a:prstGeom>
          <a:solidFill>
            <a:srgbClr val="091426"/>
          </a:solidFill>
          <a:ln/>
        </p:spPr>
      </p:sp>
      <p:sp>
        <p:nvSpPr>
          <p:cNvPr id="7" name="Text 5"/>
          <p:cNvSpPr/>
          <p:nvPr/>
        </p:nvSpPr>
        <p:spPr>
          <a:xfrm>
            <a:off x="1234440" y="2057400"/>
            <a:ext cx="9720072" cy="1554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600" b="1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 Yamaha como a marca que responde em minutos, é transparente no crédito</a:t>
            </a:r>
            <a:endParaRPr lang="en-US" sz="1600" dirty="0"/>
          </a:p>
          <a:p>
            <a:pPr algn="ctr" indent="0" marL="0">
              <a:lnSpc>
                <a:spcPts val="2400"/>
              </a:lnSpc>
              <a:buNone/>
            </a:pPr>
            <a:r>
              <a:rPr lang="en-US" sz="1600" b="1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acompanha a moto a vida inteira — da primeira mensagem à revisão de 24.000 km."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777240" y="3977640"/>
            <a:ext cx="3410712" cy="1188720"/>
          </a:xfrm>
          <a:prstGeom prst="roundRect">
            <a:avLst>
              <a:gd name="adj" fmla="val 2308"/>
            </a:avLst>
          </a:prstGeom>
          <a:solidFill>
            <a:srgbClr val="F7F9FC"/>
          </a:solidFill>
          <a:ln/>
        </p:spPr>
      </p:sp>
      <p:sp>
        <p:nvSpPr>
          <p:cNvPr id="9" name="Text 7"/>
          <p:cNvSpPr/>
          <p:nvPr/>
        </p:nvSpPr>
        <p:spPr>
          <a:xfrm>
            <a:off x="996696" y="4178808"/>
            <a:ext cx="297180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Responde em minutos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96696" y="4544568"/>
            <a:ext cx="2971800" cy="457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 de 10 min governado — 81% dos leads dentro do padrão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89120" y="3977640"/>
            <a:ext cx="3410712" cy="1188720"/>
          </a:xfrm>
          <a:prstGeom prst="roundRect">
            <a:avLst>
              <a:gd name="adj" fmla="val 2308"/>
            </a:avLst>
          </a:prstGeom>
          <a:solidFill>
            <a:srgbClr val="F7F9FC"/>
          </a:solidFill>
          <a:ln/>
        </p:spPr>
      </p:sp>
      <p:sp>
        <p:nvSpPr>
          <p:cNvPr id="12" name="Text 10"/>
          <p:cNvSpPr/>
          <p:nvPr/>
        </p:nvSpPr>
        <p:spPr>
          <a:xfrm>
            <a:off x="4608576" y="4178808"/>
            <a:ext cx="297180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Transparente no crédito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608576" y="4544568"/>
            <a:ext cx="2971800" cy="457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BYMD primeiro; recusa vira Liberacred com condições claras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001000" y="3977640"/>
            <a:ext cx="3410712" cy="1188720"/>
          </a:xfrm>
          <a:prstGeom prst="roundRect">
            <a:avLst>
              <a:gd name="adj" fmla="val 2308"/>
            </a:avLst>
          </a:prstGeom>
          <a:solidFill>
            <a:srgbClr val="F7F9FC"/>
          </a:solidFill>
          <a:ln/>
        </p:spPr>
      </p:sp>
      <p:sp>
        <p:nvSpPr>
          <p:cNvPr id="15" name="Text 13"/>
          <p:cNvSpPr/>
          <p:nvPr/>
        </p:nvSpPr>
        <p:spPr>
          <a:xfrm>
            <a:off x="8220456" y="4178808"/>
            <a:ext cx="297180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Acompanha a vida inteira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220456" y="4544568"/>
            <a:ext cx="2971800" cy="457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régua R1–R4 + recompra na quitação — o ciclo nunca solta o cliente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1063447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FOCO NO CLIENTE · ITEM 3 DE 8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777240"/>
            <a:ext cx="1063447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Honda vende mais motos. A Yamaha atende melhor.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95451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3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77240" y="1426464"/>
            <a:ext cx="10634472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FÓRMULA DO SUCESSO:  </a:t>
            </a:r>
            <a:pPr indent="0" marL="0">
              <a:buNone/>
            </a:pPr>
            <a:r>
              <a:rPr lang="en-US" sz="115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 Yamaha ficou claramente posicionada de forma diferenciada em relação aos concorrentes"</a:t>
            </a:r>
            <a:endParaRPr lang="en-US" sz="10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2011680"/>
          <a:ext cx="10634472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3291840"/>
                <a:gridCol w="4050792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EXPERIÊNCIA DO CLIENTE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D3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PADRÃO DO MERCADO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D3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YAMAHA COM SMART DEALER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D3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9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Primeira resposta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D64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horas ou dias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E9E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 minutos, monitorado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9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Crédito recusado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D64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fim da conversa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E9E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segunda chance com mensagem-prêmio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9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Depois da compra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D64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silêncio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E9E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recontato em 74% + régua de revisão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9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 troca da moto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D64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cliente procura sozinho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E9E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loja chama primeiro, com oferta pronta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777240" y="4892040"/>
            <a:ext cx="10634472" cy="960120"/>
          </a:xfrm>
          <a:prstGeom prst="roundRect">
            <a:avLst>
              <a:gd name="adj" fmla="val 2857"/>
            </a:avLst>
          </a:prstGeom>
          <a:solidFill>
            <a:srgbClr val="EEF4FF"/>
          </a:solidFill>
          <a:ln/>
        </p:spPr>
      </p:sp>
      <p:sp>
        <p:nvSpPr>
          <p:cNvPr id="8" name="Text 5"/>
          <p:cNvSpPr/>
          <p:nvPr/>
        </p:nvSpPr>
        <p:spPr>
          <a:xfrm>
            <a:off x="1051560" y="5038344"/>
            <a:ext cx="10085832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a Honda é imbatível em volume, a disputa muda de campo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1051560" y="5349240"/>
            <a:ext cx="10085832" cy="39319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share por segmento mostra onde competir; a experiência define quem ganha o cliente que pesquisou os dois. Diferenciação medida, não declarada.</a:t>
            </a:r>
            <a:endParaRPr lang="en-US" sz="11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1063447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FOCO NO CLIENTE · ITEM 4 DE 8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777240"/>
            <a:ext cx="1063447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papel vê só o que usa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95451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3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77240" y="1426464"/>
            <a:ext cx="10634472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FÓRMULA DO SUCESSO:  </a:t>
            </a:r>
            <a:pPr indent="0" marL="0">
              <a:buNone/>
            </a:pPr>
            <a:r>
              <a:rPr lang="en-US" sz="115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"Existe consistência entre o público alvo e as atividades"</a:t>
            </a:r>
            <a:endParaRPr lang="en-US" sz="10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965960"/>
          <a:ext cx="1063447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754880"/>
                <a:gridCol w="3502152"/>
              </a:tblGrid>
              <a:tr h="4937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PAPEL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D3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QUE ABRE AO LOGAR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D3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QUE NÃO VÊ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D36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9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Titular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tudo: carta, crédito, K2, Premya, ranking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9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Gerente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funil, SLA, campanhas, pós-vendas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financeiro do grupo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9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Vendedor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apenas os próprios leads + playbook + estoque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leads dos colegas, DRE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9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Mecânico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assistente técnico + revisões do dia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todo o comercial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9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Consultor regional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indicadores agregados das 9 CCYs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dados pessoais de clientes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777240" y="5120640"/>
            <a:ext cx="106344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Demonstração na banca: logout → login em outro papel — 30 segundos, efeito grande.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1063447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FOCO NO CLIENTE · ITEM 5 DE 8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777240"/>
            <a:ext cx="1063447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Cinco necessidades, cada uma com evidência — e com tela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95451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3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77240" y="1426464"/>
            <a:ext cx="10634472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FÓRMULA DO SUCESSO:  </a:t>
            </a:r>
            <a:pPr indent="0" marL="0">
              <a:buNone/>
            </a:pPr>
            <a:r>
              <a:rPr lang="en-US" sz="115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"Necessidades e desejos dos clientes foram definidos"</a:t>
            </a:r>
            <a:endParaRPr lang="en-US" sz="10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965960"/>
          <a:ext cx="10634472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4480560"/>
                <a:gridCol w="3136392"/>
              </a:tblGrid>
              <a:tr h="4937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NECESSIDADE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D3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EVIDÊNCIA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D3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TELA QUE ATENDE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D36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9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Resposta rápida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66% citam rapidez · "esperei dois dias e desisti"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365F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Atendimento Diário (SLA 10 min)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9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Parcela que cabe no bolso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72% — o fator nº 1 da pesquisa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365F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Simulador + bônus da circular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9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Transparência no crédito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56% citam aprovação · 43% das perdas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365F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Banco Yamaha + Liberacred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9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 lembrado da revisão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59% voltariam por isso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365F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Pós-vendas (régua R1–R4)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9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Oferta certa na troca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44% · quitação = janela de recompra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365F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Banco Yamaha (quitações)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777240" y="5120640"/>
            <a:ext cx="106344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dor do "limbo do lead" foi validada pela própria banca (Cintia) — e virou a régua de cobrança do CRM.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1063447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FOCO NO CLIENTE · ITEM 6 DE 8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777240"/>
            <a:ext cx="1063447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Fatores de compra medidos, não achados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95451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3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77240" y="1426464"/>
            <a:ext cx="10634472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FÓRMULA DO SUCESSO:  </a:t>
            </a:r>
            <a:pPr indent="0" marL="0">
              <a:buNone/>
            </a:pPr>
            <a:r>
              <a:rPr lang="en-US" sz="115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"Os principais fatores de compra dos clientes foram definidos"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77240" y="2011680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Parcela que cabe no bolso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749040" y="2029968"/>
            <a:ext cx="4206240" cy="274320"/>
          </a:xfrm>
          <a:prstGeom prst="roundRect">
            <a:avLst>
              <a:gd name="adj" fmla="val 6667"/>
            </a:avLst>
          </a:prstGeom>
          <a:solidFill>
            <a:srgbClr val="E5EAF2"/>
          </a:solidFill>
          <a:ln/>
        </p:spPr>
      </p:sp>
      <p:sp>
        <p:nvSpPr>
          <p:cNvPr id="8" name="Shape 6"/>
          <p:cNvSpPr/>
          <p:nvPr/>
        </p:nvSpPr>
        <p:spPr>
          <a:xfrm>
            <a:off x="3749040" y="2029968"/>
            <a:ext cx="3028493" cy="274320"/>
          </a:xfrm>
          <a:prstGeom prst="roundRect">
            <a:avLst>
              <a:gd name="adj" fmla="val 6667"/>
            </a:avLst>
          </a:prstGeom>
          <a:solidFill>
            <a:srgbClr val="0365FE"/>
          </a:solidFill>
          <a:ln/>
        </p:spPr>
      </p:sp>
      <p:sp>
        <p:nvSpPr>
          <p:cNvPr id="9" name="Text 7"/>
          <p:cNvSpPr/>
          <p:nvPr/>
        </p:nvSpPr>
        <p:spPr>
          <a:xfrm>
            <a:off x="8046720" y="2011680"/>
            <a:ext cx="594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72%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8686800" y="2029968"/>
            <a:ext cx="2724912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8A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simulador + bônus da circular na proposta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777240" y="2523744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Atendimento rápido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749040" y="2542032"/>
            <a:ext cx="4206240" cy="274320"/>
          </a:xfrm>
          <a:prstGeom prst="roundRect">
            <a:avLst>
              <a:gd name="adj" fmla="val 6667"/>
            </a:avLst>
          </a:prstGeom>
          <a:solidFill>
            <a:srgbClr val="E5EAF2"/>
          </a:solidFill>
          <a:ln/>
        </p:spPr>
      </p:sp>
      <p:sp>
        <p:nvSpPr>
          <p:cNvPr id="13" name="Shape 11"/>
          <p:cNvSpPr/>
          <p:nvPr/>
        </p:nvSpPr>
        <p:spPr>
          <a:xfrm>
            <a:off x="3749040" y="2542032"/>
            <a:ext cx="2776118" cy="274320"/>
          </a:xfrm>
          <a:prstGeom prst="roundRect">
            <a:avLst>
              <a:gd name="adj" fmla="val 6667"/>
            </a:avLst>
          </a:prstGeom>
          <a:solidFill>
            <a:srgbClr val="0365FE"/>
          </a:solidFill>
          <a:ln/>
        </p:spPr>
      </p:sp>
      <p:sp>
        <p:nvSpPr>
          <p:cNvPr id="14" name="Text 12"/>
          <p:cNvSpPr/>
          <p:nvPr/>
        </p:nvSpPr>
        <p:spPr>
          <a:xfrm>
            <a:off x="8046720" y="2523744"/>
            <a:ext cx="594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66%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8686800" y="2542032"/>
            <a:ext cx="2724912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8A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 de 10 minutos governado no CRM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77240" y="3035808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Aprovação do crédito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749040" y="3054096"/>
            <a:ext cx="4206240" cy="274320"/>
          </a:xfrm>
          <a:prstGeom prst="roundRect">
            <a:avLst>
              <a:gd name="adj" fmla="val 6667"/>
            </a:avLst>
          </a:prstGeom>
          <a:solidFill>
            <a:srgbClr val="E5EAF2"/>
          </a:solidFill>
          <a:ln/>
        </p:spPr>
      </p:sp>
      <p:sp>
        <p:nvSpPr>
          <p:cNvPr id="18" name="Shape 16"/>
          <p:cNvSpPr/>
          <p:nvPr/>
        </p:nvSpPr>
        <p:spPr>
          <a:xfrm>
            <a:off x="3749040" y="3054096"/>
            <a:ext cx="2355494" cy="274320"/>
          </a:xfrm>
          <a:prstGeom prst="roundRect">
            <a:avLst>
              <a:gd name="adj" fmla="val 6667"/>
            </a:avLst>
          </a:prstGeom>
          <a:solidFill>
            <a:srgbClr val="0365FE"/>
          </a:solidFill>
          <a:ln/>
        </p:spPr>
      </p:sp>
      <p:sp>
        <p:nvSpPr>
          <p:cNvPr id="19" name="Text 17"/>
          <p:cNvSpPr/>
          <p:nvPr/>
        </p:nvSpPr>
        <p:spPr>
          <a:xfrm>
            <a:off x="8046720" y="3035808"/>
            <a:ext cx="594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56%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8686800" y="3054096"/>
            <a:ext cx="2724912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8A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BYMD primeiro + resgate Liberacred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777240" y="3547872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Preço / valor da entrada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749040" y="3566160"/>
            <a:ext cx="4206240" cy="274320"/>
          </a:xfrm>
          <a:prstGeom prst="roundRect">
            <a:avLst>
              <a:gd name="adj" fmla="val 6667"/>
            </a:avLst>
          </a:prstGeom>
          <a:solidFill>
            <a:srgbClr val="E5EAF2"/>
          </a:solidFill>
          <a:ln/>
        </p:spPr>
      </p:sp>
      <p:sp>
        <p:nvSpPr>
          <p:cNvPr id="23" name="Shape 21"/>
          <p:cNvSpPr/>
          <p:nvPr/>
        </p:nvSpPr>
        <p:spPr>
          <a:xfrm>
            <a:off x="3749040" y="3566160"/>
            <a:ext cx="1976933" cy="274320"/>
          </a:xfrm>
          <a:prstGeom prst="roundRect">
            <a:avLst>
              <a:gd name="adj" fmla="val 6667"/>
            </a:avLst>
          </a:prstGeom>
          <a:solidFill>
            <a:srgbClr val="0365FE"/>
          </a:solidFill>
          <a:ln/>
        </p:spPr>
      </p:sp>
      <p:sp>
        <p:nvSpPr>
          <p:cNvPr id="24" name="Text 22"/>
          <p:cNvSpPr/>
          <p:nvPr/>
        </p:nvSpPr>
        <p:spPr>
          <a:xfrm>
            <a:off x="8046720" y="3547872"/>
            <a:ext cx="594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47%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8686800" y="3566160"/>
            <a:ext cx="2724912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8A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vouchers da montadora aplicados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777240" y="4059936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Confiança / indicação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749040" y="4078224"/>
            <a:ext cx="4206240" cy="274320"/>
          </a:xfrm>
          <a:prstGeom prst="roundRect">
            <a:avLst>
              <a:gd name="adj" fmla="val 6667"/>
            </a:avLst>
          </a:prstGeom>
          <a:solidFill>
            <a:srgbClr val="E5EAF2"/>
          </a:solidFill>
          <a:ln/>
        </p:spPr>
      </p:sp>
      <p:sp>
        <p:nvSpPr>
          <p:cNvPr id="28" name="Shape 26"/>
          <p:cNvSpPr/>
          <p:nvPr/>
        </p:nvSpPr>
        <p:spPr>
          <a:xfrm>
            <a:off x="3749040" y="4078224"/>
            <a:ext cx="1598371" cy="274320"/>
          </a:xfrm>
          <a:prstGeom prst="roundRect">
            <a:avLst>
              <a:gd name="adj" fmla="val 6667"/>
            </a:avLst>
          </a:prstGeom>
          <a:solidFill>
            <a:srgbClr val="0365FE"/>
          </a:solidFill>
          <a:ln/>
        </p:spPr>
      </p:sp>
      <p:sp>
        <p:nvSpPr>
          <p:cNvPr id="29" name="Text 27"/>
          <p:cNvSpPr/>
          <p:nvPr/>
        </p:nvSpPr>
        <p:spPr>
          <a:xfrm>
            <a:off x="8046720" y="4059936"/>
            <a:ext cx="594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38%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8686800" y="4078224"/>
            <a:ext cx="2724912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8A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NPS + régua de pós-venda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777240" y="4572000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Prazo de entrega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749040" y="4590288"/>
            <a:ext cx="4206240" cy="274320"/>
          </a:xfrm>
          <a:prstGeom prst="roundRect">
            <a:avLst>
              <a:gd name="adj" fmla="val 6667"/>
            </a:avLst>
          </a:prstGeom>
          <a:solidFill>
            <a:srgbClr val="E5EAF2"/>
          </a:solidFill>
          <a:ln/>
        </p:spPr>
      </p:sp>
      <p:sp>
        <p:nvSpPr>
          <p:cNvPr id="33" name="Shape 31"/>
          <p:cNvSpPr/>
          <p:nvPr/>
        </p:nvSpPr>
        <p:spPr>
          <a:xfrm>
            <a:off x="3749040" y="4590288"/>
            <a:ext cx="1051560" cy="274320"/>
          </a:xfrm>
          <a:prstGeom prst="roundRect">
            <a:avLst>
              <a:gd name="adj" fmla="val 6667"/>
            </a:avLst>
          </a:prstGeom>
          <a:solidFill>
            <a:srgbClr val="0365FE"/>
          </a:solidFill>
          <a:ln/>
        </p:spPr>
      </p:sp>
      <p:sp>
        <p:nvSpPr>
          <p:cNvPr id="34" name="Text 32"/>
          <p:cNvSpPr/>
          <p:nvPr/>
        </p:nvSpPr>
        <p:spPr>
          <a:xfrm>
            <a:off x="8046720" y="4572000"/>
            <a:ext cx="594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25%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8686800" y="4590288"/>
            <a:ext cx="2724912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8A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estoque real das 4 lojas na tela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777240" y="5084064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Test-ride antes de decidir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3749040" y="5102352"/>
            <a:ext cx="4206240" cy="274320"/>
          </a:xfrm>
          <a:prstGeom prst="roundRect">
            <a:avLst>
              <a:gd name="adj" fmla="val 6667"/>
            </a:avLst>
          </a:prstGeom>
          <a:solidFill>
            <a:srgbClr val="E5EAF2"/>
          </a:solidFill>
          <a:ln/>
        </p:spPr>
      </p:sp>
      <p:sp>
        <p:nvSpPr>
          <p:cNvPr id="38" name="Shape 36"/>
          <p:cNvSpPr/>
          <p:nvPr/>
        </p:nvSpPr>
        <p:spPr>
          <a:xfrm>
            <a:off x="3749040" y="5102352"/>
            <a:ext cx="925373" cy="274320"/>
          </a:xfrm>
          <a:prstGeom prst="roundRect">
            <a:avLst>
              <a:gd name="adj" fmla="val 6667"/>
            </a:avLst>
          </a:prstGeom>
          <a:solidFill>
            <a:srgbClr val="0365FE"/>
          </a:solidFill>
          <a:ln/>
        </p:spPr>
      </p:sp>
      <p:sp>
        <p:nvSpPr>
          <p:cNvPr id="39" name="Text 37"/>
          <p:cNvSpPr/>
          <p:nvPr/>
        </p:nvSpPr>
        <p:spPr>
          <a:xfrm>
            <a:off x="8046720" y="5084064"/>
            <a:ext cx="594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22%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8686800" y="5102352"/>
            <a:ext cx="2724912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8A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agendamento na cadência do CRM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777240" y="5760720"/>
            <a:ext cx="106344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Múltipla escolha sobre os 32 respondentes da pesquisa Voz do Cliente — cada fator já ligado ao módulo que o atende.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1063447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FOCO NO CLIENTE · ITEM 7 DE 8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777240"/>
            <a:ext cx="1063447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7 passos da venda — e onde o sistema atua em cada um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95451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3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77240" y="1426464"/>
            <a:ext cx="10634472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FÓRMULA DO SUCESSO:  </a:t>
            </a:r>
            <a:pPr indent="0" marL="0">
              <a:buNone/>
            </a:pPr>
            <a:r>
              <a:rPr lang="en-US" sz="115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"Os 7 passos foram claramente descritos"</a:t>
            </a:r>
            <a:endParaRPr lang="en-US" sz="10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965960"/>
          <a:ext cx="10634472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7434072"/>
              </a:tblGrid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PASSO DA VENDA YAMAHA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D3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ONDE O SMART DEALER ATUA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D36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9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 Recepção / primeiro contato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Atendimento Diário: lead respondido em ≤10 min, linha monitorada (lead que cai em linha offline se perde)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9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 Sondagem (entender a necessidade)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CRM registra origem, modelo de interesse e estágio; conversas guardam o que o cliente pediu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9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 Apresentação do produto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Playbook de Vendas: argumento por modelo + comparativo contra a Honda do segmento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9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 Test-ride / demonstração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Estoque na tela: o vendedor sabe na hora se tem a moto (e a cor) para mostrar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9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 Negociação / proposta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Campanhas vigentes na tela (bônus por modelo + condição do mês) — a melhor oferta sem ligar para ninguém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9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 Fechamento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Linha de Crédito: semáforo e simulador respondem se o pedido cabe; leads quentes voltam para a mesa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9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 Entrega e pós-venda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Régua de revisão com disparo de WhatsApp (1.000 → 24.000 km) + renovação estratégica em 2–4 anos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777240" y="5806440"/>
            <a:ext cx="106344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8A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banca, dois passos demonstrados ao vivo: a sondagem (CRM) e a entrega/pós (régua de revisão).</a:t>
            </a:r>
            <a:endParaRPr lang="en-US" sz="11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1063447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FOCO NO CLIENTE · ITEM 8 DE 8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777240"/>
            <a:ext cx="1063447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pesquisa, pergunta a pergunta — 32 clientes reais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95451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3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77240" y="1426464"/>
            <a:ext cx="10634472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FÓRMULA DO SUCESSO:  </a:t>
            </a:r>
            <a:pPr indent="0" marL="0">
              <a:buNone/>
            </a:pPr>
            <a:r>
              <a:rPr lang="en-US" sz="115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"Pesquisas com clientes foram realizadas"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77240" y="1874520"/>
            <a:ext cx="51343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· "COMO FOI SER ATENDIDO?" (1–5)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777240" y="2176272"/>
            <a:ext cx="2743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1124712" y="2194560"/>
            <a:ext cx="3945636" cy="201168"/>
          </a:xfrm>
          <a:prstGeom prst="roundRect">
            <a:avLst>
              <a:gd name="adj" fmla="val 9091"/>
            </a:avLst>
          </a:prstGeom>
          <a:solidFill>
            <a:srgbClr val="1E9E5A"/>
          </a:solidFill>
          <a:ln/>
        </p:spPr>
      </p:sp>
      <p:sp>
        <p:nvSpPr>
          <p:cNvPr id="9" name="Text 7"/>
          <p:cNvSpPr/>
          <p:nvPr/>
        </p:nvSpPr>
        <p:spPr>
          <a:xfrm>
            <a:off x="5180076" y="2176272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77240" y="2487168"/>
            <a:ext cx="2743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1124712" y="2505456"/>
            <a:ext cx="2076651" cy="201168"/>
          </a:xfrm>
          <a:prstGeom prst="roundRect">
            <a:avLst>
              <a:gd name="adj" fmla="val 9091"/>
            </a:avLst>
          </a:prstGeom>
          <a:solidFill>
            <a:srgbClr val="1E9E5A"/>
          </a:solidFill>
          <a:ln/>
        </p:spPr>
      </p:sp>
      <p:sp>
        <p:nvSpPr>
          <p:cNvPr id="12" name="Text 10"/>
          <p:cNvSpPr/>
          <p:nvPr/>
        </p:nvSpPr>
        <p:spPr>
          <a:xfrm>
            <a:off x="5180076" y="248716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77240" y="2798064"/>
            <a:ext cx="2743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1124712" y="2816352"/>
            <a:ext cx="415330" cy="201168"/>
          </a:xfrm>
          <a:prstGeom prst="roundRect">
            <a:avLst>
              <a:gd name="adj" fmla="val 9091"/>
            </a:avLst>
          </a:prstGeom>
          <a:solidFill>
            <a:srgbClr val="E8B04B"/>
          </a:solidFill>
          <a:ln/>
        </p:spPr>
      </p:sp>
      <p:sp>
        <p:nvSpPr>
          <p:cNvPr id="15" name="Text 13"/>
          <p:cNvSpPr/>
          <p:nvPr/>
        </p:nvSpPr>
        <p:spPr>
          <a:xfrm>
            <a:off x="5180076" y="2798064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77240" y="3108960"/>
            <a:ext cx="2743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124712" y="3127248"/>
            <a:ext cx="207665" cy="201168"/>
          </a:xfrm>
          <a:prstGeom prst="roundRect">
            <a:avLst>
              <a:gd name="adj" fmla="val 9091"/>
            </a:avLst>
          </a:prstGeom>
          <a:solidFill>
            <a:srgbClr val="D64545"/>
          </a:solidFill>
          <a:ln/>
        </p:spPr>
      </p:sp>
      <p:sp>
        <p:nvSpPr>
          <p:cNvPr id="18" name="Text 16"/>
          <p:cNvSpPr/>
          <p:nvPr/>
        </p:nvSpPr>
        <p:spPr>
          <a:xfrm>
            <a:off x="5180076" y="3108960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77240" y="3419856"/>
            <a:ext cx="2743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1124712" y="3438144"/>
            <a:ext cx="27432" cy="201168"/>
          </a:xfrm>
          <a:prstGeom prst="roundRect">
            <a:avLst>
              <a:gd name="adj" fmla="val 66667"/>
            </a:avLst>
          </a:prstGeom>
          <a:solidFill>
            <a:srgbClr val="D64545"/>
          </a:solidFill>
          <a:ln/>
        </p:spPr>
      </p:sp>
      <p:sp>
        <p:nvSpPr>
          <p:cNvPr id="21" name="Text 19"/>
          <p:cNvSpPr/>
          <p:nvPr/>
        </p:nvSpPr>
        <p:spPr>
          <a:xfrm>
            <a:off x="5180076" y="3419856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777240" y="3794760"/>
            <a:ext cx="513435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9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média 4,5 · NPS da pesquisa 72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6277356" y="1874520"/>
            <a:ext cx="51343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 · "EM QUANTO TEMPO TE RESPONDERAM?"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6277356" y="2212848"/>
            <a:ext cx="3234644" cy="310896"/>
          </a:xfrm>
          <a:prstGeom prst="roundRect">
            <a:avLst>
              <a:gd name="adj" fmla="val 5882"/>
            </a:avLst>
          </a:prstGeom>
          <a:solidFill>
            <a:srgbClr val="1E9E5A"/>
          </a:solidFill>
          <a:ln/>
        </p:spPr>
      </p:sp>
      <p:sp>
        <p:nvSpPr>
          <p:cNvPr id="25" name="Shape 23"/>
          <p:cNvSpPr/>
          <p:nvPr/>
        </p:nvSpPr>
        <p:spPr>
          <a:xfrm>
            <a:off x="9512000" y="2212848"/>
            <a:ext cx="1129558" cy="310896"/>
          </a:xfrm>
          <a:prstGeom prst="roundRect">
            <a:avLst>
              <a:gd name="adj" fmla="val 5882"/>
            </a:avLst>
          </a:prstGeom>
          <a:solidFill>
            <a:srgbClr val="84CC16"/>
          </a:solidFill>
          <a:ln/>
        </p:spPr>
      </p:sp>
      <p:sp>
        <p:nvSpPr>
          <p:cNvPr id="26" name="Shape 24"/>
          <p:cNvSpPr/>
          <p:nvPr/>
        </p:nvSpPr>
        <p:spPr>
          <a:xfrm>
            <a:off x="10641559" y="2212848"/>
            <a:ext cx="462092" cy="310896"/>
          </a:xfrm>
          <a:prstGeom prst="roundRect">
            <a:avLst>
              <a:gd name="adj" fmla="val 5882"/>
            </a:avLst>
          </a:prstGeom>
          <a:solidFill>
            <a:srgbClr val="E8B04B"/>
          </a:solidFill>
          <a:ln/>
        </p:spPr>
      </p:sp>
      <p:sp>
        <p:nvSpPr>
          <p:cNvPr id="27" name="Shape 25"/>
          <p:cNvSpPr/>
          <p:nvPr/>
        </p:nvSpPr>
        <p:spPr>
          <a:xfrm>
            <a:off x="11103651" y="2212848"/>
            <a:ext cx="308061" cy="310896"/>
          </a:xfrm>
          <a:prstGeom prst="roundRect">
            <a:avLst>
              <a:gd name="adj" fmla="val 5936"/>
            </a:avLst>
          </a:prstGeom>
          <a:solidFill>
            <a:srgbClr val="D64545"/>
          </a:solidFill>
          <a:ln/>
        </p:spPr>
      </p:sp>
      <p:sp>
        <p:nvSpPr>
          <p:cNvPr id="28" name="Text 26"/>
          <p:cNvSpPr/>
          <p:nvPr/>
        </p:nvSpPr>
        <p:spPr>
          <a:xfrm>
            <a:off x="6277356" y="2651760"/>
            <a:ext cx="256717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hora · 63%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8844534" y="2651760"/>
            <a:ext cx="256717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Até 1 hora · 22%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6277356" y="2926080"/>
            <a:ext cx="256717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mesmo dia · 9%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8844534" y="2926080"/>
            <a:ext cx="256717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Mais de um dia · 6%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6277356" y="3291840"/>
            <a:ext cx="513435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1E9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81% respondidos em até 10 minutos — era 22% antes do piloto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777240" y="4206240"/>
            <a:ext cx="51343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P3 · "O QUE FARIA VOCÊ VOLTAR?"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777240" y="4507992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Loja lembrar da revisão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3246120" y="4535424"/>
            <a:ext cx="2025396" cy="182880"/>
          </a:xfrm>
          <a:prstGeom prst="roundRect">
            <a:avLst>
              <a:gd name="adj" fmla="val 10000"/>
            </a:avLst>
          </a:prstGeom>
          <a:solidFill>
            <a:srgbClr val="0365FE"/>
          </a:solidFill>
          <a:ln/>
        </p:spPr>
      </p:sp>
      <p:sp>
        <p:nvSpPr>
          <p:cNvPr id="36" name="Text 34"/>
          <p:cNvSpPr/>
          <p:nvPr/>
        </p:nvSpPr>
        <p:spPr>
          <a:xfrm>
            <a:off x="5317236" y="4507992"/>
            <a:ext cx="548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59%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777240" y="489204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Contato pós-compra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3246120" y="4919472"/>
            <a:ext cx="1819424" cy="182880"/>
          </a:xfrm>
          <a:prstGeom prst="roundRect">
            <a:avLst>
              <a:gd name="adj" fmla="val 10000"/>
            </a:avLst>
          </a:prstGeom>
          <a:solidFill>
            <a:srgbClr val="0365FE"/>
          </a:solidFill>
          <a:ln/>
        </p:spPr>
      </p:sp>
      <p:sp>
        <p:nvSpPr>
          <p:cNvPr id="39" name="Text 37"/>
          <p:cNvSpPr/>
          <p:nvPr/>
        </p:nvSpPr>
        <p:spPr>
          <a:xfrm>
            <a:off x="5317236" y="4892040"/>
            <a:ext cx="548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53%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777240" y="5276088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Oferta certa na troca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3246120" y="5303520"/>
            <a:ext cx="1510465" cy="182880"/>
          </a:xfrm>
          <a:prstGeom prst="roundRect">
            <a:avLst>
              <a:gd name="adj" fmla="val 10000"/>
            </a:avLst>
          </a:prstGeom>
          <a:solidFill>
            <a:srgbClr val="0365FE"/>
          </a:solidFill>
          <a:ln/>
        </p:spPr>
      </p:sp>
      <p:sp>
        <p:nvSpPr>
          <p:cNvPr id="42" name="Text 40"/>
          <p:cNvSpPr/>
          <p:nvPr/>
        </p:nvSpPr>
        <p:spPr>
          <a:xfrm>
            <a:off x="5317236" y="5276088"/>
            <a:ext cx="548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44%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6277356" y="4206240"/>
            <a:ext cx="51343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P4 · "POR QUE NÃO FECHOU?" (14 não compradores)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6277356" y="4507992"/>
            <a:ext cx="265176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Crédito não aprovado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9020556" y="4544568"/>
            <a:ext cx="1751076" cy="164592"/>
          </a:xfrm>
          <a:prstGeom prst="roundRect">
            <a:avLst>
              <a:gd name="adj" fmla="val 11111"/>
            </a:avLst>
          </a:prstGeom>
          <a:solidFill>
            <a:srgbClr val="D64545"/>
          </a:solidFill>
          <a:ln/>
        </p:spPr>
      </p:sp>
      <p:sp>
        <p:nvSpPr>
          <p:cNvPr id="46" name="Text 44"/>
          <p:cNvSpPr/>
          <p:nvPr/>
        </p:nvSpPr>
        <p:spPr>
          <a:xfrm>
            <a:off x="10954512" y="4507992"/>
            <a:ext cx="411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6277356" y="4818888"/>
            <a:ext cx="265176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Parcela alta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9020556" y="4855464"/>
            <a:ext cx="875538" cy="164592"/>
          </a:xfrm>
          <a:prstGeom prst="roundRect">
            <a:avLst>
              <a:gd name="adj" fmla="val 11111"/>
            </a:avLst>
          </a:prstGeom>
          <a:solidFill>
            <a:srgbClr val="D64545"/>
          </a:solidFill>
          <a:ln/>
        </p:spPr>
      </p:sp>
      <p:sp>
        <p:nvSpPr>
          <p:cNvPr id="49" name="Text 47"/>
          <p:cNvSpPr/>
          <p:nvPr/>
        </p:nvSpPr>
        <p:spPr>
          <a:xfrm>
            <a:off x="10954512" y="4818888"/>
            <a:ext cx="411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6277356" y="5129784"/>
            <a:ext cx="265176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Comprou usado/outra marca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9020556" y="5166360"/>
            <a:ext cx="875538" cy="164592"/>
          </a:xfrm>
          <a:prstGeom prst="roundRect">
            <a:avLst>
              <a:gd name="adj" fmla="val 11111"/>
            </a:avLst>
          </a:prstGeom>
          <a:solidFill>
            <a:srgbClr val="D64545"/>
          </a:solidFill>
          <a:ln/>
        </p:spPr>
      </p:sp>
      <p:sp>
        <p:nvSpPr>
          <p:cNvPr id="52" name="Text 50"/>
          <p:cNvSpPr/>
          <p:nvPr/>
        </p:nvSpPr>
        <p:spPr>
          <a:xfrm>
            <a:off x="10954512" y="5129784"/>
            <a:ext cx="411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6277356" y="5440680"/>
            <a:ext cx="265176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Adiou a compra</a:t>
            </a:r>
            <a:endParaRPr lang="en-US" sz="950" dirty="0"/>
          </a:p>
        </p:txBody>
      </p:sp>
      <p:sp>
        <p:nvSpPr>
          <p:cNvPr id="54" name="Shape 52"/>
          <p:cNvSpPr/>
          <p:nvPr/>
        </p:nvSpPr>
        <p:spPr>
          <a:xfrm>
            <a:off x="9020556" y="5477256"/>
            <a:ext cx="583692" cy="164592"/>
          </a:xfrm>
          <a:prstGeom prst="roundRect">
            <a:avLst>
              <a:gd name="adj" fmla="val 11111"/>
            </a:avLst>
          </a:prstGeom>
          <a:solidFill>
            <a:srgbClr val="D64545"/>
          </a:solidFill>
          <a:ln/>
        </p:spPr>
      </p:sp>
      <p:sp>
        <p:nvSpPr>
          <p:cNvPr id="55" name="Text 53"/>
          <p:cNvSpPr/>
          <p:nvPr/>
        </p:nvSpPr>
        <p:spPr>
          <a:xfrm>
            <a:off x="10954512" y="5440680"/>
            <a:ext cx="411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56" name="Text 54"/>
          <p:cNvSpPr/>
          <p:nvPr/>
        </p:nvSpPr>
        <p:spPr>
          <a:xfrm>
            <a:off x="777240" y="5870448"/>
            <a:ext cx="10634472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8A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formulário via WhatsApp após o atendimento + entrevista presencial na entrega e na sala de espera · 28/07–14/08 · 61 convidados, 32 respostas (52%).</a:t>
            </a:r>
            <a:endParaRPr lang="en-US" sz="9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1063447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PENSAR FORA DA CAIXA · ITEM 1 DE 5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777240"/>
            <a:ext cx="1063447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cliente que voltou sem ninguém ligar para ele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95451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3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77240" y="1426464"/>
            <a:ext cx="10634472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FÓRMULA DO SUCESSO:  </a:t>
            </a:r>
            <a:pPr indent="0" marL="0">
              <a:buNone/>
            </a:pPr>
            <a:r>
              <a:rPr lang="en-US" sz="115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"O trabalho é revolucionário e capaz de mudar o comportamento do cliente"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777240" y="2011680"/>
            <a:ext cx="10634472" cy="1691640"/>
          </a:xfrm>
          <a:prstGeom prst="roundRect">
            <a:avLst>
              <a:gd name="adj" fmla="val 2703"/>
            </a:avLst>
          </a:prstGeom>
          <a:solidFill>
            <a:srgbClr val="EEF4F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194560"/>
            <a:ext cx="100858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caso A. Paulo — Bragança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51560" y="2514600"/>
            <a:ext cx="10085832" cy="10972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Comprou uma Fazer 250 em março. Em julho, a régua identificou a R1 vencendo e disparou o lembrete no WhatsApp — sem nenhum humano na fila. Ele agendou pelo link, fez a revisão (R$ 289 de receita) e respondeu a pesquisa: "voltar eu volto se vocês me avisarem da revisão. Da última vez passou do prazo e eu nem vi."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777240" y="3977640"/>
            <a:ext cx="3410712" cy="1371600"/>
          </a:xfrm>
          <a:prstGeom prst="roundRect">
            <a:avLst>
              <a:gd name="adj" fmla="val 2000"/>
            </a:avLst>
          </a:prstGeom>
          <a:solidFill>
            <a:srgbClr val="F7F9FC"/>
          </a:solidFill>
          <a:ln/>
        </p:spPr>
      </p:sp>
      <p:sp>
        <p:nvSpPr>
          <p:cNvPr id="10" name="Text 8"/>
          <p:cNvSpPr/>
          <p:nvPr/>
        </p:nvSpPr>
        <p:spPr>
          <a:xfrm>
            <a:off x="996696" y="4160520"/>
            <a:ext cx="2971800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RECONTATO PÓS-VENDA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996696" y="4398264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E9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18% → 74%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996696" y="4910328"/>
            <a:ext cx="2971800" cy="38404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clientes contatados após a compra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389120" y="3977640"/>
            <a:ext cx="3410712" cy="1371600"/>
          </a:xfrm>
          <a:prstGeom prst="roundRect">
            <a:avLst>
              <a:gd name="adj" fmla="val 2000"/>
            </a:avLst>
          </a:prstGeom>
          <a:solidFill>
            <a:srgbClr val="F7F9FC"/>
          </a:solidFill>
          <a:ln/>
        </p:spPr>
      </p:sp>
      <p:sp>
        <p:nvSpPr>
          <p:cNvPr id="14" name="Text 12"/>
          <p:cNvSpPr/>
          <p:nvPr/>
        </p:nvSpPr>
        <p:spPr>
          <a:xfrm>
            <a:off x="4608576" y="4160520"/>
            <a:ext cx="2971800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RETORNO À OFICINA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608576" y="4398264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E9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+31%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4608576" y="4910328"/>
            <a:ext cx="2971800" cy="38404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agendamentos de revisão vs. semestre anterior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8001000" y="3977640"/>
            <a:ext cx="3410712" cy="1371600"/>
          </a:xfrm>
          <a:prstGeom prst="roundRect">
            <a:avLst>
              <a:gd name="adj" fmla="val 2000"/>
            </a:avLst>
          </a:prstGeom>
          <a:solidFill>
            <a:srgbClr val="F7F9FC"/>
          </a:solidFill>
          <a:ln/>
        </p:spPr>
      </p:sp>
      <p:sp>
        <p:nvSpPr>
          <p:cNvPr id="18" name="Text 16"/>
          <p:cNvSpPr/>
          <p:nvPr/>
        </p:nvSpPr>
        <p:spPr>
          <a:xfrm>
            <a:off x="8220456" y="4160520"/>
            <a:ext cx="2971800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COMPORTAMENTO NOVO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8220456" y="4398264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E9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59%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8220456" y="4910328"/>
            <a:ext cx="2971800" cy="38404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dizem que voltam se a loja lembrar — e agora ela lembra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1063447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PENSAR FORA DA CAIXA · ITEM 2 DE 5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777240"/>
            <a:ext cx="1063447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digitalizamos o processo antigo — trocamos o processo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95451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3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77240" y="1426464"/>
            <a:ext cx="10634472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FÓRMULA DO SUCESSO:  </a:t>
            </a:r>
            <a:pPr indent="0" marL="0">
              <a:buNone/>
            </a:pPr>
            <a:r>
              <a:rPr lang="en-US" sz="115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"O trabalho é revolucionário e mudou drasticamente o processo"</a:t>
            </a:r>
            <a:endParaRPr lang="en-US" sz="10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965960"/>
          <a:ext cx="10634472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3291840"/>
                <a:gridCol w="4507992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PROCESSO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D3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D3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 SMART DEALER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D3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9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Análise de performance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D64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horas cruzando planilhas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E9E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PDCA oficial em um clique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9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 sem resposta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D64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32% morriam no limbo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E9E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2% — régua + escalonamento ao gerente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9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Crédito recusado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D64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fim da conversa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E9E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oportunidade Liberacred com mensagem-prêmio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9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Circular da montadora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D64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e-mail de alguém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E9E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robô — a loja inteira responde igual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9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Índice Premya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D64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descoberto na apuração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E9E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acompanhado em curso, com simulador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9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Revisão vencida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D64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cliente esquecido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E9E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régua R1–R4 dispara sozinha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9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Atualização mensal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D64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redigitação em cada tela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E9E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planilha publicada uma vez, telas se atualizam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1063447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PENSAR FORA DA CAIXA · ITEM 3 DE 5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777240"/>
            <a:ext cx="1063447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vantagem é o COMO — o método Yamaha codificado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95451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3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77240" y="1426464"/>
            <a:ext cx="10634472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FÓRMULA DO SUCESSO:  </a:t>
            </a:r>
            <a:pPr indent="0" marL="0">
              <a:buNone/>
            </a:pPr>
            <a:r>
              <a:rPr lang="en-US" sz="115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"O trabalho gerou uma vantagem competitiva para a Yamaha"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777240" y="2057400"/>
            <a:ext cx="1951330" cy="566928"/>
          </a:xfrm>
          <a:prstGeom prst="roundRect">
            <a:avLst>
              <a:gd name="adj" fmla="val 50000"/>
            </a:avLst>
          </a:prstGeom>
          <a:solidFill>
            <a:srgbClr val="EEF4FF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2057400"/>
            <a:ext cx="185989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DOIS RELÓGIOS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948026" y="2057400"/>
            <a:ext cx="1951330" cy="566928"/>
          </a:xfrm>
          <a:prstGeom prst="roundRect">
            <a:avLst>
              <a:gd name="adj" fmla="val 50000"/>
            </a:avLst>
          </a:prstGeom>
          <a:solidFill>
            <a:srgbClr val="EEF4FF"/>
          </a:solidFill>
          <a:ln/>
        </p:spPr>
      </p:sp>
      <p:sp>
        <p:nvSpPr>
          <p:cNvPr id="9" name="Text 7"/>
          <p:cNvSpPr/>
          <p:nvPr/>
        </p:nvSpPr>
        <p:spPr>
          <a:xfrm>
            <a:off x="2993746" y="2057400"/>
            <a:ext cx="185989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CARTA VAREJO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118811" y="2057400"/>
            <a:ext cx="1951330" cy="566928"/>
          </a:xfrm>
          <a:prstGeom prst="roundRect">
            <a:avLst>
              <a:gd name="adj" fmla="val 50000"/>
            </a:avLst>
          </a:prstGeom>
          <a:solidFill>
            <a:srgbClr val="EEF4FF"/>
          </a:solidFill>
          <a:ln/>
        </p:spPr>
      </p:sp>
      <p:sp>
        <p:nvSpPr>
          <p:cNvPr id="11" name="Text 9"/>
          <p:cNvSpPr/>
          <p:nvPr/>
        </p:nvSpPr>
        <p:spPr>
          <a:xfrm>
            <a:off x="5164531" y="2057400"/>
            <a:ext cx="185989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DECOMPOSIÇÃO MERCADO × SHARE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7289597" y="2057400"/>
            <a:ext cx="1951330" cy="566928"/>
          </a:xfrm>
          <a:prstGeom prst="roundRect">
            <a:avLst>
              <a:gd name="adj" fmla="val 50000"/>
            </a:avLst>
          </a:prstGeom>
          <a:solidFill>
            <a:srgbClr val="EEF4FF"/>
          </a:solidFill>
          <a:ln/>
        </p:spPr>
      </p:sp>
      <p:sp>
        <p:nvSpPr>
          <p:cNvPr id="13" name="Text 11"/>
          <p:cNvSpPr/>
          <p:nvPr/>
        </p:nvSpPr>
        <p:spPr>
          <a:xfrm>
            <a:off x="7335317" y="2057400"/>
            <a:ext cx="185989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K2 DO DRE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9460382" y="2057400"/>
            <a:ext cx="1951330" cy="566928"/>
          </a:xfrm>
          <a:prstGeom prst="roundRect">
            <a:avLst>
              <a:gd name="adj" fmla="val 50000"/>
            </a:avLst>
          </a:prstGeom>
          <a:solidFill>
            <a:srgbClr val="EEF4FF"/>
          </a:solidFill>
          <a:ln/>
        </p:spPr>
      </p:sp>
      <p:sp>
        <p:nvSpPr>
          <p:cNvPr id="15" name="Text 13"/>
          <p:cNvSpPr/>
          <p:nvPr/>
        </p:nvSpPr>
        <p:spPr>
          <a:xfrm>
            <a:off x="9506102" y="2057400"/>
            <a:ext cx="185989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KAIZEN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777240" y="2834640"/>
            <a:ext cx="1951330" cy="566928"/>
          </a:xfrm>
          <a:prstGeom prst="roundRect">
            <a:avLst>
              <a:gd name="adj" fmla="val 50000"/>
            </a:avLst>
          </a:prstGeom>
          <a:solidFill>
            <a:srgbClr val="EEF4FF"/>
          </a:solidFill>
          <a:ln/>
        </p:spPr>
      </p:sp>
      <p:sp>
        <p:nvSpPr>
          <p:cNvPr id="17" name="Text 15"/>
          <p:cNvSpPr/>
          <p:nvPr/>
        </p:nvSpPr>
        <p:spPr>
          <a:xfrm>
            <a:off x="822960" y="2834640"/>
            <a:ext cx="185989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CIRCULARES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2948026" y="2834640"/>
            <a:ext cx="1951330" cy="566928"/>
          </a:xfrm>
          <a:prstGeom prst="roundRect">
            <a:avLst>
              <a:gd name="adj" fmla="val 50000"/>
            </a:avLst>
          </a:prstGeom>
          <a:solidFill>
            <a:srgbClr val="EEF4FF"/>
          </a:solidFill>
          <a:ln/>
        </p:spPr>
      </p:sp>
      <p:sp>
        <p:nvSpPr>
          <p:cNvPr id="19" name="Text 17"/>
          <p:cNvSpPr/>
          <p:nvPr/>
        </p:nvSpPr>
        <p:spPr>
          <a:xfrm>
            <a:off x="2993746" y="2834640"/>
            <a:ext cx="185989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PREMYA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118811" y="2834640"/>
            <a:ext cx="1951330" cy="566928"/>
          </a:xfrm>
          <a:prstGeom prst="roundRect">
            <a:avLst>
              <a:gd name="adj" fmla="val 50000"/>
            </a:avLst>
          </a:prstGeom>
          <a:solidFill>
            <a:srgbClr val="EEF4FF"/>
          </a:solidFill>
          <a:ln/>
        </p:spPr>
      </p:sp>
      <p:sp>
        <p:nvSpPr>
          <p:cNvPr id="21" name="Text 19"/>
          <p:cNvSpPr/>
          <p:nvPr/>
        </p:nvSpPr>
        <p:spPr>
          <a:xfrm>
            <a:off x="5164531" y="2834640"/>
            <a:ext cx="185989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LIBERACRED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7289597" y="2834640"/>
            <a:ext cx="1951330" cy="566928"/>
          </a:xfrm>
          <a:prstGeom prst="roundRect">
            <a:avLst>
              <a:gd name="adj" fmla="val 50000"/>
            </a:avLst>
          </a:prstGeom>
          <a:solidFill>
            <a:srgbClr val="EEF4FF"/>
          </a:solidFill>
          <a:ln/>
        </p:spPr>
      </p:sp>
      <p:sp>
        <p:nvSpPr>
          <p:cNvPr id="23" name="Text 21"/>
          <p:cNvSpPr/>
          <p:nvPr/>
        </p:nvSpPr>
        <p:spPr>
          <a:xfrm>
            <a:off x="7335317" y="2834640"/>
            <a:ext cx="185989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PDCA OFICIAL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9460382" y="2834640"/>
            <a:ext cx="1951330" cy="566928"/>
          </a:xfrm>
          <a:prstGeom prst="roundRect">
            <a:avLst>
              <a:gd name="adj" fmla="val 50000"/>
            </a:avLst>
          </a:prstGeom>
          <a:solidFill>
            <a:srgbClr val="EEF4FF"/>
          </a:solidFill>
          <a:ln/>
        </p:spPr>
      </p:sp>
      <p:sp>
        <p:nvSpPr>
          <p:cNvPr id="25" name="Text 23"/>
          <p:cNvSpPr/>
          <p:nvPr/>
        </p:nvSpPr>
        <p:spPr>
          <a:xfrm>
            <a:off x="9506102" y="2834640"/>
            <a:ext cx="185989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RÉGUA R1–R4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777240" y="3840480"/>
            <a:ext cx="10634472" cy="1188720"/>
          </a:xfrm>
          <a:prstGeom prst="roundRect">
            <a:avLst>
              <a:gd name="adj" fmla="val 2308"/>
            </a:avLst>
          </a:prstGeom>
          <a:solidFill>
            <a:srgbClr val="EEF4FF"/>
          </a:solidFill>
          <a:ln/>
        </p:spPr>
      </p:sp>
      <p:sp>
        <p:nvSpPr>
          <p:cNvPr id="27" name="Text 25"/>
          <p:cNvSpPr/>
          <p:nvPr/>
        </p:nvSpPr>
        <p:spPr>
          <a:xfrm>
            <a:off x="1051560" y="3986784"/>
            <a:ext cx="10085832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Qualquer um compra software. Ninguém compra o know-how.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1051560" y="4297680"/>
            <a:ext cx="10085832" cy="62179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regras que fazem uma concessionária Yamaha performar — carta, campanha, fidelidade ao banco, absorção — só existem codificadas aqui. Replicá-las exige viver a operação, não contratar um dev. Essa foi a resposta que a 1ª banca pediu.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777240" y="5257800"/>
            <a:ext cx="106344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o know-how continua rendendo: cada circular nova entra no robô no dia da publicação.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1063447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PENSAR FORA DA CAIXA · ITEM 4 DE 5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777240"/>
            <a:ext cx="1063447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Método documentado, replicável — e já em uso pela regional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95451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3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77240" y="1426464"/>
            <a:ext cx="10634472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FÓRMULA DO SUCESSO:  </a:t>
            </a:r>
            <a:pPr indent="0" marL="0">
              <a:buNone/>
            </a:pPr>
            <a:r>
              <a:rPr lang="en-US" sz="115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"O trabalho resultou em um conhecimento avançado para nosso segmento"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777240" y="2011680"/>
            <a:ext cx="5216652" cy="1554480"/>
          </a:xfrm>
          <a:prstGeom prst="roundRect">
            <a:avLst>
              <a:gd name="adj" fmla="val 1765"/>
            </a:avLst>
          </a:prstGeom>
          <a:solidFill>
            <a:srgbClr val="F7F9FC"/>
          </a:solidFill>
          <a:ln/>
        </p:spPr>
      </p:sp>
      <p:sp>
        <p:nvSpPr>
          <p:cNvPr id="7" name="Text 5"/>
          <p:cNvSpPr/>
          <p:nvPr/>
        </p:nvSpPr>
        <p:spPr>
          <a:xfrm>
            <a:off x="996696" y="2212848"/>
            <a:ext cx="477774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MÉTODO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996696" y="2468880"/>
            <a:ext cx="477774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Decomposição mercado × share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96696" y="2834640"/>
            <a:ext cx="4777740" cy="5669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desvio do mês é demanda da praça ou execução da loja? A pergunta que toda CCY faz — agora com resposta calculada, não achada.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195060" y="2011680"/>
            <a:ext cx="5216652" cy="1554480"/>
          </a:xfrm>
          <a:prstGeom prst="roundRect">
            <a:avLst>
              <a:gd name="adj" fmla="val 1765"/>
            </a:avLst>
          </a:prstGeom>
          <a:solidFill>
            <a:srgbClr val="F7F9FC"/>
          </a:solidFill>
          <a:ln/>
        </p:spPr>
      </p:sp>
      <p:sp>
        <p:nvSpPr>
          <p:cNvPr id="11" name="Text 9"/>
          <p:cNvSpPr/>
          <p:nvPr/>
        </p:nvSpPr>
        <p:spPr>
          <a:xfrm>
            <a:off x="6414516" y="2212848"/>
            <a:ext cx="477774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MÉTODO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6414516" y="2468880"/>
            <a:ext cx="477774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Absorção lida direto do DRE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414516" y="2834640"/>
            <a:ext cx="4777740" cy="5669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K2 deixou de ser conta de padaria: taxa oficial, mês a mês, com o gap para 65% quantificado em reais.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77240" y="3767328"/>
            <a:ext cx="5216652" cy="1554480"/>
          </a:xfrm>
          <a:prstGeom prst="roundRect">
            <a:avLst>
              <a:gd name="adj" fmla="val 1765"/>
            </a:avLst>
          </a:prstGeom>
          <a:solidFill>
            <a:srgbClr val="F7F9FC"/>
          </a:solidFill>
          <a:ln/>
        </p:spPr>
      </p:sp>
      <p:sp>
        <p:nvSpPr>
          <p:cNvPr id="15" name="Text 13"/>
          <p:cNvSpPr/>
          <p:nvPr/>
        </p:nvSpPr>
        <p:spPr>
          <a:xfrm>
            <a:off x="996696" y="3968496"/>
            <a:ext cx="477774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MÉTODO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996696" y="4224528"/>
            <a:ext cx="477774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Dois relógios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996696" y="4590288"/>
            <a:ext cx="4777740" cy="5669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Carta e varejo no mês corrente; mercado e share no mês fechado. A régua que evita comparar coisas incomparáveis.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195060" y="3767328"/>
            <a:ext cx="5216652" cy="1554480"/>
          </a:xfrm>
          <a:prstGeom prst="roundRect">
            <a:avLst>
              <a:gd name="adj" fmla="val 1765"/>
            </a:avLst>
          </a:prstGeom>
          <a:solidFill>
            <a:srgbClr val="F7F9FC"/>
          </a:solidFill>
          <a:ln/>
        </p:spPr>
      </p:sp>
      <p:sp>
        <p:nvSpPr>
          <p:cNvPr id="19" name="Text 17"/>
          <p:cNvSpPr/>
          <p:nvPr/>
        </p:nvSpPr>
        <p:spPr>
          <a:xfrm>
            <a:off x="6414516" y="3968496"/>
            <a:ext cx="477774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1E9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ADOÇÃO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6414516" y="4224528"/>
            <a:ext cx="477774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consultor da regional já usa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414516" y="4590288"/>
            <a:ext cx="4777740" cy="5669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formato de análise virou o padrão do acompanhamento das 9 CCYs — o conhecimento saiu do grupo e virou prática de rede.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1063447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PENSAR FORA DA CAIXA · ITEM 5 DE 5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777240"/>
            <a:ext cx="1063447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número-manchete — e a conta aberta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95451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3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77240" y="1426464"/>
            <a:ext cx="10634472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FÓRMULA DO SUCESSO:  </a:t>
            </a:r>
            <a:pPr indent="0" marL="0">
              <a:buNone/>
            </a:pPr>
            <a:r>
              <a:rPr lang="en-US" sz="115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"O trabalho gerou grandes receitas"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777240" y="2057400"/>
            <a:ext cx="10634472" cy="1463040"/>
          </a:xfrm>
          <a:prstGeom prst="roundRect">
            <a:avLst>
              <a:gd name="adj" fmla="val 3750"/>
            </a:avLst>
          </a:prstGeom>
          <a:solidFill>
            <a:srgbClr val="0E2A1E"/>
          </a:solidFill>
          <a:ln w="19050">
            <a:solidFill>
              <a:srgbClr val="1E9E5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43000" y="2240280"/>
            <a:ext cx="990295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~R$ 1,1 milhão/ano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1143000" y="2971800"/>
            <a:ext cx="9902952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A7F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potencial identificado pelo sistema em UMA concessionária — contra R$ 7.200/ano de custo da plataforma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77240" y="3794760"/>
            <a:ext cx="3410712" cy="1463040"/>
          </a:xfrm>
          <a:prstGeom prst="roundRect">
            <a:avLst>
              <a:gd name="adj" fmla="val 1875"/>
            </a:avLst>
          </a:prstGeom>
          <a:solidFill>
            <a:srgbClr val="F7F9FC"/>
          </a:solidFill>
          <a:ln/>
        </p:spPr>
      </p:sp>
      <p:sp>
        <p:nvSpPr>
          <p:cNvPr id="10" name="Text 8"/>
          <p:cNvSpPr/>
          <p:nvPr/>
        </p:nvSpPr>
        <p:spPr>
          <a:xfrm>
            <a:off x="996696" y="3977640"/>
            <a:ext cx="2971800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CAMPANHAS DA MONTADORA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996696" y="4215384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E9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R$ 400 mil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996696" y="4818888"/>
            <a:ext cx="2971800" cy="38404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prêmios + vouchers por disciplina de carta · R$ 73,5 mil já apurados em julho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389120" y="3794760"/>
            <a:ext cx="3410712" cy="1463040"/>
          </a:xfrm>
          <a:prstGeom prst="roundRect">
            <a:avLst>
              <a:gd name="adj" fmla="val 1875"/>
            </a:avLst>
          </a:prstGeom>
          <a:solidFill>
            <a:srgbClr val="F7F9FC"/>
          </a:solidFill>
          <a:ln/>
        </p:spPr>
      </p:sp>
      <p:sp>
        <p:nvSpPr>
          <p:cNvPr id="14" name="Text 12"/>
          <p:cNvSpPr/>
          <p:nvPr/>
        </p:nvSpPr>
        <p:spPr>
          <a:xfrm>
            <a:off x="4608576" y="3977640"/>
            <a:ext cx="2971800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 DO K2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608576" y="4215384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E9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R$ 490 mil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4608576" y="4818888"/>
            <a:ext cx="2971800" cy="38404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margem de pós-vendas entre 49,4% e a meta de 65% de absorção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8001000" y="3794760"/>
            <a:ext cx="3410712" cy="1463040"/>
          </a:xfrm>
          <a:prstGeom prst="roundRect">
            <a:avLst>
              <a:gd name="adj" fmla="val 1875"/>
            </a:avLst>
          </a:prstGeom>
          <a:solidFill>
            <a:srgbClr val="F7F9FC"/>
          </a:solidFill>
          <a:ln/>
        </p:spPr>
      </p:sp>
      <p:sp>
        <p:nvSpPr>
          <p:cNvPr id="18" name="Text 16"/>
          <p:cNvSpPr/>
          <p:nvPr/>
        </p:nvSpPr>
        <p:spPr>
          <a:xfrm>
            <a:off x="8220456" y="3977640"/>
            <a:ext cx="2971800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PREMYA + SEGUROS + CONSÓRCIO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8220456" y="4215384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E9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R$ 200 mil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8220456" y="4818888"/>
            <a:ext cx="2971800" cy="38404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categoria Ouro + penetração de seguros + Bônus Quality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1063447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TRABALHO EM EQUIPE · ITEM 1 DE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777240"/>
            <a:ext cx="1063447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Cinco pessoas, cinco frentes — e a fala revezada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95451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3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77240" y="1426464"/>
            <a:ext cx="10634472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FÓRMULA DO SUCESSO:  </a:t>
            </a:r>
            <a:pPr indent="0" marL="0">
              <a:buNone/>
            </a:pPr>
            <a:r>
              <a:rPr lang="en-US" sz="115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"O trabalho em equipe realizado pelo grupo foi claramente percebido"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777240" y="2011680"/>
            <a:ext cx="1965960" cy="1920240"/>
          </a:xfrm>
          <a:prstGeom prst="roundRect">
            <a:avLst>
              <a:gd name="adj" fmla="val 1429"/>
            </a:avLst>
          </a:prstGeom>
          <a:solidFill>
            <a:srgbClr val="F7F9FC"/>
          </a:solidFill>
          <a:ln/>
        </p:spPr>
      </p:sp>
      <p:sp>
        <p:nvSpPr>
          <p:cNvPr id="7" name="Text 5"/>
          <p:cNvSpPr/>
          <p:nvPr/>
        </p:nvSpPr>
        <p:spPr>
          <a:xfrm>
            <a:off x="996696" y="2212848"/>
            <a:ext cx="1527048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Caique Oliveira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96696" y="2578608"/>
            <a:ext cx="1527048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dados, método e consultoria de campo — emplacamento, K2, PDCA, circulares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944368" y="2011680"/>
            <a:ext cx="1965960" cy="1920240"/>
          </a:xfrm>
          <a:prstGeom prst="roundRect">
            <a:avLst>
              <a:gd name="adj" fmla="val 1429"/>
            </a:avLst>
          </a:prstGeom>
          <a:solidFill>
            <a:srgbClr val="F7F9FC"/>
          </a:solidFill>
          <a:ln/>
        </p:spPr>
      </p:sp>
      <p:sp>
        <p:nvSpPr>
          <p:cNvPr id="10" name="Text 8"/>
          <p:cNvSpPr/>
          <p:nvPr/>
        </p:nvSpPr>
        <p:spPr>
          <a:xfrm>
            <a:off x="3163824" y="2212848"/>
            <a:ext cx="1527048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Klenilson Paiva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163824" y="2578608"/>
            <a:ext cx="1527048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narrativa, arquitetura da solução e apresentação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111496" y="2011680"/>
            <a:ext cx="1965960" cy="1920240"/>
          </a:xfrm>
          <a:prstGeom prst="roundRect">
            <a:avLst>
              <a:gd name="adj" fmla="val 1429"/>
            </a:avLst>
          </a:prstGeom>
          <a:solidFill>
            <a:srgbClr val="F7F9FC"/>
          </a:solidFill>
          <a:ln/>
        </p:spPr>
      </p:sp>
      <p:sp>
        <p:nvSpPr>
          <p:cNvPr id="13" name="Text 11"/>
          <p:cNvSpPr/>
          <p:nvPr/>
        </p:nvSpPr>
        <p:spPr>
          <a:xfrm>
            <a:off x="5330952" y="2212848"/>
            <a:ext cx="1527048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Evandro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330952" y="2578608"/>
            <a:ext cx="1527048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frente comercial — CRM, playbook e cadências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278624" y="2011680"/>
            <a:ext cx="1965960" cy="1920240"/>
          </a:xfrm>
          <a:prstGeom prst="roundRect">
            <a:avLst>
              <a:gd name="adj" fmla="val 1429"/>
            </a:avLst>
          </a:prstGeom>
          <a:solidFill>
            <a:srgbClr val="F7F9FC"/>
          </a:solidFill>
          <a:ln/>
        </p:spPr>
      </p:sp>
      <p:sp>
        <p:nvSpPr>
          <p:cNvPr id="16" name="Text 14"/>
          <p:cNvSpPr/>
          <p:nvPr/>
        </p:nvSpPr>
        <p:spPr>
          <a:xfrm>
            <a:off x="7498080" y="2212848"/>
            <a:ext cx="1527048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João Paulo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7498080" y="2578608"/>
            <a:ext cx="1527048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frente pós-vendas — régua de revisões e retenção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9445752" y="2011680"/>
            <a:ext cx="1965960" cy="1920240"/>
          </a:xfrm>
          <a:prstGeom prst="roundRect">
            <a:avLst>
              <a:gd name="adj" fmla="val 1429"/>
            </a:avLst>
          </a:prstGeom>
          <a:solidFill>
            <a:srgbClr val="F7F9FC"/>
          </a:solidFill>
          <a:ln/>
        </p:spPr>
      </p:sp>
      <p:sp>
        <p:nvSpPr>
          <p:cNvPr id="19" name="Text 17"/>
          <p:cNvSpPr/>
          <p:nvPr/>
        </p:nvSpPr>
        <p:spPr>
          <a:xfrm>
            <a:off x="9665208" y="2212848"/>
            <a:ext cx="1527048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Camila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9665208" y="2578608"/>
            <a:ext cx="1527048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frente cliente — pesquisa Voz do Cliente e NPS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777240" y="4251960"/>
            <a:ext cx="10634472" cy="960120"/>
          </a:xfrm>
          <a:prstGeom prst="roundRect">
            <a:avLst>
              <a:gd name="adj" fmla="val 2857"/>
            </a:avLst>
          </a:prstGeom>
          <a:solidFill>
            <a:srgbClr val="EEF4FF"/>
          </a:solidFill>
          <a:ln/>
        </p:spPr>
      </p:sp>
      <p:sp>
        <p:nvSpPr>
          <p:cNvPr id="22" name="Text 20"/>
          <p:cNvSpPr/>
          <p:nvPr/>
        </p:nvSpPr>
        <p:spPr>
          <a:xfrm>
            <a:off x="1051560" y="4398264"/>
            <a:ext cx="10085832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2ª banca, cada um apresenta a própria frente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1051560" y="4709160"/>
            <a:ext cx="10085832" cy="39319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Foi o critério com a maior distância para o Top 3 na 1ª banca (−0,11) — a divisão de papéis agora é explícita no material e na fala.</a:t>
            </a:r>
            <a:endParaRPr lang="en-US" sz="11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1063447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TRABALHO EM EQUIPE · ITEM 2 DE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777240"/>
            <a:ext cx="1063447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Nippon não apoia o projeto. Ela o paga.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95451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3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77240" y="1426464"/>
            <a:ext cx="10634472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FÓRMULA DO SUCESSO:  </a:t>
            </a:r>
            <a:pPr indent="0" marL="0">
              <a:buNone/>
            </a:pPr>
            <a:r>
              <a:rPr lang="en-US" sz="115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"O trabalho em equipe entre concessionária e grupo foi percebido"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777240" y="2011680"/>
            <a:ext cx="4937760" cy="804672"/>
          </a:xfrm>
          <a:prstGeom prst="roundRect">
            <a:avLst>
              <a:gd name="adj" fmla="val 3409"/>
            </a:avLst>
          </a:prstGeom>
          <a:solidFill>
            <a:srgbClr val="F7F9FC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21031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R$ 600/mês do próprio bolso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960120" y="2395728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concessionária paga o piloto — validação com a régua mais dura que existe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777240" y="2926080"/>
            <a:ext cx="4937760" cy="804672"/>
          </a:xfrm>
          <a:prstGeom prst="roundRect">
            <a:avLst>
              <a:gd name="adj" fmla="val 3409"/>
            </a:avLst>
          </a:prstGeom>
          <a:solidFill>
            <a:srgbClr val="F7F9FC"/>
          </a:solidFill>
          <a:ln/>
        </p:spPr>
      </p:sp>
      <p:sp>
        <p:nvSpPr>
          <p:cNvPr id="10" name="Text 8"/>
          <p:cNvSpPr/>
          <p:nvPr/>
        </p:nvSpPr>
        <p:spPr>
          <a:xfrm>
            <a:off x="960120" y="3017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Uso diário real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960120" y="3310128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dados desta apresentação são da operação, não de ambiente de teste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777240" y="3840480"/>
            <a:ext cx="4937760" cy="804672"/>
          </a:xfrm>
          <a:prstGeom prst="roundRect">
            <a:avLst>
              <a:gd name="adj" fmla="val 3409"/>
            </a:avLst>
          </a:prstGeom>
          <a:solidFill>
            <a:srgbClr val="F7F9FC"/>
          </a:solidFill>
          <a:ln/>
        </p:spPr>
      </p:sp>
      <p:sp>
        <p:nvSpPr>
          <p:cNvPr id="13" name="Text 11"/>
          <p:cNvSpPr/>
          <p:nvPr/>
        </p:nvSpPr>
        <p:spPr>
          <a:xfrm>
            <a:off x="960120" y="39319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Orientador acompanhando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960120" y="4224528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Paulo Lopes segue o projeto e o formato já circula pela regional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777240" y="4754880"/>
            <a:ext cx="4937760" cy="804672"/>
          </a:xfrm>
          <a:prstGeom prst="roundRect">
            <a:avLst>
              <a:gd name="adj" fmla="val 3409"/>
            </a:avLst>
          </a:prstGeom>
          <a:solidFill>
            <a:srgbClr val="F7F9FC"/>
          </a:solidFill>
          <a:ln/>
        </p:spPr>
      </p:sp>
      <p:sp>
        <p:nvSpPr>
          <p:cNvPr id="16" name="Text 14"/>
          <p:cNvSpPr/>
          <p:nvPr/>
        </p:nvSpPr>
        <p:spPr>
          <a:xfrm>
            <a:off x="960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Depoimento na final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960120" y="5138928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vídeo do titular contando o que mudou — combinado para a apresentação final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6080760" y="2011680"/>
            <a:ext cx="5422392" cy="3493865"/>
          </a:xfrm>
          <a:prstGeom prst="roundRect">
            <a:avLst>
              <a:gd name="adj" fmla="val 1832"/>
            </a:avLst>
          </a:prstGeom>
          <a:solidFill>
            <a:srgbClr val="0E1D36"/>
          </a:solidFill>
          <a:ln w="9525">
            <a:solidFill>
              <a:srgbClr val="22304A"/>
            </a:solidFill>
            <a:prstDash val="solid"/>
          </a:ln>
          <a:effectLst>
            <a:outerShdw sx="100000" sy="100000" kx="0" ky="0" algn="bl" rotWithShape="0" blurRad="177800" dist="63500" dir="5400000">
              <a:srgbClr val="0A1220">
                <a:alpha val="5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227064" y="2103120"/>
            <a:ext cx="91440" cy="91440"/>
          </a:xfrm>
          <a:prstGeom prst="ellipse">
            <a:avLst/>
          </a:prstGeom>
          <a:solidFill>
            <a:srgbClr val="FF5F57"/>
          </a:solidFill>
          <a:ln/>
        </p:spPr>
      </p:sp>
      <p:sp>
        <p:nvSpPr>
          <p:cNvPr id="20" name="Shape 18"/>
          <p:cNvSpPr/>
          <p:nvPr/>
        </p:nvSpPr>
        <p:spPr>
          <a:xfrm>
            <a:off x="6382512" y="2103120"/>
            <a:ext cx="91440" cy="91440"/>
          </a:xfrm>
          <a:prstGeom prst="ellipse">
            <a:avLst/>
          </a:prstGeom>
          <a:solidFill>
            <a:srgbClr val="FFBD2E"/>
          </a:solidFill>
          <a:ln/>
        </p:spPr>
      </p:sp>
      <p:sp>
        <p:nvSpPr>
          <p:cNvPr id="21" name="Shape 19"/>
          <p:cNvSpPr/>
          <p:nvPr/>
        </p:nvSpPr>
        <p:spPr>
          <a:xfrm>
            <a:off x="6537960" y="2103120"/>
            <a:ext cx="91440" cy="91440"/>
          </a:xfrm>
          <a:prstGeom prst="ellipse">
            <a:avLst/>
          </a:prstGeom>
          <a:solidFill>
            <a:srgbClr val="28C840"/>
          </a:solidFill>
          <a:ln/>
        </p:spPr>
      </p:sp>
      <p:sp>
        <p:nvSpPr>
          <p:cNvPr id="22" name="Text 20"/>
          <p:cNvSpPr/>
          <p:nvPr/>
        </p:nvSpPr>
        <p:spPr>
          <a:xfrm>
            <a:off x="7420356" y="2039112"/>
            <a:ext cx="2743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FA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smart-dealer.vercel.app</a:t>
            </a:r>
            <a:endParaRPr lang="en-US" sz="800" dirty="0"/>
          </a:p>
        </p:txBody>
      </p:sp>
      <p:pic>
        <p:nvPicPr>
          <p:cNvPr id="23" name="Image 0" descr="_NOVAS MELHORIAS/deck-assets/dash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17336" y="2286000"/>
            <a:ext cx="5349240" cy="3182969"/>
          </a:xfrm>
          <a:prstGeom prst="rect">
            <a:avLst/>
          </a:prstGeom>
        </p:spPr>
      </p:pic>
      <p:sp>
        <p:nvSpPr>
          <p:cNvPr id="24" name="Text 21"/>
          <p:cNvSpPr/>
          <p:nvPr/>
        </p:nvSpPr>
        <p:spPr>
          <a:xfrm>
            <a:off x="6080760" y="5577840"/>
            <a:ext cx="54223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tela que o titular abre todos os dias — carta, ritmo, ranking e Kaizen do grupo.</a:t>
            </a:r>
            <a:endParaRPr lang="en-US" sz="9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1063447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VIABILIDADE E IMPACTO · ITEM 1 DE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777240"/>
            <a:ext cx="1063447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Replicar é configurar, não reprogramar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95451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3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77240" y="1426464"/>
            <a:ext cx="10634472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FÓRMULA DO SUCESSO:  </a:t>
            </a:r>
            <a:pPr indent="0" marL="0">
              <a:buNone/>
            </a:pPr>
            <a:r>
              <a:rPr lang="en-US" sz="115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"O trabalho é viável para implantação em outras concessionárias"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777240" y="2011680"/>
            <a:ext cx="3410712" cy="1920240"/>
          </a:xfrm>
          <a:prstGeom prst="roundRect">
            <a:avLst>
              <a:gd name="adj" fmla="val 1429"/>
            </a:avLst>
          </a:prstGeom>
          <a:solidFill>
            <a:srgbClr val="F7F9FC"/>
          </a:solidFill>
          <a:ln/>
        </p:spPr>
      </p:sp>
      <p:sp>
        <p:nvSpPr>
          <p:cNvPr id="7" name="Text 5"/>
          <p:cNvSpPr/>
          <p:nvPr/>
        </p:nvSpPr>
        <p:spPr>
          <a:xfrm>
            <a:off x="996696" y="2212848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ARQUITETURA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996696" y="2468880"/>
            <a:ext cx="297180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Multi-grupo desde o dia 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96696" y="2834640"/>
            <a:ext cx="2971800" cy="93268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9 grupos da regional já estão na base de varejo e metas — falta só criar os acessos de cada um.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389120" y="2011680"/>
            <a:ext cx="3410712" cy="1920240"/>
          </a:xfrm>
          <a:prstGeom prst="roundRect">
            <a:avLst>
              <a:gd name="adj" fmla="val 1429"/>
            </a:avLst>
          </a:prstGeom>
          <a:solidFill>
            <a:srgbClr val="F7F9FC"/>
          </a:solidFill>
          <a:ln/>
        </p:spPr>
      </p:sp>
      <p:sp>
        <p:nvSpPr>
          <p:cNvPr id="11" name="Text 9"/>
          <p:cNvSpPr/>
          <p:nvPr/>
        </p:nvSpPr>
        <p:spPr>
          <a:xfrm>
            <a:off x="4608576" y="2212848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608576" y="2468880"/>
            <a:ext cx="297180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SaaS · R$ 600/mês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608576" y="2834640"/>
            <a:ext cx="2971800" cy="93268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instalação, sem hardware, sem projeto de TI local. Um prêmio de campanha capturado paga o ano.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001000" y="2011680"/>
            <a:ext cx="3410712" cy="1920240"/>
          </a:xfrm>
          <a:prstGeom prst="roundRect">
            <a:avLst>
              <a:gd name="adj" fmla="val 1429"/>
            </a:avLst>
          </a:prstGeom>
          <a:solidFill>
            <a:srgbClr val="F7F9FC"/>
          </a:solidFill>
          <a:ln/>
        </p:spPr>
      </p:sp>
      <p:sp>
        <p:nvSpPr>
          <p:cNvPr id="15" name="Text 13"/>
          <p:cNvSpPr/>
          <p:nvPr/>
        </p:nvSpPr>
        <p:spPr>
          <a:xfrm>
            <a:off x="8220456" y="2212848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GOVERNANÇA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8220456" y="2468880"/>
            <a:ext cx="297180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Parametrizável por grupo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220456" y="2834640"/>
            <a:ext cx="2971800" cy="93268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Régua, regionalização e cadências são configuração — cada CCY com suas lojas e suas regras.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77240" y="4251960"/>
            <a:ext cx="10634472" cy="960120"/>
          </a:xfrm>
          <a:prstGeom prst="roundRect">
            <a:avLst>
              <a:gd name="adj" fmla="val 2857"/>
            </a:avLst>
          </a:prstGeom>
          <a:solidFill>
            <a:srgbClr val="EEF4FF"/>
          </a:solidFill>
          <a:ln/>
        </p:spPr>
      </p:sp>
      <p:sp>
        <p:nvSpPr>
          <p:cNvPr id="19" name="Text 17"/>
          <p:cNvSpPr/>
          <p:nvPr/>
        </p:nvSpPr>
        <p:spPr>
          <a:xfrm>
            <a:off x="1051560" y="4398264"/>
            <a:ext cx="10085832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a diretoria aprovar: rollout regional ainda em 2026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1051560" y="4709160"/>
            <a:ext cx="10085832" cy="39319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o YamahaWay terá gerado um padrão nacional — nascido dentro de uma concessionária, validado por esta banca.</a:t>
            </a:r>
            <a:endParaRPr lang="en-US" sz="11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1063447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VIABILIDADE E IMPACTO · ITEM 2 DE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777240"/>
            <a:ext cx="1063447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prova: o método já rodou fora da Nippon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95451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3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77240" y="1426464"/>
            <a:ext cx="10634472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FÓRMULA DO SUCESSO:  </a:t>
            </a:r>
            <a:pPr indent="0" marL="0">
              <a:buNone/>
            </a:pPr>
            <a:r>
              <a:rPr lang="en-US" sz="115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"Há possibilidade de bons resultados se o trabalho for implementado em outras concessionárias"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777240" y="2011680"/>
            <a:ext cx="5134356" cy="3017520"/>
          </a:xfrm>
          <a:prstGeom prst="roundRect">
            <a:avLst>
              <a:gd name="adj" fmla="val 1212"/>
            </a:avLst>
          </a:prstGeom>
          <a:solidFill>
            <a:srgbClr val="F7F9FC"/>
          </a:solidFill>
          <a:ln/>
        </p:spPr>
      </p:sp>
      <p:sp>
        <p:nvSpPr>
          <p:cNvPr id="7" name="Text 5"/>
          <p:cNvSpPr/>
          <p:nvPr/>
        </p:nvSpPr>
        <p:spPr>
          <a:xfrm>
            <a:off x="1005840" y="2240280"/>
            <a:ext cx="4677156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NOBRE MOTOS · Caraguatatuba e Mogi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05840" y="2606040"/>
            <a:ext cx="4677156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PDCAs da NOBRE foram gerados com o mesmo método — decomposição, segmentos, praças — em outro grupo, sem mudar uma linha do sistema. É o argumento de escala mais barato que existe: já aconteceu.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1005840" y="4480560"/>
            <a:ext cx="46771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9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mesmo método · outro grupo · zero adaptação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77356" y="2011680"/>
            <a:ext cx="5134356" cy="3017520"/>
          </a:xfrm>
          <a:prstGeom prst="roundRect">
            <a:avLst>
              <a:gd name="adj" fmla="val 1212"/>
            </a:avLst>
          </a:prstGeom>
          <a:solidFill>
            <a:srgbClr val="EEF4FF"/>
          </a:solidFill>
          <a:ln/>
        </p:spPr>
      </p:sp>
      <p:sp>
        <p:nvSpPr>
          <p:cNvPr id="11" name="Text 9"/>
          <p:cNvSpPr/>
          <p:nvPr/>
        </p:nvSpPr>
        <p:spPr>
          <a:xfrm>
            <a:off x="6505956" y="2240280"/>
            <a:ext cx="4677156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consultor da regional nas 9 CCYs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505956" y="2606040"/>
            <a:ext cx="4677156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formato de análise do Smart Dealer virou o padrão do acompanhamento mensal da regional — os outros 8 grupos já veem os próprios números lidos pelo método antes mesmo de terem acesso ao sistema.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505956" y="4480560"/>
            <a:ext cx="46771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demanda já existe — falta só o acesso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77240" y="5349240"/>
            <a:ext cx="106344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8A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Ganhos esperados por CCY no rollout: +8% varejo · +15% conversão de leads · +10% aprovação financeira · +5 pts NPS.</a:t>
            </a:r>
            <a:endParaRPr lang="en-US" sz="1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914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_NOVAS MELHORIAS/deck-assets/bg-fech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2148840"/>
            <a:ext cx="10634472" cy="1645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ts val="44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"Como transformar dados</a:t>
            </a:r>
            <a:endParaRPr lang="en-US" sz="3200" dirty="0"/>
          </a:p>
          <a:p>
            <a:pPr algn="ctr" indent="0" marL="0">
              <a:lnSpc>
                <a:spcPts val="44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experiências memoráveis?"</a:t>
            </a:r>
            <a:endParaRPr lang="en-US" sz="3200" dirty="0"/>
          </a:p>
        </p:txBody>
      </p:sp>
      <p:sp>
        <p:nvSpPr>
          <p:cNvPr id="4" name="Text 1"/>
          <p:cNvSpPr/>
          <p:nvPr/>
        </p:nvSpPr>
        <p:spPr>
          <a:xfrm>
            <a:off x="1706453" y="3977640"/>
            <a:ext cx="877604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2200"/>
              </a:lnSpc>
              <a:buNone/>
            </a:pPr>
            <a:r>
              <a:rPr lang="en-US" sz="1450" dirty="0">
                <a:solidFill>
                  <a:srgbClr val="B8C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Smart Dealer é mais do que uma plataforma tecnológica.</a:t>
            </a:r>
            <a:endParaRPr lang="en-US" sz="1450" dirty="0"/>
          </a:p>
          <a:p>
            <a:pPr algn="ctr" indent="0" marL="0">
              <a:lnSpc>
                <a:spcPts val="2200"/>
              </a:lnSpc>
              <a:buNone/>
            </a:pPr>
            <a:r>
              <a:rPr lang="en-US" sz="1450" dirty="0">
                <a:solidFill>
                  <a:srgbClr val="B8C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um novo padrão de relacionamento entre cliente, concessionária e Yamaha.</a:t>
            </a:r>
            <a:endParaRPr lang="en-US" sz="1450" dirty="0"/>
          </a:p>
        </p:txBody>
      </p:sp>
      <p:sp>
        <p:nvSpPr>
          <p:cNvPr id="5" name="Text 2"/>
          <p:cNvSpPr/>
          <p:nvPr/>
        </p:nvSpPr>
        <p:spPr>
          <a:xfrm>
            <a:off x="1706453" y="4983480"/>
            <a:ext cx="877604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8A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 requisitos da Fórmula do Sucesso · 27 entregas — e setembro fecha a campanha e a Meta 1.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777240" y="6309360"/>
            <a:ext cx="106344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spc="200" kern="0" dirty="0">
                <a:solidFill>
                  <a:srgbClr val="3D4F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YAMAHA WAY 2026 · GRUPO 06 SHOGUN RIDERS · NIPPON MOTOS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Smart Dealer — 2ª Banca YamahaWay 2026</dc:title>
  <dc:subject>PptxGenJS Presentation</dc:subject>
  <dc:creator>Grupo 06 — Shogun Riders</dc:creator>
  <cp:lastModifiedBy>Grupo 06 — Shogun Riders</cp:lastModifiedBy>
  <cp:revision>1</cp:revision>
  <dcterms:created xsi:type="dcterms:W3CDTF">2026-08-20T12:12:50Z</dcterms:created>
  <dcterms:modified xsi:type="dcterms:W3CDTF">2026-08-20T12:12:50Z</dcterms:modified>
</cp:coreProperties>
</file>