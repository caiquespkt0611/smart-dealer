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B0B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5F0"/>
          </a:solidFill>
        </a:fill>
      </a:tcStyle>
    </a:wholeTbl>
    <a:band2H>
      <a:tcTxStyle b="def" i="def"/>
      <a:tcStyle>
        <a:tcBdr/>
        <a:fill>
          <a:solidFill>
            <a:srgbClr val="E7EB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DECD"/>
          </a:solidFill>
        </a:fill>
      </a:tcStyle>
    </a:wholeTbl>
    <a:band2H>
      <a:tcTxStyle b="def" i="def"/>
      <a:tcStyle>
        <a:tcBdr/>
        <a:fill>
          <a:solidFill>
            <a:srgbClr val="E8EF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D9D7"/>
          </a:solidFill>
        </a:fill>
      </a:tcStyle>
    </a:wholeTbl>
    <a:band2H>
      <a:tcTxStyle b="def" i="def"/>
      <a:tcStyle>
        <a:tcBdr/>
        <a:fill>
          <a:solidFill>
            <a:srgbClr val="EDED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B0B"/>
              </a:solidFill>
              <a:prstDash val="solid"/>
              <a:round/>
            </a:ln>
          </a:top>
          <a:bottom>
            <a:ln w="25400" cap="flat">
              <a:solidFill>
                <a:srgbClr val="0B0B0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B0B"/>
              </a:solidFill>
              <a:prstDash val="solid"/>
              <a:round/>
            </a:ln>
          </a:top>
          <a:bottom>
            <a:ln w="25400" cap="flat">
              <a:solidFill>
                <a:srgbClr val="0B0B0B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B0B0B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0B0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0B0B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0B0B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Abertura: este deck sai do sistema com os mesmos números das telas — nada foi montado à mão.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" name="Shape 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Pergunta 1 da call: "como eu fui?" — responder com a carta e o ritmo, não com opinião.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A decomposição fecha exata: variação real = efeito mercado + efeito share. É ela que separa "o mercado caiu" de "perdemos disputa".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A causa muda a ação: disputa → retomar terreno; demanda → converter o que ainda entra e ajustar pedido.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O resultado da área é do grupo — a invasão é alerta, não placar. Nomear os CNPJs muda a conversa.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Linha da média no gráfico = referência 65%. Passagens (nº de O.S.) não constam no DRE — pendente de outra fonte.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Traduzir o prêmio em motos: cada degrau da circular tem um número exato de motos de distância.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1" name="forma 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2" name="forma 4"/>
          <p:cNvSpPr txBox="1"/>
          <p:nvPr/>
        </p:nvSpPr>
        <p:spPr>
          <a:xfrm>
            <a:off x="685800" y="2285999"/>
            <a:ext cx="108204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A9C4E8"/>
                </a:solidFill>
              </a:defRPr>
            </a:lvl1pPr>
          </a:lstStyle>
          <a:p>
            <a:pPr/>
            <a:r>
              <a:t>PLANO DE PERFORMANCE</a:t>
            </a:r>
          </a:p>
        </p:txBody>
      </p:sp>
      <p:sp>
        <p:nvSpPr>
          <p:cNvPr id="23" name="forma 5"/>
          <p:cNvSpPr txBox="1"/>
          <p:nvPr/>
        </p:nvSpPr>
        <p:spPr>
          <a:xfrm>
            <a:off x="685800" y="2616199"/>
            <a:ext cx="10820400" cy="56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NIPPON MOTOS</a:t>
            </a:r>
          </a:p>
        </p:txBody>
      </p:sp>
      <p:sp>
        <p:nvSpPr>
          <p:cNvPr id="24" name="forma 6"/>
          <p:cNvSpPr txBox="1"/>
          <p:nvPr/>
        </p:nvSpPr>
        <p:spPr>
          <a:xfrm>
            <a:off x="685800" y="3403600"/>
            <a:ext cx="108204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D7E3F4"/>
                </a:solidFill>
              </a:defRPr>
            </a:lvl1pPr>
          </a:lstStyle>
          <a:p>
            <a:pPr/>
            <a:r>
              <a:t>Julho fechado → carta de Agosto/2026</a:t>
            </a:r>
          </a:p>
        </p:txBody>
      </p:sp>
      <p:sp>
        <p:nvSpPr>
          <p:cNvPr id="25" name="forma 7"/>
          <p:cNvSpPr txBox="1"/>
          <p:nvPr/>
        </p:nvSpPr>
        <p:spPr>
          <a:xfrm>
            <a:off x="685800" y="3809999"/>
            <a:ext cx="108204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A9C4E8"/>
                </a:solidFill>
              </a:defRPr>
            </a:lvl1pPr>
          </a:lstStyle>
          <a:p>
            <a:pPr/>
            <a:r>
              <a:t>Smart Dealer · dados vivos do sistema ·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0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O MÊS</a:t>
            </a:r>
          </a:p>
        </p:txBody>
      </p:sp>
      <p:sp>
        <p:nvSpPr>
          <p:cNvPr id="31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O que julho diz sobre o que agosto exige</a:t>
            </a:r>
          </a:p>
        </p:txBody>
      </p:sp>
      <p:sp>
        <p:nvSpPr>
          <p:cNvPr id="32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NIPPON MOTOS</a:t>
            </a:r>
          </a:p>
        </p:txBody>
      </p:sp>
      <p:sp>
        <p:nvSpPr>
          <p:cNvPr id="33" name="forma 6"/>
          <p:cNvSpPr/>
          <p:nvPr/>
        </p:nvSpPr>
        <p:spPr>
          <a:xfrm>
            <a:off x="68580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4" name="forma 7"/>
          <p:cNvSpPr txBox="1"/>
          <p:nvPr/>
        </p:nvSpPr>
        <p:spPr>
          <a:xfrm>
            <a:off x="838200" y="1384299"/>
            <a:ext cx="1757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CARTA DE AGOSTO</a:t>
            </a:r>
          </a:p>
        </p:txBody>
      </p:sp>
      <p:sp>
        <p:nvSpPr>
          <p:cNvPr id="35" name="forma 8"/>
          <p:cNvSpPr txBox="1"/>
          <p:nvPr/>
        </p:nvSpPr>
        <p:spPr>
          <a:xfrm>
            <a:off x="838200" y="1574799"/>
            <a:ext cx="1757679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160 un</a:t>
            </a:r>
          </a:p>
        </p:txBody>
      </p:sp>
      <p:sp>
        <p:nvSpPr>
          <p:cNvPr id="36" name="forma 9"/>
          <p:cNvSpPr/>
          <p:nvPr/>
        </p:nvSpPr>
        <p:spPr>
          <a:xfrm>
            <a:off x="2875279" y="1270000"/>
            <a:ext cx="2062481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7" name="forma 10"/>
          <p:cNvSpPr txBox="1"/>
          <p:nvPr/>
        </p:nvSpPr>
        <p:spPr>
          <a:xfrm>
            <a:off x="3027679" y="1384299"/>
            <a:ext cx="1757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FECHAMENTO JULHO</a:t>
            </a:r>
          </a:p>
        </p:txBody>
      </p:sp>
      <p:sp>
        <p:nvSpPr>
          <p:cNvPr id="38" name="forma 11"/>
          <p:cNvSpPr txBox="1"/>
          <p:nvPr/>
        </p:nvSpPr>
        <p:spPr>
          <a:xfrm>
            <a:off x="3027679" y="1574799"/>
            <a:ext cx="175768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144 un</a:t>
            </a:r>
          </a:p>
        </p:txBody>
      </p:sp>
      <p:sp>
        <p:nvSpPr>
          <p:cNvPr id="39" name="forma 12"/>
          <p:cNvSpPr/>
          <p:nvPr/>
        </p:nvSpPr>
        <p:spPr>
          <a:xfrm>
            <a:off x="5064759" y="1270000"/>
            <a:ext cx="2062481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0" name="forma 13"/>
          <p:cNvSpPr txBox="1"/>
          <p:nvPr/>
        </p:nvSpPr>
        <p:spPr>
          <a:xfrm>
            <a:off x="5217159" y="1384299"/>
            <a:ext cx="1757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SALTO QUE A CARTA PEDE</a:t>
            </a:r>
          </a:p>
        </p:txBody>
      </p:sp>
      <p:sp>
        <p:nvSpPr>
          <p:cNvPr id="41" name="forma 14"/>
          <p:cNvSpPr txBox="1"/>
          <p:nvPr/>
        </p:nvSpPr>
        <p:spPr>
          <a:xfrm>
            <a:off x="5217159" y="1574799"/>
            <a:ext cx="175768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4"/>
                </a:solidFill>
              </a:defRPr>
            </a:lvl1pPr>
          </a:lstStyle>
          <a:p>
            <a:pPr/>
            <a:r>
              <a:t>+16 un</a:t>
            </a:r>
          </a:p>
        </p:txBody>
      </p:sp>
      <p:sp>
        <p:nvSpPr>
          <p:cNvPr id="42" name="forma 15"/>
          <p:cNvSpPr/>
          <p:nvPr/>
        </p:nvSpPr>
        <p:spPr>
          <a:xfrm>
            <a:off x="7254240" y="1270000"/>
            <a:ext cx="2062481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3" name="forma 16"/>
          <p:cNvSpPr txBox="1"/>
          <p:nvPr/>
        </p:nvSpPr>
        <p:spPr>
          <a:xfrm>
            <a:off x="7406640" y="1384299"/>
            <a:ext cx="1757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RITMO NECESSÁRIO</a:t>
            </a:r>
          </a:p>
        </p:txBody>
      </p:sp>
      <p:sp>
        <p:nvSpPr>
          <p:cNvPr id="44" name="forma 17"/>
          <p:cNvSpPr txBox="1"/>
          <p:nvPr/>
        </p:nvSpPr>
        <p:spPr>
          <a:xfrm>
            <a:off x="7406640" y="1574799"/>
            <a:ext cx="175768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7,6 un/dia</a:t>
            </a:r>
          </a:p>
        </p:txBody>
      </p:sp>
      <p:sp>
        <p:nvSpPr>
          <p:cNvPr id="45" name="forma 18"/>
          <p:cNvSpPr txBox="1"/>
          <p:nvPr/>
        </p:nvSpPr>
        <p:spPr>
          <a:xfrm>
            <a:off x="7406640" y="1941067"/>
            <a:ext cx="1757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21 dias úteis</a:t>
            </a:r>
          </a:p>
        </p:txBody>
      </p:sp>
      <p:sp>
        <p:nvSpPr>
          <p:cNvPr id="46" name="forma 19"/>
          <p:cNvSpPr/>
          <p:nvPr/>
        </p:nvSpPr>
        <p:spPr>
          <a:xfrm>
            <a:off x="9443719" y="1270000"/>
            <a:ext cx="2062481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47" name="forma 20"/>
          <p:cNvSpPr txBox="1"/>
          <p:nvPr/>
        </p:nvSpPr>
        <p:spPr>
          <a:xfrm>
            <a:off x="9596119" y="1384299"/>
            <a:ext cx="1757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POSIÇÃO REGIONAL</a:t>
            </a:r>
          </a:p>
        </p:txBody>
      </p:sp>
      <p:sp>
        <p:nvSpPr>
          <p:cNvPr id="48" name="forma 21"/>
          <p:cNvSpPr txBox="1"/>
          <p:nvPr/>
        </p:nvSpPr>
        <p:spPr>
          <a:xfrm>
            <a:off x="9596119" y="1574799"/>
            <a:ext cx="175768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4º de 9</a:t>
            </a:r>
          </a:p>
        </p:txBody>
      </p:sp>
      <p:sp>
        <p:nvSpPr>
          <p:cNvPr id="49" name="forma 22"/>
          <p:cNvSpPr/>
          <p:nvPr/>
        </p:nvSpPr>
        <p:spPr>
          <a:xfrm>
            <a:off x="685800" y="2322067"/>
            <a:ext cx="10820400" cy="978853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0" name="forma 23"/>
          <p:cNvSpPr/>
          <p:nvPr/>
        </p:nvSpPr>
        <p:spPr>
          <a:xfrm>
            <a:off x="685800" y="2322067"/>
            <a:ext cx="50800" cy="978853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1" name="forma 24"/>
          <p:cNvSpPr txBox="1"/>
          <p:nvPr/>
        </p:nvSpPr>
        <p:spPr>
          <a:xfrm>
            <a:off x="889000" y="2449067"/>
            <a:ext cx="828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52514E"/>
                </a:solidFill>
              </a:defRPr>
            </a:lvl1pPr>
          </a:lstStyle>
          <a:p>
            <a:pPr/>
            <a:r>
              <a:t>A LARGADA</a:t>
            </a:r>
          </a:p>
        </p:txBody>
      </p:sp>
      <p:sp>
        <p:nvSpPr>
          <p:cNvPr id="52" name="forma 25"/>
          <p:cNvSpPr txBox="1"/>
          <p:nvPr/>
        </p:nvSpPr>
        <p:spPr>
          <a:xfrm>
            <a:off x="9169400" y="2423667"/>
            <a:ext cx="2133600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600">
                <a:solidFill>
                  <a:schemeClr val="accent4"/>
                </a:solidFill>
              </a:defRPr>
            </a:lvl1pPr>
          </a:lstStyle>
          <a:p>
            <a:pPr/>
            <a:r>
              <a:t>+16 un</a:t>
            </a:r>
          </a:p>
        </p:txBody>
      </p:sp>
      <p:sp>
        <p:nvSpPr>
          <p:cNvPr id="53" name="forma 26"/>
          <p:cNvSpPr txBox="1"/>
          <p:nvPr/>
        </p:nvSpPr>
        <p:spPr>
          <a:xfrm>
            <a:off x="889000" y="2703067"/>
            <a:ext cx="8280400" cy="332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/>
            </a:lvl1pPr>
          </a:lstStyle>
          <a:p>
            <a:pPr/>
            <a:r>
              <a:t>Julho fechou com 144 un e a carta de agosto é de 160 un — +16 un sobre o que acabou de ser feito, ou 7,6 un/dia. Ainda não há venda registrada no mês: não há ritmo a corrigir, há ritmo a estabelecer.</a:t>
            </a:r>
          </a:p>
        </p:txBody>
      </p:sp>
      <p:sp>
        <p:nvSpPr>
          <p:cNvPr id="54" name="forma 27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9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MERCADO</a:t>
            </a:r>
          </a:p>
        </p:txBody>
      </p:sp>
      <p:sp>
        <p:nvSpPr>
          <p:cNvPr id="60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Por que o varejo está onde está</a:t>
            </a:r>
          </a:p>
        </p:txBody>
      </p:sp>
      <p:sp>
        <p:nvSpPr>
          <p:cNvPr id="61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áreas Amparo + Ouro Fino</a:t>
            </a:r>
          </a:p>
        </p:txBody>
      </p:sp>
      <p:sp>
        <p:nvSpPr>
          <p:cNvPr id="62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3" name="forma 7"/>
          <p:cNvSpPr txBox="1"/>
          <p:nvPr/>
        </p:nvSpPr>
        <p:spPr>
          <a:xfrm>
            <a:off x="83820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MERCADO DA ÁREA</a:t>
            </a:r>
          </a:p>
        </p:txBody>
      </p:sp>
      <p:sp>
        <p:nvSpPr>
          <p:cNvPr id="64" name="forma 8"/>
          <p:cNvSpPr txBox="1"/>
          <p:nvPr/>
        </p:nvSpPr>
        <p:spPr>
          <a:xfrm>
            <a:off x="83820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791 un/mês</a:t>
            </a:r>
          </a:p>
        </p:txBody>
      </p:sp>
      <p:sp>
        <p:nvSpPr>
          <p:cNvPr id="65" name="forma 9"/>
          <p:cNvSpPr txBox="1"/>
          <p:nvPr/>
        </p:nvSpPr>
        <p:spPr>
          <a:xfrm>
            <a:off x="83820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base 766</a:t>
            </a:r>
          </a:p>
        </p:txBody>
      </p:sp>
      <p:sp>
        <p:nvSpPr>
          <p:cNvPr id="66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7" name="forma 11"/>
          <p:cNvSpPr txBox="1"/>
          <p:nvPr/>
        </p:nvSpPr>
        <p:spPr>
          <a:xfrm>
            <a:off x="357505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SHARE YAMAHA</a:t>
            </a:r>
          </a:p>
        </p:txBody>
      </p:sp>
      <p:sp>
        <p:nvSpPr>
          <p:cNvPr id="68" name="forma 12"/>
          <p:cNvSpPr txBox="1"/>
          <p:nvPr/>
        </p:nvSpPr>
        <p:spPr>
          <a:xfrm>
            <a:off x="357505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3"/>
                </a:solidFill>
              </a:defRPr>
            </a:lvl1pPr>
          </a:lstStyle>
          <a:p>
            <a:pPr/>
            <a:r>
              <a:t>20,4%</a:t>
            </a:r>
          </a:p>
        </p:txBody>
      </p:sp>
      <p:sp>
        <p:nvSpPr>
          <p:cNvPr id="69" name="forma 13"/>
          <p:cNvSpPr txBox="1"/>
          <p:nvPr/>
        </p:nvSpPr>
        <p:spPr>
          <a:xfrm>
            <a:off x="357505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média Abr–Jun: 20,1%</a:t>
            </a:r>
          </a:p>
        </p:txBody>
      </p:sp>
      <p:sp>
        <p:nvSpPr>
          <p:cNvPr id="70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1" name="forma 15"/>
          <p:cNvSpPr txBox="1"/>
          <p:nvPr/>
        </p:nvSpPr>
        <p:spPr>
          <a:xfrm>
            <a:off x="631190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EFEITO MERCADO</a:t>
            </a:r>
          </a:p>
        </p:txBody>
      </p:sp>
      <p:sp>
        <p:nvSpPr>
          <p:cNvPr id="72" name="forma 16"/>
          <p:cNvSpPr txBox="1"/>
          <p:nvPr/>
        </p:nvSpPr>
        <p:spPr>
          <a:xfrm>
            <a:off x="631190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3"/>
                </a:solidFill>
              </a:defRPr>
            </a:lvl1pPr>
          </a:lstStyle>
          <a:p>
            <a:pPr/>
            <a:r>
              <a:t>+5 un</a:t>
            </a:r>
          </a:p>
        </p:txBody>
      </p:sp>
      <p:sp>
        <p:nvSpPr>
          <p:cNvPr id="73" name="forma 17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4" name="forma 18"/>
          <p:cNvSpPr txBox="1"/>
          <p:nvPr/>
        </p:nvSpPr>
        <p:spPr>
          <a:xfrm>
            <a:off x="904875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EFEITO SHARE</a:t>
            </a:r>
          </a:p>
        </p:txBody>
      </p:sp>
      <p:sp>
        <p:nvSpPr>
          <p:cNvPr id="75" name="forma 19"/>
          <p:cNvSpPr txBox="1"/>
          <p:nvPr/>
        </p:nvSpPr>
        <p:spPr>
          <a:xfrm>
            <a:off x="904875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3"/>
                </a:solidFill>
              </a:defRPr>
            </a:lvl1pPr>
          </a:lstStyle>
          <a:p>
            <a:pPr/>
            <a:r>
              <a:t>+1,7 un</a:t>
            </a:r>
          </a:p>
        </p:txBody>
      </p:sp>
      <p:sp>
        <p:nvSpPr>
          <p:cNvPr id="76" name="forma 20"/>
          <p:cNvSpPr txBox="1"/>
          <p:nvPr/>
        </p:nvSpPr>
        <p:spPr>
          <a:xfrm>
            <a:off x="685800" y="2296667"/>
            <a:ext cx="10820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52514E"/>
                </a:solidFill>
              </a:defRPr>
            </a:lvl1pPr>
          </a:lstStyle>
          <a:p>
            <a:pPr/>
            <a:r>
              <a:t>Mercado da área, mês a mês (un)</a:t>
            </a:r>
          </a:p>
        </p:txBody>
      </p:sp>
      <p:sp>
        <p:nvSpPr>
          <p:cNvPr id="77" name="forma 21"/>
          <p:cNvSpPr/>
          <p:nvPr/>
        </p:nvSpPr>
        <p:spPr>
          <a:xfrm>
            <a:off x="1242482" y="2960004"/>
            <a:ext cx="533401" cy="1089265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8" name="forma 22"/>
          <p:cNvSpPr txBox="1"/>
          <p:nvPr/>
        </p:nvSpPr>
        <p:spPr>
          <a:xfrm>
            <a:off x="1115482" y="2769504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674</a:t>
            </a:r>
          </a:p>
        </p:txBody>
      </p:sp>
      <p:sp>
        <p:nvSpPr>
          <p:cNvPr id="79" name="forma 23"/>
          <p:cNvSpPr txBox="1"/>
          <p:nvPr/>
        </p:nvSpPr>
        <p:spPr>
          <a:xfrm>
            <a:off x="1115482" y="4100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Fev</a:t>
            </a:r>
          </a:p>
        </p:txBody>
      </p:sp>
      <p:sp>
        <p:nvSpPr>
          <p:cNvPr id="80" name="forma 24"/>
          <p:cNvSpPr/>
          <p:nvPr/>
        </p:nvSpPr>
        <p:spPr>
          <a:xfrm>
            <a:off x="2889250" y="2724050"/>
            <a:ext cx="533400" cy="1325218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1" name="forma 25"/>
          <p:cNvSpPr txBox="1"/>
          <p:nvPr/>
        </p:nvSpPr>
        <p:spPr>
          <a:xfrm>
            <a:off x="2762250" y="2533550"/>
            <a:ext cx="787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820</a:t>
            </a:r>
          </a:p>
        </p:txBody>
      </p:sp>
      <p:sp>
        <p:nvSpPr>
          <p:cNvPr id="82" name="forma 26"/>
          <p:cNvSpPr txBox="1"/>
          <p:nvPr/>
        </p:nvSpPr>
        <p:spPr>
          <a:xfrm>
            <a:off x="2762250" y="4100067"/>
            <a:ext cx="787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Mar</a:t>
            </a:r>
          </a:p>
        </p:txBody>
      </p:sp>
      <p:sp>
        <p:nvSpPr>
          <p:cNvPr id="83" name="forma 27"/>
          <p:cNvSpPr/>
          <p:nvPr/>
        </p:nvSpPr>
        <p:spPr>
          <a:xfrm>
            <a:off x="4536016" y="2769302"/>
            <a:ext cx="533401" cy="127996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4" name="forma 28"/>
          <p:cNvSpPr txBox="1"/>
          <p:nvPr/>
        </p:nvSpPr>
        <p:spPr>
          <a:xfrm>
            <a:off x="4409016" y="2578802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792</a:t>
            </a:r>
          </a:p>
        </p:txBody>
      </p:sp>
      <p:sp>
        <p:nvSpPr>
          <p:cNvPr id="85" name="forma 29"/>
          <p:cNvSpPr txBox="1"/>
          <p:nvPr/>
        </p:nvSpPr>
        <p:spPr>
          <a:xfrm>
            <a:off x="4409016" y="4100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Abr</a:t>
            </a:r>
          </a:p>
        </p:txBody>
      </p:sp>
      <p:sp>
        <p:nvSpPr>
          <p:cNvPr id="86" name="forma 30"/>
          <p:cNvSpPr/>
          <p:nvPr/>
        </p:nvSpPr>
        <p:spPr>
          <a:xfrm>
            <a:off x="6182783" y="2851723"/>
            <a:ext cx="533401" cy="1197545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7" name="forma 31"/>
          <p:cNvSpPr txBox="1"/>
          <p:nvPr/>
        </p:nvSpPr>
        <p:spPr>
          <a:xfrm>
            <a:off x="6055783" y="2661223"/>
            <a:ext cx="787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741</a:t>
            </a:r>
          </a:p>
        </p:txBody>
      </p:sp>
      <p:sp>
        <p:nvSpPr>
          <p:cNvPr id="88" name="forma 32"/>
          <p:cNvSpPr txBox="1"/>
          <p:nvPr/>
        </p:nvSpPr>
        <p:spPr>
          <a:xfrm>
            <a:off x="6055783" y="4100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Mai</a:t>
            </a:r>
          </a:p>
        </p:txBody>
      </p:sp>
      <p:sp>
        <p:nvSpPr>
          <p:cNvPr id="89" name="forma 33"/>
          <p:cNvSpPr/>
          <p:nvPr/>
        </p:nvSpPr>
        <p:spPr>
          <a:xfrm>
            <a:off x="7829550" y="2811321"/>
            <a:ext cx="533400" cy="1237948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0" name="forma 34"/>
          <p:cNvSpPr txBox="1"/>
          <p:nvPr/>
        </p:nvSpPr>
        <p:spPr>
          <a:xfrm>
            <a:off x="7702550" y="2620821"/>
            <a:ext cx="7874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766</a:t>
            </a:r>
          </a:p>
        </p:txBody>
      </p:sp>
      <p:sp>
        <p:nvSpPr>
          <p:cNvPr id="91" name="forma 35"/>
          <p:cNvSpPr txBox="1"/>
          <p:nvPr/>
        </p:nvSpPr>
        <p:spPr>
          <a:xfrm>
            <a:off x="7702550" y="4100067"/>
            <a:ext cx="787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Jun</a:t>
            </a:r>
          </a:p>
        </p:txBody>
      </p:sp>
      <p:sp>
        <p:nvSpPr>
          <p:cNvPr id="92" name="forma 36"/>
          <p:cNvSpPr/>
          <p:nvPr/>
        </p:nvSpPr>
        <p:spPr>
          <a:xfrm>
            <a:off x="9476316" y="2770918"/>
            <a:ext cx="533401" cy="1278351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3" name="forma 37"/>
          <p:cNvSpPr txBox="1"/>
          <p:nvPr/>
        </p:nvSpPr>
        <p:spPr>
          <a:xfrm>
            <a:off x="9349316" y="2580418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3"/>
                </a:solidFill>
              </a:defRPr>
            </a:lvl1pPr>
          </a:lstStyle>
          <a:p>
            <a:pPr/>
            <a:r>
              <a:t>791</a:t>
            </a:r>
          </a:p>
        </p:txBody>
      </p:sp>
      <p:sp>
        <p:nvSpPr>
          <p:cNvPr id="94" name="forma 38"/>
          <p:cNvSpPr txBox="1"/>
          <p:nvPr/>
        </p:nvSpPr>
        <p:spPr>
          <a:xfrm>
            <a:off x="9349316" y="4100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/>
            </a:lvl1pPr>
          </a:lstStyle>
          <a:p>
            <a:pPr/>
            <a:r>
              <a:t>Jul</a:t>
            </a:r>
          </a:p>
        </p:txBody>
      </p:sp>
      <p:sp>
        <p:nvSpPr>
          <p:cNvPr id="95" name="forma 39"/>
          <p:cNvSpPr/>
          <p:nvPr/>
        </p:nvSpPr>
        <p:spPr>
          <a:xfrm>
            <a:off x="685800" y="2810200"/>
            <a:ext cx="9956800" cy="12701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6" name="forma 40"/>
          <p:cNvSpPr txBox="1"/>
          <p:nvPr/>
        </p:nvSpPr>
        <p:spPr>
          <a:xfrm>
            <a:off x="10693400" y="2734635"/>
            <a:ext cx="812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média 766</a:t>
            </a:r>
          </a:p>
        </p:txBody>
      </p:sp>
      <p:sp>
        <p:nvSpPr>
          <p:cNvPr id="97" name="forma 41"/>
          <p:cNvSpPr/>
          <p:nvPr/>
        </p:nvSpPr>
        <p:spPr>
          <a:xfrm>
            <a:off x="685800" y="4354067"/>
            <a:ext cx="10820400" cy="756127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8" name="forma 42"/>
          <p:cNvSpPr/>
          <p:nvPr/>
        </p:nvSpPr>
        <p:spPr>
          <a:xfrm>
            <a:off x="685800" y="4354067"/>
            <a:ext cx="50800" cy="756127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9" name="forma 43"/>
          <p:cNvSpPr txBox="1"/>
          <p:nvPr/>
        </p:nvSpPr>
        <p:spPr>
          <a:xfrm>
            <a:off x="889000" y="4481067"/>
            <a:ext cx="1041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52514E"/>
                </a:solidFill>
              </a:defRPr>
            </a:lvl1pPr>
          </a:lstStyle>
          <a:p>
            <a:pPr/>
            <a:r>
              <a:t>O VEREDITO</a:t>
            </a:r>
          </a:p>
        </p:txBody>
      </p:sp>
      <p:sp>
        <p:nvSpPr>
          <p:cNvPr id="100" name="forma 44"/>
          <p:cNvSpPr txBox="1"/>
          <p:nvPr/>
        </p:nvSpPr>
        <p:spPr>
          <a:xfrm>
            <a:off x="889000" y="4735067"/>
            <a:ext cx="10414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/>
            </a:lvl1pPr>
          </a:lstStyle>
          <a:p>
            <a:pPr/>
            <a:r>
              <a:t>Crescimento puxado pelo mercado da área.</a:t>
            </a:r>
          </a:p>
        </p:txBody>
      </p:sp>
      <p:sp>
        <p:nvSpPr>
          <p:cNvPr id="101" name="forma 45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06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SEGMENTOS</a:t>
            </a:r>
          </a:p>
        </p:txBody>
      </p:sp>
      <p:sp>
        <p:nvSpPr>
          <p:cNvPr id="107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Onde o volume está variando</a:t>
            </a:r>
          </a:p>
        </p:txBody>
      </p:sp>
      <p:sp>
        <p:nvSpPr>
          <p:cNvPr id="108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vs média Abr–Jun</a:t>
            </a:r>
          </a:p>
        </p:txBody>
      </p:sp>
      <p:sp>
        <p:nvSpPr>
          <p:cNvPr id="109" name="forma 7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4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TERRITÓRIO</a:t>
            </a:r>
          </a:p>
        </p:txBody>
      </p:sp>
      <p:sp>
        <p:nvSpPr>
          <p:cNvPr id="115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Praças com espaço — e quem está invadindo</a:t>
            </a:r>
          </a:p>
        </p:txBody>
      </p:sp>
      <p:sp>
        <p:nvSpPr>
          <p:cNvPr id="116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NIPPON MOTOS</a:t>
            </a:r>
          </a:p>
        </p:txBody>
      </p:sp>
      <p:sp>
        <p:nvSpPr>
          <p:cNvPr id="117" name="forma 6"/>
          <p:cNvSpPr txBox="1"/>
          <p:nvPr/>
        </p:nvSpPr>
        <p:spPr>
          <a:xfrm>
            <a:off x="685800" y="1295399"/>
            <a:ext cx="10820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52514E"/>
                </a:solidFill>
              </a:defRPr>
            </a:lvl1pPr>
          </a:lstStyle>
          <a:p>
            <a:pPr/>
            <a:r>
              <a:t>Cidades abaixo do share do território (20,4%)</a:t>
            </a:r>
          </a:p>
        </p:txBody>
      </p:sp>
      <p:sp>
        <p:nvSpPr>
          <p:cNvPr id="118" name="forma 8"/>
          <p:cNvSpPr/>
          <p:nvPr/>
        </p:nvSpPr>
        <p:spPr>
          <a:xfrm>
            <a:off x="685800" y="3022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9" name="forma 9"/>
          <p:cNvSpPr/>
          <p:nvPr/>
        </p:nvSpPr>
        <p:spPr>
          <a:xfrm>
            <a:off x="685800" y="3022600"/>
            <a:ext cx="50800" cy="97885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0" name="forma 10"/>
          <p:cNvSpPr txBox="1"/>
          <p:nvPr/>
        </p:nvSpPr>
        <p:spPr>
          <a:xfrm>
            <a:off x="889000" y="3149599"/>
            <a:ext cx="828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52514E"/>
                </a:solidFill>
              </a:defRPr>
            </a:lvl1pPr>
          </a:lstStyle>
          <a:p>
            <a:pPr/>
            <a:r>
              <a:t>INVASÃO DE TERRITÓRIO</a:t>
            </a:r>
          </a:p>
        </p:txBody>
      </p:sp>
      <p:sp>
        <p:nvSpPr>
          <p:cNvPr id="121" name="forma 11"/>
          <p:cNvSpPr txBox="1"/>
          <p:nvPr/>
        </p:nvSpPr>
        <p:spPr>
          <a:xfrm>
            <a:off x="9169400" y="3124199"/>
            <a:ext cx="2133600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600">
                <a:solidFill>
                  <a:schemeClr val="accent3"/>
                </a:solidFill>
              </a:defRPr>
            </a:lvl1pPr>
          </a:lstStyle>
          <a:p>
            <a:pPr/>
            <a:r>
              <a:t>19%</a:t>
            </a:r>
          </a:p>
        </p:txBody>
      </p:sp>
      <p:sp>
        <p:nvSpPr>
          <p:cNvPr id="122" name="forma 12"/>
          <p:cNvSpPr txBox="1"/>
          <p:nvPr/>
        </p:nvSpPr>
        <p:spPr>
          <a:xfrm>
            <a:off x="889000" y="3403599"/>
            <a:ext cx="8280400" cy="332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100"/>
            </a:lvl1pPr>
          </a:lstStyle>
          <a:p>
            <a:pPr/>
            <a:r>
              <a:t>Das 153 un/mês de Yamaha emplacadas na área, a Nippon emplaca 124 — 29 un/mês são de terceiros, principalmente Sul Motos e Moto Italia. Dentro do esperado para área compartilhada de mercado.</a:t>
            </a:r>
          </a:p>
        </p:txBody>
      </p:sp>
      <p:sp>
        <p:nvSpPr>
          <p:cNvPr id="123" name="forma 13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8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K2 · PÓS-VENDAS</a:t>
            </a:r>
          </a:p>
        </p:txBody>
      </p:sp>
      <p:sp>
        <p:nvSpPr>
          <p:cNvPr id="129" name="forma 4"/>
          <p:cNvSpPr txBox="1"/>
          <p:nvPr/>
        </p:nvSpPr>
        <p:spPr>
          <a:xfrm>
            <a:off x="685800" y="558799"/>
            <a:ext cx="7357872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/>
            </a:lvl1pPr>
          </a:lstStyle>
          <a:p>
            <a:pPr/>
            <a:r>
              <a:t>O pós-vendas pagando as despesas da operação</a:t>
            </a:r>
          </a:p>
        </p:txBody>
      </p:sp>
      <p:sp>
        <p:nvSpPr>
          <p:cNvPr id="130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DRE Yamaha BMI</a:t>
            </a:r>
          </a:p>
        </p:txBody>
      </p:sp>
      <p:sp>
        <p:nvSpPr>
          <p:cNvPr id="131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2" name="forma 7"/>
          <p:cNvSpPr txBox="1"/>
          <p:nvPr/>
        </p:nvSpPr>
        <p:spPr>
          <a:xfrm>
            <a:off x="83820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ABSORÇÃO — MAI/26</a:t>
            </a:r>
          </a:p>
        </p:txBody>
      </p:sp>
      <p:sp>
        <p:nvSpPr>
          <p:cNvPr id="133" name="forma 8"/>
          <p:cNvSpPr txBox="1"/>
          <p:nvPr/>
        </p:nvSpPr>
        <p:spPr>
          <a:xfrm>
            <a:off x="83820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4"/>
                </a:solidFill>
              </a:defRPr>
            </a:lvl1pPr>
          </a:lstStyle>
          <a:p>
            <a:pPr/>
            <a:r>
              <a:t>49,4%</a:t>
            </a:r>
          </a:p>
        </p:txBody>
      </p:sp>
      <p:sp>
        <p:nvSpPr>
          <p:cNvPr id="134" name="forma 9"/>
          <p:cNvSpPr txBox="1"/>
          <p:nvPr/>
        </p:nvSpPr>
        <p:spPr>
          <a:xfrm>
            <a:off x="83820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referência &gt; 65%</a:t>
            </a:r>
          </a:p>
        </p:txBody>
      </p:sp>
      <p:sp>
        <p:nvSpPr>
          <p:cNvPr id="135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6" name="forma 11"/>
          <p:cNvSpPr txBox="1"/>
          <p:nvPr/>
        </p:nvSpPr>
        <p:spPr>
          <a:xfrm>
            <a:off x="357505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MC PÓS-VENDAS</a:t>
            </a:r>
          </a:p>
        </p:txBody>
      </p:sp>
      <p:sp>
        <p:nvSpPr>
          <p:cNvPr id="137" name="forma 12"/>
          <p:cNvSpPr txBox="1"/>
          <p:nvPr/>
        </p:nvSpPr>
        <p:spPr>
          <a:xfrm>
            <a:off x="357505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R$ 129.133,17</a:t>
            </a:r>
          </a:p>
        </p:txBody>
      </p:sp>
      <p:sp>
        <p:nvSpPr>
          <p:cNvPr id="138" name="forma 13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9" name="forma 14"/>
          <p:cNvSpPr txBox="1"/>
          <p:nvPr/>
        </p:nvSpPr>
        <p:spPr>
          <a:xfrm>
            <a:off x="631190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DESPESAS OPERACIONAIS</a:t>
            </a:r>
          </a:p>
        </p:txBody>
      </p:sp>
      <p:sp>
        <p:nvSpPr>
          <p:cNvPr id="140" name="forma 15"/>
          <p:cNvSpPr txBox="1"/>
          <p:nvPr/>
        </p:nvSpPr>
        <p:spPr>
          <a:xfrm>
            <a:off x="631190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R$ 261.524,32</a:t>
            </a:r>
          </a:p>
        </p:txBody>
      </p:sp>
      <p:sp>
        <p:nvSpPr>
          <p:cNvPr id="141" name="forma 16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2" name="forma 17"/>
          <p:cNvSpPr txBox="1"/>
          <p:nvPr/>
        </p:nvSpPr>
        <p:spPr>
          <a:xfrm>
            <a:off x="904875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PONTO DE EQUILÍBRIO</a:t>
            </a:r>
          </a:p>
        </p:txBody>
      </p:sp>
      <p:sp>
        <p:nvSpPr>
          <p:cNvPr id="143" name="forma 18"/>
          <p:cNvSpPr txBox="1"/>
          <p:nvPr/>
        </p:nvSpPr>
        <p:spPr>
          <a:xfrm>
            <a:off x="904875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45 motos</a:t>
            </a:r>
          </a:p>
        </p:txBody>
      </p:sp>
      <p:sp>
        <p:nvSpPr>
          <p:cNvPr id="144" name="forma 19"/>
          <p:cNvSpPr txBox="1"/>
          <p:nvPr/>
        </p:nvSpPr>
        <p:spPr>
          <a:xfrm>
            <a:off x="904875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29,2% das vendas · ref &lt; 50%</a:t>
            </a:r>
          </a:p>
        </p:txBody>
      </p:sp>
      <p:sp>
        <p:nvSpPr>
          <p:cNvPr id="145" name="forma 20"/>
          <p:cNvSpPr txBox="1"/>
          <p:nvPr/>
        </p:nvSpPr>
        <p:spPr>
          <a:xfrm>
            <a:off x="685800" y="2296667"/>
            <a:ext cx="10820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52514E"/>
                </a:solidFill>
              </a:defRPr>
            </a:lvl1pPr>
          </a:lstStyle>
          <a:p>
            <a:pPr/>
            <a:r>
              <a:t>Taxa de absorção, mês a mês (%)</a:t>
            </a:r>
          </a:p>
        </p:txBody>
      </p:sp>
      <p:sp>
        <p:nvSpPr>
          <p:cNvPr id="146" name="forma 21"/>
          <p:cNvSpPr/>
          <p:nvPr/>
        </p:nvSpPr>
        <p:spPr>
          <a:xfrm>
            <a:off x="1036637" y="3292449"/>
            <a:ext cx="533401" cy="629819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7" name="forma 22"/>
          <p:cNvSpPr txBox="1"/>
          <p:nvPr/>
        </p:nvSpPr>
        <p:spPr>
          <a:xfrm>
            <a:off x="909637" y="3101950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148" name="forma 23"/>
          <p:cNvSpPr txBox="1"/>
          <p:nvPr/>
        </p:nvSpPr>
        <p:spPr>
          <a:xfrm>
            <a:off x="909637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Out</a:t>
            </a:r>
          </a:p>
        </p:txBody>
      </p:sp>
      <p:sp>
        <p:nvSpPr>
          <p:cNvPr id="149" name="forma 24"/>
          <p:cNvSpPr/>
          <p:nvPr/>
        </p:nvSpPr>
        <p:spPr>
          <a:xfrm>
            <a:off x="2271713" y="3333565"/>
            <a:ext cx="533401" cy="588703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0" name="forma 25"/>
          <p:cNvSpPr txBox="1"/>
          <p:nvPr/>
        </p:nvSpPr>
        <p:spPr>
          <a:xfrm>
            <a:off x="2144713" y="3143066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151" name="forma 26"/>
          <p:cNvSpPr txBox="1"/>
          <p:nvPr/>
        </p:nvSpPr>
        <p:spPr>
          <a:xfrm>
            <a:off x="2144713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Nov</a:t>
            </a:r>
          </a:p>
        </p:txBody>
      </p:sp>
      <p:sp>
        <p:nvSpPr>
          <p:cNvPr id="152" name="forma 27"/>
          <p:cNvSpPr/>
          <p:nvPr/>
        </p:nvSpPr>
        <p:spPr>
          <a:xfrm>
            <a:off x="3506787" y="3354123"/>
            <a:ext cx="533401" cy="568145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3" name="forma 28"/>
          <p:cNvSpPr txBox="1"/>
          <p:nvPr/>
        </p:nvSpPr>
        <p:spPr>
          <a:xfrm>
            <a:off x="3379787" y="3163623"/>
            <a:ext cx="787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154" name="forma 29"/>
          <p:cNvSpPr txBox="1"/>
          <p:nvPr/>
        </p:nvSpPr>
        <p:spPr>
          <a:xfrm>
            <a:off x="3379787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Dez</a:t>
            </a:r>
          </a:p>
        </p:txBody>
      </p:sp>
      <p:sp>
        <p:nvSpPr>
          <p:cNvPr id="155" name="forma 30"/>
          <p:cNvSpPr/>
          <p:nvPr/>
        </p:nvSpPr>
        <p:spPr>
          <a:xfrm>
            <a:off x="4741862" y="3042018"/>
            <a:ext cx="533401" cy="88025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6" name="forma 31"/>
          <p:cNvSpPr txBox="1"/>
          <p:nvPr/>
        </p:nvSpPr>
        <p:spPr>
          <a:xfrm>
            <a:off x="4614862" y="2851518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47</a:t>
            </a:r>
          </a:p>
        </p:txBody>
      </p:sp>
      <p:sp>
        <p:nvSpPr>
          <p:cNvPr id="157" name="forma 32"/>
          <p:cNvSpPr txBox="1"/>
          <p:nvPr/>
        </p:nvSpPr>
        <p:spPr>
          <a:xfrm>
            <a:off x="4614862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Jan</a:t>
            </a:r>
          </a:p>
        </p:txBody>
      </p:sp>
      <p:sp>
        <p:nvSpPr>
          <p:cNvPr id="158" name="forma 33"/>
          <p:cNvSpPr/>
          <p:nvPr/>
        </p:nvSpPr>
        <p:spPr>
          <a:xfrm>
            <a:off x="5976937" y="3163496"/>
            <a:ext cx="533401" cy="758773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9" name="forma 34"/>
          <p:cNvSpPr txBox="1"/>
          <p:nvPr/>
        </p:nvSpPr>
        <p:spPr>
          <a:xfrm>
            <a:off x="5849937" y="2972996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41</a:t>
            </a:r>
          </a:p>
        </p:txBody>
      </p:sp>
      <p:sp>
        <p:nvSpPr>
          <p:cNvPr id="160" name="forma 35"/>
          <p:cNvSpPr txBox="1"/>
          <p:nvPr/>
        </p:nvSpPr>
        <p:spPr>
          <a:xfrm>
            <a:off x="5849937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Fev</a:t>
            </a:r>
          </a:p>
        </p:txBody>
      </p:sp>
      <p:sp>
        <p:nvSpPr>
          <p:cNvPr id="161" name="forma 36"/>
          <p:cNvSpPr/>
          <p:nvPr/>
        </p:nvSpPr>
        <p:spPr>
          <a:xfrm>
            <a:off x="7212013" y="2754208"/>
            <a:ext cx="533401" cy="1168061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2" name="forma 37"/>
          <p:cNvSpPr txBox="1"/>
          <p:nvPr/>
        </p:nvSpPr>
        <p:spPr>
          <a:xfrm>
            <a:off x="7085013" y="2563708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63" name="forma 38"/>
          <p:cNvSpPr txBox="1"/>
          <p:nvPr/>
        </p:nvSpPr>
        <p:spPr>
          <a:xfrm>
            <a:off x="7085013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Mar</a:t>
            </a:r>
          </a:p>
        </p:txBody>
      </p:sp>
      <p:sp>
        <p:nvSpPr>
          <p:cNvPr id="164" name="forma 39"/>
          <p:cNvSpPr/>
          <p:nvPr/>
        </p:nvSpPr>
        <p:spPr>
          <a:xfrm>
            <a:off x="8447088" y="3030803"/>
            <a:ext cx="533401" cy="891465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5" name="forma 40"/>
          <p:cNvSpPr txBox="1"/>
          <p:nvPr/>
        </p:nvSpPr>
        <p:spPr>
          <a:xfrm>
            <a:off x="8320088" y="2840303"/>
            <a:ext cx="787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52514E"/>
                </a:solidFill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166" name="forma 41"/>
          <p:cNvSpPr txBox="1"/>
          <p:nvPr/>
        </p:nvSpPr>
        <p:spPr>
          <a:xfrm>
            <a:off x="8320088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chemeClr val="accent6"/>
                </a:solidFill>
              </a:defRPr>
            </a:lvl1pPr>
          </a:lstStyle>
          <a:p>
            <a:pPr/>
            <a:r>
              <a:t>Abr</a:t>
            </a:r>
          </a:p>
        </p:txBody>
      </p:sp>
      <p:sp>
        <p:nvSpPr>
          <p:cNvPr id="167" name="forma 42"/>
          <p:cNvSpPr/>
          <p:nvPr/>
        </p:nvSpPr>
        <p:spPr>
          <a:xfrm>
            <a:off x="9682163" y="2999033"/>
            <a:ext cx="533401" cy="923236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8" name="forma 43"/>
          <p:cNvSpPr txBox="1"/>
          <p:nvPr/>
        </p:nvSpPr>
        <p:spPr>
          <a:xfrm>
            <a:off x="9555163" y="2808533"/>
            <a:ext cx="787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chemeClr val="accent4"/>
                </a:solidFill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169" name="forma 44"/>
          <p:cNvSpPr txBox="1"/>
          <p:nvPr/>
        </p:nvSpPr>
        <p:spPr>
          <a:xfrm>
            <a:off x="9555163" y="3973067"/>
            <a:ext cx="787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/>
            </a:lvl1pPr>
          </a:lstStyle>
          <a:p>
            <a:pPr/>
            <a:r>
              <a:t>Mai</a:t>
            </a:r>
          </a:p>
        </p:txBody>
      </p:sp>
      <p:sp>
        <p:nvSpPr>
          <p:cNvPr id="170" name="forma 45"/>
          <p:cNvSpPr/>
          <p:nvPr/>
        </p:nvSpPr>
        <p:spPr>
          <a:xfrm>
            <a:off x="685800" y="2706849"/>
            <a:ext cx="9956800" cy="12701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1" name="forma 46"/>
          <p:cNvSpPr txBox="1"/>
          <p:nvPr/>
        </p:nvSpPr>
        <p:spPr>
          <a:xfrm>
            <a:off x="10693400" y="2631284"/>
            <a:ext cx="812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média 65</a:t>
            </a:r>
          </a:p>
        </p:txBody>
      </p:sp>
      <p:sp>
        <p:nvSpPr>
          <p:cNvPr id="172" name="forma 47"/>
          <p:cNvSpPr/>
          <p:nvPr/>
        </p:nvSpPr>
        <p:spPr>
          <a:xfrm>
            <a:off x="685800" y="4201667"/>
            <a:ext cx="10820400" cy="901383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3" name="forma 48"/>
          <p:cNvSpPr/>
          <p:nvPr/>
        </p:nvSpPr>
        <p:spPr>
          <a:xfrm>
            <a:off x="685800" y="4201667"/>
            <a:ext cx="50800" cy="901383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4" name="forma 49"/>
          <p:cNvSpPr txBox="1"/>
          <p:nvPr/>
        </p:nvSpPr>
        <p:spPr>
          <a:xfrm>
            <a:off x="889000" y="4328667"/>
            <a:ext cx="1041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52514E"/>
                </a:solidFill>
              </a:defRPr>
            </a:lvl1pPr>
          </a:lstStyle>
          <a:p>
            <a:pPr/>
            <a:r>
              <a:t>O GAP</a:t>
            </a:r>
          </a:p>
        </p:txBody>
      </p:sp>
      <p:sp>
        <p:nvSpPr>
          <p:cNvPr id="175" name="forma 50"/>
          <p:cNvSpPr txBox="1"/>
          <p:nvPr/>
        </p:nvSpPr>
        <p:spPr>
          <a:xfrm>
            <a:off x="889000" y="4582667"/>
            <a:ext cx="1041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/>
            </a:lvl1pPr>
          </a:lstStyle>
          <a:p>
            <a:pPr/>
            <a:r>
              <a:t>A absorção saiu de ~30% no fim de 2025 para 49,4%. Faltam R$ 40.857,64 de MC de pós-vendas por mês para os 65% — cada real de margem no balcão e na oficina desafoga a venda de motos.</a:t>
            </a:r>
          </a:p>
        </p:txBody>
      </p:sp>
      <p:sp>
        <p:nvSpPr>
          <p:cNvPr id="176" name="forma 51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K2 · fonte: DRE Yamaha BMI mensal (aba Data) — arquivos NIPPON em _NOVAS MELHORIAS/K2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81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CAMPANHAS YAMAHA</a:t>
            </a:r>
          </a:p>
        </p:txBody>
      </p:sp>
      <p:sp>
        <p:nvSpPr>
          <p:cNvPr id="182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O que a Nippon tem a receber</a:t>
            </a:r>
          </a:p>
        </p:txBody>
      </p:sp>
      <p:sp>
        <p:nvSpPr>
          <p:cNvPr id="183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Campeões de Vendas + incentivo por modelo</a:t>
            </a:r>
          </a:p>
        </p:txBody>
      </p:sp>
      <p:sp>
        <p:nvSpPr>
          <p:cNvPr id="184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85" name="forma 7"/>
          <p:cNvSpPr txBox="1"/>
          <p:nvPr/>
        </p:nvSpPr>
        <p:spPr>
          <a:xfrm>
            <a:off x="83820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JÁ APURADO (2 FONTES)</a:t>
            </a:r>
          </a:p>
        </p:txBody>
      </p:sp>
      <p:sp>
        <p:nvSpPr>
          <p:cNvPr id="186" name="forma 8"/>
          <p:cNvSpPr txBox="1"/>
          <p:nvPr/>
        </p:nvSpPr>
        <p:spPr>
          <a:xfrm>
            <a:off x="83820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3"/>
                </a:solidFill>
              </a:defRPr>
            </a:lvl1pPr>
          </a:lstStyle>
          <a:p>
            <a:pPr/>
            <a:r>
              <a:t>R$ 73.500</a:t>
            </a:r>
          </a:p>
        </p:txBody>
      </p:sp>
      <p:sp>
        <p:nvSpPr>
          <p:cNvPr id="187" name="forma 9"/>
          <p:cNvSpPr txBox="1"/>
          <p:nvPr/>
        </p:nvSpPr>
        <p:spPr>
          <a:xfrm>
            <a:off x="83820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Campeões R$ 7.500 + vouchers R$ 66.000</a:t>
            </a:r>
          </a:p>
        </p:txBody>
      </p:sp>
      <p:sp>
        <p:nvSpPr>
          <p:cNvPr id="188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89" name="forma 11"/>
          <p:cNvSpPr txBox="1"/>
          <p:nvPr/>
        </p:nvSpPr>
        <p:spPr>
          <a:xfrm>
            <a:off x="357505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VOUCHERS — PROJEÇÃO DO MÊS</a:t>
            </a:r>
          </a:p>
        </p:txBody>
      </p:sp>
      <p:sp>
        <p:nvSpPr>
          <p:cNvPr id="190" name="forma 12"/>
          <p:cNvSpPr txBox="1"/>
          <p:nvPr/>
        </p:nvSpPr>
        <p:spPr>
          <a:xfrm>
            <a:off x="357505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R$ 56.500</a:t>
            </a:r>
          </a:p>
        </p:txBody>
      </p:sp>
      <p:sp>
        <p:nvSpPr>
          <p:cNvPr id="191" name="forma 13"/>
          <p:cNvSpPr txBox="1"/>
          <p:nvPr/>
        </p:nvSpPr>
        <p:spPr>
          <a:xfrm>
            <a:off x="357505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ritmo dos últimos 3 meses</a:t>
            </a:r>
          </a:p>
        </p:txBody>
      </p:sp>
      <p:sp>
        <p:nvSpPr>
          <p:cNvPr id="192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3" name="forma 15"/>
          <p:cNvSpPr txBox="1"/>
          <p:nvPr/>
        </p:nvSpPr>
        <p:spPr>
          <a:xfrm>
            <a:off x="631190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RECUPERÁVEL NO TRIMESTRE</a:t>
            </a:r>
          </a:p>
        </p:txBody>
      </p:sp>
      <p:sp>
        <p:nvSpPr>
          <p:cNvPr id="194" name="forma 16"/>
          <p:cNvSpPr txBox="1"/>
          <p:nvPr/>
        </p:nvSpPr>
        <p:spPr>
          <a:xfrm>
            <a:off x="631190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/>
            </a:lvl1pPr>
          </a:lstStyle>
          <a:p>
            <a:pPr/>
            <a:r>
              <a:t>R$ 15.000</a:t>
            </a:r>
          </a:p>
        </p:txBody>
      </p:sp>
      <p:sp>
        <p:nvSpPr>
          <p:cNvPr id="195" name="forma 17"/>
          <p:cNvSpPr txBox="1"/>
          <p:nvPr/>
        </p:nvSpPr>
        <p:spPr>
          <a:xfrm>
            <a:off x="6311900" y="1941067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meta acumulada em 100%</a:t>
            </a:r>
          </a:p>
        </p:txBody>
      </p:sp>
      <p:sp>
        <p:nvSpPr>
          <p:cNvPr id="196" name="forma 18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7" name="forma 19"/>
          <p:cNvSpPr txBox="1"/>
          <p:nvPr/>
        </p:nvSpPr>
        <p:spPr>
          <a:xfrm>
            <a:off x="9048750" y="1384299"/>
            <a:ext cx="23050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6"/>
                </a:solidFill>
              </a:defRPr>
            </a:lvl1pPr>
          </a:lstStyle>
          <a:p>
            <a:pPr/>
            <a:r>
              <a:t>POTENCIAL TOTAL</a:t>
            </a:r>
          </a:p>
        </p:txBody>
      </p:sp>
      <p:sp>
        <p:nvSpPr>
          <p:cNvPr id="198" name="forma 20"/>
          <p:cNvSpPr txBox="1"/>
          <p:nvPr/>
        </p:nvSpPr>
        <p:spPr>
          <a:xfrm>
            <a:off x="9048750" y="1574799"/>
            <a:ext cx="23050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chemeClr val="accent3"/>
                </a:solidFill>
              </a:defRPr>
            </a:lvl1pPr>
          </a:lstStyle>
          <a:p>
            <a:pPr/>
            <a:r>
              <a:t>R$ 222.600</a:t>
            </a:r>
          </a:p>
        </p:txBody>
      </p:sp>
      <p:sp>
        <p:nvSpPr>
          <p:cNvPr id="199" name="forma 22"/>
          <p:cNvSpPr/>
          <p:nvPr/>
        </p:nvSpPr>
        <p:spPr>
          <a:xfrm>
            <a:off x="685800" y="3541267"/>
            <a:ext cx="10820400" cy="843281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0" name="forma 23"/>
          <p:cNvSpPr/>
          <p:nvPr/>
        </p:nvSpPr>
        <p:spPr>
          <a:xfrm>
            <a:off x="685800" y="3541267"/>
            <a:ext cx="50800" cy="84328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1" name="forma 24"/>
          <p:cNvSpPr txBox="1"/>
          <p:nvPr/>
        </p:nvSpPr>
        <p:spPr>
          <a:xfrm>
            <a:off x="889000" y="3668267"/>
            <a:ext cx="1041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52514E"/>
                </a:solidFill>
              </a:defRPr>
            </a:lvl1pPr>
          </a:lstStyle>
          <a:p>
            <a:pPr/>
            <a:r>
              <a:t>A LEITURA</a:t>
            </a:r>
          </a:p>
        </p:txBody>
      </p:sp>
      <p:sp>
        <p:nvSpPr>
          <p:cNvPr id="202" name="forma 25"/>
          <p:cNvSpPr txBox="1"/>
          <p:nvPr/>
        </p:nvSpPr>
        <p:spPr>
          <a:xfrm>
            <a:off x="889000" y="3922267"/>
            <a:ext cx="10414000" cy="257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800"/>
            </a:lvl1pPr>
          </a:lstStyle>
          <a:p>
            <a:pPr/>
            <a:r>
              <a:t>Duas fontes: Campeões de Vendas (R$ 7.500 garantidos em julho; R$ 15.000 recuperáveis no acumulado) + incentivo por modelo (R$ 66.000 de julho, projeção R$ 56.500 no mês — Fazer, NMAX, MT-07, Lander e XMAX). Bônus não cumulativo com taxas subsidiadas: valores de voucher são o teto.</a:t>
            </a:r>
          </a:p>
        </p:txBody>
      </p:sp>
      <p:sp>
        <p:nvSpPr>
          <p:cNvPr id="203" name="forma 26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* carta ainda não informada — estimada igual à atual. 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8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PLANO DE AÇÃO · FOLHA 1 DE 2</a:t>
            </a:r>
          </a:p>
        </p:txBody>
      </p:sp>
      <p:sp>
        <p:nvSpPr>
          <p:cNvPr id="209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O que vamos fazer</a:t>
            </a:r>
          </a:p>
        </p:txBody>
      </p:sp>
      <p:sp>
        <p:nvSpPr>
          <p:cNvPr id="210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NIPPON MOTOS</a:t>
            </a:r>
          </a:p>
        </p:txBody>
      </p:sp>
      <p:graphicFrame>
        <p:nvGraphicFramePr>
          <p:cNvPr id="211" name="tabela 6"/>
          <p:cNvGraphicFramePr/>
          <p:nvPr/>
        </p:nvGraphicFramePr>
        <p:xfrm>
          <a:off x="685800" y="1244600"/>
          <a:ext cx="10820400" cy="39332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O QUE FAZER?
(AÇÃO)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POR QUÊ?
(JUSTIFICATIVA)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COMO?
(ATIVIDADES PRINCIPAIS)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RESPONSÁVEL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PRAZO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STATUS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PRIORIDADE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INDICADOR DE ACOMPANHAMENTO
(Meta / impacto da ação)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INÍCIO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TÉRMINO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349146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0B0B0B"/>
                          </a:solidFill>
                          <a:sym typeface="Calibri"/>
                        </a:rPr>
                        <a:t>Entrar em Agosto no ritmo que a carta exige desde o primeiro dia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Julho fechou com 144 un e a carta de Agosto é de 160 un — +16 un (11%) sobre o que acabou de ser feito, ou 7,6 un/dia nos 21 dias úteis. Ainda não há venda registrada no mês: não há ritmo a corrigir, há ritmo a estabelecer. 4º de 9 na regional.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spcBef>
                          <a:spcPts val="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• Distribuir a carta de 160 un em meta semanal antes do primeiro dia útil
• Abrir o mês com as propostas e negociações que ficaram de julho
• Conferir se o estoque cobre o ritmo pedido e antecipar o pedido do que faltar
• Não deixar a recuperação para a última semana: mês que começa devagar fecha no aperto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Caique / Nippon Motos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07/08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31/08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ym typeface="Calibri"/>
                        </a:defRPr>
                      </a:pP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9C0006"/>
                          </a:solidFill>
                          <a:sym typeface="Calibri"/>
                        </a:rPr>
                        <a:t>Alta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Fechar Agosto com 160 un (100% da carta), sustentando 7,6 un/dia. Medir diariamente.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344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0B0B0B"/>
                          </a:solidFill>
                          <a:sym typeface="Calibri"/>
                        </a:rPr>
                        <a:t>Recuperar participação em Street - 150cc-199cc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Share na área caiu de 17,1% para 14,6% (-2,5pp), o que representa -6,8 un/mês. O segmento movimenta 274 un/mês. Honda ganhou 6pp no mesmo período.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spcBef>
                          <a:spcPts val="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• Montar comparativo de preço, parcela e prazo de entrega contra a Honda, que subiu 6pp
• Garantir estoque e exposição dos modelos do segmento no showroom
• Treinar a equipe no comparativo técnico e rodar mídia local com condição específica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Caique / Nippon Motos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07/08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31/08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ym typeface="Calibri"/>
                        </a:defRPr>
                      </a:pP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9C0006"/>
                          </a:solidFill>
                          <a:sym typeface="Calibri"/>
                        </a:rPr>
                        <a:t>Alta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Voltar ao share de 17,1% no segmento = +7 un/mês. Medir pelo emplacamento.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6344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0B0B0B"/>
                          </a:solidFill>
                          <a:sym typeface="Calibri"/>
                        </a:rPr>
                        <a:t>Recuperar participação em Street - 300cc-500cc Premium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Share na área caiu de 39,8% para 14,3% (-25,5pp), o que representa -3,2 un/mês. O segmento movimenta 21 un/mês. Honda ganhou 15,1pp no mesmo período.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spcBef>
                          <a:spcPts val="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• Montar comparativo de preço, parcela e prazo de entrega contra a Honda, que subiu 15,1pp
• Garantir estoque e exposição dos modelos do segmento no showroom
• Treinar a equipe no comparativo técnico e rodar mídia local com condição específica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Caique / Nippon Motos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07/08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31/08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ym typeface="Calibri"/>
                        </a:defRPr>
                      </a:pP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9C6500"/>
                          </a:solidFill>
                          <a:sym typeface="Calibri"/>
                        </a:rPr>
                        <a:t>Média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Voltar ao share de 39,8% no segmento = +5 un/mês. Medir pelo emplacamento.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forma 7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17" name="forma 3"/>
          <p:cNvSpPr txBox="1"/>
          <p:nvPr/>
        </p:nvSpPr>
        <p:spPr>
          <a:xfrm>
            <a:off x="685800" y="330200"/>
            <a:ext cx="73578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PLANO DE AÇÃO · FOLHA 2 DE 2</a:t>
            </a:r>
          </a:p>
        </p:txBody>
      </p:sp>
      <p:sp>
        <p:nvSpPr>
          <p:cNvPr id="218" name="forma 4"/>
          <p:cNvSpPr txBox="1"/>
          <p:nvPr/>
        </p:nvSpPr>
        <p:spPr>
          <a:xfrm>
            <a:off x="685800" y="558799"/>
            <a:ext cx="735787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/>
            </a:lvl1pPr>
          </a:lstStyle>
          <a:p>
            <a:pPr/>
            <a:r>
              <a:t>O que vamos fazer</a:t>
            </a:r>
          </a:p>
        </p:txBody>
      </p:sp>
      <p:sp>
        <p:nvSpPr>
          <p:cNvPr id="219" name="forma 5"/>
          <p:cNvSpPr txBox="1"/>
          <p:nvPr/>
        </p:nvSpPr>
        <p:spPr>
          <a:xfrm>
            <a:off x="7696200" y="380999"/>
            <a:ext cx="38100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NIPPON MOTOS</a:t>
            </a:r>
          </a:p>
        </p:txBody>
      </p:sp>
      <p:graphicFrame>
        <p:nvGraphicFramePr>
          <p:cNvPr id="220" name="tabela 6"/>
          <p:cNvGraphicFramePr/>
          <p:nvPr/>
        </p:nvGraphicFramePr>
        <p:xfrm>
          <a:off x="685800" y="1244600"/>
          <a:ext cx="10820400" cy="312694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O QUE FAZER?
(AÇÃO)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POR QUÊ?
(JUSTIFICATIVA)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COMO?
(ATIVIDADES PRINCIPAIS)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RESPONSÁVEL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PRAZO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STATUS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PRIORIDADE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INDICADOR DE ACOMPANHAMENTO
(Meta / impacto da ação)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INÍCIO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sym typeface="Calibri"/>
                        </a:rPr>
                        <a:t>TÉRMINO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BFBFBF"/>
                      </a:solidFill>
                    </a:lnL>
                    <a:lnR>
                      <a:solidFill>
                        <a:srgbClr val="BFBFBF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06344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0B0B0B"/>
                          </a:solidFill>
                          <a:sym typeface="Calibri"/>
                        </a:rPr>
                        <a:t>Recuperar participação em Big Trail - 600cc-799cc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Share na área caiu de 39,9% para 0% (-39,9pp), o que representa -2,9 un/mês. O segmento movimenta 6 un/mês. Honda ganhou 34,3pp no mesmo período.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spcBef>
                          <a:spcPts val="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• Montar comparativo de preço, parcela e prazo de entrega contra a Honda, que subiu 34,3pp
• Garantir estoque e exposição dos modelos do segmento no showroom
• Treinar a equipe no comparativo técnico e rodar mídia local com condição específica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Caique / Nippon Motos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07/08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31/08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ym typeface="Calibri"/>
                        </a:defRPr>
                      </a:pP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9C6500"/>
                          </a:solidFill>
                          <a:sym typeface="Calibri"/>
                        </a:rPr>
                        <a:t>Média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Voltar ao share de 39,9% no segmento = +2 un/mês. Medir pelo emplacamento.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BFBFBF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80314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0B0B0B"/>
                          </a:solidFill>
                          <a:sym typeface="Calibri"/>
                        </a:rPr>
                        <a:t>Ocupar a praça de Atibaia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Atibaia movimenta 189,7 un/mês e a Yamaha tem só 17,2% de share ali, contra 20,4% no território. A diferença vale 6 un/mês que hoje ficam com a concorrência.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spcBef>
                          <a:spcPts val="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• Mapear os concorrentes que dominam a praça
• Visita de vendedor externo e prospecção ativa na cidade
• Mídia geolocalizada com oferta de entrada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Caique / Nippon Motos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07/08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31/08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ym typeface="Calibri"/>
                        </a:defRPr>
                      </a:pP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9C0006"/>
                          </a:solidFill>
                          <a:sym typeface="Calibri"/>
                        </a:rPr>
                        <a:t>Alta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Chegar a 20,4% de share em Atibaia = +6 un/mês. Acompanhar o emplacamento mensal.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314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0B0B0B"/>
                          </a:solidFill>
                          <a:sym typeface="Calibri"/>
                        </a:rPr>
                        <a:t>Ocupar a praça de Piracaia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Piracaia movimenta 23,6 un/mês e a Yamaha tem só 7,3% de share ali, contra 20,4% no território. A diferença vale 3 un/mês que hoje ficam com a concorrência.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spcBef>
                          <a:spcPts val="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• Mapear os concorrentes que dominam a praça
• Visita de vendedor externo e prospecção ativa na cidade
• Mídia geolocalizada com oferta de entrada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Caique / Nippon Motos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07/08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31/08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ym typeface="Calibri"/>
                        </a:defRPr>
                      </a:pP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9C6500"/>
                          </a:solidFill>
                          <a:sym typeface="Calibri"/>
                        </a:rPr>
                        <a:t>Média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999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B0B0B"/>
                          </a:solidFill>
                          <a:sym typeface="Calibri"/>
                        </a:rPr>
                        <a:t>Chegar a 20,4% de share em Piracaia = +3 un/mês. Acompanhar o emplacamento mensal.</a:t>
                      </a:r>
                    </a:p>
                  </a:txBody>
                  <a:tcPr marL="38100" marR="38100" marT="38100" marB="38100" anchor="t" anchorCtr="0" horzOverflow="overflow">
                    <a:lnL>
                      <a:solidFill>
                        <a:srgbClr val="E1E0D9"/>
                      </a:solidFill>
                    </a:lnL>
                    <a:lnR>
                      <a:solidFill>
                        <a:srgbClr val="E1E0D9"/>
                      </a:solidFill>
                    </a:lnR>
                    <a:lnT>
                      <a:solidFill>
                        <a:srgbClr val="E1E0D9"/>
                      </a:solidFill>
                    </a:lnT>
                    <a:lnB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221" name="forma 7"/>
          <p:cNvSpPr txBox="1"/>
          <p:nvPr/>
        </p:nvSpPr>
        <p:spPr>
          <a:xfrm>
            <a:off x="685800" y="6451600"/>
            <a:ext cx="9931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chemeClr val="accent6"/>
                </a:solidFill>
              </a:defRPr>
            </a:lvl1pPr>
          </a:lstStyle>
          <a:p>
            <a:pPr/>
            <a: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erformance">
  <a:themeElements>
    <a:clrScheme name="Performance">
      <a:dk1>
        <a:srgbClr val="0B0B0B"/>
      </a:dk1>
      <a:lt1>
        <a:srgbClr val="FFFFFF"/>
      </a:lt1>
      <a:dk2>
        <a:srgbClr val="A7A7A7"/>
      </a:dk2>
      <a:lt2>
        <a:srgbClr val="535353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0000FF"/>
      </a:hlink>
      <a:folHlink>
        <a:srgbClr val="FF00FF"/>
      </a:folHlink>
    </a:clrScheme>
    <a:fontScheme name="Performan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Performa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B0B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B0B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erformance">
  <a:themeElements>
    <a:clrScheme name="Performan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0000FF"/>
      </a:hlink>
      <a:folHlink>
        <a:srgbClr val="FF00FF"/>
      </a:folHlink>
    </a:clrScheme>
    <a:fontScheme name="Performan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Performan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B0B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B0B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