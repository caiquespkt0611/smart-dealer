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notações 1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notações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dirty="0"/>
              <a:t>A causa muda a ação: disputa → retomar terreno; demanda → converter o que ainda entra e ajustar pedido.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notações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dirty="0"/>
              <a:t>O resultado da área é do grupo — a invasão é alerta, não placar. Nomear os CNPJs muda a conversa.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notações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dirty="0"/>
              <a:t>Traduzir o prêmio em motos: cada degrau da circular tem um número exato de motos de distância.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notações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dirty="0"/>
              <a:t>Não ler a tabela inteira em voz alta: ler as linhas de prioridade alta e combinar responsável e data para cada uma. Esta é a mesma tabela que sai no botão "Gerar PDCA", em Excel, para anexar depois da call.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notações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dirty="0"/>
              <a:t>Não ler a tabela inteira em voz alta: ler as linhas de prioridade alta e combinar responsável e data para cada uma. Esta é a mesma tabela que sai no botão "Gerar PDCA", em Excel, para anexar depois da call.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2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3" name="forma 3"/>
          <p:cNvSpPr/>
          <p:nvPr/>
        </p:nvSpPr>
        <p:spPr>
          <a:xfrm>
            <a:off x="685800" y="330200"/>
            <a:ext cx="7357872" cy="177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000" b="1" dirty="0">
                <a:solidFill>
                  <a:srgbClr val="2A78D6"/>
                </a:solidFill>
                <a:latin typeface="Calibri"/>
                <a:cs typeface="Calibri"/>
              </a:rPr>
              <a:t>SEGMENTOS</a:t>
            </a:r>
          </a:p>
        </p:txBody>
      </p:sp>
      <p:sp>
        <p:nvSpPr>
          <p:cNvPr id="4" name="forma 4"/>
          <p:cNvSpPr/>
          <p:nvPr/>
        </p:nvSpPr>
        <p:spPr>
          <a:xfrm>
            <a:off x="685800" y="558800"/>
            <a:ext cx="7357872" cy="40284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2600" b="1" dirty="0">
                <a:solidFill>
                  <a:srgbClr val="0B0B0B"/>
                </a:solidFill>
                <a:latin typeface="Calibri"/>
                <a:cs typeface="Calibri"/>
              </a:rPr>
              <a:t>Onde o volume está variando</a:t>
            </a:r>
          </a:p>
        </p:txBody>
      </p:sp>
      <p:sp>
        <p:nvSpPr>
          <p:cNvPr id="5" name="forma 5"/>
          <p:cNvSpPr/>
          <p:nvPr/>
        </p:nvSpPr>
        <p:spPr>
          <a:xfrm>
            <a:off x="7696200" y="381000"/>
            <a:ext cx="3810000" cy="1704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r">
              <a:buNone/>
            </a:pPr>
            <a:r>
              <a:rPr lang="pt-BR" sz="1100" dirty="0">
                <a:solidFill>
                  <a:srgbClr val="898781"/>
                </a:solidFill>
                <a:latin typeface="Calibri"/>
                <a:cs typeface="Calibri"/>
              </a:rPr>
              <a:t>vs média Abr–Jun</a:t>
            </a:r>
          </a:p>
        </p:txBody>
      </p:sp>
      <p:graphicFrame>
        <p:nvGraphicFramePr>
          <p:cNvPr id="6" name="tabela 6"/>
          <p:cNvGraphicFramePr>
            <a:graphicFrameLocks noGrp="1"/>
          </p:cNvGraphicFramePr>
          <p:nvPr/>
        </p:nvGraphicFramePr>
        <p:xfrm>
          <a:off x="685800" y="1295400"/>
          <a:ext cx="10820400" cy="2387600"/>
        </p:xfrm>
        <a:graphic>
          <a:graphicData uri="http://schemas.openxmlformats.org/drawingml/2006/table">
            <a:tbl>
              <a:tblPr firstRow="1" bandRow="0">
                <a:tableStyleId>{2D5ABB26-0587-4C30-8999-92F81FD0307C}</a:tableStyleId>
              </a:tblPr>
              <a:tblGrid>
                <a:gridCol w="2413000"/>
                <a:gridCol w="1651000"/>
                <a:gridCol w="1905000"/>
                <a:gridCol w="1651000"/>
                <a:gridCol w="3200400"/>
              </a:tblGrid>
              <a:tr h="254000"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10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SEGMENTO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52514E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10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MERCADO/MÊS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52514E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10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SHARE (BASE → ATUAL)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52514E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10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IMPACTO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52514E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10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LEITURA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52514E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04800"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1000" b="1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Street - 150cc-199cc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274 (+0%)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00" dirty="0">
                          <a:solidFill>
                            <a:srgbClr val="D64545"/>
                          </a:solidFill>
                          <a:latin typeface="Calibri"/>
                          <a:cs typeface="Calibri"/>
                        </a:rPr>
                        <a:t>17,1% → 14,6%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00" b="1" dirty="0">
                          <a:solidFill>
                            <a:srgbClr val="D64545"/>
                          </a:solidFill>
                          <a:latin typeface="Calibri"/>
                          <a:cs typeface="Calibri"/>
                        </a:rPr>
                        <a:t>-6,8 un/mês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10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Perda de disputa — Honda +6pp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</a:tr>
              <a:tr h="304800"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1000" b="1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Street - 300cc-500cc Premium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21 (+34%)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00" dirty="0">
                          <a:solidFill>
                            <a:srgbClr val="D64545"/>
                          </a:solidFill>
                          <a:latin typeface="Calibri"/>
                          <a:cs typeface="Calibri"/>
                        </a:rPr>
                        <a:t>39,8% → 14,3%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00" b="1" dirty="0">
                          <a:solidFill>
                            <a:srgbClr val="D64545"/>
                          </a:solidFill>
                          <a:latin typeface="Calibri"/>
                          <a:cs typeface="Calibri"/>
                        </a:rPr>
                        <a:t>-3,2 un/mês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10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Perda de disputa — Honda +15,1pp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</a:tr>
              <a:tr h="304800"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1000" b="1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Big Trail - 600cc-799cc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6 (-18%)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00" dirty="0">
                          <a:solidFill>
                            <a:srgbClr val="D64545"/>
                          </a:solidFill>
                          <a:latin typeface="Calibri"/>
                          <a:cs typeface="Calibri"/>
                        </a:rPr>
                        <a:t>39,9% → 0%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00" b="1" dirty="0">
                          <a:solidFill>
                            <a:srgbClr val="D64545"/>
                          </a:solidFill>
                          <a:latin typeface="Calibri"/>
                          <a:cs typeface="Calibri"/>
                        </a:rPr>
                        <a:t>-2,9 un/mês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10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Perda de disputa — Honda +34,3pp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</a:tr>
              <a:tr h="304800"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1000" b="1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On/Off - 125cc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12 (-28%)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00" dirty="0">
                          <a:solidFill>
                            <a:srgbClr val="4B9B3F"/>
                          </a:solidFill>
                          <a:latin typeface="Calibri"/>
                          <a:cs typeface="Calibri"/>
                        </a:rPr>
                        <a:t>0% → 0%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00" b="1" dirty="0">
                          <a:solidFill>
                            <a:srgbClr val="4B9B3F"/>
                          </a:solidFill>
                          <a:latin typeface="Calibri"/>
                          <a:cs typeface="Calibri"/>
                        </a:rPr>
                        <a:t>+0 un/mês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10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Estável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</a:tr>
              <a:tr h="304800"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1000" b="1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UNDERBONE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60 (-23%)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00" dirty="0">
                          <a:solidFill>
                            <a:srgbClr val="4B9B3F"/>
                          </a:solidFill>
                          <a:latin typeface="Calibri"/>
                          <a:cs typeface="Calibri"/>
                        </a:rPr>
                        <a:t>0% → 0%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00" b="1" dirty="0">
                          <a:solidFill>
                            <a:srgbClr val="4B9B3F"/>
                          </a:solidFill>
                          <a:latin typeface="Calibri"/>
                          <a:cs typeface="Calibri"/>
                        </a:rPr>
                        <a:t>+0 un/mês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10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Estável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</a:tr>
              <a:tr h="304800"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1000" b="1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CUSTOM - 600cc-999cc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5 (-32%)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00" dirty="0">
                          <a:solidFill>
                            <a:srgbClr val="4B9B3F"/>
                          </a:solidFill>
                          <a:latin typeface="Calibri"/>
                          <a:cs typeface="Calibri"/>
                        </a:rPr>
                        <a:t>0% → 0%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00" b="1" dirty="0">
                          <a:solidFill>
                            <a:srgbClr val="4B9B3F"/>
                          </a:solidFill>
                          <a:latin typeface="Calibri"/>
                          <a:cs typeface="Calibri"/>
                        </a:rPr>
                        <a:t>+0 un/mês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10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Estável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</a:tr>
              <a:tr h="304800"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1000" b="1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Big Trail - &gt; 1000cc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7 (-9%)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00" dirty="0">
                          <a:solidFill>
                            <a:srgbClr val="4B9B3F"/>
                          </a:solidFill>
                          <a:latin typeface="Calibri"/>
                          <a:cs typeface="Calibri"/>
                        </a:rPr>
                        <a:t>0% → 0%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00" b="1" dirty="0">
                          <a:solidFill>
                            <a:srgbClr val="4B9B3F"/>
                          </a:solidFill>
                          <a:latin typeface="Calibri"/>
                          <a:cs typeface="Calibri"/>
                        </a:rPr>
                        <a:t>+0 un/mês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10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Estável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</a:tr>
            </a:tbl>
          </a:graphicData>
        </a:graphic>
      </p:graphicFrame>
      <p:sp>
        <p:nvSpPr>
          <p:cNvPr id="7" name="forma 7"/>
          <p:cNvSpPr/>
          <p:nvPr/>
        </p:nvSpPr>
        <p:spPr>
          <a:xfrm>
            <a:off x="685800" y="6451600"/>
            <a:ext cx="9931400" cy="1514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lnSpc>
                <a:spcPct val="115000"/>
              </a:lnSpc>
              <a:buNone/>
            </a:pPr>
            <a:r>
              <a:rPr lang="pt-BR" sz="850" dirty="0">
                <a:solidFill>
                  <a:srgbClr val="898781"/>
                </a:solidFill>
                <a:latin typeface="Calibri"/>
                <a:cs typeface="Calibri"/>
              </a:rPr>
              <a:t>Smart Dealer · Nippon Motos · varejo e emplacamento até Julho fechado · carta de Agosto · áreas Amparo + Ouro Fino · gerado em 07/08/2026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2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3" name="forma 3"/>
          <p:cNvSpPr/>
          <p:nvPr/>
        </p:nvSpPr>
        <p:spPr>
          <a:xfrm>
            <a:off x="685800" y="330200"/>
            <a:ext cx="7357872" cy="177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000" b="1" dirty="0">
                <a:solidFill>
                  <a:srgbClr val="2A78D6"/>
                </a:solidFill>
                <a:latin typeface="Calibri"/>
                <a:cs typeface="Calibri"/>
              </a:rPr>
              <a:t>TERRITÓRIO</a:t>
            </a:r>
          </a:p>
        </p:txBody>
      </p:sp>
      <p:sp>
        <p:nvSpPr>
          <p:cNvPr id="4" name="forma 4"/>
          <p:cNvSpPr/>
          <p:nvPr/>
        </p:nvSpPr>
        <p:spPr>
          <a:xfrm>
            <a:off x="685800" y="558800"/>
            <a:ext cx="7357872" cy="40284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2600" b="1" dirty="0">
                <a:solidFill>
                  <a:srgbClr val="0B0B0B"/>
                </a:solidFill>
                <a:latin typeface="Calibri"/>
                <a:cs typeface="Calibri"/>
              </a:rPr>
              <a:t>Praças com espaço — e quem está invadindo</a:t>
            </a:r>
          </a:p>
        </p:txBody>
      </p:sp>
      <p:sp>
        <p:nvSpPr>
          <p:cNvPr id="5" name="forma 5"/>
          <p:cNvSpPr/>
          <p:nvPr/>
        </p:nvSpPr>
        <p:spPr>
          <a:xfrm>
            <a:off x="7696200" y="381000"/>
            <a:ext cx="3810000" cy="1704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r">
              <a:buNone/>
            </a:pPr>
            <a:r>
              <a:rPr lang="pt-BR" sz="1100" dirty="0">
                <a:solidFill>
                  <a:srgbClr val="898781"/>
                </a:solidFill>
                <a:latin typeface="Calibri"/>
                <a:cs typeface="Calibri"/>
              </a:rPr>
              <a:t>NIPPON MOTOS</a:t>
            </a:r>
          </a:p>
        </p:txBody>
      </p:sp>
      <p:sp>
        <p:nvSpPr>
          <p:cNvPr id="6" name="forma 6"/>
          <p:cNvSpPr/>
          <p:nvPr/>
        </p:nvSpPr>
        <p:spPr>
          <a:xfrm>
            <a:off x="685800" y="1295400"/>
            <a:ext cx="10820400" cy="1626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050" b="1" dirty="0">
                <a:solidFill>
                  <a:srgbClr val="52514E"/>
                </a:solidFill>
                <a:latin typeface="Calibri"/>
                <a:cs typeface="Calibri"/>
              </a:rPr>
              <a:t>Cidades abaixo do share do território (20,4%)</a:t>
            </a:r>
          </a:p>
        </p:txBody>
      </p:sp>
      <p:graphicFrame>
        <p:nvGraphicFramePr>
          <p:cNvPr id="7" name="tabela 7"/>
          <p:cNvGraphicFramePr>
            <a:graphicFrameLocks noGrp="1"/>
          </p:cNvGraphicFramePr>
          <p:nvPr/>
        </p:nvGraphicFramePr>
        <p:xfrm>
          <a:off x="685800" y="1524000"/>
          <a:ext cx="8128000" cy="1371600"/>
        </p:xfrm>
        <a:graphic>
          <a:graphicData uri="http://schemas.openxmlformats.org/drawingml/2006/table">
            <a:tbl>
              <a:tblPr firstRow="1" bandRow="0">
                <a:tableStyleId>{2D5ABB26-0587-4C30-8999-92F81FD0307C}</a:tableStyleId>
              </a:tblPr>
              <a:tblGrid>
                <a:gridCol w="2540000"/>
                <a:gridCol w="1905000"/>
                <a:gridCol w="1651000"/>
                <a:gridCol w="2032000"/>
              </a:tblGrid>
              <a:tr h="254000"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10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CIDADE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52514E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10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MERCADO (UN/MÊS)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52514E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10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SHARE HOJE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52514E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10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ESPAÇO A OCUPAR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52514E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279400"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1000" b="1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Atibaia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189,7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17,2%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00" b="1" dirty="0">
                          <a:solidFill>
                            <a:srgbClr val="D98A0B"/>
                          </a:solidFill>
                          <a:latin typeface="Calibri"/>
                          <a:cs typeface="Calibri"/>
                        </a:rPr>
                        <a:t>+6 un/mês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</a:tr>
              <a:tr h="279400"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1000" b="1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Piracaia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23,6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7,3%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00" b="1" dirty="0">
                          <a:solidFill>
                            <a:srgbClr val="D98A0B"/>
                          </a:solidFill>
                          <a:latin typeface="Calibri"/>
                          <a:cs typeface="Calibri"/>
                        </a:rPr>
                        <a:t>+3 un/mês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</a:tr>
              <a:tr h="279400"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1000" b="1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Cambui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35,9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15,1%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00" b="1" dirty="0">
                          <a:solidFill>
                            <a:srgbClr val="D98A0B"/>
                          </a:solidFill>
                          <a:latin typeface="Calibri"/>
                          <a:cs typeface="Calibri"/>
                        </a:rPr>
                        <a:t>+2 un/mês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</a:tr>
              <a:tr h="279400"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1000" b="1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Joanopolis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11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7,8%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00" b="1" dirty="0">
                          <a:solidFill>
                            <a:srgbClr val="D98A0B"/>
                          </a:solidFill>
                          <a:latin typeface="Calibri"/>
                          <a:cs typeface="Calibri"/>
                        </a:rPr>
                        <a:t>+1 un/mês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</a:tr>
            </a:tbl>
          </a:graphicData>
        </a:graphic>
      </p:graphicFrame>
      <p:sp>
        <p:nvSpPr>
          <p:cNvPr id="8" name="forma 8"/>
          <p:cNvSpPr/>
          <p:nvPr/>
        </p:nvSpPr>
        <p:spPr>
          <a:xfrm>
            <a:off x="685800" y="3022600"/>
            <a:ext cx="10820400" cy="978852"/>
          </a:xfrm>
          <a:prstGeom prst="roundRect">
            <a:avLst>
              <a:gd name="adj" fmla="val 7000"/>
            </a:avLst>
          </a:prstGeom>
          <a:solidFill>
            <a:srgbClr val="EDF5E8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9" name="forma 9"/>
          <p:cNvSpPr/>
          <p:nvPr/>
        </p:nvSpPr>
        <p:spPr>
          <a:xfrm>
            <a:off x="685800" y="3022600"/>
            <a:ext cx="50800" cy="978852"/>
          </a:xfrm>
          <a:prstGeom prst="rect">
            <a:avLst/>
          </a:prstGeom>
          <a:solidFill>
            <a:srgbClr val="4B9B3F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10" name="forma 10"/>
          <p:cNvSpPr/>
          <p:nvPr/>
        </p:nvSpPr>
        <p:spPr>
          <a:xfrm>
            <a:off x="889000" y="3149600"/>
            <a:ext cx="8280400" cy="147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950" b="1" dirty="0">
                <a:solidFill>
                  <a:srgbClr val="52514E"/>
                </a:solidFill>
                <a:latin typeface="Calibri"/>
                <a:cs typeface="Calibri"/>
              </a:rPr>
              <a:t>INVASÃO DE TERRITÓRIO</a:t>
            </a:r>
          </a:p>
        </p:txBody>
      </p:sp>
      <p:sp>
        <p:nvSpPr>
          <p:cNvPr id="11" name="forma 11"/>
          <p:cNvSpPr/>
          <p:nvPr/>
        </p:nvSpPr>
        <p:spPr>
          <a:xfrm>
            <a:off x="9169400" y="3124200"/>
            <a:ext cx="2133600" cy="40284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r">
              <a:buNone/>
            </a:pPr>
            <a:r>
              <a:rPr lang="pt-BR" sz="2600" b="1" dirty="0">
                <a:solidFill>
                  <a:srgbClr val="4B9B3F"/>
                </a:solidFill>
                <a:latin typeface="Calibri"/>
                <a:cs typeface="Calibri"/>
              </a:rPr>
              <a:t>19%</a:t>
            </a:r>
          </a:p>
        </p:txBody>
      </p:sp>
      <p:sp>
        <p:nvSpPr>
          <p:cNvPr id="12" name="forma 12"/>
          <p:cNvSpPr/>
          <p:nvPr/>
        </p:nvSpPr>
        <p:spPr>
          <a:xfrm>
            <a:off x="889000" y="3403600"/>
            <a:ext cx="8280400" cy="445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lnSpc>
                <a:spcPct val="125000"/>
              </a:lnSpc>
              <a:buNone/>
            </a:pPr>
            <a:r>
              <a:rPr lang="pt-BR" sz="1150" dirty="0">
                <a:solidFill>
                  <a:srgbClr val="0B0B0B"/>
                </a:solidFill>
                <a:latin typeface="Calibri"/>
                <a:cs typeface="Calibri"/>
              </a:rPr>
              <a:t>Das 153 un/mês de Yamaha emplacadas na área, a Nippon emplaca 124 — 29 un/mês são de terceiros, principalmente Sul Motos e Moto Italia. Dentro do esperado para área compartilhada de mercado.</a:t>
            </a:r>
          </a:p>
        </p:txBody>
      </p:sp>
      <p:sp>
        <p:nvSpPr>
          <p:cNvPr id="13" name="forma 13"/>
          <p:cNvSpPr/>
          <p:nvPr/>
        </p:nvSpPr>
        <p:spPr>
          <a:xfrm>
            <a:off x="685800" y="6451600"/>
            <a:ext cx="9931400" cy="1514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lnSpc>
                <a:spcPct val="115000"/>
              </a:lnSpc>
              <a:buNone/>
            </a:pPr>
            <a:r>
              <a:rPr lang="pt-BR" sz="850" dirty="0">
                <a:solidFill>
                  <a:srgbClr val="898781"/>
                </a:solidFill>
                <a:latin typeface="Calibri"/>
                <a:cs typeface="Calibri"/>
              </a:rPr>
              <a:t>Smart Dealer · Nippon Motos · varejo e emplacamento até Julho fechado · carta de Agosto · áreas Amparo + Ouro Fino · gerado em 07/08/2026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2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3" name="forma 3"/>
          <p:cNvSpPr/>
          <p:nvPr/>
        </p:nvSpPr>
        <p:spPr>
          <a:xfrm>
            <a:off x="685800" y="330200"/>
            <a:ext cx="7357872" cy="177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000" b="1" dirty="0">
                <a:solidFill>
                  <a:srgbClr val="2A78D6"/>
                </a:solidFill>
                <a:latin typeface="Calibri"/>
                <a:cs typeface="Calibri"/>
              </a:rPr>
              <a:t>CAMPANHAS YAMAHA</a:t>
            </a:r>
          </a:p>
        </p:txBody>
      </p:sp>
      <p:sp>
        <p:nvSpPr>
          <p:cNvPr id="4" name="forma 4"/>
          <p:cNvSpPr/>
          <p:nvPr/>
        </p:nvSpPr>
        <p:spPr>
          <a:xfrm>
            <a:off x="685800" y="558800"/>
            <a:ext cx="7357872" cy="40284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2600" b="1" dirty="0">
                <a:solidFill>
                  <a:srgbClr val="0B0B0B"/>
                </a:solidFill>
                <a:latin typeface="Calibri"/>
                <a:cs typeface="Calibri"/>
              </a:rPr>
              <a:t>O que a Nippon tem a receber</a:t>
            </a:r>
          </a:p>
        </p:txBody>
      </p:sp>
      <p:sp>
        <p:nvSpPr>
          <p:cNvPr id="5" name="forma 5"/>
          <p:cNvSpPr/>
          <p:nvPr/>
        </p:nvSpPr>
        <p:spPr>
          <a:xfrm>
            <a:off x="7696200" y="381000"/>
            <a:ext cx="3810000" cy="1704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r">
              <a:buNone/>
            </a:pPr>
            <a:r>
              <a:rPr lang="pt-BR" sz="1100" dirty="0">
                <a:solidFill>
                  <a:srgbClr val="898781"/>
                </a:solidFill>
                <a:latin typeface="Calibri"/>
                <a:cs typeface="Calibri"/>
              </a:rPr>
              <a:t>Campeões de Vendas + incentivo por modelo</a:t>
            </a:r>
          </a:p>
        </p:txBody>
      </p:sp>
      <p:sp>
        <p:nvSpPr>
          <p:cNvPr id="6" name="forma 6"/>
          <p:cNvSpPr/>
          <p:nvPr/>
        </p:nvSpPr>
        <p:spPr>
          <a:xfrm>
            <a:off x="685800" y="1270000"/>
            <a:ext cx="2609850" cy="874268"/>
          </a:xfrm>
          <a:prstGeom prst="roundRect">
            <a:avLst>
              <a:gd name="adj" fmla="val 9000"/>
            </a:avLst>
          </a:prstGeom>
          <a:solidFill>
            <a:srgbClr val="F7F7F5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7" name="forma 7"/>
          <p:cNvSpPr/>
          <p:nvPr/>
        </p:nvSpPr>
        <p:spPr>
          <a:xfrm>
            <a:off x="838200" y="1384300"/>
            <a:ext cx="2305050" cy="147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950" b="1" dirty="0">
                <a:solidFill>
                  <a:srgbClr val="898781"/>
                </a:solidFill>
                <a:latin typeface="Calibri"/>
                <a:cs typeface="Calibri"/>
              </a:rPr>
              <a:t>JÁ APURADO (2 FONTES)</a:t>
            </a:r>
          </a:p>
        </p:txBody>
      </p:sp>
      <p:sp>
        <p:nvSpPr>
          <p:cNvPr id="8" name="forma 8"/>
          <p:cNvSpPr/>
          <p:nvPr/>
        </p:nvSpPr>
        <p:spPr>
          <a:xfrm>
            <a:off x="838200" y="1574800"/>
            <a:ext cx="2305050" cy="3408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2200" b="1" dirty="0">
                <a:solidFill>
                  <a:srgbClr val="4B9B3F"/>
                </a:solidFill>
                <a:latin typeface="Calibri"/>
                <a:cs typeface="Calibri"/>
              </a:rPr>
              <a:t>R$ 73.500</a:t>
            </a:r>
          </a:p>
        </p:txBody>
      </p:sp>
      <p:sp>
        <p:nvSpPr>
          <p:cNvPr id="9" name="forma 9"/>
          <p:cNvSpPr/>
          <p:nvPr/>
        </p:nvSpPr>
        <p:spPr>
          <a:xfrm>
            <a:off x="838200" y="1941068"/>
            <a:ext cx="2305050" cy="1316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850" dirty="0">
                <a:solidFill>
                  <a:srgbClr val="898781"/>
                </a:solidFill>
                <a:latin typeface="Calibri"/>
                <a:cs typeface="Calibri"/>
              </a:rPr>
              <a:t>Campeões R$ 7.500 + vouchers R$ 66.000</a:t>
            </a:r>
          </a:p>
        </p:txBody>
      </p:sp>
      <p:sp>
        <p:nvSpPr>
          <p:cNvPr id="10" name="forma 10"/>
          <p:cNvSpPr/>
          <p:nvPr/>
        </p:nvSpPr>
        <p:spPr>
          <a:xfrm>
            <a:off x="3422650" y="1270000"/>
            <a:ext cx="2609850" cy="874268"/>
          </a:xfrm>
          <a:prstGeom prst="roundRect">
            <a:avLst>
              <a:gd name="adj" fmla="val 9000"/>
            </a:avLst>
          </a:prstGeom>
          <a:solidFill>
            <a:srgbClr val="F7F7F5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11" name="forma 11"/>
          <p:cNvSpPr/>
          <p:nvPr/>
        </p:nvSpPr>
        <p:spPr>
          <a:xfrm>
            <a:off x="3575050" y="1384300"/>
            <a:ext cx="2305050" cy="147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950" b="1" dirty="0">
                <a:solidFill>
                  <a:srgbClr val="898781"/>
                </a:solidFill>
                <a:latin typeface="Calibri"/>
                <a:cs typeface="Calibri"/>
              </a:rPr>
              <a:t>VOUCHERS — PROJEÇÃO DO MÊS</a:t>
            </a:r>
          </a:p>
        </p:txBody>
      </p:sp>
      <p:sp>
        <p:nvSpPr>
          <p:cNvPr id="12" name="forma 12"/>
          <p:cNvSpPr/>
          <p:nvPr/>
        </p:nvSpPr>
        <p:spPr>
          <a:xfrm>
            <a:off x="3575050" y="1574800"/>
            <a:ext cx="2305050" cy="3408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2200" b="1" dirty="0">
                <a:solidFill>
                  <a:srgbClr val="0B0B0B"/>
                </a:solidFill>
                <a:latin typeface="Calibri"/>
                <a:cs typeface="Calibri"/>
              </a:rPr>
              <a:t>R$ 56.500</a:t>
            </a:r>
          </a:p>
        </p:txBody>
      </p:sp>
      <p:sp>
        <p:nvSpPr>
          <p:cNvPr id="13" name="forma 13"/>
          <p:cNvSpPr/>
          <p:nvPr/>
        </p:nvSpPr>
        <p:spPr>
          <a:xfrm>
            <a:off x="3575050" y="1941068"/>
            <a:ext cx="2305050" cy="1316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850" dirty="0">
                <a:solidFill>
                  <a:srgbClr val="898781"/>
                </a:solidFill>
                <a:latin typeface="Calibri"/>
                <a:cs typeface="Calibri"/>
              </a:rPr>
              <a:t>ritmo dos últimos 3 meses</a:t>
            </a:r>
          </a:p>
        </p:txBody>
      </p:sp>
      <p:sp>
        <p:nvSpPr>
          <p:cNvPr id="14" name="forma 14"/>
          <p:cNvSpPr/>
          <p:nvPr/>
        </p:nvSpPr>
        <p:spPr>
          <a:xfrm>
            <a:off x="6159500" y="1270000"/>
            <a:ext cx="2609850" cy="874268"/>
          </a:xfrm>
          <a:prstGeom prst="roundRect">
            <a:avLst>
              <a:gd name="adj" fmla="val 9000"/>
            </a:avLst>
          </a:prstGeom>
          <a:solidFill>
            <a:srgbClr val="F7F7F5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15" name="forma 15"/>
          <p:cNvSpPr/>
          <p:nvPr/>
        </p:nvSpPr>
        <p:spPr>
          <a:xfrm>
            <a:off x="6311900" y="1384300"/>
            <a:ext cx="2305050" cy="147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950" b="1" dirty="0">
                <a:solidFill>
                  <a:srgbClr val="898781"/>
                </a:solidFill>
                <a:latin typeface="Calibri"/>
                <a:cs typeface="Calibri"/>
              </a:rPr>
              <a:t>RECUPERÁVEL NO TRIMESTRE</a:t>
            </a:r>
          </a:p>
        </p:txBody>
      </p:sp>
      <p:sp>
        <p:nvSpPr>
          <p:cNvPr id="16" name="forma 16"/>
          <p:cNvSpPr/>
          <p:nvPr/>
        </p:nvSpPr>
        <p:spPr>
          <a:xfrm>
            <a:off x="6311900" y="1574800"/>
            <a:ext cx="2305050" cy="3408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2200" b="1" dirty="0">
                <a:solidFill>
                  <a:srgbClr val="0B0B0B"/>
                </a:solidFill>
                <a:latin typeface="Calibri"/>
                <a:cs typeface="Calibri"/>
              </a:rPr>
              <a:t>R$ 15.000</a:t>
            </a:r>
          </a:p>
        </p:txBody>
      </p:sp>
      <p:sp>
        <p:nvSpPr>
          <p:cNvPr id="17" name="forma 17"/>
          <p:cNvSpPr/>
          <p:nvPr/>
        </p:nvSpPr>
        <p:spPr>
          <a:xfrm>
            <a:off x="6311900" y="1941068"/>
            <a:ext cx="2305050" cy="1316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850" dirty="0">
                <a:solidFill>
                  <a:srgbClr val="898781"/>
                </a:solidFill>
                <a:latin typeface="Calibri"/>
                <a:cs typeface="Calibri"/>
              </a:rPr>
              <a:t>meta acumulada em 100%</a:t>
            </a:r>
          </a:p>
        </p:txBody>
      </p:sp>
      <p:sp>
        <p:nvSpPr>
          <p:cNvPr id="18" name="forma 18"/>
          <p:cNvSpPr/>
          <p:nvPr/>
        </p:nvSpPr>
        <p:spPr>
          <a:xfrm>
            <a:off x="8896350" y="1270000"/>
            <a:ext cx="2609850" cy="874268"/>
          </a:xfrm>
          <a:prstGeom prst="roundRect">
            <a:avLst>
              <a:gd name="adj" fmla="val 9000"/>
            </a:avLst>
          </a:prstGeom>
          <a:solidFill>
            <a:srgbClr val="F7F7F5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19" name="forma 19"/>
          <p:cNvSpPr/>
          <p:nvPr/>
        </p:nvSpPr>
        <p:spPr>
          <a:xfrm>
            <a:off x="9048750" y="1384300"/>
            <a:ext cx="2305050" cy="147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950" b="1" dirty="0">
                <a:solidFill>
                  <a:srgbClr val="898781"/>
                </a:solidFill>
                <a:latin typeface="Calibri"/>
                <a:cs typeface="Calibri"/>
              </a:rPr>
              <a:t>POTENCIAL TOTAL</a:t>
            </a:r>
          </a:p>
        </p:txBody>
      </p:sp>
      <p:sp>
        <p:nvSpPr>
          <p:cNvPr id="20" name="forma 20"/>
          <p:cNvSpPr/>
          <p:nvPr/>
        </p:nvSpPr>
        <p:spPr>
          <a:xfrm>
            <a:off x="9048750" y="1574800"/>
            <a:ext cx="2305050" cy="3408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2200" b="1" dirty="0">
                <a:solidFill>
                  <a:srgbClr val="4B9B3F"/>
                </a:solidFill>
                <a:latin typeface="Calibri"/>
                <a:cs typeface="Calibri"/>
              </a:rPr>
              <a:t>R$ 222.600</a:t>
            </a:r>
          </a:p>
        </p:txBody>
      </p:sp>
      <p:graphicFrame>
        <p:nvGraphicFramePr>
          <p:cNvPr id="21" name="tabela 21"/>
          <p:cNvGraphicFramePr>
            <a:graphicFrameLocks noGrp="1"/>
          </p:cNvGraphicFramePr>
          <p:nvPr/>
        </p:nvGraphicFramePr>
        <p:xfrm>
          <a:off x="685800" y="2347468"/>
          <a:ext cx="10820400" cy="1092200"/>
        </p:xfrm>
        <a:graphic>
          <a:graphicData uri="http://schemas.openxmlformats.org/drawingml/2006/table">
            <a:tbl>
              <a:tblPr firstRow="1" bandRow="0">
                <a:tableStyleId>{2D5ABB26-0587-4C30-8999-92F81FD0307C}</a:tableStyleId>
              </a:tblPr>
              <a:tblGrid>
                <a:gridCol w="1778000"/>
                <a:gridCol w="1397000"/>
                <a:gridCol w="1651000"/>
                <a:gridCol w="1651000"/>
                <a:gridCol w="4343400"/>
              </a:tblGrid>
              <a:tr h="254000"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10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MÊS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52514E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10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CARTA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52514E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10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RESULTADO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52514E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10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PRÊMIO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52514E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10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REGRA APLICADA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52514E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279400"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1000" b="1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Julho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160 un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144 un (90%)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00" b="1" dirty="0">
                          <a:solidFill>
                            <a:srgbClr val="4B9B3F"/>
                          </a:solidFill>
                          <a:latin typeface="Calibri"/>
                          <a:cs typeface="Calibri"/>
                        </a:rPr>
                        <a:t>R$ 7.500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10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90–99% da meta — 50% do valor (válido no mês)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</a:tr>
              <a:tr h="279400"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1000" b="1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Agosto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160 un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—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00" b="1" dirty="0">
                          <a:solidFill>
                            <a:srgbClr val="898781"/>
                          </a:solidFill>
                          <a:latin typeface="Calibri"/>
                          <a:cs typeface="Calibri"/>
                        </a:rPr>
                        <a:t>—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10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aguardando primeiras vendas do mês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</a:tr>
              <a:tr h="279400"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1000" b="1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Setembro *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160 un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—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00" b="1" dirty="0">
                          <a:solidFill>
                            <a:srgbClr val="898781"/>
                          </a:solidFill>
                          <a:latin typeface="Calibri"/>
                          <a:cs typeface="Calibri"/>
                        </a:rPr>
                        <a:t>—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10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carta ainda não informada — assumida igual à atual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</a:tr>
            </a:tbl>
          </a:graphicData>
        </a:graphic>
      </p:graphicFrame>
      <p:sp>
        <p:nvSpPr>
          <p:cNvPr id="22" name="forma 22"/>
          <p:cNvSpPr/>
          <p:nvPr/>
        </p:nvSpPr>
        <p:spPr>
          <a:xfrm>
            <a:off x="685800" y="3541268"/>
            <a:ext cx="10820400" cy="843280"/>
          </a:xfrm>
          <a:prstGeom prst="roundRect">
            <a:avLst>
              <a:gd name="adj" fmla="val 7000"/>
            </a:avLst>
          </a:prstGeom>
          <a:solidFill>
            <a:srgbClr val="EDF5E8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23" name="forma 23"/>
          <p:cNvSpPr/>
          <p:nvPr/>
        </p:nvSpPr>
        <p:spPr>
          <a:xfrm>
            <a:off x="685800" y="3541268"/>
            <a:ext cx="50800" cy="843280"/>
          </a:xfrm>
          <a:prstGeom prst="rect">
            <a:avLst/>
          </a:prstGeom>
          <a:solidFill>
            <a:srgbClr val="4B9B3F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24" name="forma 24"/>
          <p:cNvSpPr/>
          <p:nvPr/>
        </p:nvSpPr>
        <p:spPr>
          <a:xfrm>
            <a:off x="889000" y="3668268"/>
            <a:ext cx="10414000" cy="147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950" b="1" dirty="0">
                <a:solidFill>
                  <a:srgbClr val="52514E"/>
                </a:solidFill>
                <a:latin typeface="Calibri"/>
                <a:cs typeface="Calibri"/>
              </a:rPr>
              <a:t>A LEITURA</a:t>
            </a:r>
          </a:p>
        </p:txBody>
      </p:sp>
      <p:sp>
        <p:nvSpPr>
          <p:cNvPr id="25" name="forma 25"/>
          <p:cNvSpPr/>
          <p:nvPr/>
        </p:nvSpPr>
        <p:spPr>
          <a:xfrm>
            <a:off x="889000" y="3922268"/>
            <a:ext cx="10414000" cy="3098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lnSpc>
                <a:spcPct val="125000"/>
              </a:lnSpc>
              <a:buNone/>
            </a:pPr>
            <a:r>
              <a:rPr lang="pt-BR" sz="800" dirty="0">
                <a:solidFill>
                  <a:srgbClr val="0B0B0B"/>
                </a:solidFill>
                <a:latin typeface="Calibri"/>
                <a:cs typeface="Calibri"/>
              </a:rPr>
              <a:t>Duas fontes: Campeões de Vendas (R$ 7.500 garantidos em julho; R$ 15.000 recuperáveis no acumulado) + incentivo por modelo (R$ 66.000 de julho, projeção R$ 56.500 no mês — Fazer, NMAX, MT-07, Lander e XMAX). Bônus não cumulativo com taxas subsidiadas: valores de voucher são o teto.</a:t>
            </a:r>
          </a:p>
        </p:txBody>
      </p:sp>
      <p:sp>
        <p:nvSpPr>
          <p:cNvPr id="26" name="forma 26"/>
          <p:cNvSpPr/>
          <p:nvPr/>
        </p:nvSpPr>
        <p:spPr>
          <a:xfrm>
            <a:off x="685800" y="6451600"/>
            <a:ext cx="9931400" cy="1514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lnSpc>
                <a:spcPct val="115000"/>
              </a:lnSpc>
              <a:buNone/>
            </a:pPr>
            <a:r>
              <a:rPr lang="pt-BR" sz="850" dirty="0">
                <a:solidFill>
                  <a:srgbClr val="898781"/>
                </a:solidFill>
                <a:latin typeface="Calibri"/>
                <a:cs typeface="Calibri"/>
              </a:rPr>
              <a:t>* carta ainda não informada — estimada igual à atual. Smart Dealer · Nippon Motos · varejo e emplacamento até Julho fechado · carta de Agosto · áreas Amparo + Ouro Fino · gerado em 07/08/2026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2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3" name="forma 3"/>
          <p:cNvSpPr/>
          <p:nvPr/>
        </p:nvSpPr>
        <p:spPr>
          <a:xfrm>
            <a:off x="685800" y="330200"/>
            <a:ext cx="7357872" cy="177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000" b="1" dirty="0">
                <a:solidFill>
                  <a:srgbClr val="2A78D6"/>
                </a:solidFill>
                <a:latin typeface="Calibri"/>
                <a:cs typeface="Calibri"/>
              </a:rPr>
              <a:t>PLANO DE AÇÃO · FOLHA 1 DE 2</a:t>
            </a:r>
          </a:p>
        </p:txBody>
      </p:sp>
      <p:sp>
        <p:nvSpPr>
          <p:cNvPr id="4" name="forma 4"/>
          <p:cNvSpPr/>
          <p:nvPr/>
        </p:nvSpPr>
        <p:spPr>
          <a:xfrm>
            <a:off x="685800" y="558800"/>
            <a:ext cx="7357872" cy="40284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2600" b="1" dirty="0">
                <a:solidFill>
                  <a:srgbClr val="0B0B0B"/>
                </a:solidFill>
                <a:latin typeface="Calibri"/>
                <a:cs typeface="Calibri"/>
              </a:rPr>
              <a:t>O que vamos fazer</a:t>
            </a:r>
          </a:p>
        </p:txBody>
      </p:sp>
      <p:sp>
        <p:nvSpPr>
          <p:cNvPr id="5" name="forma 5"/>
          <p:cNvSpPr/>
          <p:nvPr/>
        </p:nvSpPr>
        <p:spPr>
          <a:xfrm>
            <a:off x="7696200" y="381000"/>
            <a:ext cx="3810000" cy="1704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r">
              <a:buNone/>
            </a:pPr>
            <a:r>
              <a:rPr lang="pt-BR" sz="1100" dirty="0">
                <a:solidFill>
                  <a:srgbClr val="898781"/>
                </a:solidFill>
                <a:latin typeface="Calibri"/>
                <a:cs typeface="Calibri"/>
              </a:rPr>
              <a:t>NIPPON MOTOS</a:t>
            </a:r>
          </a:p>
        </p:txBody>
      </p:sp>
      <p:graphicFrame>
        <p:nvGraphicFramePr>
          <p:cNvPr id="6" name="tabela 6"/>
          <p:cNvGraphicFramePr>
            <a:graphicFrameLocks noGrp="1"/>
          </p:cNvGraphicFramePr>
          <p:nvPr/>
        </p:nvGraphicFramePr>
        <p:xfrm>
          <a:off x="685800" y="1244600"/>
          <a:ext cx="10820400" cy="3933241"/>
        </p:xfrm>
        <a:graphic>
          <a:graphicData uri="http://schemas.openxmlformats.org/drawingml/2006/table">
            <a:tbl>
              <a:tblPr firstRow="1" bandRow="0">
                <a:tableStyleId>{2D5ABB26-0587-4C30-8999-92F81FD0307C}</a:tableStyleId>
              </a:tblPr>
              <a:tblGrid>
                <a:gridCol w="1397000"/>
                <a:gridCol w="2146300"/>
                <a:gridCol w="2146300"/>
                <a:gridCol w="698500"/>
                <a:gridCol w="419100"/>
                <a:gridCol w="419100"/>
                <a:gridCol w="1028700"/>
                <a:gridCol w="508000"/>
                <a:gridCol w="2057400"/>
              </a:tblGrid>
              <a:tr h="228600">
                <a:tc rowSpan="2"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 QUE FAZER?</a:t>
                      </a:r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(AÇÃO)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1F3864"/>
                    </a:solidFill>
                  </a:tcPr>
                </a:tc>
                <a:tc rowSpan="2"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POR QUÊ?</a:t>
                      </a:r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(JUSTIFICATIVA)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1F3864"/>
                    </a:solidFill>
                  </a:tcPr>
                </a:tc>
                <a:tc rowSpan="2"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COMO?</a:t>
                      </a:r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(ATIVIDADES PRINCIPAIS)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1F3864"/>
                    </a:solidFill>
                  </a:tcPr>
                </a:tc>
                <a:tc rowSpan="2"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RESPONSÁVEL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1F3864"/>
                    </a:solidFill>
                  </a:tcPr>
                </a:tc>
                <a:tc gridSpan="2"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PRAZO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1F3864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rowSpan="2"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STATUS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1F3864"/>
                    </a:solidFill>
                  </a:tcPr>
                </a:tc>
                <a:tc rowSpan="2"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PRIORIDADE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1F3864"/>
                    </a:solidFill>
                  </a:tcPr>
                </a:tc>
                <a:tc rowSpan="2"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INDICADOR DE ACOMPANHAMENTO</a:t>
                      </a:r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(Meta / impacto da ação)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228600"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INÍCIO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TÉRMINO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1F3864"/>
                    </a:solidFill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</a:tr>
              <a:tr h="1349146">
                <a:tc>
                  <a:txBody>
                    <a:bodyPr lIns="0" tIns="0" rIns="0" bIns="0" anchor="t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Entrar em Agosto no ritmo que a carta exige desde o primeiro dia</a:t>
                      </a:r>
                    </a:p>
                  </a:txBody>
                  <a:tcPr marL="50800" marR="50800" marT="38100" marB="38100" anchor="t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t" wrap="square">
                      <a:no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Julho fechou com 144 un e a carta de Agosto é de 160 un — +16 un (11%) sobre o que acabou de ser feito, ou 7,6 un/dia nos 21 dias úteis. Ainda não há venda registrada no mês: não há ritmo a corrigir, há ritmo a estabelecer. 4º de 9 na regional.</a:t>
                      </a:r>
                    </a:p>
                  </a:txBody>
                  <a:tcPr marL="50800" marR="50800" marT="38100" marB="38100" anchor="t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t" wrap="square">
                      <a:no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• Distribuir a carta de 160 un em meta semanal antes do primeiro dia útil</a:t>
                      </a:r>
                    </a:p>
                    <a:p>
                      <a:pPr algn="l">
                        <a:lnSpc>
                          <a:spcPct val="105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• Abrir o mês com as propostas e negociações que ficaram de julho</a:t>
                      </a:r>
                    </a:p>
                    <a:p>
                      <a:pPr algn="l">
                        <a:lnSpc>
                          <a:spcPct val="105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• Conferir se o estoque cobre o ritmo pedido e antecipar o pedido do que faltar</a:t>
                      </a:r>
                    </a:p>
                    <a:p>
                      <a:pPr algn="l">
                        <a:lnSpc>
                          <a:spcPct val="105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• Não deixar a recuperação para a última semana: mês que começa devagar fecha no aperto</a:t>
                      </a:r>
                    </a:p>
                  </a:txBody>
                  <a:tcPr marL="50800" marR="50800" marT="38100" marB="38100" anchor="t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Caique / Nippon Motos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07/08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31/08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9C0006"/>
                          </a:solidFill>
                          <a:latin typeface="Calibri"/>
                          <a:cs typeface="Calibri"/>
                        </a:rPr>
                        <a:t>Alta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FBE9E9"/>
                    </a:solidFill>
                  </a:tcPr>
                </a:tc>
                <a:tc>
                  <a:txBody>
                    <a:bodyPr lIns="0" tIns="0" rIns="0" bIns="0" anchor="t" wrap="square">
                      <a:no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Fechar Agosto com 160 un (100% da carta), sustentando 7,6 un/dia. Medir diariamente.</a:t>
                      </a:r>
                    </a:p>
                  </a:txBody>
                  <a:tcPr marL="50800" marR="50800" marT="38100" marB="38100" anchor="t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63447">
                <a:tc>
                  <a:txBody>
                    <a:bodyPr lIns="0" tIns="0" rIns="0" bIns="0" anchor="t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Recuperar participação em Street - 150cc-199cc</a:t>
                      </a:r>
                    </a:p>
                  </a:txBody>
                  <a:tcPr marL="50800" marR="50800" marT="38100" marB="38100" anchor="t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 lIns="0" tIns="0" rIns="0" bIns="0" anchor="t" wrap="square">
                      <a:no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Share na área caiu de 17,1% para 14,6% (-2,5pp), o que representa -6,8 un/mês. O segmento movimenta 274 un/mês. Honda ganhou 6pp no mesmo período.</a:t>
                      </a:r>
                    </a:p>
                  </a:txBody>
                  <a:tcPr marL="50800" marR="50800" marT="38100" marB="38100" anchor="t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 lIns="0" tIns="0" rIns="0" bIns="0" anchor="t" wrap="square">
                      <a:no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• Montar comparativo de preço, parcela e prazo de entrega contra a Honda, que subiu 6pp</a:t>
                      </a:r>
                    </a:p>
                    <a:p>
                      <a:pPr algn="l">
                        <a:lnSpc>
                          <a:spcPct val="105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• Garantir estoque e exposição dos modelos do segmento no showroom</a:t>
                      </a:r>
                    </a:p>
                    <a:p>
                      <a:pPr algn="l">
                        <a:lnSpc>
                          <a:spcPct val="105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• Treinar a equipe no comparativo técnico e rodar mídia local com condição específica</a:t>
                      </a:r>
                    </a:p>
                  </a:txBody>
                  <a:tcPr marL="50800" marR="50800" marT="38100" marB="38100" anchor="t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Caique / Nippon Motos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07/08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31/08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9C0006"/>
                          </a:solidFill>
                          <a:latin typeface="Calibri"/>
                          <a:cs typeface="Calibri"/>
                        </a:rPr>
                        <a:t>Alta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FBE9E9"/>
                    </a:solidFill>
                  </a:tcPr>
                </a:tc>
                <a:tc>
                  <a:txBody>
                    <a:bodyPr lIns="0" tIns="0" rIns="0" bIns="0" anchor="t" wrap="square">
                      <a:no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Voltar ao share de 17,1% no segmento = +7 un/mês. Medir pelo emplacamento.</a:t>
                      </a:r>
                    </a:p>
                  </a:txBody>
                  <a:tcPr marL="50800" marR="50800" marT="38100" marB="38100" anchor="t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D9E2F3"/>
                    </a:solidFill>
                  </a:tcPr>
                </a:tc>
              </a:tr>
              <a:tr h="1063447">
                <a:tc>
                  <a:txBody>
                    <a:bodyPr lIns="0" tIns="0" rIns="0" bIns="0" anchor="t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Recuperar participação em Street - 300cc-500cc Premium</a:t>
                      </a:r>
                    </a:p>
                  </a:txBody>
                  <a:tcPr marL="50800" marR="50800" marT="38100" marB="38100" anchor="t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t" wrap="square">
                      <a:no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Share na área caiu de 39,8% para 14,3% (-25,5pp), o que representa -3,2 un/mês. O segmento movimenta 21 un/mês. Honda ganhou 15,1pp no mesmo período.</a:t>
                      </a:r>
                    </a:p>
                  </a:txBody>
                  <a:tcPr marL="50800" marR="50800" marT="38100" marB="38100" anchor="t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t" wrap="square">
                      <a:no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• Montar comparativo de preço, parcela e prazo de entrega contra a Honda, que subiu 15,1pp</a:t>
                      </a:r>
                    </a:p>
                    <a:p>
                      <a:pPr algn="l">
                        <a:lnSpc>
                          <a:spcPct val="105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• Garantir estoque e exposição dos modelos do segmento no showroom</a:t>
                      </a:r>
                    </a:p>
                    <a:p>
                      <a:pPr algn="l">
                        <a:lnSpc>
                          <a:spcPct val="105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• Treinar a equipe no comparativo técnico e rodar mídia local com condição específica</a:t>
                      </a:r>
                    </a:p>
                  </a:txBody>
                  <a:tcPr marL="50800" marR="50800" marT="38100" marB="38100" anchor="t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Caique / Nippon Motos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07/08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31/08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9C6500"/>
                          </a:solidFill>
                          <a:latin typeface="Calibri"/>
                          <a:cs typeface="Calibri"/>
                        </a:rPr>
                        <a:t>Média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FDF3DE"/>
                    </a:solidFill>
                  </a:tcPr>
                </a:tc>
                <a:tc>
                  <a:txBody>
                    <a:bodyPr lIns="0" tIns="0" rIns="0" bIns="0" anchor="t" wrap="square">
                      <a:no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Voltar ao share de 39,8% no segmento = +5 un/mês. Medir pelo emplacamento.</a:t>
                      </a:r>
                    </a:p>
                  </a:txBody>
                  <a:tcPr marL="50800" marR="50800" marT="38100" marB="38100" anchor="t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forma 7"/>
          <p:cNvSpPr/>
          <p:nvPr/>
        </p:nvSpPr>
        <p:spPr>
          <a:xfrm>
            <a:off x="685800" y="6451600"/>
            <a:ext cx="9931400" cy="1514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lnSpc>
                <a:spcPct val="115000"/>
              </a:lnSpc>
              <a:buNone/>
            </a:pPr>
            <a:r>
              <a:rPr lang="pt-BR" sz="850" dirty="0">
                <a:solidFill>
                  <a:srgbClr val="898781"/>
                </a:solidFill>
                <a:latin typeface="Calibri"/>
                <a:cs typeface="Calibri"/>
              </a:rPr>
              <a:t>Smart Dealer · Nippon Motos · varejo e emplacamento até Julho fechado · carta de Agosto · áreas Amparo + Ouro Fino · gerado em 07/08/2026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2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3" name="forma 3"/>
          <p:cNvSpPr/>
          <p:nvPr/>
        </p:nvSpPr>
        <p:spPr>
          <a:xfrm>
            <a:off x="685800" y="330200"/>
            <a:ext cx="7357872" cy="177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000" b="1" dirty="0">
                <a:solidFill>
                  <a:srgbClr val="2A78D6"/>
                </a:solidFill>
                <a:latin typeface="Calibri"/>
                <a:cs typeface="Calibri"/>
              </a:rPr>
              <a:t>PLANO DE AÇÃO · FOLHA 2 DE 2</a:t>
            </a:r>
          </a:p>
        </p:txBody>
      </p:sp>
      <p:sp>
        <p:nvSpPr>
          <p:cNvPr id="4" name="forma 4"/>
          <p:cNvSpPr/>
          <p:nvPr/>
        </p:nvSpPr>
        <p:spPr>
          <a:xfrm>
            <a:off x="685800" y="558800"/>
            <a:ext cx="7357872" cy="40284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2600" b="1" dirty="0">
                <a:solidFill>
                  <a:srgbClr val="0B0B0B"/>
                </a:solidFill>
                <a:latin typeface="Calibri"/>
                <a:cs typeface="Calibri"/>
              </a:rPr>
              <a:t>O que vamos fazer</a:t>
            </a:r>
          </a:p>
        </p:txBody>
      </p:sp>
      <p:sp>
        <p:nvSpPr>
          <p:cNvPr id="5" name="forma 5"/>
          <p:cNvSpPr/>
          <p:nvPr/>
        </p:nvSpPr>
        <p:spPr>
          <a:xfrm>
            <a:off x="7696200" y="381000"/>
            <a:ext cx="3810000" cy="1704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r">
              <a:buNone/>
            </a:pPr>
            <a:r>
              <a:rPr lang="pt-BR" sz="1100" dirty="0">
                <a:solidFill>
                  <a:srgbClr val="898781"/>
                </a:solidFill>
                <a:latin typeface="Calibri"/>
                <a:cs typeface="Calibri"/>
              </a:rPr>
              <a:t>NIPPON MOTOS</a:t>
            </a:r>
          </a:p>
        </p:txBody>
      </p:sp>
      <p:graphicFrame>
        <p:nvGraphicFramePr>
          <p:cNvPr id="6" name="tabela 6"/>
          <p:cNvGraphicFramePr>
            <a:graphicFrameLocks noGrp="1"/>
          </p:cNvGraphicFramePr>
          <p:nvPr/>
        </p:nvGraphicFramePr>
        <p:xfrm>
          <a:off x="685800" y="1244600"/>
          <a:ext cx="10820400" cy="3126943"/>
        </p:xfrm>
        <a:graphic>
          <a:graphicData uri="http://schemas.openxmlformats.org/drawingml/2006/table">
            <a:tbl>
              <a:tblPr firstRow="1" bandRow="0">
                <a:tableStyleId>{2D5ABB26-0587-4C30-8999-92F81FD0307C}</a:tableStyleId>
              </a:tblPr>
              <a:tblGrid>
                <a:gridCol w="1397000"/>
                <a:gridCol w="2146300"/>
                <a:gridCol w="2146300"/>
                <a:gridCol w="698500"/>
                <a:gridCol w="419100"/>
                <a:gridCol w="419100"/>
                <a:gridCol w="1028700"/>
                <a:gridCol w="508000"/>
                <a:gridCol w="2057400"/>
              </a:tblGrid>
              <a:tr h="228600">
                <a:tc rowSpan="2"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 QUE FAZER?</a:t>
                      </a:r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(AÇÃO)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1F3864"/>
                    </a:solidFill>
                  </a:tcPr>
                </a:tc>
                <a:tc rowSpan="2"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POR QUÊ?</a:t>
                      </a:r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(JUSTIFICATIVA)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1F3864"/>
                    </a:solidFill>
                  </a:tcPr>
                </a:tc>
                <a:tc rowSpan="2"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COMO?</a:t>
                      </a:r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(ATIVIDADES PRINCIPAIS)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1F3864"/>
                    </a:solidFill>
                  </a:tcPr>
                </a:tc>
                <a:tc rowSpan="2"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RESPONSÁVEL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1F3864"/>
                    </a:solidFill>
                  </a:tcPr>
                </a:tc>
                <a:tc gridSpan="2"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PRAZO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1F3864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rowSpan="2"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STATUS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1F3864"/>
                    </a:solidFill>
                  </a:tcPr>
                </a:tc>
                <a:tc rowSpan="2"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PRIORIDADE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1F3864"/>
                    </a:solidFill>
                  </a:tcPr>
                </a:tc>
                <a:tc rowSpan="2"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INDICADOR DE ACOMPANHAMENTO</a:t>
                      </a:r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(Meta / impacto da ação)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228600"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INÍCIO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TÉRMINO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1F3864"/>
                    </a:solidFill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</a:tr>
              <a:tr h="1063447">
                <a:tc>
                  <a:txBody>
                    <a:bodyPr lIns="0" tIns="0" rIns="0" bIns="0" anchor="t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Recuperar participação em Big Trail - 600cc-799cc</a:t>
                      </a:r>
                    </a:p>
                  </a:txBody>
                  <a:tcPr marL="50800" marR="50800" marT="38100" marB="38100" anchor="t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 lIns="0" tIns="0" rIns="0" bIns="0" anchor="t" wrap="square">
                      <a:no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Share na área caiu de 39,9% para 0% (-39,9pp), o que representa -2,9 un/mês. O segmento movimenta 6 un/mês. Honda ganhou 34,3pp no mesmo período.</a:t>
                      </a:r>
                    </a:p>
                  </a:txBody>
                  <a:tcPr marL="50800" marR="50800" marT="38100" marB="38100" anchor="t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 lIns="0" tIns="0" rIns="0" bIns="0" anchor="t" wrap="square">
                      <a:no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• Montar comparativo de preço, parcela e prazo de entrega contra a Honda, que subiu 34,3pp</a:t>
                      </a:r>
                    </a:p>
                    <a:p>
                      <a:pPr algn="l">
                        <a:lnSpc>
                          <a:spcPct val="105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• Garantir estoque e exposição dos modelos do segmento no showroom</a:t>
                      </a:r>
                    </a:p>
                    <a:p>
                      <a:pPr algn="l">
                        <a:lnSpc>
                          <a:spcPct val="105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• Treinar a equipe no comparativo técnico e rodar mídia local com condição específica</a:t>
                      </a:r>
                    </a:p>
                  </a:txBody>
                  <a:tcPr marL="50800" marR="50800" marT="38100" marB="38100" anchor="t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Caique / Nippon Motos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07/08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31/08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9C6500"/>
                          </a:solidFill>
                          <a:latin typeface="Calibri"/>
                          <a:cs typeface="Calibri"/>
                        </a:rPr>
                        <a:t>Média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FDF3DE"/>
                    </a:solidFill>
                  </a:tcPr>
                </a:tc>
                <a:tc>
                  <a:txBody>
                    <a:bodyPr lIns="0" tIns="0" rIns="0" bIns="0" anchor="t" wrap="square">
                      <a:no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Voltar ao share de 39,9% no segmento = +2 un/mês. Medir pelo emplacamento.</a:t>
                      </a:r>
                    </a:p>
                  </a:txBody>
                  <a:tcPr marL="50800" marR="50800" marT="38100" marB="38100" anchor="t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D9E2F3"/>
                    </a:solidFill>
                  </a:tcPr>
                </a:tc>
              </a:tr>
              <a:tr h="803148">
                <a:tc>
                  <a:txBody>
                    <a:bodyPr lIns="0" tIns="0" rIns="0" bIns="0" anchor="t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Ocupar a praça de Atibaia</a:t>
                      </a:r>
                    </a:p>
                  </a:txBody>
                  <a:tcPr marL="50800" marR="50800" marT="38100" marB="38100" anchor="t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t" wrap="square">
                      <a:no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Atibaia movimenta 189,7 un/mês e a Yamaha tem só 17,2% de share ali, contra 20,4% no território. A diferença vale 6 un/mês que hoje ficam com a concorrência.</a:t>
                      </a:r>
                    </a:p>
                  </a:txBody>
                  <a:tcPr marL="50800" marR="50800" marT="38100" marB="38100" anchor="t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t" wrap="square">
                      <a:no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• Mapear os concorrentes que dominam a praça</a:t>
                      </a:r>
                    </a:p>
                    <a:p>
                      <a:pPr algn="l">
                        <a:lnSpc>
                          <a:spcPct val="105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• Visita de vendedor externo e prospecção ativa na cidade</a:t>
                      </a:r>
                    </a:p>
                    <a:p>
                      <a:pPr algn="l">
                        <a:lnSpc>
                          <a:spcPct val="105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• Mídia geolocalizada com oferta de entrada</a:t>
                      </a:r>
                    </a:p>
                  </a:txBody>
                  <a:tcPr marL="50800" marR="50800" marT="38100" marB="38100" anchor="t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Caique / Nippon Motos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07/08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31/08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9C0006"/>
                          </a:solidFill>
                          <a:latin typeface="Calibri"/>
                          <a:cs typeface="Calibri"/>
                        </a:rPr>
                        <a:t>Alta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FBE9E9"/>
                    </a:solidFill>
                  </a:tcPr>
                </a:tc>
                <a:tc>
                  <a:txBody>
                    <a:bodyPr lIns="0" tIns="0" rIns="0" bIns="0" anchor="t" wrap="square">
                      <a:no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Chegar a 20,4% de share em Atibaia = +6 un/mês. Acompanhar o emplacamento mensal.</a:t>
                      </a:r>
                    </a:p>
                  </a:txBody>
                  <a:tcPr marL="50800" marR="50800" marT="38100" marB="38100" anchor="t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03148">
                <a:tc>
                  <a:txBody>
                    <a:bodyPr lIns="0" tIns="0" rIns="0" bIns="0" anchor="t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Ocupar a praça de Piracaia</a:t>
                      </a:r>
                    </a:p>
                  </a:txBody>
                  <a:tcPr marL="50800" marR="50800" marT="38100" marB="38100" anchor="t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 lIns="0" tIns="0" rIns="0" bIns="0" anchor="t" wrap="square">
                      <a:no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Piracaia movimenta 23,6 un/mês e a Yamaha tem só 7,3% de share ali, contra 20,4% no território. A diferença vale 3 un/mês que hoje ficam com a concorrência.</a:t>
                      </a:r>
                    </a:p>
                  </a:txBody>
                  <a:tcPr marL="50800" marR="50800" marT="38100" marB="38100" anchor="t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 lIns="0" tIns="0" rIns="0" bIns="0" anchor="t" wrap="square">
                      <a:no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• Mapear os concorrentes que dominam a praça</a:t>
                      </a:r>
                    </a:p>
                    <a:p>
                      <a:pPr algn="l">
                        <a:lnSpc>
                          <a:spcPct val="105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• Visita de vendedor externo e prospecção ativa na cidade</a:t>
                      </a:r>
                    </a:p>
                    <a:p>
                      <a:pPr algn="l">
                        <a:lnSpc>
                          <a:spcPct val="105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• Mídia geolocalizada com oferta de entrada</a:t>
                      </a:r>
                    </a:p>
                  </a:txBody>
                  <a:tcPr marL="50800" marR="50800" marT="38100" marB="38100" anchor="t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Caique / Nippon Motos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07/08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31/08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9C6500"/>
                          </a:solidFill>
                          <a:latin typeface="Calibri"/>
                          <a:cs typeface="Calibri"/>
                        </a:rPr>
                        <a:t>Média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FDF3DE"/>
                    </a:solidFill>
                  </a:tcPr>
                </a:tc>
                <a:tc>
                  <a:txBody>
                    <a:bodyPr lIns="0" tIns="0" rIns="0" bIns="0" anchor="t" wrap="square">
                      <a:no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Chegar a 20,4% de share em Piracaia = +3 un/mês. Acompanhar o emplacamento mensal.</a:t>
                      </a:r>
                    </a:p>
                  </a:txBody>
                  <a:tcPr marL="50800" marR="50800" marT="38100" marB="38100" anchor="t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D9E2F3"/>
                    </a:solidFill>
                  </a:tcPr>
                </a:tc>
              </a:tr>
            </a:tbl>
          </a:graphicData>
        </a:graphic>
      </p:graphicFrame>
      <p:sp>
        <p:nvSpPr>
          <p:cNvPr id="7" name="forma 7"/>
          <p:cNvSpPr/>
          <p:nvPr/>
        </p:nvSpPr>
        <p:spPr>
          <a:xfrm>
            <a:off x="685800" y="6451600"/>
            <a:ext cx="9931400" cy="1514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lnSpc>
                <a:spcPct val="115000"/>
              </a:lnSpc>
              <a:buNone/>
            </a:pPr>
            <a:r>
              <a:rPr lang="pt-BR" sz="850" dirty="0">
                <a:solidFill>
                  <a:srgbClr val="898781"/>
                </a:solidFill>
                <a:latin typeface="Calibri"/>
                <a:cs typeface="Calibri"/>
              </a:rPr>
              <a:t>Smart Dealer · Nippon Motos · varejo e emplacamento até Julho fechado · carta de Agosto · áreas Amparo + Ouro Fino · gerado em 07/08/2026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erformance">
  <a:themeElements>
    <a:clrScheme name="Performance">
      <a:dk1>
        <a:srgbClr val="0B0B0B"/>
      </a:dk1>
      <a:lt1>
        <a:srgbClr val="FFFFFF"/>
      </a:lt1>
      <a:dk2>
        <a:srgbClr val="52514E"/>
      </a:dk2>
      <a:lt2>
        <a:srgbClr val="F4F4F1"/>
      </a:lt2>
      <a:accent1>
        <a:srgbClr val="2A78D6"/>
      </a:accent1>
      <a:accent2>
        <a:srgbClr val="EB6834"/>
      </a:accent2>
      <a:accent3>
        <a:srgbClr val="4B9B3F"/>
      </a:accent3>
      <a:accent4>
        <a:srgbClr val="D98A0B"/>
      </a:accent4>
      <a:accent5>
        <a:srgbClr val="D64545"/>
      </a:accent5>
      <a:accent6>
        <a:srgbClr val="898781"/>
      </a:accent6>
      <a:hlink>
        <a:srgbClr val="2A78D6"/>
      </a:hlink>
      <a:folHlink>
        <a:srgbClr val="898781"/>
      </a:folHlink>
    </a:clrScheme>
    <a:fontScheme name="Performan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Performan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Performance Notas">
  <a:themeElements>
    <a:clrScheme name="Performance Notas">
      <a:dk1>
        <a:srgbClr val="0B0B0B"/>
      </a:dk1>
      <a:lt1>
        <a:srgbClr val="FFFFFF"/>
      </a:lt1>
      <a:dk2>
        <a:srgbClr val="52514E"/>
      </a:dk2>
      <a:lt2>
        <a:srgbClr val="F4F4F1"/>
      </a:lt2>
      <a:accent1>
        <a:srgbClr val="2A78D6"/>
      </a:accent1>
      <a:accent2>
        <a:srgbClr val="EB6834"/>
      </a:accent2>
      <a:accent3>
        <a:srgbClr val="4B9B3F"/>
      </a:accent3>
      <a:accent4>
        <a:srgbClr val="D98A0B"/>
      </a:accent4>
      <a:accent5>
        <a:srgbClr val="D64545"/>
      </a:accent5>
      <a:accent6>
        <a:srgbClr val="898781"/>
      </a:accent6>
      <a:hlink>
        <a:srgbClr val="2A78D6"/>
      </a:hlink>
      <a:folHlink>
        <a:srgbClr val="898781"/>
      </a:folHlink>
    </a:clrScheme>
    <a:fontScheme name="Performance Notas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Performance Nota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Performance Concessionário</Application>
  <Slides>5</Slides>
  <Company/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Teste</dc:title>
  <dc:creator>Smart Dealer</dc:creator>
  <cp:lastModifiedBy>Smart Dealer</cp:lastModifiedBy>
</cp:coreProperties>
</file>