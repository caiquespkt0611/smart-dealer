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theme/theme1.xml" ContentType="application/vnd.openxmlformats-officedocument.theme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6"/>
  </p:notesMasterIdLst>
  <p:sldIdLst>
    <p:sldId id="256" r:id="rId2"/>
    <p:sldId id="257" r:id="rId3"/>
    <p:sldId id="258" r:id="rId4"/>
    <p:sldId id="259" r:id="rId5"/>
  </p:sldIdLst>
  <p:sldSz cx="12192000" cy="6858000"/>
  <p:notesSz cx="6858000" cy="9144000"/>
</p:presentation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notesMaster" Target="notesMasters/notesMaster1.xml"/><Relationship Id="rId7" Type="http://schemas.openxmlformats.org/officeDocument/2006/relationships/theme" Target="theme/theme1.xml"/></Relationships>
</file>

<file path=ppt/notesMasters/_rels/notesMaster1.xml.rels><?xml version="1.0" encoding="UTF-8" standalone="yes"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Anotações 1"/>
          <p:cNvSpPr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/>
          <a:lstStyle/>
          <a:p>
            <a:endParaRPr lang="pt-B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notesMaster>
</file>

<file path=ppt/notesSlides/_rels/notesSlide1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Anotações 1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sz="1200" dirty="0"/>
              <a:t>Abertura: este deck sai do sistema com os mesmos números das telas — nada foi montado à mão.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Anotações 1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sz="1200" dirty="0"/>
              <a:t>Pergunta 1 da call: "como eu fui?" — responder com a carta e o ritmo, não com opinião.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Anotações 1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sz="1200" dirty="0"/>
              <a:t>A decomposição fecha exata: variação real = efeito mercado + efeito share. É ela que separa "o mercado caiu" de "perdemos disputa".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Anotações 1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sz="1200" dirty="0"/>
              <a:t>Linha da média no gráfico = referência 65%. Passagens (nº de O.S.) não constam no DRE — pendente de outra fonte.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rma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B0B0B"/>
          </a:solidFill>
          <a:ln>
            <a:noFill/>
          </a:ln>
        </p:spPr>
        <p:txBody>
          <a:bodyPr lIns="0" tIns="0" rIns="0" bIns="0" anchor="t" wrap="square">
            <a:noAutofit/>
          </a:bodyPr>
          <a:lstStyle/>
          <a:p>
            <a:pPr>
              <a:buNone/>
            </a:pPr>
            <a:r>
              <a:rPr lang="pt-BR" sz="1200" dirty="0">
                <a:solidFill>
                  <a:srgbClr val="0B0B0B"/>
                </a:solidFill>
                <a:latin typeface="Calibri"/>
                <a:cs typeface="Calibri"/>
              </a:rPr>
              <a:t/>
            </a:r>
          </a:p>
        </p:txBody>
      </p:sp>
      <p:sp>
        <p:nvSpPr>
          <p:cNvPr id="3" name="forma 3"/>
          <p:cNvSpPr/>
          <p:nvPr/>
        </p:nvSpPr>
        <p:spPr>
          <a:xfrm>
            <a:off x="0" y="6781800"/>
            <a:ext cx="12192000" cy="76200"/>
          </a:xfrm>
          <a:prstGeom prst="rect">
            <a:avLst/>
          </a:prstGeom>
          <a:solidFill>
            <a:srgbClr val="2A78D6"/>
          </a:solidFill>
          <a:ln>
            <a:noFill/>
          </a:ln>
        </p:spPr>
        <p:txBody>
          <a:bodyPr lIns="0" tIns="0" rIns="0" bIns="0" anchor="t" wrap="square">
            <a:noAutofit/>
          </a:bodyPr>
          <a:lstStyle/>
          <a:p>
            <a:pPr>
              <a:buNone/>
            </a:pPr>
            <a:r>
              <a:rPr lang="pt-BR" sz="1200" dirty="0">
                <a:solidFill>
                  <a:srgbClr val="0B0B0B"/>
                </a:solidFill>
                <a:latin typeface="Calibri"/>
                <a:cs typeface="Calibri"/>
              </a:rPr>
              <a:t/>
            </a:r>
          </a:p>
        </p:txBody>
      </p:sp>
      <p:sp>
        <p:nvSpPr>
          <p:cNvPr id="4" name="forma 4"/>
          <p:cNvSpPr/>
          <p:nvPr/>
        </p:nvSpPr>
        <p:spPr>
          <a:xfrm>
            <a:off x="685800" y="2286000"/>
            <a:ext cx="10820400" cy="201422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 wrap="square">
            <a:noAutofit/>
          </a:bodyPr>
          <a:lstStyle/>
          <a:p>
            <a:pPr>
              <a:buNone/>
            </a:pPr>
            <a:r>
              <a:rPr lang="pt-BR" sz="1300" b="1" dirty="0">
                <a:solidFill>
                  <a:srgbClr val="A9C4E8"/>
                </a:solidFill>
                <a:latin typeface="Calibri"/>
                <a:cs typeface="Calibri"/>
              </a:rPr>
              <a:t>PLANO DE PERFORMANCE</a:t>
            </a:r>
          </a:p>
        </p:txBody>
      </p:sp>
      <p:sp>
        <p:nvSpPr>
          <p:cNvPr id="5" name="forma 5"/>
          <p:cNvSpPr/>
          <p:nvPr/>
        </p:nvSpPr>
        <p:spPr>
          <a:xfrm>
            <a:off x="685800" y="2616200"/>
            <a:ext cx="10820400" cy="681736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 wrap="square">
            <a:noAutofit/>
          </a:bodyPr>
          <a:lstStyle/>
          <a:p>
            <a:pPr>
              <a:buNone/>
            </a:pPr>
            <a:r>
              <a:rPr lang="pt-BR" sz="4400" b="1" dirty="0">
                <a:solidFill>
                  <a:srgbClr val="FFFFFF"/>
                </a:solidFill>
                <a:latin typeface="Calibri"/>
                <a:cs typeface="Calibri"/>
              </a:rPr>
              <a:t>NIPPON MOTOS</a:t>
            </a:r>
          </a:p>
        </p:txBody>
      </p:sp>
      <p:sp>
        <p:nvSpPr>
          <p:cNvPr id="6" name="forma 6"/>
          <p:cNvSpPr/>
          <p:nvPr/>
        </p:nvSpPr>
        <p:spPr>
          <a:xfrm>
            <a:off x="685800" y="3403600"/>
            <a:ext cx="10820400" cy="278892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 wrap="square">
            <a:noAutofit/>
          </a:bodyPr>
          <a:lstStyle/>
          <a:p>
            <a:pPr>
              <a:buNone/>
            </a:pPr>
            <a:r>
              <a:rPr lang="pt-BR" sz="1800" dirty="0">
                <a:solidFill>
                  <a:srgbClr val="D7E3F4"/>
                </a:solidFill>
                <a:latin typeface="Calibri"/>
                <a:cs typeface="Calibri"/>
              </a:rPr>
              <a:t>Julho fechado → carta de Agosto/2026</a:t>
            </a:r>
          </a:p>
        </p:txBody>
      </p:sp>
      <p:sp>
        <p:nvSpPr>
          <p:cNvPr id="7" name="forma 7"/>
          <p:cNvSpPr/>
          <p:nvPr/>
        </p:nvSpPr>
        <p:spPr>
          <a:xfrm>
            <a:off x="685800" y="3810000"/>
            <a:ext cx="10820400" cy="170434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 wrap="square">
            <a:noAutofit/>
          </a:bodyPr>
          <a:lstStyle/>
          <a:p>
            <a:pPr>
              <a:buNone/>
            </a:pPr>
            <a:r>
              <a:rPr lang="pt-BR" sz="1100" dirty="0">
                <a:solidFill>
                  <a:srgbClr val="A9C4E8"/>
                </a:solidFill>
                <a:latin typeface="Calibri"/>
                <a:cs typeface="Calibri"/>
              </a:rPr>
              <a:t>Smart Dealer · dados vivos do sistema · 07/08/2026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rma 2"/>
          <p:cNvSpPr/>
          <p:nvPr/>
        </p:nvSpPr>
        <p:spPr>
          <a:xfrm>
            <a:off x="0" y="0"/>
            <a:ext cx="12192000" cy="50800"/>
          </a:xfrm>
          <a:prstGeom prst="rect">
            <a:avLst/>
          </a:prstGeom>
          <a:solidFill>
            <a:srgbClr val="2A78D6"/>
          </a:solidFill>
          <a:ln>
            <a:noFill/>
          </a:ln>
        </p:spPr>
        <p:txBody>
          <a:bodyPr lIns="0" tIns="0" rIns="0" bIns="0" anchor="t" wrap="square">
            <a:noAutofit/>
          </a:bodyPr>
          <a:lstStyle/>
          <a:p>
            <a:pPr>
              <a:buNone/>
            </a:pPr>
            <a:r>
              <a:rPr lang="pt-BR" sz="1200" dirty="0">
                <a:solidFill>
                  <a:srgbClr val="0B0B0B"/>
                </a:solidFill>
                <a:latin typeface="Calibri"/>
                <a:cs typeface="Calibri"/>
              </a:rPr>
              <a:t/>
            </a:r>
          </a:p>
        </p:txBody>
      </p:sp>
      <p:sp>
        <p:nvSpPr>
          <p:cNvPr id="3" name="forma 3"/>
          <p:cNvSpPr/>
          <p:nvPr/>
        </p:nvSpPr>
        <p:spPr>
          <a:xfrm>
            <a:off x="685800" y="330200"/>
            <a:ext cx="7357872" cy="1778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 wrap="square">
            <a:noAutofit/>
          </a:bodyPr>
          <a:lstStyle/>
          <a:p>
            <a:pPr>
              <a:buNone/>
            </a:pPr>
            <a:r>
              <a:rPr lang="pt-BR" sz="1000" b="1" dirty="0">
                <a:solidFill>
                  <a:srgbClr val="2A78D6"/>
                </a:solidFill>
                <a:latin typeface="Calibri"/>
                <a:cs typeface="Calibri"/>
              </a:rPr>
              <a:t>O MÊS</a:t>
            </a:r>
          </a:p>
        </p:txBody>
      </p:sp>
      <p:sp>
        <p:nvSpPr>
          <p:cNvPr id="4" name="forma 4"/>
          <p:cNvSpPr/>
          <p:nvPr/>
        </p:nvSpPr>
        <p:spPr>
          <a:xfrm>
            <a:off x="685800" y="558800"/>
            <a:ext cx="7357872" cy="402844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 wrap="square">
            <a:noAutofit/>
          </a:bodyPr>
          <a:lstStyle/>
          <a:p>
            <a:pPr>
              <a:buNone/>
            </a:pPr>
            <a:r>
              <a:rPr lang="pt-BR" sz="2600" b="1" dirty="0">
                <a:solidFill>
                  <a:srgbClr val="0B0B0B"/>
                </a:solidFill>
                <a:latin typeface="Calibri"/>
                <a:cs typeface="Calibri"/>
              </a:rPr>
              <a:t>O que julho diz sobre o que agosto exige</a:t>
            </a:r>
          </a:p>
        </p:txBody>
      </p:sp>
      <p:sp>
        <p:nvSpPr>
          <p:cNvPr id="5" name="forma 5"/>
          <p:cNvSpPr/>
          <p:nvPr/>
        </p:nvSpPr>
        <p:spPr>
          <a:xfrm>
            <a:off x="7696200" y="381000"/>
            <a:ext cx="3810000" cy="170434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 wrap="square">
            <a:noAutofit/>
          </a:bodyPr>
          <a:lstStyle/>
          <a:p>
            <a:pPr algn="r">
              <a:buNone/>
            </a:pPr>
            <a:r>
              <a:rPr lang="pt-BR" sz="1100" dirty="0">
                <a:solidFill>
                  <a:srgbClr val="898781"/>
                </a:solidFill>
                <a:latin typeface="Calibri"/>
                <a:cs typeface="Calibri"/>
              </a:rPr>
              <a:t>NIPPON MOTOS</a:t>
            </a:r>
          </a:p>
        </p:txBody>
      </p:sp>
      <p:sp>
        <p:nvSpPr>
          <p:cNvPr id="6" name="forma 6"/>
          <p:cNvSpPr/>
          <p:nvPr/>
        </p:nvSpPr>
        <p:spPr>
          <a:xfrm>
            <a:off x="685800" y="1270000"/>
            <a:ext cx="2062480" cy="874268"/>
          </a:xfrm>
          <a:prstGeom prst="roundRect">
            <a:avLst>
              <a:gd name="adj" fmla="val 9000"/>
            </a:avLst>
          </a:prstGeom>
          <a:solidFill>
            <a:srgbClr val="F7F7F5"/>
          </a:solidFill>
          <a:ln>
            <a:noFill/>
          </a:ln>
        </p:spPr>
        <p:txBody>
          <a:bodyPr lIns="0" tIns="0" rIns="0" bIns="0" anchor="t" wrap="square">
            <a:noAutofit/>
          </a:bodyPr>
          <a:lstStyle/>
          <a:p>
            <a:pPr>
              <a:buNone/>
            </a:pPr>
            <a:r>
              <a:rPr lang="pt-BR" sz="1200" dirty="0">
                <a:solidFill>
                  <a:srgbClr val="0B0B0B"/>
                </a:solidFill>
                <a:latin typeface="Calibri"/>
                <a:cs typeface="Calibri"/>
              </a:rPr>
              <a:t/>
            </a:r>
          </a:p>
        </p:txBody>
      </p:sp>
      <p:sp>
        <p:nvSpPr>
          <p:cNvPr id="7" name="forma 7"/>
          <p:cNvSpPr/>
          <p:nvPr/>
        </p:nvSpPr>
        <p:spPr>
          <a:xfrm>
            <a:off x="838200" y="1384300"/>
            <a:ext cx="1757680" cy="14719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 wrap="square">
            <a:noAutofit/>
          </a:bodyPr>
          <a:lstStyle/>
          <a:p>
            <a:pPr>
              <a:buNone/>
            </a:pPr>
            <a:r>
              <a:rPr lang="pt-BR" sz="950" b="1" dirty="0">
                <a:solidFill>
                  <a:srgbClr val="898781"/>
                </a:solidFill>
                <a:latin typeface="Calibri"/>
                <a:cs typeface="Calibri"/>
              </a:rPr>
              <a:t>CARTA DE AGOSTO</a:t>
            </a:r>
          </a:p>
        </p:txBody>
      </p:sp>
      <p:sp>
        <p:nvSpPr>
          <p:cNvPr id="8" name="forma 8"/>
          <p:cNvSpPr/>
          <p:nvPr/>
        </p:nvSpPr>
        <p:spPr>
          <a:xfrm>
            <a:off x="838200" y="1574800"/>
            <a:ext cx="1757680" cy="340868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 wrap="square">
            <a:noAutofit/>
          </a:bodyPr>
          <a:lstStyle/>
          <a:p>
            <a:pPr>
              <a:buNone/>
            </a:pPr>
            <a:r>
              <a:rPr lang="pt-BR" sz="2200" b="1" dirty="0">
                <a:solidFill>
                  <a:srgbClr val="0B0B0B"/>
                </a:solidFill>
                <a:latin typeface="Calibri"/>
                <a:cs typeface="Calibri"/>
              </a:rPr>
              <a:t>160 un</a:t>
            </a:r>
          </a:p>
        </p:txBody>
      </p:sp>
      <p:sp>
        <p:nvSpPr>
          <p:cNvPr id="9" name="forma 9"/>
          <p:cNvSpPr/>
          <p:nvPr/>
        </p:nvSpPr>
        <p:spPr>
          <a:xfrm>
            <a:off x="2875280" y="1270000"/>
            <a:ext cx="2062480" cy="874268"/>
          </a:xfrm>
          <a:prstGeom prst="roundRect">
            <a:avLst>
              <a:gd name="adj" fmla="val 9000"/>
            </a:avLst>
          </a:prstGeom>
          <a:solidFill>
            <a:srgbClr val="F7F7F5"/>
          </a:solidFill>
          <a:ln>
            <a:noFill/>
          </a:ln>
        </p:spPr>
        <p:txBody>
          <a:bodyPr lIns="0" tIns="0" rIns="0" bIns="0" anchor="t" wrap="square">
            <a:noAutofit/>
          </a:bodyPr>
          <a:lstStyle/>
          <a:p>
            <a:pPr>
              <a:buNone/>
            </a:pPr>
            <a:r>
              <a:rPr lang="pt-BR" sz="1200" dirty="0">
                <a:solidFill>
                  <a:srgbClr val="0B0B0B"/>
                </a:solidFill>
                <a:latin typeface="Calibri"/>
                <a:cs typeface="Calibri"/>
              </a:rPr>
              <a:t/>
            </a:r>
          </a:p>
        </p:txBody>
      </p:sp>
      <p:sp>
        <p:nvSpPr>
          <p:cNvPr id="10" name="forma 10"/>
          <p:cNvSpPr/>
          <p:nvPr/>
        </p:nvSpPr>
        <p:spPr>
          <a:xfrm>
            <a:off x="3027680" y="1384300"/>
            <a:ext cx="1757680" cy="14719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 wrap="square">
            <a:noAutofit/>
          </a:bodyPr>
          <a:lstStyle/>
          <a:p>
            <a:pPr>
              <a:buNone/>
            </a:pPr>
            <a:r>
              <a:rPr lang="pt-BR" sz="950" b="1" dirty="0">
                <a:solidFill>
                  <a:srgbClr val="898781"/>
                </a:solidFill>
                <a:latin typeface="Calibri"/>
                <a:cs typeface="Calibri"/>
              </a:rPr>
              <a:t>FECHAMENTO JULHO</a:t>
            </a:r>
          </a:p>
        </p:txBody>
      </p:sp>
      <p:sp>
        <p:nvSpPr>
          <p:cNvPr id="11" name="forma 11"/>
          <p:cNvSpPr/>
          <p:nvPr/>
        </p:nvSpPr>
        <p:spPr>
          <a:xfrm>
            <a:off x="3027680" y="1574800"/>
            <a:ext cx="1757680" cy="340868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 wrap="square">
            <a:noAutofit/>
          </a:bodyPr>
          <a:lstStyle/>
          <a:p>
            <a:pPr>
              <a:buNone/>
            </a:pPr>
            <a:r>
              <a:rPr lang="pt-BR" sz="2200" b="1" dirty="0">
                <a:solidFill>
                  <a:srgbClr val="0B0B0B"/>
                </a:solidFill>
                <a:latin typeface="Calibri"/>
                <a:cs typeface="Calibri"/>
              </a:rPr>
              <a:t>144 un</a:t>
            </a:r>
          </a:p>
        </p:txBody>
      </p:sp>
      <p:sp>
        <p:nvSpPr>
          <p:cNvPr id="12" name="forma 12"/>
          <p:cNvSpPr/>
          <p:nvPr/>
        </p:nvSpPr>
        <p:spPr>
          <a:xfrm>
            <a:off x="5064760" y="1270000"/>
            <a:ext cx="2062480" cy="874268"/>
          </a:xfrm>
          <a:prstGeom prst="roundRect">
            <a:avLst>
              <a:gd name="adj" fmla="val 9000"/>
            </a:avLst>
          </a:prstGeom>
          <a:solidFill>
            <a:srgbClr val="F7F7F5"/>
          </a:solidFill>
          <a:ln>
            <a:noFill/>
          </a:ln>
        </p:spPr>
        <p:txBody>
          <a:bodyPr lIns="0" tIns="0" rIns="0" bIns="0" anchor="t" wrap="square">
            <a:noAutofit/>
          </a:bodyPr>
          <a:lstStyle/>
          <a:p>
            <a:pPr>
              <a:buNone/>
            </a:pPr>
            <a:r>
              <a:rPr lang="pt-BR" sz="1200" dirty="0">
                <a:solidFill>
                  <a:srgbClr val="0B0B0B"/>
                </a:solidFill>
                <a:latin typeface="Calibri"/>
                <a:cs typeface="Calibri"/>
              </a:rPr>
              <a:t/>
            </a:r>
          </a:p>
        </p:txBody>
      </p:sp>
      <p:sp>
        <p:nvSpPr>
          <p:cNvPr id="13" name="forma 13"/>
          <p:cNvSpPr/>
          <p:nvPr/>
        </p:nvSpPr>
        <p:spPr>
          <a:xfrm>
            <a:off x="5217160" y="1384300"/>
            <a:ext cx="1757680" cy="14719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 wrap="square">
            <a:noAutofit/>
          </a:bodyPr>
          <a:lstStyle/>
          <a:p>
            <a:pPr>
              <a:buNone/>
            </a:pPr>
            <a:r>
              <a:rPr lang="pt-BR" sz="950" b="1" dirty="0">
                <a:solidFill>
                  <a:srgbClr val="898781"/>
                </a:solidFill>
                <a:latin typeface="Calibri"/>
                <a:cs typeface="Calibri"/>
              </a:rPr>
              <a:t>SALTO QUE A CARTA PEDE</a:t>
            </a:r>
          </a:p>
        </p:txBody>
      </p:sp>
      <p:sp>
        <p:nvSpPr>
          <p:cNvPr id="14" name="forma 14"/>
          <p:cNvSpPr/>
          <p:nvPr/>
        </p:nvSpPr>
        <p:spPr>
          <a:xfrm>
            <a:off x="5217160" y="1574800"/>
            <a:ext cx="1757680" cy="340868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 wrap="square">
            <a:noAutofit/>
          </a:bodyPr>
          <a:lstStyle/>
          <a:p>
            <a:pPr>
              <a:buNone/>
            </a:pPr>
            <a:r>
              <a:rPr lang="pt-BR" sz="2200" b="1" dirty="0">
                <a:solidFill>
                  <a:srgbClr val="D98A0B"/>
                </a:solidFill>
                <a:latin typeface="Calibri"/>
                <a:cs typeface="Calibri"/>
              </a:rPr>
              <a:t>+16 un</a:t>
            </a:r>
          </a:p>
        </p:txBody>
      </p:sp>
      <p:sp>
        <p:nvSpPr>
          <p:cNvPr id="15" name="forma 15"/>
          <p:cNvSpPr/>
          <p:nvPr/>
        </p:nvSpPr>
        <p:spPr>
          <a:xfrm>
            <a:off x="7254240" y="1270000"/>
            <a:ext cx="2062480" cy="874268"/>
          </a:xfrm>
          <a:prstGeom prst="roundRect">
            <a:avLst>
              <a:gd name="adj" fmla="val 9000"/>
            </a:avLst>
          </a:prstGeom>
          <a:solidFill>
            <a:srgbClr val="F7F7F5"/>
          </a:solidFill>
          <a:ln>
            <a:noFill/>
          </a:ln>
        </p:spPr>
        <p:txBody>
          <a:bodyPr lIns="0" tIns="0" rIns="0" bIns="0" anchor="t" wrap="square">
            <a:noAutofit/>
          </a:bodyPr>
          <a:lstStyle/>
          <a:p>
            <a:pPr>
              <a:buNone/>
            </a:pPr>
            <a:r>
              <a:rPr lang="pt-BR" sz="1200" dirty="0">
                <a:solidFill>
                  <a:srgbClr val="0B0B0B"/>
                </a:solidFill>
                <a:latin typeface="Calibri"/>
                <a:cs typeface="Calibri"/>
              </a:rPr>
              <a:t/>
            </a:r>
          </a:p>
        </p:txBody>
      </p:sp>
      <p:sp>
        <p:nvSpPr>
          <p:cNvPr id="16" name="forma 16"/>
          <p:cNvSpPr/>
          <p:nvPr/>
        </p:nvSpPr>
        <p:spPr>
          <a:xfrm>
            <a:off x="7406640" y="1384300"/>
            <a:ext cx="1757680" cy="14719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 wrap="square">
            <a:noAutofit/>
          </a:bodyPr>
          <a:lstStyle/>
          <a:p>
            <a:pPr>
              <a:buNone/>
            </a:pPr>
            <a:r>
              <a:rPr lang="pt-BR" sz="950" b="1" dirty="0">
                <a:solidFill>
                  <a:srgbClr val="898781"/>
                </a:solidFill>
                <a:latin typeface="Calibri"/>
                <a:cs typeface="Calibri"/>
              </a:rPr>
              <a:t>RITMO NECESSÁRIO</a:t>
            </a:r>
          </a:p>
        </p:txBody>
      </p:sp>
      <p:sp>
        <p:nvSpPr>
          <p:cNvPr id="17" name="forma 17"/>
          <p:cNvSpPr/>
          <p:nvPr/>
        </p:nvSpPr>
        <p:spPr>
          <a:xfrm>
            <a:off x="7406640" y="1574800"/>
            <a:ext cx="1757680" cy="340868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 wrap="square">
            <a:noAutofit/>
          </a:bodyPr>
          <a:lstStyle/>
          <a:p>
            <a:pPr>
              <a:buNone/>
            </a:pPr>
            <a:r>
              <a:rPr lang="pt-BR" sz="2200" b="1" dirty="0">
                <a:solidFill>
                  <a:srgbClr val="0B0B0B"/>
                </a:solidFill>
                <a:latin typeface="Calibri"/>
                <a:cs typeface="Calibri"/>
              </a:rPr>
              <a:t>7,6 un/dia</a:t>
            </a:r>
          </a:p>
        </p:txBody>
      </p:sp>
      <p:sp>
        <p:nvSpPr>
          <p:cNvPr id="18" name="forma 18"/>
          <p:cNvSpPr/>
          <p:nvPr/>
        </p:nvSpPr>
        <p:spPr>
          <a:xfrm>
            <a:off x="7406640" y="1941068"/>
            <a:ext cx="1757680" cy="131699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 wrap="square">
            <a:noAutofit/>
          </a:bodyPr>
          <a:lstStyle/>
          <a:p>
            <a:pPr>
              <a:buNone/>
            </a:pPr>
            <a:r>
              <a:rPr lang="pt-BR" sz="850" dirty="0">
                <a:solidFill>
                  <a:srgbClr val="898781"/>
                </a:solidFill>
                <a:latin typeface="Calibri"/>
                <a:cs typeface="Calibri"/>
              </a:rPr>
              <a:t>21 dias úteis</a:t>
            </a:r>
          </a:p>
        </p:txBody>
      </p:sp>
      <p:sp>
        <p:nvSpPr>
          <p:cNvPr id="19" name="forma 19"/>
          <p:cNvSpPr/>
          <p:nvPr/>
        </p:nvSpPr>
        <p:spPr>
          <a:xfrm>
            <a:off x="9443720" y="1270000"/>
            <a:ext cx="2062480" cy="874268"/>
          </a:xfrm>
          <a:prstGeom prst="roundRect">
            <a:avLst>
              <a:gd name="adj" fmla="val 9000"/>
            </a:avLst>
          </a:prstGeom>
          <a:solidFill>
            <a:srgbClr val="F7F7F5"/>
          </a:solidFill>
          <a:ln>
            <a:noFill/>
          </a:ln>
        </p:spPr>
        <p:txBody>
          <a:bodyPr lIns="0" tIns="0" rIns="0" bIns="0" anchor="t" wrap="square">
            <a:noAutofit/>
          </a:bodyPr>
          <a:lstStyle/>
          <a:p>
            <a:pPr>
              <a:buNone/>
            </a:pPr>
            <a:r>
              <a:rPr lang="pt-BR" sz="1200" dirty="0">
                <a:solidFill>
                  <a:srgbClr val="0B0B0B"/>
                </a:solidFill>
                <a:latin typeface="Calibri"/>
                <a:cs typeface="Calibri"/>
              </a:rPr>
              <a:t/>
            </a:r>
          </a:p>
        </p:txBody>
      </p:sp>
      <p:sp>
        <p:nvSpPr>
          <p:cNvPr id="20" name="forma 20"/>
          <p:cNvSpPr/>
          <p:nvPr/>
        </p:nvSpPr>
        <p:spPr>
          <a:xfrm>
            <a:off x="9596120" y="1384300"/>
            <a:ext cx="1757680" cy="14719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 wrap="square">
            <a:noAutofit/>
          </a:bodyPr>
          <a:lstStyle/>
          <a:p>
            <a:pPr>
              <a:buNone/>
            </a:pPr>
            <a:r>
              <a:rPr lang="pt-BR" sz="950" b="1" dirty="0">
                <a:solidFill>
                  <a:srgbClr val="898781"/>
                </a:solidFill>
                <a:latin typeface="Calibri"/>
                <a:cs typeface="Calibri"/>
              </a:rPr>
              <a:t>POSIÇÃO REGIONAL</a:t>
            </a:r>
          </a:p>
        </p:txBody>
      </p:sp>
      <p:sp>
        <p:nvSpPr>
          <p:cNvPr id="21" name="forma 21"/>
          <p:cNvSpPr/>
          <p:nvPr/>
        </p:nvSpPr>
        <p:spPr>
          <a:xfrm>
            <a:off x="9596120" y="1574800"/>
            <a:ext cx="1757680" cy="340868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 wrap="square">
            <a:noAutofit/>
          </a:bodyPr>
          <a:lstStyle/>
          <a:p>
            <a:pPr>
              <a:buNone/>
            </a:pPr>
            <a:r>
              <a:rPr lang="pt-BR" sz="2200" b="1" dirty="0">
                <a:solidFill>
                  <a:srgbClr val="0B0B0B"/>
                </a:solidFill>
                <a:latin typeface="Calibri"/>
                <a:cs typeface="Calibri"/>
              </a:rPr>
              <a:t>4º de 9</a:t>
            </a:r>
          </a:p>
        </p:txBody>
      </p:sp>
      <p:sp>
        <p:nvSpPr>
          <p:cNvPr id="22" name="forma 22"/>
          <p:cNvSpPr/>
          <p:nvPr/>
        </p:nvSpPr>
        <p:spPr>
          <a:xfrm>
            <a:off x="685800" y="2322068"/>
            <a:ext cx="10820400" cy="978852"/>
          </a:xfrm>
          <a:prstGeom prst="roundRect">
            <a:avLst>
              <a:gd name="adj" fmla="val 7000"/>
            </a:avLst>
          </a:prstGeom>
          <a:solidFill>
            <a:srgbClr val="FDF3E3"/>
          </a:solidFill>
          <a:ln>
            <a:noFill/>
          </a:ln>
        </p:spPr>
        <p:txBody>
          <a:bodyPr lIns="0" tIns="0" rIns="0" bIns="0" anchor="t" wrap="square">
            <a:noAutofit/>
          </a:bodyPr>
          <a:lstStyle/>
          <a:p>
            <a:pPr>
              <a:buNone/>
            </a:pPr>
            <a:r>
              <a:rPr lang="pt-BR" sz="1200" dirty="0">
                <a:solidFill>
                  <a:srgbClr val="0B0B0B"/>
                </a:solidFill>
                <a:latin typeface="Calibri"/>
                <a:cs typeface="Calibri"/>
              </a:rPr>
              <a:t/>
            </a:r>
          </a:p>
        </p:txBody>
      </p:sp>
      <p:sp>
        <p:nvSpPr>
          <p:cNvPr id="23" name="forma 23"/>
          <p:cNvSpPr/>
          <p:nvPr/>
        </p:nvSpPr>
        <p:spPr>
          <a:xfrm>
            <a:off x="685800" y="2322068"/>
            <a:ext cx="50800" cy="978852"/>
          </a:xfrm>
          <a:prstGeom prst="rect">
            <a:avLst/>
          </a:prstGeom>
          <a:solidFill>
            <a:srgbClr val="D98A0B"/>
          </a:solidFill>
          <a:ln>
            <a:noFill/>
          </a:ln>
        </p:spPr>
        <p:txBody>
          <a:bodyPr lIns="0" tIns="0" rIns="0" bIns="0" anchor="t" wrap="square">
            <a:noAutofit/>
          </a:bodyPr>
          <a:lstStyle/>
          <a:p>
            <a:pPr>
              <a:buNone/>
            </a:pPr>
            <a:r>
              <a:rPr lang="pt-BR" sz="1200" dirty="0">
                <a:solidFill>
                  <a:srgbClr val="0B0B0B"/>
                </a:solidFill>
                <a:latin typeface="Calibri"/>
                <a:cs typeface="Calibri"/>
              </a:rPr>
              <a:t/>
            </a:r>
          </a:p>
        </p:txBody>
      </p:sp>
      <p:sp>
        <p:nvSpPr>
          <p:cNvPr id="24" name="forma 24"/>
          <p:cNvSpPr/>
          <p:nvPr/>
        </p:nvSpPr>
        <p:spPr>
          <a:xfrm>
            <a:off x="889000" y="2449068"/>
            <a:ext cx="8280400" cy="14719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 wrap="square">
            <a:noAutofit/>
          </a:bodyPr>
          <a:lstStyle/>
          <a:p>
            <a:pPr>
              <a:buNone/>
            </a:pPr>
            <a:r>
              <a:rPr lang="pt-BR" sz="950" b="1" dirty="0">
                <a:solidFill>
                  <a:srgbClr val="52514E"/>
                </a:solidFill>
                <a:latin typeface="Calibri"/>
                <a:cs typeface="Calibri"/>
              </a:rPr>
              <a:t>A LARGADA</a:t>
            </a:r>
          </a:p>
        </p:txBody>
      </p:sp>
      <p:sp>
        <p:nvSpPr>
          <p:cNvPr id="25" name="forma 25"/>
          <p:cNvSpPr/>
          <p:nvPr/>
        </p:nvSpPr>
        <p:spPr>
          <a:xfrm>
            <a:off x="9169400" y="2423668"/>
            <a:ext cx="2133600" cy="402844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 wrap="square">
            <a:noAutofit/>
          </a:bodyPr>
          <a:lstStyle/>
          <a:p>
            <a:pPr algn="r">
              <a:buNone/>
            </a:pPr>
            <a:r>
              <a:rPr lang="pt-BR" sz="2600" b="1" dirty="0">
                <a:solidFill>
                  <a:srgbClr val="D98A0B"/>
                </a:solidFill>
                <a:latin typeface="Calibri"/>
                <a:cs typeface="Calibri"/>
              </a:rPr>
              <a:t>+16 un</a:t>
            </a:r>
          </a:p>
        </p:txBody>
      </p:sp>
      <p:sp>
        <p:nvSpPr>
          <p:cNvPr id="26" name="forma 26"/>
          <p:cNvSpPr/>
          <p:nvPr/>
        </p:nvSpPr>
        <p:spPr>
          <a:xfrm>
            <a:off x="889000" y="2703068"/>
            <a:ext cx="8280400" cy="445452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 wrap="square">
            <a:noAutofit/>
          </a:bodyPr>
          <a:lstStyle/>
          <a:p>
            <a:pPr>
              <a:lnSpc>
                <a:spcPct val="125000"/>
              </a:lnSpc>
              <a:buNone/>
            </a:pPr>
            <a:r>
              <a:rPr lang="pt-BR" sz="1150" dirty="0">
                <a:solidFill>
                  <a:srgbClr val="0B0B0B"/>
                </a:solidFill>
                <a:latin typeface="Calibri"/>
                <a:cs typeface="Calibri"/>
              </a:rPr>
              <a:t>Julho fechou com 144 un e a carta de agosto é de 160 un — +16 un sobre o que acabou de ser feito, ou 7,6 un/dia. Ainda não há venda registrada no mês: não há ritmo a corrigir, há ritmo a estabelecer.</a:t>
            </a:r>
          </a:p>
        </p:txBody>
      </p:sp>
      <p:sp>
        <p:nvSpPr>
          <p:cNvPr id="27" name="forma 27"/>
          <p:cNvSpPr/>
          <p:nvPr/>
        </p:nvSpPr>
        <p:spPr>
          <a:xfrm>
            <a:off x="685800" y="6451600"/>
            <a:ext cx="9931400" cy="151454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 wrap="square">
            <a:noAutofit/>
          </a:bodyPr>
          <a:lstStyle/>
          <a:p>
            <a:pPr>
              <a:lnSpc>
                <a:spcPct val="115000"/>
              </a:lnSpc>
              <a:buNone/>
            </a:pPr>
            <a:r>
              <a:rPr lang="pt-BR" sz="850" dirty="0">
                <a:solidFill>
                  <a:srgbClr val="898781"/>
                </a:solidFill>
                <a:latin typeface="Calibri"/>
                <a:cs typeface="Calibri"/>
              </a:rPr>
              <a:t>Smart Dealer · Nippon Motos · varejo e emplacamento até Julho fechado · carta de Agosto · áreas Amparo + Ouro Fino · gerado em 07/08/2026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rma 2"/>
          <p:cNvSpPr/>
          <p:nvPr/>
        </p:nvSpPr>
        <p:spPr>
          <a:xfrm>
            <a:off x="0" y="0"/>
            <a:ext cx="12192000" cy="50800"/>
          </a:xfrm>
          <a:prstGeom prst="rect">
            <a:avLst/>
          </a:prstGeom>
          <a:solidFill>
            <a:srgbClr val="2A78D6"/>
          </a:solidFill>
          <a:ln>
            <a:noFill/>
          </a:ln>
        </p:spPr>
        <p:txBody>
          <a:bodyPr lIns="0" tIns="0" rIns="0" bIns="0" anchor="t" wrap="square">
            <a:noAutofit/>
          </a:bodyPr>
          <a:lstStyle/>
          <a:p>
            <a:pPr>
              <a:buNone/>
            </a:pPr>
            <a:r>
              <a:rPr lang="pt-BR" sz="1200" dirty="0">
                <a:solidFill>
                  <a:srgbClr val="0B0B0B"/>
                </a:solidFill>
                <a:latin typeface="Calibri"/>
                <a:cs typeface="Calibri"/>
              </a:rPr>
              <a:t/>
            </a:r>
          </a:p>
        </p:txBody>
      </p:sp>
      <p:sp>
        <p:nvSpPr>
          <p:cNvPr id="3" name="forma 3"/>
          <p:cNvSpPr/>
          <p:nvPr/>
        </p:nvSpPr>
        <p:spPr>
          <a:xfrm>
            <a:off x="685800" y="330200"/>
            <a:ext cx="7357872" cy="1778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 wrap="square">
            <a:noAutofit/>
          </a:bodyPr>
          <a:lstStyle/>
          <a:p>
            <a:pPr>
              <a:buNone/>
            </a:pPr>
            <a:r>
              <a:rPr lang="pt-BR" sz="1000" b="1" dirty="0">
                <a:solidFill>
                  <a:srgbClr val="2A78D6"/>
                </a:solidFill>
                <a:latin typeface="Calibri"/>
                <a:cs typeface="Calibri"/>
              </a:rPr>
              <a:t>MERCADO</a:t>
            </a:r>
          </a:p>
        </p:txBody>
      </p:sp>
      <p:sp>
        <p:nvSpPr>
          <p:cNvPr id="4" name="forma 4"/>
          <p:cNvSpPr/>
          <p:nvPr/>
        </p:nvSpPr>
        <p:spPr>
          <a:xfrm>
            <a:off x="685800" y="558800"/>
            <a:ext cx="7357872" cy="402844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 wrap="square">
            <a:noAutofit/>
          </a:bodyPr>
          <a:lstStyle/>
          <a:p>
            <a:pPr>
              <a:buNone/>
            </a:pPr>
            <a:r>
              <a:rPr lang="pt-BR" sz="2600" b="1" dirty="0">
                <a:solidFill>
                  <a:srgbClr val="0B0B0B"/>
                </a:solidFill>
                <a:latin typeface="Calibri"/>
                <a:cs typeface="Calibri"/>
              </a:rPr>
              <a:t>Por que o varejo está onde está</a:t>
            </a:r>
          </a:p>
        </p:txBody>
      </p:sp>
      <p:sp>
        <p:nvSpPr>
          <p:cNvPr id="5" name="forma 5"/>
          <p:cNvSpPr/>
          <p:nvPr/>
        </p:nvSpPr>
        <p:spPr>
          <a:xfrm>
            <a:off x="7696200" y="381000"/>
            <a:ext cx="3810000" cy="170434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 wrap="square">
            <a:noAutofit/>
          </a:bodyPr>
          <a:lstStyle/>
          <a:p>
            <a:pPr algn="r">
              <a:buNone/>
            </a:pPr>
            <a:r>
              <a:rPr lang="pt-BR" sz="1100" dirty="0">
                <a:solidFill>
                  <a:srgbClr val="898781"/>
                </a:solidFill>
                <a:latin typeface="Calibri"/>
                <a:cs typeface="Calibri"/>
              </a:rPr>
              <a:t>áreas Amparo + Ouro Fino</a:t>
            </a:r>
          </a:p>
        </p:txBody>
      </p:sp>
      <p:sp>
        <p:nvSpPr>
          <p:cNvPr id="6" name="forma 6"/>
          <p:cNvSpPr/>
          <p:nvPr/>
        </p:nvSpPr>
        <p:spPr>
          <a:xfrm>
            <a:off x="685800" y="1270000"/>
            <a:ext cx="2609850" cy="874268"/>
          </a:xfrm>
          <a:prstGeom prst="roundRect">
            <a:avLst>
              <a:gd name="adj" fmla="val 9000"/>
            </a:avLst>
          </a:prstGeom>
          <a:solidFill>
            <a:srgbClr val="F7F7F5"/>
          </a:solidFill>
          <a:ln>
            <a:noFill/>
          </a:ln>
        </p:spPr>
        <p:txBody>
          <a:bodyPr lIns="0" tIns="0" rIns="0" bIns="0" anchor="t" wrap="square">
            <a:noAutofit/>
          </a:bodyPr>
          <a:lstStyle/>
          <a:p>
            <a:pPr>
              <a:buNone/>
            </a:pPr>
            <a:r>
              <a:rPr lang="pt-BR" sz="1200" dirty="0">
                <a:solidFill>
                  <a:srgbClr val="0B0B0B"/>
                </a:solidFill>
                <a:latin typeface="Calibri"/>
                <a:cs typeface="Calibri"/>
              </a:rPr>
              <a:t/>
            </a:r>
          </a:p>
        </p:txBody>
      </p:sp>
      <p:sp>
        <p:nvSpPr>
          <p:cNvPr id="7" name="forma 7"/>
          <p:cNvSpPr/>
          <p:nvPr/>
        </p:nvSpPr>
        <p:spPr>
          <a:xfrm>
            <a:off x="838200" y="1384300"/>
            <a:ext cx="2305050" cy="14719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 wrap="square">
            <a:noAutofit/>
          </a:bodyPr>
          <a:lstStyle/>
          <a:p>
            <a:pPr>
              <a:buNone/>
            </a:pPr>
            <a:r>
              <a:rPr lang="pt-BR" sz="950" b="1" dirty="0">
                <a:solidFill>
                  <a:srgbClr val="898781"/>
                </a:solidFill>
                <a:latin typeface="Calibri"/>
                <a:cs typeface="Calibri"/>
              </a:rPr>
              <a:t>MERCADO DA ÁREA</a:t>
            </a:r>
          </a:p>
        </p:txBody>
      </p:sp>
      <p:sp>
        <p:nvSpPr>
          <p:cNvPr id="8" name="forma 8"/>
          <p:cNvSpPr/>
          <p:nvPr/>
        </p:nvSpPr>
        <p:spPr>
          <a:xfrm>
            <a:off x="838200" y="1574800"/>
            <a:ext cx="2305050" cy="340868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 wrap="square">
            <a:noAutofit/>
          </a:bodyPr>
          <a:lstStyle/>
          <a:p>
            <a:pPr>
              <a:buNone/>
            </a:pPr>
            <a:r>
              <a:rPr lang="pt-BR" sz="2200" b="1" dirty="0">
                <a:solidFill>
                  <a:srgbClr val="0B0B0B"/>
                </a:solidFill>
                <a:latin typeface="Calibri"/>
                <a:cs typeface="Calibri"/>
              </a:rPr>
              <a:t>791 un/mês</a:t>
            </a:r>
          </a:p>
        </p:txBody>
      </p:sp>
      <p:sp>
        <p:nvSpPr>
          <p:cNvPr id="9" name="forma 9"/>
          <p:cNvSpPr/>
          <p:nvPr/>
        </p:nvSpPr>
        <p:spPr>
          <a:xfrm>
            <a:off x="838200" y="1941068"/>
            <a:ext cx="2305050" cy="131699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 wrap="square">
            <a:noAutofit/>
          </a:bodyPr>
          <a:lstStyle/>
          <a:p>
            <a:pPr>
              <a:buNone/>
            </a:pPr>
            <a:r>
              <a:rPr lang="pt-BR" sz="850" dirty="0">
                <a:solidFill>
                  <a:srgbClr val="898781"/>
                </a:solidFill>
                <a:latin typeface="Calibri"/>
                <a:cs typeface="Calibri"/>
              </a:rPr>
              <a:t>base 766</a:t>
            </a:r>
          </a:p>
        </p:txBody>
      </p:sp>
      <p:sp>
        <p:nvSpPr>
          <p:cNvPr id="10" name="forma 10"/>
          <p:cNvSpPr/>
          <p:nvPr/>
        </p:nvSpPr>
        <p:spPr>
          <a:xfrm>
            <a:off x="3422650" y="1270000"/>
            <a:ext cx="2609850" cy="874268"/>
          </a:xfrm>
          <a:prstGeom prst="roundRect">
            <a:avLst>
              <a:gd name="adj" fmla="val 9000"/>
            </a:avLst>
          </a:prstGeom>
          <a:solidFill>
            <a:srgbClr val="F7F7F5"/>
          </a:solidFill>
          <a:ln>
            <a:noFill/>
          </a:ln>
        </p:spPr>
        <p:txBody>
          <a:bodyPr lIns="0" tIns="0" rIns="0" bIns="0" anchor="t" wrap="square">
            <a:noAutofit/>
          </a:bodyPr>
          <a:lstStyle/>
          <a:p>
            <a:pPr>
              <a:buNone/>
            </a:pPr>
            <a:r>
              <a:rPr lang="pt-BR" sz="1200" dirty="0">
                <a:solidFill>
                  <a:srgbClr val="0B0B0B"/>
                </a:solidFill>
                <a:latin typeface="Calibri"/>
                <a:cs typeface="Calibri"/>
              </a:rPr>
              <a:t/>
            </a:r>
          </a:p>
        </p:txBody>
      </p:sp>
      <p:sp>
        <p:nvSpPr>
          <p:cNvPr id="11" name="forma 11"/>
          <p:cNvSpPr/>
          <p:nvPr/>
        </p:nvSpPr>
        <p:spPr>
          <a:xfrm>
            <a:off x="3575050" y="1384300"/>
            <a:ext cx="2305050" cy="14719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 wrap="square">
            <a:noAutofit/>
          </a:bodyPr>
          <a:lstStyle/>
          <a:p>
            <a:pPr>
              <a:buNone/>
            </a:pPr>
            <a:r>
              <a:rPr lang="pt-BR" sz="950" b="1" dirty="0">
                <a:solidFill>
                  <a:srgbClr val="898781"/>
                </a:solidFill>
                <a:latin typeface="Calibri"/>
                <a:cs typeface="Calibri"/>
              </a:rPr>
              <a:t>SHARE YAMAHA</a:t>
            </a:r>
          </a:p>
        </p:txBody>
      </p:sp>
      <p:sp>
        <p:nvSpPr>
          <p:cNvPr id="12" name="forma 12"/>
          <p:cNvSpPr/>
          <p:nvPr/>
        </p:nvSpPr>
        <p:spPr>
          <a:xfrm>
            <a:off x="3575050" y="1574800"/>
            <a:ext cx="2305050" cy="340868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 wrap="square">
            <a:noAutofit/>
          </a:bodyPr>
          <a:lstStyle/>
          <a:p>
            <a:pPr>
              <a:buNone/>
            </a:pPr>
            <a:r>
              <a:rPr lang="pt-BR" sz="2200" b="1" dirty="0">
                <a:solidFill>
                  <a:srgbClr val="4B9B3F"/>
                </a:solidFill>
                <a:latin typeface="Calibri"/>
                <a:cs typeface="Calibri"/>
              </a:rPr>
              <a:t>20,4%</a:t>
            </a:r>
          </a:p>
        </p:txBody>
      </p:sp>
      <p:sp>
        <p:nvSpPr>
          <p:cNvPr id="13" name="forma 13"/>
          <p:cNvSpPr/>
          <p:nvPr/>
        </p:nvSpPr>
        <p:spPr>
          <a:xfrm>
            <a:off x="3575050" y="1941068"/>
            <a:ext cx="2305050" cy="131699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 wrap="square">
            <a:noAutofit/>
          </a:bodyPr>
          <a:lstStyle/>
          <a:p>
            <a:pPr>
              <a:buNone/>
            </a:pPr>
            <a:r>
              <a:rPr lang="pt-BR" sz="850" dirty="0">
                <a:solidFill>
                  <a:srgbClr val="898781"/>
                </a:solidFill>
                <a:latin typeface="Calibri"/>
                <a:cs typeface="Calibri"/>
              </a:rPr>
              <a:t>média Abr–Jun: 20,1%</a:t>
            </a:r>
          </a:p>
        </p:txBody>
      </p:sp>
      <p:sp>
        <p:nvSpPr>
          <p:cNvPr id="14" name="forma 14"/>
          <p:cNvSpPr/>
          <p:nvPr/>
        </p:nvSpPr>
        <p:spPr>
          <a:xfrm>
            <a:off x="6159500" y="1270000"/>
            <a:ext cx="2609850" cy="874268"/>
          </a:xfrm>
          <a:prstGeom prst="roundRect">
            <a:avLst>
              <a:gd name="adj" fmla="val 9000"/>
            </a:avLst>
          </a:prstGeom>
          <a:solidFill>
            <a:srgbClr val="F7F7F5"/>
          </a:solidFill>
          <a:ln>
            <a:noFill/>
          </a:ln>
        </p:spPr>
        <p:txBody>
          <a:bodyPr lIns="0" tIns="0" rIns="0" bIns="0" anchor="t" wrap="square">
            <a:noAutofit/>
          </a:bodyPr>
          <a:lstStyle/>
          <a:p>
            <a:pPr>
              <a:buNone/>
            </a:pPr>
            <a:r>
              <a:rPr lang="pt-BR" sz="1200" dirty="0">
                <a:solidFill>
                  <a:srgbClr val="0B0B0B"/>
                </a:solidFill>
                <a:latin typeface="Calibri"/>
                <a:cs typeface="Calibri"/>
              </a:rPr>
              <a:t/>
            </a:r>
          </a:p>
        </p:txBody>
      </p:sp>
      <p:sp>
        <p:nvSpPr>
          <p:cNvPr id="15" name="forma 15"/>
          <p:cNvSpPr/>
          <p:nvPr/>
        </p:nvSpPr>
        <p:spPr>
          <a:xfrm>
            <a:off x="6311900" y="1384300"/>
            <a:ext cx="2305050" cy="14719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 wrap="square">
            <a:noAutofit/>
          </a:bodyPr>
          <a:lstStyle/>
          <a:p>
            <a:pPr>
              <a:buNone/>
            </a:pPr>
            <a:r>
              <a:rPr lang="pt-BR" sz="950" b="1" dirty="0">
                <a:solidFill>
                  <a:srgbClr val="898781"/>
                </a:solidFill>
                <a:latin typeface="Calibri"/>
                <a:cs typeface="Calibri"/>
              </a:rPr>
              <a:t>EFEITO MERCADO</a:t>
            </a:r>
          </a:p>
        </p:txBody>
      </p:sp>
      <p:sp>
        <p:nvSpPr>
          <p:cNvPr id="16" name="forma 16"/>
          <p:cNvSpPr/>
          <p:nvPr/>
        </p:nvSpPr>
        <p:spPr>
          <a:xfrm>
            <a:off x="6311900" y="1574800"/>
            <a:ext cx="2305050" cy="340868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 wrap="square">
            <a:noAutofit/>
          </a:bodyPr>
          <a:lstStyle/>
          <a:p>
            <a:pPr>
              <a:buNone/>
            </a:pPr>
            <a:r>
              <a:rPr lang="pt-BR" sz="2200" b="1" dirty="0">
                <a:solidFill>
                  <a:srgbClr val="4B9B3F"/>
                </a:solidFill>
                <a:latin typeface="Calibri"/>
                <a:cs typeface="Calibri"/>
              </a:rPr>
              <a:t>+5 un</a:t>
            </a:r>
          </a:p>
        </p:txBody>
      </p:sp>
      <p:sp>
        <p:nvSpPr>
          <p:cNvPr id="17" name="forma 17"/>
          <p:cNvSpPr/>
          <p:nvPr/>
        </p:nvSpPr>
        <p:spPr>
          <a:xfrm>
            <a:off x="8896350" y="1270000"/>
            <a:ext cx="2609850" cy="874268"/>
          </a:xfrm>
          <a:prstGeom prst="roundRect">
            <a:avLst>
              <a:gd name="adj" fmla="val 9000"/>
            </a:avLst>
          </a:prstGeom>
          <a:solidFill>
            <a:srgbClr val="F7F7F5"/>
          </a:solidFill>
          <a:ln>
            <a:noFill/>
          </a:ln>
        </p:spPr>
        <p:txBody>
          <a:bodyPr lIns="0" tIns="0" rIns="0" bIns="0" anchor="t" wrap="square">
            <a:noAutofit/>
          </a:bodyPr>
          <a:lstStyle/>
          <a:p>
            <a:pPr>
              <a:buNone/>
            </a:pPr>
            <a:r>
              <a:rPr lang="pt-BR" sz="1200" dirty="0">
                <a:solidFill>
                  <a:srgbClr val="0B0B0B"/>
                </a:solidFill>
                <a:latin typeface="Calibri"/>
                <a:cs typeface="Calibri"/>
              </a:rPr>
              <a:t/>
            </a:r>
          </a:p>
        </p:txBody>
      </p:sp>
      <p:sp>
        <p:nvSpPr>
          <p:cNvPr id="18" name="forma 18"/>
          <p:cNvSpPr/>
          <p:nvPr/>
        </p:nvSpPr>
        <p:spPr>
          <a:xfrm>
            <a:off x="9048750" y="1384300"/>
            <a:ext cx="2305050" cy="14719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 wrap="square">
            <a:noAutofit/>
          </a:bodyPr>
          <a:lstStyle/>
          <a:p>
            <a:pPr>
              <a:buNone/>
            </a:pPr>
            <a:r>
              <a:rPr lang="pt-BR" sz="950" b="1" dirty="0">
                <a:solidFill>
                  <a:srgbClr val="898781"/>
                </a:solidFill>
                <a:latin typeface="Calibri"/>
                <a:cs typeface="Calibri"/>
              </a:rPr>
              <a:t>EFEITO SHARE</a:t>
            </a:r>
          </a:p>
        </p:txBody>
      </p:sp>
      <p:sp>
        <p:nvSpPr>
          <p:cNvPr id="19" name="forma 19"/>
          <p:cNvSpPr/>
          <p:nvPr/>
        </p:nvSpPr>
        <p:spPr>
          <a:xfrm>
            <a:off x="9048750" y="1574800"/>
            <a:ext cx="2305050" cy="340868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 wrap="square">
            <a:noAutofit/>
          </a:bodyPr>
          <a:lstStyle/>
          <a:p>
            <a:pPr>
              <a:buNone/>
            </a:pPr>
            <a:r>
              <a:rPr lang="pt-BR" sz="2200" b="1" dirty="0">
                <a:solidFill>
                  <a:srgbClr val="4B9B3F"/>
                </a:solidFill>
                <a:latin typeface="Calibri"/>
                <a:cs typeface="Calibri"/>
              </a:rPr>
              <a:t>+1,7 un</a:t>
            </a:r>
          </a:p>
        </p:txBody>
      </p:sp>
      <p:sp>
        <p:nvSpPr>
          <p:cNvPr id="20" name="forma 20"/>
          <p:cNvSpPr/>
          <p:nvPr/>
        </p:nvSpPr>
        <p:spPr>
          <a:xfrm>
            <a:off x="685800" y="2296668"/>
            <a:ext cx="10820400" cy="15494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 wrap="square">
            <a:noAutofit/>
          </a:bodyPr>
          <a:lstStyle/>
          <a:p>
            <a:pPr>
              <a:buNone/>
            </a:pPr>
            <a:r>
              <a:rPr lang="pt-BR" sz="1000" b="1" dirty="0">
                <a:solidFill>
                  <a:srgbClr val="52514E"/>
                </a:solidFill>
                <a:latin typeface="Calibri"/>
                <a:cs typeface="Calibri"/>
              </a:rPr>
              <a:t>Mercado da área, mês a mês (un)</a:t>
            </a:r>
          </a:p>
        </p:txBody>
      </p:sp>
      <p:sp>
        <p:nvSpPr>
          <p:cNvPr id="21" name="forma 21"/>
          <p:cNvSpPr/>
          <p:nvPr/>
        </p:nvSpPr>
        <p:spPr>
          <a:xfrm>
            <a:off x="1242483" y="2960004"/>
            <a:ext cx="533400" cy="1089264"/>
          </a:xfrm>
          <a:prstGeom prst="roundRect">
            <a:avLst>
              <a:gd name="adj" fmla="val 12000"/>
            </a:avLst>
          </a:prstGeom>
          <a:solidFill>
            <a:srgbClr val="C9D6E8"/>
          </a:solidFill>
          <a:ln>
            <a:noFill/>
          </a:ln>
        </p:spPr>
        <p:txBody>
          <a:bodyPr lIns="0" tIns="0" rIns="0" bIns="0" anchor="t" wrap="square">
            <a:noAutofit/>
          </a:bodyPr>
          <a:lstStyle/>
          <a:p>
            <a:pPr>
              <a:buNone/>
            </a:pPr>
            <a:r>
              <a:rPr lang="pt-BR" sz="1200" dirty="0">
                <a:solidFill>
                  <a:srgbClr val="0B0B0B"/>
                </a:solidFill>
                <a:latin typeface="Calibri"/>
                <a:cs typeface="Calibri"/>
              </a:rPr>
              <a:t/>
            </a:r>
          </a:p>
        </p:txBody>
      </p:sp>
      <p:sp>
        <p:nvSpPr>
          <p:cNvPr id="22" name="forma 22"/>
          <p:cNvSpPr/>
          <p:nvPr/>
        </p:nvSpPr>
        <p:spPr>
          <a:xfrm>
            <a:off x="1115483" y="2769504"/>
            <a:ext cx="787400" cy="15494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 wrap="square">
            <a:noAutofit/>
          </a:bodyPr>
          <a:lstStyle/>
          <a:p>
            <a:pPr algn="ctr">
              <a:buNone/>
            </a:pPr>
            <a:r>
              <a:rPr lang="pt-BR" sz="1000" dirty="0">
                <a:solidFill>
                  <a:srgbClr val="52514E"/>
                </a:solidFill>
                <a:latin typeface="Calibri"/>
                <a:cs typeface="Calibri"/>
              </a:rPr>
              <a:t>674</a:t>
            </a:r>
          </a:p>
        </p:txBody>
      </p:sp>
      <p:sp>
        <p:nvSpPr>
          <p:cNvPr id="23" name="forma 23"/>
          <p:cNvSpPr/>
          <p:nvPr/>
        </p:nvSpPr>
        <p:spPr>
          <a:xfrm>
            <a:off x="1115483" y="4100068"/>
            <a:ext cx="787400" cy="139446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 wrap="square">
            <a:noAutofit/>
          </a:bodyPr>
          <a:lstStyle/>
          <a:p>
            <a:pPr algn="ctr">
              <a:buNone/>
            </a:pPr>
            <a:r>
              <a:rPr lang="pt-BR" sz="900" dirty="0">
                <a:solidFill>
                  <a:srgbClr val="898781"/>
                </a:solidFill>
                <a:latin typeface="Calibri"/>
                <a:cs typeface="Calibri"/>
              </a:rPr>
              <a:t>Fev</a:t>
            </a:r>
          </a:p>
        </p:txBody>
      </p:sp>
      <p:sp>
        <p:nvSpPr>
          <p:cNvPr id="24" name="forma 24"/>
          <p:cNvSpPr/>
          <p:nvPr/>
        </p:nvSpPr>
        <p:spPr>
          <a:xfrm>
            <a:off x="2889250" y="2724051"/>
            <a:ext cx="533400" cy="1325217"/>
          </a:xfrm>
          <a:prstGeom prst="roundRect">
            <a:avLst>
              <a:gd name="adj" fmla="val 12000"/>
            </a:avLst>
          </a:prstGeom>
          <a:solidFill>
            <a:srgbClr val="C9D6E8"/>
          </a:solidFill>
          <a:ln>
            <a:noFill/>
          </a:ln>
        </p:spPr>
        <p:txBody>
          <a:bodyPr lIns="0" tIns="0" rIns="0" bIns="0" anchor="t" wrap="square">
            <a:noAutofit/>
          </a:bodyPr>
          <a:lstStyle/>
          <a:p>
            <a:pPr>
              <a:buNone/>
            </a:pPr>
            <a:r>
              <a:rPr lang="pt-BR" sz="1200" dirty="0">
                <a:solidFill>
                  <a:srgbClr val="0B0B0B"/>
                </a:solidFill>
                <a:latin typeface="Calibri"/>
                <a:cs typeface="Calibri"/>
              </a:rPr>
              <a:t/>
            </a:r>
          </a:p>
        </p:txBody>
      </p:sp>
      <p:sp>
        <p:nvSpPr>
          <p:cNvPr id="25" name="forma 25"/>
          <p:cNvSpPr/>
          <p:nvPr/>
        </p:nvSpPr>
        <p:spPr>
          <a:xfrm>
            <a:off x="2762250" y="2533551"/>
            <a:ext cx="787400" cy="15494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 wrap="square">
            <a:noAutofit/>
          </a:bodyPr>
          <a:lstStyle/>
          <a:p>
            <a:pPr algn="ctr">
              <a:buNone/>
            </a:pPr>
            <a:r>
              <a:rPr lang="pt-BR" sz="1000" dirty="0">
                <a:solidFill>
                  <a:srgbClr val="52514E"/>
                </a:solidFill>
                <a:latin typeface="Calibri"/>
                <a:cs typeface="Calibri"/>
              </a:rPr>
              <a:t>820</a:t>
            </a:r>
          </a:p>
        </p:txBody>
      </p:sp>
      <p:sp>
        <p:nvSpPr>
          <p:cNvPr id="26" name="forma 26"/>
          <p:cNvSpPr/>
          <p:nvPr/>
        </p:nvSpPr>
        <p:spPr>
          <a:xfrm>
            <a:off x="2762250" y="4100068"/>
            <a:ext cx="787400" cy="139446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 wrap="square">
            <a:noAutofit/>
          </a:bodyPr>
          <a:lstStyle/>
          <a:p>
            <a:pPr algn="ctr">
              <a:buNone/>
            </a:pPr>
            <a:r>
              <a:rPr lang="pt-BR" sz="900" dirty="0">
                <a:solidFill>
                  <a:srgbClr val="898781"/>
                </a:solidFill>
                <a:latin typeface="Calibri"/>
                <a:cs typeface="Calibri"/>
              </a:rPr>
              <a:t>Mar</a:t>
            </a:r>
          </a:p>
        </p:txBody>
      </p:sp>
      <p:sp>
        <p:nvSpPr>
          <p:cNvPr id="27" name="forma 27"/>
          <p:cNvSpPr/>
          <p:nvPr/>
        </p:nvSpPr>
        <p:spPr>
          <a:xfrm>
            <a:off x="4536017" y="2769302"/>
            <a:ext cx="533400" cy="1279966"/>
          </a:xfrm>
          <a:prstGeom prst="roundRect">
            <a:avLst>
              <a:gd name="adj" fmla="val 12000"/>
            </a:avLst>
          </a:prstGeom>
          <a:solidFill>
            <a:srgbClr val="C9D6E8"/>
          </a:solidFill>
          <a:ln>
            <a:noFill/>
          </a:ln>
        </p:spPr>
        <p:txBody>
          <a:bodyPr lIns="0" tIns="0" rIns="0" bIns="0" anchor="t" wrap="square">
            <a:noAutofit/>
          </a:bodyPr>
          <a:lstStyle/>
          <a:p>
            <a:pPr>
              <a:buNone/>
            </a:pPr>
            <a:r>
              <a:rPr lang="pt-BR" sz="1200" dirty="0">
                <a:solidFill>
                  <a:srgbClr val="0B0B0B"/>
                </a:solidFill>
                <a:latin typeface="Calibri"/>
                <a:cs typeface="Calibri"/>
              </a:rPr>
              <a:t/>
            </a:r>
          </a:p>
        </p:txBody>
      </p:sp>
      <p:sp>
        <p:nvSpPr>
          <p:cNvPr id="28" name="forma 28"/>
          <p:cNvSpPr/>
          <p:nvPr/>
        </p:nvSpPr>
        <p:spPr>
          <a:xfrm>
            <a:off x="4409017" y="2578802"/>
            <a:ext cx="787400" cy="15494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 wrap="square">
            <a:noAutofit/>
          </a:bodyPr>
          <a:lstStyle/>
          <a:p>
            <a:pPr algn="ctr">
              <a:buNone/>
            </a:pPr>
            <a:r>
              <a:rPr lang="pt-BR" sz="1000" dirty="0">
                <a:solidFill>
                  <a:srgbClr val="52514E"/>
                </a:solidFill>
                <a:latin typeface="Calibri"/>
                <a:cs typeface="Calibri"/>
              </a:rPr>
              <a:t>792</a:t>
            </a:r>
          </a:p>
        </p:txBody>
      </p:sp>
      <p:sp>
        <p:nvSpPr>
          <p:cNvPr id="29" name="forma 29"/>
          <p:cNvSpPr/>
          <p:nvPr/>
        </p:nvSpPr>
        <p:spPr>
          <a:xfrm>
            <a:off x="4409017" y="4100068"/>
            <a:ext cx="787400" cy="139446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 wrap="square">
            <a:noAutofit/>
          </a:bodyPr>
          <a:lstStyle/>
          <a:p>
            <a:pPr algn="ctr">
              <a:buNone/>
            </a:pPr>
            <a:r>
              <a:rPr lang="pt-BR" sz="900" dirty="0">
                <a:solidFill>
                  <a:srgbClr val="898781"/>
                </a:solidFill>
                <a:latin typeface="Calibri"/>
                <a:cs typeface="Calibri"/>
              </a:rPr>
              <a:t>Abr</a:t>
            </a:r>
          </a:p>
        </p:txBody>
      </p:sp>
      <p:sp>
        <p:nvSpPr>
          <p:cNvPr id="30" name="forma 30"/>
          <p:cNvSpPr/>
          <p:nvPr/>
        </p:nvSpPr>
        <p:spPr>
          <a:xfrm>
            <a:off x="6182783" y="2851724"/>
            <a:ext cx="533400" cy="1197544"/>
          </a:xfrm>
          <a:prstGeom prst="roundRect">
            <a:avLst>
              <a:gd name="adj" fmla="val 12000"/>
            </a:avLst>
          </a:prstGeom>
          <a:solidFill>
            <a:srgbClr val="C9D6E8"/>
          </a:solidFill>
          <a:ln>
            <a:noFill/>
          </a:ln>
        </p:spPr>
        <p:txBody>
          <a:bodyPr lIns="0" tIns="0" rIns="0" bIns="0" anchor="t" wrap="square">
            <a:noAutofit/>
          </a:bodyPr>
          <a:lstStyle/>
          <a:p>
            <a:pPr>
              <a:buNone/>
            </a:pPr>
            <a:r>
              <a:rPr lang="pt-BR" sz="1200" dirty="0">
                <a:solidFill>
                  <a:srgbClr val="0B0B0B"/>
                </a:solidFill>
                <a:latin typeface="Calibri"/>
                <a:cs typeface="Calibri"/>
              </a:rPr>
              <a:t/>
            </a:r>
          </a:p>
        </p:txBody>
      </p:sp>
      <p:sp>
        <p:nvSpPr>
          <p:cNvPr id="31" name="forma 31"/>
          <p:cNvSpPr/>
          <p:nvPr/>
        </p:nvSpPr>
        <p:spPr>
          <a:xfrm>
            <a:off x="6055783" y="2661224"/>
            <a:ext cx="787400" cy="15494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 wrap="square">
            <a:noAutofit/>
          </a:bodyPr>
          <a:lstStyle/>
          <a:p>
            <a:pPr algn="ctr">
              <a:buNone/>
            </a:pPr>
            <a:r>
              <a:rPr lang="pt-BR" sz="1000" dirty="0">
                <a:solidFill>
                  <a:srgbClr val="52514E"/>
                </a:solidFill>
                <a:latin typeface="Calibri"/>
                <a:cs typeface="Calibri"/>
              </a:rPr>
              <a:t>741</a:t>
            </a:r>
          </a:p>
        </p:txBody>
      </p:sp>
      <p:sp>
        <p:nvSpPr>
          <p:cNvPr id="32" name="forma 32"/>
          <p:cNvSpPr/>
          <p:nvPr/>
        </p:nvSpPr>
        <p:spPr>
          <a:xfrm>
            <a:off x="6055783" y="4100068"/>
            <a:ext cx="787400" cy="139446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 wrap="square">
            <a:noAutofit/>
          </a:bodyPr>
          <a:lstStyle/>
          <a:p>
            <a:pPr algn="ctr">
              <a:buNone/>
            </a:pPr>
            <a:r>
              <a:rPr lang="pt-BR" sz="900" dirty="0">
                <a:solidFill>
                  <a:srgbClr val="898781"/>
                </a:solidFill>
                <a:latin typeface="Calibri"/>
                <a:cs typeface="Calibri"/>
              </a:rPr>
              <a:t>Mai</a:t>
            </a:r>
          </a:p>
        </p:txBody>
      </p:sp>
      <p:sp>
        <p:nvSpPr>
          <p:cNvPr id="33" name="forma 33"/>
          <p:cNvSpPr/>
          <p:nvPr/>
        </p:nvSpPr>
        <p:spPr>
          <a:xfrm>
            <a:off x="7829550" y="2811321"/>
            <a:ext cx="533400" cy="1237947"/>
          </a:xfrm>
          <a:prstGeom prst="roundRect">
            <a:avLst>
              <a:gd name="adj" fmla="val 12000"/>
            </a:avLst>
          </a:prstGeom>
          <a:solidFill>
            <a:srgbClr val="C9D6E8"/>
          </a:solidFill>
          <a:ln>
            <a:noFill/>
          </a:ln>
        </p:spPr>
        <p:txBody>
          <a:bodyPr lIns="0" tIns="0" rIns="0" bIns="0" anchor="t" wrap="square">
            <a:noAutofit/>
          </a:bodyPr>
          <a:lstStyle/>
          <a:p>
            <a:pPr>
              <a:buNone/>
            </a:pPr>
            <a:r>
              <a:rPr lang="pt-BR" sz="1200" dirty="0">
                <a:solidFill>
                  <a:srgbClr val="0B0B0B"/>
                </a:solidFill>
                <a:latin typeface="Calibri"/>
                <a:cs typeface="Calibri"/>
              </a:rPr>
              <a:t/>
            </a:r>
          </a:p>
        </p:txBody>
      </p:sp>
      <p:sp>
        <p:nvSpPr>
          <p:cNvPr id="34" name="forma 34"/>
          <p:cNvSpPr/>
          <p:nvPr/>
        </p:nvSpPr>
        <p:spPr>
          <a:xfrm>
            <a:off x="7702550" y="2620821"/>
            <a:ext cx="787400" cy="15494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 wrap="square">
            <a:noAutofit/>
          </a:bodyPr>
          <a:lstStyle/>
          <a:p>
            <a:pPr algn="ctr">
              <a:buNone/>
            </a:pPr>
            <a:r>
              <a:rPr lang="pt-BR" sz="1000" dirty="0">
                <a:solidFill>
                  <a:srgbClr val="52514E"/>
                </a:solidFill>
                <a:latin typeface="Calibri"/>
                <a:cs typeface="Calibri"/>
              </a:rPr>
              <a:t>766</a:t>
            </a:r>
          </a:p>
        </p:txBody>
      </p:sp>
      <p:sp>
        <p:nvSpPr>
          <p:cNvPr id="35" name="forma 35"/>
          <p:cNvSpPr/>
          <p:nvPr/>
        </p:nvSpPr>
        <p:spPr>
          <a:xfrm>
            <a:off x="7702550" y="4100068"/>
            <a:ext cx="787400" cy="139446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 wrap="square">
            <a:noAutofit/>
          </a:bodyPr>
          <a:lstStyle/>
          <a:p>
            <a:pPr algn="ctr">
              <a:buNone/>
            </a:pPr>
            <a:r>
              <a:rPr lang="pt-BR" sz="900" dirty="0">
                <a:solidFill>
                  <a:srgbClr val="898781"/>
                </a:solidFill>
                <a:latin typeface="Calibri"/>
                <a:cs typeface="Calibri"/>
              </a:rPr>
              <a:t>Jun</a:t>
            </a:r>
          </a:p>
        </p:txBody>
      </p:sp>
      <p:sp>
        <p:nvSpPr>
          <p:cNvPr id="36" name="forma 36"/>
          <p:cNvSpPr/>
          <p:nvPr/>
        </p:nvSpPr>
        <p:spPr>
          <a:xfrm>
            <a:off x="9476317" y="2770918"/>
            <a:ext cx="533400" cy="1278350"/>
          </a:xfrm>
          <a:prstGeom prst="roundRect">
            <a:avLst>
              <a:gd name="adj" fmla="val 12000"/>
            </a:avLst>
          </a:prstGeom>
          <a:solidFill>
            <a:srgbClr val="4B9B3F"/>
          </a:solidFill>
          <a:ln>
            <a:noFill/>
          </a:ln>
        </p:spPr>
        <p:txBody>
          <a:bodyPr lIns="0" tIns="0" rIns="0" bIns="0" anchor="t" wrap="square">
            <a:noAutofit/>
          </a:bodyPr>
          <a:lstStyle/>
          <a:p>
            <a:pPr>
              <a:buNone/>
            </a:pPr>
            <a:r>
              <a:rPr lang="pt-BR" sz="1200" dirty="0">
                <a:solidFill>
                  <a:srgbClr val="0B0B0B"/>
                </a:solidFill>
                <a:latin typeface="Calibri"/>
                <a:cs typeface="Calibri"/>
              </a:rPr>
              <a:t/>
            </a:r>
          </a:p>
        </p:txBody>
      </p:sp>
      <p:sp>
        <p:nvSpPr>
          <p:cNvPr id="37" name="forma 37"/>
          <p:cNvSpPr/>
          <p:nvPr/>
        </p:nvSpPr>
        <p:spPr>
          <a:xfrm>
            <a:off x="9349317" y="2580418"/>
            <a:ext cx="787400" cy="15494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 wrap="square">
            <a:noAutofit/>
          </a:bodyPr>
          <a:lstStyle/>
          <a:p>
            <a:pPr algn="ctr">
              <a:buNone/>
            </a:pPr>
            <a:r>
              <a:rPr lang="pt-BR" sz="1000" b="1" dirty="0">
                <a:solidFill>
                  <a:srgbClr val="4B9B3F"/>
                </a:solidFill>
                <a:latin typeface="Calibri"/>
                <a:cs typeface="Calibri"/>
              </a:rPr>
              <a:t>791</a:t>
            </a:r>
          </a:p>
        </p:txBody>
      </p:sp>
      <p:sp>
        <p:nvSpPr>
          <p:cNvPr id="38" name="forma 38"/>
          <p:cNvSpPr/>
          <p:nvPr/>
        </p:nvSpPr>
        <p:spPr>
          <a:xfrm>
            <a:off x="9349317" y="4100068"/>
            <a:ext cx="787400" cy="139446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 wrap="square">
            <a:noAutofit/>
          </a:bodyPr>
          <a:lstStyle/>
          <a:p>
            <a:pPr algn="ctr">
              <a:buNone/>
            </a:pPr>
            <a:r>
              <a:rPr lang="pt-BR" sz="900" b="1" dirty="0">
                <a:solidFill>
                  <a:srgbClr val="0B0B0B"/>
                </a:solidFill>
                <a:latin typeface="Calibri"/>
                <a:cs typeface="Calibri"/>
              </a:rPr>
              <a:t>Jul</a:t>
            </a:r>
          </a:p>
        </p:txBody>
      </p:sp>
      <p:sp>
        <p:nvSpPr>
          <p:cNvPr id="39" name="forma 39"/>
          <p:cNvSpPr/>
          <p:nvPr/>
        </p:nvSpPr>
        <p:spPr>
          <a:xfrm>
            <a:off x="685800" y="2810836"/>
            <a:ext cx="9956800" cy="11430"/>
          </a:xfrm>
          <a:prstGeom prst="rect">
            <a:avLst/>
          </a:prstGeom>
          <a:solidFill>
            <a:srgbClr val="898781"/>
          </a:solidFill>
          <a:ln>
            <a:noFill/>
          </a:ln>
        </p:spPr>
        <p:txBody>
          <a:bodyPr lIns="0" tIns="0" rIns="0" bIns="0" anchor="t" wrap="square">
            <a:noAutofit/>
          </a:bodyPr>
          <a:lstStyle/>
          <a:p>
            <a:pPr>
              <a:buNone/>
            </a:pPr>
            <a:r>
              <a:rPr lang="pt-BR" sz="1200" dirty="0">
                <a:solidFill>
                  <a:srgbClr val="0B0B0B"/>
                </a:solidFill>
                <a:latin typeface="Calibri"/>
                <a:cs typeface="Calibri"/>
              </a:rPr>
              <a:t/>
            </a:r>
          </a:p>
        </p:txBody>
      </p:sp>
      <p:sp>
        <p:nvSpPr>
          <p:cNvPr id="40" name="forma 40"/>
          <p:cNvSpPr/>
          <p:nvPr/>
        </p:nvSpPr>
        <p:spPr>
          <a:xfrm>
            <a:off x="10693400" y="2734636"/>
            <a:ext cx="812800" cy="131699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 wrap="square">
            <a:noAutofit/>
          </a:bodyPr>
          <a:lstStyle/>
          <a:p>
            <a:pPr algn="l">
              <a:buNone/>
            </a:pPr>
            <a:r>
              <a:rPr lang="pt-BR" sz="850" dirty="0">
                <a:solidFill>
                  <a:srgbClr val="898781"/>
                </a:solidFill>
                <a:latin typeface="Calibri"/>
                <a:cs typeface="Calibri"/>
              </a:rPr>
              <a:t>média 766</a:t>
            </a:r>
          </a:p>
        </p:txBody>
      </p:sp>
      <p:sp>
        <p:nvSpPr>
          <p:cNvPr id="41" name="forma 41"/>
          <p:cNvSpPr/>
          <p:nvPr/>
        </p:nvSpPr>
        <p:spPr>
          <a:xfrm>
            <a:off x="685800" y="4354068"/>
            <a:ext cx="10820400" cy="756126"/>
          </a:xfrm>
          <a:prstGeom prst="roundRect">
            <a:avLst>
              <a:gd name="adj" fmla="val 7000"/>
            </a:avLst>
          </a:prstGeom>
          <a:solidFill>
            <a:srgbClr val="EDF5E8"/>
          </a:solidFill>
          <a:ln>
            <a:noFill/>
          </a:ln>
        </p:spPr>
        <p:txBody>
          <a:bodyPr lIns="0" tIns="0" rIns="0" bIns="0" anchor="t" wrap="square">
            <a:noAutofit/>
          </a:bodyPr>
          <a:lstStyle/>
          <a:p>
            <a:pPr>
              <a:buNone/>
            </a:pPr>
            <a:r>
              <a:rPr lang="pt-BR" sz="1200" dirty="0">
                <a:solidFill>
                  <a:srgbClr val="0B0B0B"/>
                </a:solidFill>
                <a:latin typeface="Calibri"/>
                <a:cs typeface="Calibri"/>
              </a:rPr>
              <a:t/>
            </a:r>
          </a:p>
        </p:txBody>
      </p:sp>
      <p:sp>
        <p:nvSpPr>
          <p:cNvPr id="42" name="forma 42"/>
          <p:cNvSpPr/>
          <p:nvPr/>
        </p:nvSpPr>
        <p:spPr>
          <a:xfrm>
            <a:off x="685800" y="4354068"/>
            <a:ext cx="50800" cy="756126"/>
          </a:xfrm>
          <a:prstGeom prst="rect">
            <a:avLst/>
          </a:prstGeom>
          <a:solidFill>
            <a:srgbClr val="4B9B3F"/>
          </a:solidFill>
          <a:ln>
            <a:noFill/>
          </a:ln>
        </p:spPr>
        <p:txBody>
          <a:bodyPr lIns="0" tIns="0" rIns="0" bIns="0" anchor="t" wrap="square">
            <a:noAutofit/>
          </a:bodyPr>
          <a:lstStyle/>
          <a:p>
            <a:pPr>
              <a:buNone/>
            </a:pPr>
            <a:r>
              <a:rPr lang="pt-BR" sz="1200" dirty="0">
                <a:solidFill>
                  <a:srgbClr val="0B0B0B"/>
                </a:solidFill>
                <a:latin typeface="Calibri"/>
                <a:cs typeface="Calibri"/>
              </a:rPr>
              <a:t/>
            </a:r>
          </a:p>
        </p:txBody>
      </p:sp>
      <p:sp>
        <p:nvSpPr>
          <p:cNvPr id="43" name="forma 43"/>
          <p:cNvSpPr/>
          <p:nvPr/>
        </p:nvSpPr>
        <p:spPr>
          <a:xfrm>
            <a:off x="889000" y="4481068"/>
            <a:ext cx="10414000" cy="14719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 wrap="square">
            <a:noAutofit/>
          </a:bodyPr>
          <a:lstStyle/>
          <a:p>
            <a:pPr>
              <a:buNone/>
            </a:pPr>
            <a:r>
              <a:rPr lang="pt-BR" sz="950" b="1" dirty="0">
                <a:solidFill>
                  <a:srgbClr val="52514E"/>
                </a:solidFill>
                <a:latin typeface="Calibri"/>
                <a:cs typeface="Calibri"/>
              </a:rPr>
              <a:t>O VEREDITO</a:t>
            </a:r>
          </a:p>
        </p:txBody>
      </p:sp>
      <p:sp>
        <p:nvSpPr>
          <p:cNvPr id="44" name="forma 44"/>
          <p:cNvSpPr/>
          <p:nvPr/>
        </p:nvSpPr>
        <p:spPr>
          <a:xfrm>
            <a:off x="889000" y="4735068"/>
            <a:ext cx="10414000" cy="222726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 wrap="square">
            <a:noAutofit/>
          </a:bodyPr>
          <a:lstStyle/>
          <a:p>
            <a:pPr>
              <a:lnSpc>
                <a:spcPct val="125000"/>
              </a:lnSpc>
              <a:buNone/>
            </a:pPr>
            <a:r>
              <a:rPr lang="pt-BR" sz="1150" dirty="0">
                <a:solidFill>
                  <a:srgbClr val="0B0B0B"/>
                </a:solidFill>
                <a:latin typeface="Calibri"/>
                <a:cs typeface="Calibri"/>
              </a:rPr>
              <a:t>Crescimento puxado pelo mercado da área.</a:t>
            </a:r>
          </a:p>
        </p:txBody>
      </p:sp>
      <p:sp>
        <p:nvSpPr>
          <p:cNvPr id="45" name="forma 45"/>
          <p:cNvSpPr/>
          <p:nvPr/>
        </p:nvSpPr>
        <p:spPr>
          <a:xfrm>
            <a:off x="685800" y="6451600"/>
            <a:ext cx="9931400" cy="151454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 wrap="square">
            <a:noAutofit/>
          </a:bodyPr>
          <a:lstStyle/>
          <a:p>
            <a:pPr>
              <a:lnSpc>
                <a:spcPct val="115000"/>
              </a:lnSpc>
              <a:buNone/>
            </a:pPr>
            <a:r>
              <a:rPr lang="pt-BR" sz="850" dirty="0">
                <a:solidFill>
                  <a:srgbClr val="898781"/>
                </a:solidFill>
                <a:latin typeface="Calibri"/>
                <a:cs typeface="Calibri"/>
              </a:rPr>
              <a:t>Smart Dealer · Nippon Motos · varejo e emplacamento até Julho fechado · carta de Agosto · áreas Amparo + Ouro Fino · gerado em 07/08/2026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rma 2"/>
          <p:cNvSpPr/>
          <p:nvPr/>
        </p:nvSpPr>
        <p:spPr>
          <a:xfrm>
            <a:off x="0" y="0"/>
            <a:ext cx="12192000" cy="50800"/>
          </a:xfrm>
          <a:prstGeom prst="rect">
            <a:avLst/>
          </a:prstGeom>
          <a:solidFill>
            <a:srgbClr val="2A78D6"/>
          </a:solidFill>
          <a:ln>
            <a:noFill/>
          </a:ln>
        </p:spPr>
        <p:txBody>
          <a:bodyPr lIns="0" tIns="0" rIns="0" bIns="0" anchor="t" wrap="square">
            <a:noAutofit/>
          </a:bodyPr>
          <a:lstStyle/>
          <a:p>
            <a:pPr>
              <a:buNone/>
            </a:pPr>
            <a:r>
              <a:rPr lang="pt-BR" sz="1200" dirty="0">
                <a:solidFill>
                  <a:srgbClr val="0B0B0B"/>
                </a:solidFill>
                <a:latin typeface="Calibri"/>
                <a:cs typeface="Calibri"/>
              </a:rPr>
              <a:t/>
            </a:r>
          </a:p>
        </p:txBody>
      </p:sp>
      <p:sp>
        <p:nvSpPr>
          <p:cNvPr id="3" name="forma 3"/>
          <p:cNvSpPr/>
          <p:nvPr/>
        </p:nvSpPr>
        <p:spPr>
          <a:xfrm>
            <a:off x="685800" y="330200"/>
            <a:ext cx="7357872" cy="1778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 wrap="square">
            <a:noAutofit/>
          </a:bodyPr>
          <a:lstStyle/>
          <a:p>
            <a:pPr>
              <a:buNone/>
            </a:pPr>
            <a:r>
              <a:rPr lang="pt-BR" sz="1000" b="1" dirty="0">
                <a:solidFill>
                  <a:srgbClr val="2A78D6"/>
                </a:solidFill>
                <a:latin typeface="Calibri"/>
                <a:cs typeface="Calibri"/>
              </a:rPr>
              <a:t>K2 · PÓS-VENDAS</a:t>
            </a:r>
          </a:p>
        </p:txBody>
      </p:sp>
      <p:sp>
        <p:nvSpPr>
          <p:cNvPr id="4" name="forma 4"/>
          <p:cNvSpPr/>
          <p:nvPr/>
        </p:nvSpPr>
        <p:spPr>
          <a:xfrm>
            <a:off x="685800" y="558800"/>
            <a:ext cx="7357872" cy="37960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 wrap="square">
            <a:noAutofit/>
          </a:bodyPr>
          <a:lstStyle/>
          <a:p>
            <a:pPr>
              <a:buNone/>
            </a:pPr>
            <a:r>
              <a:rPr lang="pt-BR" sz="2450" b="1" dirty="0">
                <a:solidFill>
                  <a:srgbClr val="0B0B0B"/>
                </a:solidFill>
                <a:latin typeface="Calibri"/>
                <a:cs typeface="Calibri"/>
              </a:rPr>
              <a:t>O pós-vendas pagando as despesas da operação</a:t>
            </a:r>
          </a:p>
        </p:txBody>
      </p:sp>
      <p:sp>
        <p:nvSpPr>
          <p:cNvPr id="5" name="forma 5"/>
          <p:cNvSpPr/>
          <p:nvPr/>
        </p:nvSpPr>
        <p:spPr>
          <a:xfrm>
            <a:off x="7696200" y="381000"/>
            <a:ext cx="3810000" cy="170434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 wrap="square">
            <a:noAutofit/>
          </a:bodyPr>
          <a:lstStyle/>
          <a:p>
            <a:pPr algn="r">
              <a:buNone/>
            </a:pPr>
            <a:r>
              <a:rPr lang="pt-BR" sz="1100" dirty="0">
                <a:solidFill>
                  <a:srgbClr val="898781"/>
                </a:solidFill>
                <a:latin typeface="Calibri"/>
                <a:cs typeface="Calibri"/>
              </a:rPr>
              <a:t>DRE Yamaha BMI</a:t>
            </a:r>
          </a:p>
        </p:txBody>
      </p:sp>
      <p:sp>
        <p:nvSpPr>
          <p:cNvPr id="6" name="forma 6"/>
          <p:cNvSpPr/>
          <p:nvPr/>
        </p:nvSpPr>
        <p:spPr>
          <a:xfrm>
            <a:off x="685800" y="1270000"/>
            <a:ext cx="2609850" cy="874268"/>
          </a:xfrm>
          <a:prstGeom prst="roundRect">
            <a:avLst>
              <a:gd name="adj" fmla="val 9000"/>
            </a:avLst>
          </a:prstGeom>
          <a:solidFill>
            <a:srgbClr val="F7F7F5"/>
          </a:solidFill>
          <a:ln>
            <a:noFill/>
          </a:ln>
        </p:spPr>
        <p:txBody>
          <a:bodyPr lIns="0" tIns="0" rIns="0" bIns="0" anchor="t" wrap="square">
            <a:noAutofit/>
          </a:bodyPr>
          <a:lstStyle/>
          <a:p>
            <a:pPr>
              <a:buNone/>
            </a:pPr>
            <a:r>
              <a:rPr lang="pt-BR" sz="1200" dirty="0">
                <a:solidFill>
                  <a:srgbClr val="0B0B0B"/>
                </a:solidFill>
                <a:latin typeface="Calibri"/>
                <a:cs typeface="Calibri"/>
              </a:rPr>
              <a:t/>
            </a:r>
          </a:p>
        </p:txBody>
      </p:sp>
      <p:sp>
        <p:nvSpPr>
          <p:cNvPr id="7" name="forma 7"/>
          <p:cNvSpPr/>
          <p:nvPr/>
        </p:nvSpPr>
        <p:spPr>
          <a:xfrm>
            <a:off x="838200" y="1384300"/>
            <a:ext cx="2305050" cy="14719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 wrap="square">
            <a:noAutofit/>
          </a:bodyPr>
          <a:lstStyle/>
          <a:p>
            <a:pPr>
              <a:buNone/>
            </a:pPr>
            <a:r>
              <a:rPr lang="pt-BR" sz="950" b="1" dirty="0">
                <a:solidFill>
                  <a:srgbClr val="898781"/>
                </a:solidFill>
                <a:latin typeface="Calibri"/>
                <a:cs typeface="Calibri"/>
              </a:rPr>
              <a:t>ABSORÇÃO — MAI/26</a:t>
            </a:r>
          </a:p>
        </p:txBody>
      </p:sp>
      <p:sp>
        <p:nvSpPr>
          <p:cNvPr id="8" name="forma 8"/>
          <p:cNvSpPr/>
          <p:nvPr/>
        </p:nvSpPr>
        <p:spPr>
          <a:xfrm>
            <a:off x="838200" y="1574800"/>
            <a:ext cx="2305050" cy="340868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 wrap="square">
            <a:noAutofit/>
          </a:bodyPr>
          <a:lstStyle/>
          <a:p>
            <a:pPr>
              <a:buNone/>
            </a:pPr>
            <a:r>
              <a:rPr lang="pt-BR" sz="2200" b="1" dirty="0">
                <a:solidFill>
                  <a:srgbClr val="D98A0B"/>
                </a:solidFill>
                <a:latin typeface="Calibri"/>
                <a:cs typeface="Calibri"/>
              </a:rPr>
              <a:t>49,4%</a:t>
            </a:r>
          </a:p>
        </p:txBody>
      </p:sp>
      <p:sp>
        <p:nvSpPr>
          <p:cNvPr id="9" name="forma 9"/>
          <p:cNvSpPr/>
          <p:nvPr/>
        </p:nvSpPr>
        <p:spPr>
          <a:xfrm>
            <a:off x="838200" y="1941068"/>
            <a:ext cx="2305050" cy="131699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 wrap="square">
            <a:noAutofit/>
          </a:bodyPr>
          <a:lstStyle/>
          <a:p>
            <a:pPr>
              <a:buNone/>
            </a:pPr>
            <a:r>
              <a:rPr lang="pt-BR" sz="850" dirty="0">
                <a:solidFill>
                  <a:srgbClr val="898781"/>
                </a:solidFill>
                <a:latin typeface="Calibri"/>
                <a:cs typeface="Calibri"/>
              </a:rPr>
              <a:t>referência &gt; 65%</a:t>
            </a:r>
          </a:p>
        </p:txBody>
      </p:sp>
      <p:sp>
        <p:nvSpPr>
          <p:cNvPr id="10" name="forma 10"/>
          <p:cNvSpPr/>
          <p:nvPr/>
        </p:nvSpPr>
        <p:spPr>
          <a:xfrm>
            <a:off x="3422650" y="1270000"/>
            <a:ext cx="2609850" cy="874268"/>
          </a:xfrm>
          <a:prstGeom prst="roundRect">
            <a:avLst>
              <a:gd name="adj" fmla="val 9000"/>
            </a:avLst>
          </a:prstGeom>
          <a:solidFill>
            <a:srgbClr val="F7F7F5"/>
          </a:solidFill>
          <a:ln>
            <a:noFill/>
          </a:ln>
        </p:spPr>
        <p:txBody>
          <a:bodyPr lIns="0" tIns="0" rIns="0" bIns="0" anchor="t" wrap="square">
            <a:noAutofit/>
          </a:bodyPr>
          <a:lstStyle/>
          <a:p>
            <a:pPr>
              <a:buNone/>
            </a:pPr>
            <a:r>
              <a:rPr lang="pt-BR" sz="1200" dirty="0">
                <a:solidFill>
                  <a:srgbClr val="0B0B0B"/>
                </a:solidFill>
                <a:latin typeface="Calibri"/>
                <a:cs typeface="Calibri"/>
              </a:rPr>
              <a:t/>
            </a:r>
          </a:p>
        </p:txBody>
      </p:sp>
      <p:sp>
        <p:nvSpPr>
          <p:cNvPr id="11" name="forma 11"/>
          <p:cNvSpPr/>
          <p:nvPr/>
        </p:nvSpPr>
        <p:spPr>
          <a:xfrm>
            <a:off x="3575050" y="1384300"/>
            <a:ext cx="2305050" cy="14719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 wrap="square">
            <a:noAutofit/>
          </a:bodyPr>
          <a:lstStyle/>
          <a:p>
            <a:pPr>
              <a:buNone/>
            </a:pPr>
            <a:r>
              <a:rPr lang="pt-BR" sz="950" b="1" dirty="0">
                <a:solidFill>
                  <a:srgbClr val="898781"/>
                </a:solidFill>
                <a:latin typeface="Calibri"/>
                <a:cs typeface="Calibri"/>
              </a:rPr>
              <a:t>MC PÓS-VENDAS</a:t>
            </a:r>
          </a:p>
        </p:txBody>
      </p:sp>
      <p:sp>
        <p:nvSpPr>
          <p:cNvPr id="12" name="forma 12"/>
          <p:cNvSpPr/>
          <p:nvPr/>
        </p:nvSpPr>
        <p:spPr>
          <a:xfrm>
            <a:off x="3575050" y="1574800"/>
            <a:ext cx="2305050" cy="340868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 wrap="square">
            <a:noAutofit/>
          </a:bodyPr>
          <a:lstStyle/>
          <a:p>
            <a:pPr>
              <a:buNone/>
            </a:pPr>
            <a:r>
              <a:rPr lang="pt-BR" sz="2200" b="1" dirty="0">
                <a:solidFill>
                  <a:srgbClr val="0B0B0B"/>
                </a:solidFill>
                <a:latin typeface="Calibri"/>
                <a:cs typeface="Calibri"/>
              </a:rPr>
              <a:t>R$ 129.133,17</a:t>
            </a:r>
          </a:p>
        </p:txBody>
      </p:sp>
      <p:sp>
        <p:nvSpPr>
          <p:cNvPr id="13" name="forma 13"/>
          <p:cNvSpPr/>
          <p:nvPr/>
        </p:nvSpPr>
        <p:spPr>
          <a:xfrm>
            <a:off x="6159500" y="1270000"/>
            <a:ext cx="2609850" cy="874268"/>
          </a:xfrm>
          <a:prstGeom prst="roundRect">
            <a:avLst>
              <a:gd name="adj" fmla="val 9000"/>
            </a:avLst>
          </a:prstGeom>
          <a:solidFill>
            <a:srgbClr val="F7F7F5"/>
          </a:solidFill>
          <a:ln>
            <a:noFill/>
          </a:ln>
        </p:spPr>
        <p:txBody>
          <a:bodyPr lIns="0" tIns="0" rIns="0" bIns="0" anchor="t" wrap="square">
            <a:noAutofit/>
          </a:bodyPr>
          <a:lstStyle/>
          <a:p>
            <a:pPr>
              <a:buNone/>
            </a:pPr>
            <a:r>
              <a:rPr lang="pt-BR" sz="1200" dirty="0">
                <a:solidFill>
                  <a:srgbClr val="0B0B0B"/>
                </a:solidFill>
                <a:latin typeface="Calibri"/>
                <a:cs typeface="Calibri"/>
              </a:rPr>
              <a:t/>
            </a:r>
          </a:p>
        </p:txBody>
      </p:sp>
      <p:sp>
        <p:nvSpPr>
          <p:cNvPr id="14" name="forma 14"/>
          <p:cNvSpPr/>
          <p:nvPr/>
        </p:nvSpPr>
        <p:spPr>
          <a:xfrm>
            <a:off x="6311900" y="1384300"/>
            <a:ext cx="2305050" cy="14719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 wrap="square">
            <a:noAutofit/>
          </a:bodyPr>
          <a:lstStyle/>
          <a:p>
            <a:pPr>
              <a:buNone/>
            </a:pPr>
            <a:r>
              <a:rPr lang="pt-BR" sz="950" b="1" dirty="0">
                <a:solidFill>
                  <a:srgbClr val="898781"/>
                </a:solidFill>
                <a:latin typeface="Calibri"/>
                <a:cs typeface="Calibri"/>
              </a:rPr>
              <a:t>DESPESAS OPERACIONAIS</a:t>
            </a:r>
          </a:p>
        </p:txBody>
      </p:sp>
      <p:sp>
        <p:nvSpPr>
          <p:cNvPr id="15" name="forma 15"/>
          <p:cNvSpPr/>
          <p:nvPr/>
        </p:nvSpPr>
        <p:spPr>
          <a:xfrm>
            <a:off x="6311900" y="1574800"/>
            <a:ext cx="2305050" cy="340868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 wrap="square">
            <a:noAutofit/>
          </a:bodyPr>
          <a:lstStyle/>
          <a:p>
            <a:pPr>
              <a:buNone/>
            </a:pPr>
            <a:r>
              <a:rPr lang="pt-BR" sz="2200" b="1" dirty="0">
                <a:solidFill>
                  <a:srgbClr val="0B0B0B"/>
                </a:solidFill>
                <a:latin typeface="Calibri"/>
                <a:cs typeface="Calibri"/>
              </a:rPr>
              <a:t>R$ 261.524,32</a:t>
            </a:r>
          </a:p>
        </p:txBody>
      </p:sp>
      <p:sp>
        <p:nvSpPr>
          <p:cNvPr id="16" name="forma 16"/>
          <p:cNvSpPr/>
          <p:nvPr/>
        </p:nvSpPr>
        <p:spPr>
          <a:xfrm>
            <a:off x="8896350" y="1270000"/>
            <a:ext cx="2609850" cy="874268"/>
          </a:xfrm>
          <a:prstGeom prst="roundRect">
            <a:avLst>
              <a:gd name="adj" fmla="val 9000"/>
            </a:avLst>
          </a:prstGeom>
          <a:solidFill>
            <a:srgbClr val="F7F7F5"/>
          </a:solidFill>
          <a:ln>
            <a:noFill/>
          </a:ln>
        </p:spPr>
        <p:txBody>
          <a:bodyPr lIns="0" tIns="0" rIns="0" bIns="0" anchor="t" wrap="square">
            <a:noAutofit/>
          </a:bodyPr>
          <a:lstStyle/>
          <a:p>
            <a:pPr>
              <a:buNone/>
            </a:pPr>
            <a:r>
              <a:rPr lang="pt-BR" sz="1200" dirty="0">
                <a:solidFill>
                  <a:srgbClr val="0B0B0B"/>
                </a:solidFill>
                <a:latin typeface="Calibri"/>
                <a:cs typeface="Calibri"/>
              </a:rPr>
              <a:t/>
            </a:r>
          </a:p>
        </p:txBody>
      </p:sp>
      <p:sp>
        <p:nvSpPr>
          <p:cNvPr id="17" name="forma 17"/>
          <p:cNvSpPr/>
          <p:nvPr/>
        </p:nvSpPr>
        <p:spPr>
          <a:xfrm>
            <a:off x="9048750" y="1384300"/>
            <a:ext cx="2305050" cy="14719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 wrap="square">
            <a:noAutofit/>
          </a:bodyPr>
          <a:lstStyle/>
          <a:p>
            <a:pPr>
              <a:buNone/>
            </a:pPr>
            <a:r>
              <a:rPr lang="pt-BR" sz="950" b="1" dirty="0">
                <a:solidFill>
                  <a:srgbClr val="898781"/>
                </a:solidFill>
                <a:latin typeface="Calibri"/>
                <a:cs typeface="Calibri"/>
              </a:rPr>
              <a:t>PONTO DE EQUILÍBRIO</a:t>
            </a:r>
          </a:p>
        </p:txBody>
      </p:sp>
      <p:sp>
        <p:nvSpPr>
          <p:cNvPr id="18" name="forma 18"/>
          <p:cNvSpPr/>
          <p:nvPr/>
        </p:nvSpPr>
        <p:spPr>
          <a:xfrm>
            <a:off x="9048750" y="1574800"/>
            <a:ext cx="2305050" cy="340868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 wrap="square">
            <a:noAutofit/>
          </a:bodyPr>
          <a:lstStyle/>
          <a:p>
            <a:pPr>
              <a:buNone/>
            </a:pPr>
            <a:r>
              <a:rPr lang="pt-BR" sz="2200" b="1" dirty="0">
                <a:solidFill>
                  <a:srgbClr val="0B0B0B"/>
                </a:solidFill>
                <a:latin typeface="Calibri"/>
                <a:cs typeface="Calibri"/>
              </a:rPr>
              <a:t>45 motos</a:t>
            </a:r>
          </a:p>
        </p:txBody>
      </p:sp>
      <p:sp>
        <p:nvSpPr>
          <p:cNvPr id="19" name="forma 19"/>
          <p:cNvSpPr/>
          <p:nvPr/>
        </p:nvSpPr>
        <p:spPr>
          <a:xfrm>
            <a:off x="9048750" y="1941068"/>
            <a:ext cx="2305050" cy="131699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 wrap="square">
            <a:noAutofit/>
          </a:bodyPr>
          <a:lstStyle/>
          <a:p>
            <a:pPr>
              <a:buNone/>
            </a:pPr>
            <a:r>
              <a:rPr lang="pt-BR" sz="850" dirty="0">
                <a:solidFill>
                  <a:srgbClr val="898781"/>
                </a:solidFill>
                <a:latin typeface="Calibri"/>
                <a:cs typeface="Calibri"/>
              </a:rPr>
              <a:t>29,2% das vendas · ref &lt; 50%</a:t>
            </a:r>
          </a:p>
        </p:txBody>
      </p:sp>
      <p:sp>
        <p:nvSpPr>
          <p:cNvPr id="20" name="forma 20"/>
          <p:cNvSpPr/>
          <p:nvPr/>
        </p:nvSpPr>
        <p:spPr>
          <a:xfrm>
            <a:off x="685800" y="2296668"/>
            <a:ext cx="10820400" cy="15494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 wrap="square">
            <a:noAutofit/>
          </a:bodyPr>
          <a:lstStyle/>
          <a:p>
            <a:pPr>
              <a:buNone/>
            </a:pPr>
            <a:r>
              <a:rPr lang="pt-BR" sz="1000" b="1" dirty="0">
                <a:solidFill>
                  <a:srgbClr val="52514E"/>
                </a:solidFill>
                <a:latin typeface="Calibri"/>
                <a:cs typeface="Calibri"/>
              </a:rPr>
              <a:t>Taxa de absorção, mês a mês (%)</a:t>
            </a:r>
          </a:p>
        </p:txBody>
      </p:sp>
      <p:sp>
        <p:nvSpPr>
          <p:cNvPr id="21" name="forma 21"/>
          <p:cNvSpPr/>
          <p:nvPr/>
        </p:nvSpPr>
        <p:spPr>
          <a:xfrm>
            <a:off x="1036638" y="3292450"/>
            <a:ext cx="533400" cy="629818"/>
          </a:xfrm>
          <a:prstGeom prst="roundRect">
            <a:avLst>
              <a:gd name="adj" fmla="val 12000"/>
            </a:avLst>
          </a:prstGeom>
          <a:solidFill>
            <a:srgbClr val="C9D6E8"/>
          </a:solidFill>
          <a:ln>
            <a:noFill/>
          </a:ln>
        </p:spPr>
        <p:txBody>
          <a:bodyPr lIns="0" tIns="0" rIns="0" bIns="0" anchor="t" wrap="square">
            <a:noAutofit/>
          </a:bodyPr>
          <a:lstStyle/>
          <a:p>
            <a:pPr>
              <a:buNone/>
            </a:pPr>
            <a:r>
              <a:rPr lang="pt-BR" sz="1200" dirty="0">
                <a:solidFill>
                  <a:srgbClr val="0B0B0B"/>
                </a:solidFill>
                <a:latin typeface="Calibri"/>
                <a:cs typeface="Calibri"/>
              </a:rPr>
              <a:t/>
            </a:r>
          </a:p>
        </p:txBody>
      </p:sp>
      <p:sp>
        <p:nvSpPr>
          <p:cNvPr id="22" name="forma 22"/>
          <p:cNvSpPr/>
          <p:nvPr/>
        </p:nvSpPr>
        <p:spPr>
          <a:xfrm>
            <a:off x="909638" y="3101950"/>
            <a:ext cx="787400" cy="15494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 wrap="square">
            <a:noAutofit/>
          </a:bodyPr>
          <a:lstStyle/>
          <a:p>
            <a:pPr algn="ctr">
              <a:buNone/>
            </a:pPr>
            <a:r>
              <a:rPr lang="pt-BR" sz="1000" dirty="0">
                <a:solidFill>
                  <a:srgbClr val="52514E"/>
                </a:solidFill>
                <a:latin typeface="Calibri"/>
                <a:cs typeface="Calibri"/>
              </a:rPr>
              <a:t>34</a:t>
            </a:r>
          </a:p>
        </p:txBody>
      </p:sp>
      <p:sp>
        <p:nvSpPr>
          <p:cNvPr id="23" name="forma 23"/>
          <p:cNvSpPr/>
          <p:nvPr/>
        </p:nvSpPr>
        <p:spPr>
          <a:xfrm>
            <a:off x="909638" y="3973068"/>
            <a:ext cx="787400" cy="139446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 wrap="square">
            <a:noAutofit/>
          </a:bodyPr>
          <a:lstStyle/>
          <a:p>
            <a:pPr algn="ctr">
              <a:buNone/>
            </a:pPr>
            <a:r>
              <a:rPr lang="pt-BR" sz="900" dirty="0">
                <a:solidFill>
                  <a:srgbClr val="898781"/>
                </a:solidFill>
                <a:latin typeface="Calibri"/>
                <a:cs typeface="Calibri"/>
              </a:rPr>
              <a:t>Out</a:t>
            </a:r>
          </a:p>
        </p:txBody>
      </p:sp>
      <p:sp>
        <p:nvSpPr>
          <p:cNvPr id="24" name="forma 24"/>
          <p:cNvSpPr/>
          <p:nvPr/>
        </p:nvSpPr>
        <p:spPr>
          <a:xfrm>
            <a:off x="2271713" y="3333566"/>
            <a:ext cx="533400" cy="588702"/>
          </a:xfrm>
          <a:prstGeom prst="roundRect">
            <a:avLst>
              <a:gd name="adj" fmla="val 12000"/>
            </a:avLst>
          </a:prstGeom>
          <a:solidFill>
            <a:srgbClr val="C9D6E8"/>
          </a:solidFill>
          <a:ln>
            <a:noFill/>
          </a:ln>
        </p:spPr>
        <p:txBody>
          <a:bodyPr lIns="0" tIns="0" rIns="0" bIns="0" anchor="t" wrap="square">
            <a:noAutofit/>
          </a:bodyPr>
          <a:lstStyle/>
          <a:p>
            <a:pPr>
              <a:buNone/>
            </a:pPr>
            <a:r>
              <a:rPr lang="pt-BR" sz="1200" dirty="0">
                <a:solidFill>
                  <a:srgbClr val="0B0B0B"/>
                </a:solidFill>
                <a:latin typeface="Calibri"/>
                <a:cs typeface="Calibri"/>
              </a:rPr>
              <a:t/>
            </a:r>
          </a:p>
        </p:txBody>
      </p:sp>
      <p:sp>
        <p:nvSpPr>
          <p:cNvPr id="25" name="forma 25"/>
          <p:cNvSpPr/>
          <p:nvPr/>
        </p:nvSpPr>
        <p:spPr>
          <a:xfrm>
            <a:off x="2144713" y="3143066"/>
            <a:ext cx="787400" cy="15494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 wrap="square">
            <a:noAutofit/>
          </a:bodyPr>
          <a:lstStyle/>
          <a:p>
            <a:pPr algn="ctr">
              <a:buNone/>
            </a:pPr>
            <a:r>
              <a:rPr lang="pt-BR" sz="1000" dirty="0">
                <a:solidFill>
                  <a:srgbClr val="52514E"/>
                </a:solidFill>
                <a:latin typeface="Calibri"/>
                <a:cs typeface="Calibri"/>
              </a:rPr>
              <a:t>32</a:t>
            </a:r>
          </a:p>
        </p:txBody>
      </p:sp>
      <p:sp>
        <p:nvSpPr>
          <p:cNvPr id="26" name="forma 26"/>
          <p:cNvSpPr/>
          <p:nvPr/>
        </p:nvSpPr>
        <p:spPr>
          <a:xfrm>
            <a:off x="2144713" y="3973068"/>
            <a:ext cx="787400" cy="139446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 wrap="square">
            <a:noAutofit/>
          </a:bodyPr>
          <a:lstStyle/>
          <a:p>
            <a:pPr algn="ctr">
              <a:buNone/>
            </a:pPr>
            <a:r>
              <a:rPr lang="pt-BR" sz="900" dirty="0">
                <a:solidFill>
                  <a:srgbClr val="898781"/>
                </a:solidFill>
                <a:latin typeface="Calibri"/>
                <a:cs typeface="Calibri"/>
              </a:rPr>
              <a:t>Nov</a:t>
            </a:r>
          </a:p>
        </p:txBody>
      </p:sp>
      <p:sp>
        <p:nvSpPr>
          <p:cNvPr id="27" name="forma 27"/>
          <p:cNvSpPr/>
          <p:nvPr/>
        </p:nvSpPr>
        <p:spPr>
          <a:xfrm>
            <a:off x="3506788" y="3354124"/>
            <a:ext cx="533400" cy="568144"/>
          </a:xfrm>
          <a:prstGeom prst="roundRect">
            <a:avLst>
              <a:gd name="adj" fmla="val 12000"/>
            </a:avLst>
          </a:prstGeom>
          <a:solidFill>
            <a:srgbClr val="C9D6E8"/>
          </a:solidFill>
          <a:ln>
            <a:noFill/>
          </a:ln>
        </p:spPr>
        <p:txBody>
          <a:bodyPr lIns="0" tIns="0" rIns="0" bIns="0" anchor="t" wrap="square">
            <a:noAutofit/>
          </a:bodyPr>
          <a:lstStyle/>
          <a:p>
            <a:pPr>
              <a:buNone/>
            </a:pPr>
            <a:r>
              <a:rPr lang="pt-BR" sz="1200" dirty="0">
                <a:solidFill>
                  <a:srgbClr val="0B0B0B"/>
                </a:solidFill>
                <a:latin typeface="Calibri"/>
                <a:cs typeface="Calibri"/>
              </a:rPr>
              <a:t/>
            </a:r>
          </a:p>
        </p:txBody>
      </p:sp>
      <p:sp>
        <p:nvSpPr>
          <p:cNvPr id="28" name="forma 28"/>
          <p:cNvSpPr/>
          <p:nvPr/>
        </p:nvSpPr>
        <p:spPr>
          <a:xfrm>
            <a:off x="3379788" y="3163624"/>
            <a:ext cx="787400" cy="15494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 wrap="square">
            <a:noAutofit/>
          </a:bodyPr>
          <a:lstStyle/>
          <a:p>
            <a:pPr algn="ctr">
              <a:buNone/>
            </a:pPr>
            <a:r>
              <a:rPr lang="pt-BR" sz="1000" dirty="0">
                <a:solidFill>
                  <a:srgbClr val="52514E"/>
                </a:solidFill>
                <a:latin typeface="Calibri"/>
                <a:cs typeface="Calibri"/>
              </a:rPr>
              <a:t>30</a:t>
            </a:r>
          </a:p>
        </p:txBody>
      </p:sp>
      <p:sp>
        <p:nvSpPr>
          <p:cNvPr id="29" name="forma 29"/>
          <p:cNvSpPr/>
          <p:nvPr/>
        </p:nvSpPr>
        <p:spPr>
          <a:xfrm>
            <a:off x="3379788" y="3973068"/>
            <a:ext cx="787400" cy="139446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 wrap="square">
            <a:noAutofit/>
          </a:bodyPr>
          <a:lstStyle/>
          <a:p>
            <a:pPr algn="ctr">
              <a:buNone/>
            </a:pPr>
            <a:r>
              <a:rPr lang="pt-BR" sz="900" dirty="0">
                <a:solidFill>
                  <a:srgbClr val="898781"/>
                </a:solidFill>
                <a:latin typeface="Calibri"/>
                <a:cs typeface="Calibri"/>
              </a:rPr>
              <a:t>Dez</a:t>
            </a:r>
          </a:p>
        </p:txBody>
      </p:sp>
      <p:sp>
        <p:nvSpPr>
          <p:cNvPr id="30" name="forma 30"/>
          <p:cNvSpPr/>
          <p:nvPr/>
        </p:nvSpPr>
        <p:spPr>
          <a:xfrm>
            <a:off x="4741863" y="3042018"/>
            <a:ext cx="533400" cy="880250"/>
          </a:xfrm>
          <a:prstGeom prst="roundRect">
            <a:avLst>
              <a:gd name="adj" fmla="val 12000"/>
            </a:avLst>
          </a:prstGeom>
          <a:solidFill>
            <a:srgbClr val="C9D6E8"/>
          </a:solidFill>
          <a:ln>
            <a:noFill/>
          </a:ln>
        </p:spPr>
        <p:txBody>
          <a:bodyPr lIns="0" tIns="0" rIns="0" bIns="0" anchor="t" wrap="square">
            <a:noAutofit/>
          </a:bodyPr>
          <a:lstStyle/>
          <a:p>
            <a:pPr>
              <a:buNone/>
            </a:pPr>
            <a:r>
              <a:rPr lang="pt-BR" sz="1200" dirty="0">
                <a:solidFill>
                  <a:srgbClr val="0B0B0B"/>
                </a:solidFill>
                <a:latin typeface="Calibri"/>
                <a:cs typeface="Calibri"/>
              </a:rPr>
              <a:t/>
            </a:r>
          </a:p>
        </p:txBody>
      </p:sp>
      <p:sp>
        <p:nvSpPr>
          <p:cNvPr id="31" name="forma 31"/>
          <p:cNvSpPr/>
          <p:nvPr/>
        </p:nvSpPr>
        <p:spPr>
          <a:xfrm>
            <a:off x="4614863" y="2851518"/>
            <a:ext cx="787400" cy="15494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 wrap="square">
            <a:noAutofit/>
          </a:bodyPr>
          <a:lstStyle/>
          <a:p>
            <a:pPr algn="ctr">
              <a:buNone/>
            </a:pPr>
            <a:r>
              <a:rPr lang="pt-BR" sz="1000" dirty="0">
                <a:solidFill>
                  <a:srgbClr val="52514E"/>
                </a:solidFill>
                <a:latin typeface="Calibri"/>
                <a:cs typeface="Calibri"/>
              </a:rPr>
              <a:t>47</a:t>
            </a:r>
          </a:p>
        </p:txBody>
      </p:sp>
      <p:sp>
        <p:nvSpPr>
          <p:cNvPr id="32" name="forma 32"/>
          <p:cNvSpPr/>
          <p:nvPr/>
        </p:nvSpPr>
        <p:spPr>
          <a:xfrm>
            <a:off x="4614863" y="3973068"/>
            <a:ext cx="787400" cy="139446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 wrap="square">
            <a:noAutofit/>
          </a:bodyPr>
          <a:lstStyle/>
          <a:p>
            <a:pPr algn="ctr">
              <a:buNone/>
            </a:pPr>
            <a:r>
              <a:rPr lang="pt-BR" sz="900" dirty="0">
                <a:solidFill>
                  <a:srgbClr val="898781"/>
                </a:solidFill>
                <a:latin typeface="Calibri"/>
                <a:cs typeface="Calibri"/>
              </a:rPr>
              <a:t>Jan</a:t>
            </a:r>
          </a:p>
        </p:txBody>
      </p:sp>
      <p:sp>
        <p:nvSpPr>
          <p:cNvPr id="33" name="forma 33"/>
          <p:cNvSpPr/>
          <p:nvPr/>
        </p:nvSpPr>
        <p:spPr>
          <a:xfrm>
            <a:off x="5976938" y="3163496"/>
            <a:ext cx="533400" cy="758772"/>
          </a:xfrm>
          <a:prstGeom prst="roundRect">
            <a:avLst>
              <a:gd name="adj" fmla="val 12000"/>
            </a:avLst>
          </a:prstGeom>
          <a:solidFill>
            <a:srgbClr val="C9D6E8"/>
          </a:solidFill>
          <a:ln>
            <a:noFill/>
          </a:ln>
        </p:spPr>
        <p:txBody>
          <a:bodyPr lIns="0" tIns="0" rIns="0" bIns="0" anchor="t" wrap="square">
            <a:noAutofit/>
          </a:bodyPr>
          <a:lstStyle/>
          <a:p>
            <a:pPr>
              <a:buNone/>
            </a:pPr>
            <a:r>
              <a:rPr lang="pt-BR" sz="1200" dirty="0">
                <a:solidFill>
                  <a:srgbClr val="0B0B0B"/>
                </a:solidFill>
                <a:latin typeface="Calibri"/>
                <a:cs typeface="Calibri"/>
              </a:rPr>
              <a:t/>
            </a:r>
          </a:p>
        </p:txBody>
      </p:sp>
      <p:sp>
        <p:nvSpPr>
          <p:cNvPr id="34" name="forma 34"/>
          <p:cNvSpPr/>
          <p:nvPr/>
        </p:nvSpPr>
        <p:spPr>
          <a:xfrm>
            <a:off x="5849938" y="2972996"/>
            <a:ext cx="787400" cy="15494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 wrap="square">
            <a:noAutofit/>
          </a:bodyPr>
          <a:lstStyle/>
          <a:p>
            <a:pPr algn="ctr">
              <a:buNone/>
            </a:pPr>
            <a:r>
              <a:rPr lang="pt-BR" sz="1000" dirty="0">
                <a:solidFill>
                  <a:srgbClr val="52514E"/>
                </a:solidFill>
                <a:latin typeface="Calibri"/>
                <a:cs typeface="Calibri"/>
              </a:rPr>
              <a:t>41</a:t>
            </a:r>
          </a:p>
        </p:txBody>
      </p:sp>
      <p:sp>
        <p:nvSpPr>
          <p:cNvPr id="35" name="forma 35"/>
          <p:cNvSpPr/>
          <p:nvPr/>
        </p:nvSpPr>
        <p:spPr>
          <a:xfrm>
            <a:off x="5849938" y="3973068"/>
            <a:ext cx="787400" cy="139446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 wrap="square">
            <a:noAutofit/>
          </a:bodyPr>
          <a:lstStyle/>
          <a:p>
            <a:pPr algn="ctr">
              <a:buNone/>
            </a:pPr>
            <a:r>
              <a:rPr lang="pt-BR" sz="900" dirty="0">
                <a:solidFill>
                  <a:srgbClr val="898781"/>
                </a:solidFill>
                <a:latin typeface="Calibri"/>
                <a:cs typeface="Calibri"/>
              </a:rPr>
              <a:t>Fev</a:t>
            </a:r>
          </a:p>
        </p:txBody>
      </p:sp>
      <p:sp>
        <p:nvSpPr>
          <p:cNvPr id="36" name="forma 36"/>
          <p:cNvSpPr/>
          <p:nvPr/>
        </p:nvSpPr>
        <p:spPr>
          <a:xfrm>
            <a:off x="7212013" y="2754208"/>
            <a:ext cx="533400" cy="1168060"/>
          </a:xfrm>
          <a:prstGeom prst="roundRect">
            <a:avLst>
              <a:gd name="adj" fmla="val 12000"/>
            </a:avLst>
          </a:prstGeom>
          <a:solidFill>
            <a:srgbClr val="C9D6E8"/>
          </a:solidFill>
          <a:ln>
            <a:noFill/>
          </a:ln>
        </p:spPr>
        <p:txBody>
          <a:bodyPr lIns="0" tIns="0" rIns="0" bIns="0" anchor="t" wrap="square">
            <a:noAutofit/>
          </a:bodyPr>
          <a:lstStyle/>
          <a:p>
            <a:pPr>
              <a:buNone/>
            </a:pPr>
            <a:r>
              <a:rPr lang="pt-BR" sz="1200" dirty="0">
                <a:solidFill>
                  <a:srgbClr val="0B0B0B"/>
                </a:solidFill>
                <a:latin typeface="Calibri"/>
                <a:cs typeface="Calibri"/>
              </a:rPr>
              <a:t/>
            </a:r>
          </a:p>
        </p:txBody>
      </p:sp>
      <p:sp>
        <p:nvSpPr>
          <p:cNvPr id="37" name="forma 37"/>
          <p:cNvSpPr/>
          <p:nvPr/>
        </p:nvSpPr>
        <p:spPr>
          <a:xfrm>
            <a:off x="7085013" y="2563708"/>
            <a:ext cx="787400" cy="15494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 wrap="square">
            <a:noAutofit/>
          </a:bodyPr>
          <a:lstStyle/>
          <a:p>
            <a:pPr algn="ctr">
              <a:buNone/>
            </a:pPr>
            <a:r>
              <a:rPr lang="pt-BR" sz="1000" dirty="0">
                <a:solidFill>
                  <a:srgbClr val="52514E"/>
                </a:solidFill>
                <a:latin typeface="Calibri"/>
                <a:cs typeface="Calibri"/>
              </a:rPr>
              <a:t>63</a:t>
            </a:r>
          </a:p>
        </p:txBody>
      </p:sp>
      <p:sp>
        <p:nvSpPr>
          <p:cNvPr id="38" name="forma 38"/>
          <p:cNvSpPr/>
          <p:nvPr/>
        </p:nvSpPr>
        <p:spPr>
          <a:xfrm>
            <a:off x="7085013" y="3973068"/>
            <a:ext cx="787400" cy="139446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 wrap="square">
            <a:noAutofit/>
          </a:bodyPr>
          <a:lstStyle/>
          <a:p>
            <a:pPr algn="ctr">
              <a:buNone/>
            </a:pPr>
            <a:r>
              <a:rPr lang="pt-BR" sz="900" dirty="0">
                <a:solidFill>
                  <a:srgbClr val="898781"/>
                </a:solidFill>
                <a:latin typeface="Calibri"/>
                <a:cs typeface="Calibri"/>
              </a:rPr>
              <a:t>Mar</a:t>
            </a:r>
          </a:p>
        </p:txBody>
      </p:sp>
      <p:sp>
        <p:nvSpPr>
          <p:cNvPr id="39" name="forma 39"/>
          <p:cNvSpPr/>
          <p:nvPr/>
        </p:nvSpPr>
        <p:spPr>
          <a:xfrm>
            <a:off x="8447088" y="3030804"/>
            <a:ext cx="533400" cy="891464"/>
          </a:xfrm>
          <a:prstGeom prst="roundRect">
            <a:avLst>
              <a:gd name="adj" fmla="val 12000"/>
            </a:avLst>
          </a:prstGeom>
          <a:solidFill>
            <a:srgbClr val="C9D6E8"/>
          </a:solidFill>
          <a:ln>
            <a:noFill/>
          </a:ln>
        </p:spPr>
        <p:txBody>
          <a:bodyPr lIns="0" tIns="0" rIns="0" bIns="0" anchor="t" wrap="square">
            <a:noAutofit/>
          </a:bodyPr>
          <a:lstStyle/>
          <a:p>
            <a:pPr>
              <a:buNone/>
            </a:pPr>
            <a:r>
              <a:rPr lang="pt-BR" sz="1200" dirty="0">
                <a:solidFill>
                  <a:srgbClr val="0B0B0B"/>
                </a:solidFill>
                <a:latin typeface="Calibri"/>
                <a:cs typeface="Calibri"/>
              </a:rPr>
              <a:t/>
            </a:r>
          </a:p>
        </p:txBody>
      </p:sp>
      <p:sp>
        <p:nvSpPr>
          <p:cNvPr id="40" name="forma 40"/>
          <p:cNvSpPr/>
          <p:nvPr/>
        </p:nvSpPr>
        <p:spPr>
          <a:xfrm>
            <a:off x="8320088" y="2840304"/>
            <a:ext cx="787400" cy="15494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 wrap="square">
            <a:noAutofit/>
          </a:bodyPr>
          <a:lstStyle/>
          <a:p>
            <a:pPr algn="ctr">
              <a:buNone/>
            </a:pPr>
            <a:r>
              <a:rPr lang="pt-BR" sz="1000" dirty="0">
                <a:solidFill>
                  <a:srgbClr val="52514E"/>
                </a:solidFill>
                <a:latin typeface="Calibri"/>
                <a:cs typeface="Calibri"/>
              </a:rPr>
              <a:t>48</a:t>
            </a:r>
          </a:p>
        </p:txBody>
      </p:sp>
      <p:sp>
        <p:nvSpPr>
          <p:cNvPr id="41" name="forma 41"/>
          <p:cNvSpPr/>
          <p:nvPr/>
        </p:nvSpPr>
        <p:spPr>
          <a:xfrm>
            <a:off x="8320088" y="3973068"/>
            <a:ext cx="787400" cy="139446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 wrap="square">
            <a:noAutofit/>
          </a:bodyPr>
          <a:lstStyle/>
          <a:p>
            <a:pPr algn="ctr">
              <a:buNone/>
            </a:pPr>
            <a:r>
              <a:rPr lang="pt-BR" sz="900" dirty="0">
                <a:solidFill>
                  <a:srgbClr val="898781"/>
                </a:solidFill>
                <a:latin typeface="Calibri"/>
                <a:cs typeface="Calibri"/>
              </a:rPr>
              <a:t>Abr</a:t>
            </a:r>
          </a:p>
        </p:txBody>
      </p:sp>
      <p:sp>
        <p:nvSpPr>
          <p:cNvPr id="42" name="forma 42"/>
          <p:cNvSpPr/>
          <p:nvPr/>
        </p:nvSpPr>
        <p:spPr>
          <a:xfrm>
            <a:off x="9682163" y="2999033"/>
            <a:ext cx="533400" cy="923235"/>
          </a:xfrm>
          <a:prstGeom prst="roundRect">
            <a:avLst>
              <a:gd name="adj" fmla="val 12000"/>
            </a:avLst>
          </a:prstGeom>
          <a:solidFill>
            <a:srgbClr val="D98A0B"/>
          </a:solidFill>
          <a:ln>
            <a:noFill/>
          </a:ln>
        </p:spPr>
        <p:txBody>
          <a:bodyPr lIns="0" tIns="0" rIns="0" bIns="0" anchor="t" wrap="square">
            <a:noAutofit/>
          </a:bodyPr>
          <a:lstStyle/>
          <a:p>
            <a:pPr>
              <a:buNone/>
            </a:pPr>
            <a:r>
              <a:rPr lang="pt-BR" sz="1200" dirty="0">
                <a:solidFill>
                  <a:srgbClr val="0B0B0B"/>
                </a:solidFill>
                <a:latin typeface="Calibri"/>
                <a:cs typeface="Calibri"/>
              </a:rPr>
              <a:t/>
            </a:r>
          </a:p>
        </p:txBody>
      </p:sp>
      <p:sp>
        <p:nvSpPr>
          <p:cNvPr id="43" name="forma 43"/>
          <p:cNvSpPr/>
          <p:nvPr/>
        </p:nvSpPr>
        <p:spPr>
          <a:xfrm>
            <a:off x="9555163" y="2808533"/>
            <a:ext cx="787400" cy="15494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 wrap="square">
            <a:noAutofit/>
          </a:bodyPr>
          <a:lstStyle/>
          <a:p>
            <a:pPr algn="ctr">
              <a:buNone/>
            </a:pPr>
            <a:r>
              <a:rPr lang="pt-BR" sz="1000" b="1" dirty="0">
                <a:solidFill>
                  <a:srgbClr val="D98A0B"/>
                </a:solidFill>
                <a:latin typeface="Calibri"/>
                <a:cs typeface="Calibri"/>
              </a:rPr>
              <a:t>49</a:t>
            </a:r>
          </a:p>
        </p:txBody>
      </p:sp>
      <p:sp>
        <p:nvSpPr>
          <p:cNvPr id="44" name="forma 44"/>
          <p:cNvSpPr/>
          <p:nvPr/>
        </p:nvSpPr>
        <p:spPr>
          <a:xfrm>
            <a:off x="9555163" y="3973068"/>
            <a:ext cx="787400" cy="139446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 wrap="square">
            <a:noAutofit/>
          </a:bodyPr>
          <a:lstStyle/>
          <a:p>
            <a:pPr algn="ctr">
              <a:buNone/>
            </a:pPr>
            <a:r>
              <a:rPr lang="pt-BR" sz="900" b="1" dirty="0">
                <a:solidFill>
                  <a:srgbClr val="0B0B0B"/>
                </a:solidFill>
                <a:latin typeface="Calibri"/>
                <a:cs typeface="Calibri"/>
              </a:rPr>
              <a:t>Mai</a:t>
            </a:r>
          </a:p>
        </p:txBody>
      </p:sp>
      <p:sp>
        <p:nvSpPr>
          <p:cNvPr id="45" name="forma 45"/>
          <p:cNvSpPr/>
          <p:nvPr/>
        </p:nvSpPr>
        <p:spPr>
          <a:xfrm>
            <a:off x="685800" y="2707485"/>
            <a:ext cx="9956800" cy="11430"/>
          </a:xfrm>
          <a:prstGeom prst="rect">
            <a:avLst/>
          </a:prstGeom>
          <a:solidFill>
            <a:srgbClr val="898781"/>
          </a:solidFill>
          <a:ln>
            <a:noFill/>
          </a:ln>
        </p:spPr>
        <p:txBody>
          <a:bodyPr lIns="0" tIns="0" rIns="0" bIns="0" anchor="t" wrap="square">
            <a:noAutofit/>
          </a:bodyPr>
          <a:lstStyle/>
          <a:p>
            <a:pPr>
              <a:buNone/>
            </a:pPr>
            <a:r>
              <a:rPr lang="pt-BR" sz="1200" dirty="0">
                <a:solidFill>
                  <a:srgbClr val="0B0B0B"/>
                </a:solidFill>
                <a:latin typeface="Calibri"/>
                <a:cs typeface="Calibri"/>
              </a:rPr>
              <a:t/>
            </a:r>
          </a:p>
        </p:txBody>
      </p:sp>
      <p:sp>
        <p:nvSpPr>
          <p:cNvPr id="46" name="forma 46"/>
          <p:cNvSpPr/>
          <p:nvPr/>
        </p:nvSpPr>
        <p:spPr>
          <a:xfrm>
            <a:off x="10693400" y="2631285"/>
            <a:ext cx="812800" cy="131699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 wrap="square">
            <a:noAutofit/>
          </a:bodyPr>
          <a:lstStyle/>
          <a:p>
            <a:pPr algn="l">
              <a:buNone/>
            </a:pPr>
            <a:r>
              <a:rPr lang="pt-BR" sz="850" dirty="0">
                <a:solidFill>
                  <a:srgbClr val="898781"/>
                </a:solidFill>
                <a:latin typeface="Calibri"/>
                <a:cs typeface="Calibri"/>
              </a:rPr>
              <a:t>média 65</a:t>
            </a:r>
          </a:p>
        </p:txBody>
      </p:sp>
      <p:sp>
        <p:nvSpPr>
          <p:cNvPr id="47" name="forma 47"/>
          <p:cNvSpPr/>
          <p:nvPr/>
        </p:nvSpPr>
        <p:spPr>
          <a:xfrm>
            <a:off x="685800" y="4201668"/>
            <a:ext cx="10820400" cy="901382"/>
          </a:xfrm>
          <a:prstGeom prst="roundRect">
            <a:avLst>
              <a:gd name="adj" fmla="val 7000"/>
            </a:avLst>
          </a:prstGeom>
          <a:solidFill>
            <a:srgbClr val="FDF3E3"/>
          </a:solidFill>
          <a:ln>
            <a:noFill/>
          </a:ln>
        </p:spPr>
        <p:txBody>
          <a:bodyPr lIns="0" tIns="0" rIns="0" bIns="0" anchor="t" wrap="square">
            <a:noAutofit/>
          </a:bodyPr>
          <a:lstStyle/>
          <a:p>
            <a:pPr>
              <a:buNone/>
            </a:pPr>
            <a:r>
              <a:rPr lang="pt-BR" sz="1200" dirty="0">
                <a:solidFill>
                  <a:srgbClr val="0B0B0B"/>
                </a:solidFill>
                <a:latin typeface="Calibri"/>
                <a:cs typeface="Calibri"/>
              </a:rPr>
              <a:t/>
            </a:r>
          </a:p>
        </p:txBody>
      </p:sp>
      <p:sp>
        <p:nvSpPr>
          <p:cNvPr id="48" name="forma 48"/>
          <p:cNvSpPr/>
          <p:nvPr/>
        </p:nvSpPr>
        <p:spPr>
          <a:xfrm>
            <a:off x="685800" y="4201668"/>
            <a:ext cx="50800" cy="901382"/>
          </a:xfrm>
          <a:prstGeom prst="rect">
            <a:avLst/>
          </a:prstGeom>
          <a:solidFill>
            <a:srgbClr val="D98A0B"/>
          </a:solidFill>
          <a:ln>
            <a:noFill/>
          </a:ln>
        </p:spPr>
        <p:txBody>
          <a:bodyPr lIns="0" tIns="0" rIns="0" bIns="0" anchor="t" wrap="square">
            <a:noAutofit/>
          </a:bodyPr>
          <a:lstStyle/>
          <a:p>
            <a:pPr>
              <a:buNone/>
            </a:pPr>
            <a:r>
              <a:rPr lang="pt-BR" sz="1200" dirty="0">
                <a:solidFill>
                  <a:srgbClr val="0B0B0B"/>
                </a:solidFill>
                <a:latin typeface="Calibri"/>
                <a:cs typeface="Calibri"/>
              </a:rPr>
              <a:t/>
            </a:r>
          </a:p>
        </p:txBody>
      </p:sp>
      <p:sp>
        <p:nvSpPr>
          <p:cNvPr id="49" name="forma 49"/>
          <p:cNvSpPr/>
          <p:nvPr/>
        </p:nvSpPr>
        <p:spPr>
          <a:xfrm>
            <a:off x="889000" y="4328668"/>
            <a:ext cx="10414000" cy="14719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 wrap="square">
            <a:noAutofit/>
          </a:bodyPr>
          <a:lstStyle/>
          <a:p>
            <a:pPr>
              <a:buNone/>
            </a:pPr>
            <a:r>
              <a:rPr lang="pt-BR" sz="950" b="1" dirty="0">
                <a:solidFill>
                  <a:srgbClr val="52514E"/>
                </a:solidFill>
                <a:latin typeface="Calibri"/>
                <a:cs typeface="Calibri"/>
              </a:rPr>
              <a:t>O GAP</a:t>
            </a:r>
          </a:p>
        </p:txBody>
      </p:sp>
      <p:sp>
        <p:nvSpPr>
          <p:cNvPr id="50" name="forma 50"/>
          <p:cNvSpPr/>
          <p:nvPr/>
        </p:nvSpPr>
        <p:spPr>
          <a:xfrm>
            <a:off x="889000" y="4582668"/>
            <a:ext cx="10414000" cy="36798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 wrap="square">
            <a:noAutofit/>
          </a:bodyPr>
          <a:lstStyle/>
          <a:p>
            <a:pPr>
              <a:lnSpc>
                <a:spcPct val="125000"/>
              </a:lnSpc>
              <a:buNone/>
            </a:pPr>
            <a:r>
              <a:rPr lang="pt-BR" sz="950" dirty="0">
                <a:solidFill>
                  <a:srgbClr val="0B0B0B"/>
                </a:solidFill>
                <a:latin typeface="Calibri"/>
                <a:cs typeface="Calibri"/>
              </a:rPr>
              <a:t>A absorção saiu de ~30% no fim de 2025 para 49,4%. Faltam R$ 40.857,64 de MC de pós-vendas por mês para os 65% — cada real de margem no balcão e na oficina desafoga a venda de motos.</a:t>
            </a:r>
          </a:p>
        </p:txBody>
      </p:sp>
      <p:sp>
        <p:nvSpPr>
          <p:cNvPr id="51" name="forma 51"/>
          <p:cNvSpPr/>
          <p:nvPr/>
        </p:nvSpPr>
        <p:spPr>
          <a:xfrm>
            <a:off x="685800" y="6451600"/>
            <a:ext cx="9931400" cy="151454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 wrap="square">
            <a:noAutofit/>
          </a:bodyPr>
          <a:lstStyle/>
          <a:p>
            <a:pPr>
              <a:lnSpc>
                <a:spcPct val="115000"/>
              </a:lnSpc>
              <a:buNone/>
            </a:pPr>
            <a:r>
              <a:rPr lang="pt-BR" sz="850" dirty="0">
                <a:solidFill>
                  <a:srgbClr val="898781"/>
                </a:solidFill>
                <a:latin typeface="Calibri"/>
                <a:cs typeface="Calibri"/>
              </a:rPr>
              <a:t>K2 · fonte: DRE Yamaha BMI mensal (aba Data) — arquivos NIPPON em _NOVAS MELHORIAS/K2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Performance">
  <a:themeElements>
    <a:clrScheme name="Performance">
      <a:dk1>
        <a:srgbClr val="0B0B0B"/>
      </a:dk1>
      <a:lt1>
        <a:srgbClr val="FFFFFF"/>
      </a:lt1>
      <a:dk2>
        <a:srgbClr val="52514E"/>
      </a:dk2>
      <a:lt2>
        <a:srgbClr val="F4F4F1"/>
      </a:lt2>
      <a:accent1>
        <a:srgbClr val="2A78D6"/>
      </a:accent1>
      <a:accent2>
        <a:srgbClr val="EB6834"/>
      </a:accent2>
      <a:accent3>
        <a:srgbClr val="4B9B3F"/>
      </a:accent3>
      <a:accent4>
        <a:srgbClr val="D98A0B"/>
      </a:accent4>
      <a:accent5>
        <a:srgbClr val="D64545"/>
      </a:accent5>
      <a:accent6>
        <a:srgbClr val="898781"/>
      </a:accent6>
      <a:hlink>
        <a:srgbClr val="2A78D6"/>
      </a:hlink>
      <a:folHlink>
        <a:srgbClr val="898781"/>
      </a:folHlink>
    </a:clrScheme>
    <a:fontScheme name="Performance">
      <a:majorFont>
        <a:latin typeface="Calibri"/>
        <a:ea typeface=""/>
        <a:cs typeface=""/>
      </a:majorFont>
      <a:minorFont>
        <a:latin typeface="Calibri"/>
        <a:ea typeface=""/>
        <a:cs typeface=""/>
      </a:minorFont>
    </a:fontScheme>
    <a:fmtScheme name="Performance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Performance Notas">
  <a:themeElements>
    <a:clrScheme name="Performance Notas">
      <a:dk1>
        <a:srgbClr val="0B0B0B"/>
      </a:dk1>
      <a:lt1>
        <a:srgbClr val="FFFFFF"/>
      </a:lt1>
      <a:dk2>
        <a:srgbClr val="52514E"/>
      </a:dk2>
      <a:lt2>
        <a:srgbClr val="F4F4F1"/>
      </a:lt2>
      <a:accent1>
        <a:srgbClr val="2A78D6"/>
      </a:accent1>
      <a:accent2>
        <a:srgbClr val="EB6834"/>
      </a:accent2>
      <a:accent3>
        <a:srgbClr val="4B9B3F"/>
      </a:accent3>
      <a:accent4>
        <a:srgbClr val="D98A0B"/>
      </a:accent4>
      <a:accent5>
        <a:srgbClr val="D64545"/>
      </a:accent5>
      <a:accent6>
        <a:srgbClr val="898781"/>
      </a:accent6>
      <a:hlink>
        <a:srgbClr val="2A78D6"/>
      </a:hlink>
      <a:folHlink>
        <a:srgbClr val="898781"/>
      </a:folHlink>
    </a:clrScheme>
    <a:fontScheme name="Performance Notas">
      <a:majorFont>
        <a:latin typeface="Calibri"/>
        <a:ea typeface=""/>
        <a:cs typeface=""/>
      </a:majorFont>
      <a:minorFont>
        <a:latin typeface="Calibri"/>
        <a:ea typeface=""/>
        <a:cs typeface=""/>
      </a:minorFont>
    </a:fontScheme>
    <a:fmtScheme name="Performance Notas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Application>Performance Concessionário</Application>
  <Slides>4</Slides>
  <Company/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Teste</dc:title>
  <dc:creator>Smart Dealer</dc:creator>
  <cp:lastModifiedBy>Smart Dealer</cp:lastModifiedBy>
</cp:coreProperties>
</file>