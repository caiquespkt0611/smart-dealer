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c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31720"/>
            <a:ext cx="6593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À DIRETORIA · AGOSTO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2651760"/>
            <a:ext cx="6593373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77240" y="3749040"/>
            <a:ext cx="595530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inteligente de gestão da experiência do cliente.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piloto na Nippon Motos ao padrão da rede Yamaha.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5074920"/>
            <a:ext cx="3840480" cy="0"/>
          </a:xfrm>
          <a:prstGeom prst="line">
            <a:avLst/>
          </a:prstGeom>
          <a:noFill/>
          <a:ln w="12700">
            <a:solidFill>
              <a:srgbClr val="3D4F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257800"/>
            <a:ext cx="6380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 · Klenilson Paiva  ·  Yamaha Way 2026 · Grupo Shogun Riders · Nippon Motos</a:t>
            </a:r>
            <a:endParaRPr lang="en-US" sz="1150" dirty="0"/>
          </a:p>
        </p:txBody>
      </p:sp>
      <p:pic>
        <p:nvPicPr>
          <p:cNvPr id="8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7635240" y="1417320"/>
            <a:ext cx="5486400" cy="3257550"/>
          </a:xfrm>
          <a:prstGeom prst="rect">
            <a:avLst/>
          </a:prstGeom>
          <a:effectLst>
            <a:outerShdw sx="100000" sy="100000" kx="0" ky="0" algn="bl" rotWithShape="0" blurRad="279400" dist="101600" dir="5400000">
              <a:srgbClr val="05090F">
                <a:alpha val="6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mudou; os dados existem, a inteligência não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piloto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rodando de verdade na Nippon Motos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0100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novas frentes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045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Yamaha, Premya, Seguros, Consórcio e CRM governado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99669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9669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voz do cliente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9669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com clientes reais: o que decide a compra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460857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0857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retorno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0857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mensurável e a jornada completa do cliente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0100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26" name="Text 24"/>
          <p:cNvSpPr/>
          <p:nvPr/>
        </p:nvSpPr>
        <p:spPr>
          <a:xfrm>
            <a:off x="822045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22045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045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piloto ao rollout regional, nacional e além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Yamaha conhece seus clientes tão bem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Amazon, Netflix ou Nubank?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padrão de comparação do cliente não é outra concessionária.</a:t>
            </a:r>
            <a:endParaRPr lang="en-US" sz="145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melhor experiência digital que ele já teve.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existem. A inteligência, não.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perde todos os dias, em todas as concessionárias — porque nenhum sistema conversa com o outro.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recusado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nunca mais é procurado — mesmo quando o Liberacred já o aprovou de novo.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não pago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0857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 aprovada fica parada semanas. A venda já estava ganha; ninguém cobra o desfecho.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0100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quitando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045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volta ao mercado em silêncio. Quem chama primeiro leva — hoje é o concorrente.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9669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sem seguro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Milhares de motos vendidas rodando sem apólice. Renovação é receita que evapora.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460857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vencida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0857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esquece, a oficina não avisa — e a absorção do pós-vendas fica no papel.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0100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822045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no e-mail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045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condição de campanha mora na caixa de entrada de alguém. A loja responde errado ou não responde.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6235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Análises que hoje levam de 30 minutos a 3 horas — quando alguém tem tempo de fazer.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 PILOTO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conceito: está rodando na Nippon Motos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lojas · 25 módulos em produção · pago pela própria concessionária (R$ 600/mês) · acompanhado pela regional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DE JULHO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90,0%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9669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de 160 motos — R$ 7.500 garantidos na campanha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8615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 PÓS-VENDAS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→ 49%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70560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rumo à meta de 65%, lida direto do DRE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506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RESPOSTA AO LEAD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3h47 → 8min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451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dos leads atendidos em até 10 minutos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03970" y="196596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SATISFAÇÃO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 → 4,5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23426" y="299008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com clientes antes × depois do piloto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840480"/>
            <a:ext cx="10634472" cy="1188720"/>
          </a:xfrm>
          <a:prstGeom prst="roundRect">
            <a:avLst>
              <a:gd name="adj" fmla="val 2308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398678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PDCA que levava horas sai em um clique — no formato oficial da Yamaha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4297680"/>
            <a:ext cx="10085832" cy="6217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mercado × share, segmentos, praças e invasão de território viram plano de ação automaticamente. A planilha de emplacamento é publicada uma vez por mês e todas as telas se atualizam sozinhas.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77240" y="534924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já estão na base de dados — a estrutura multi-grupo existe desde o primeiro dia.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produ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 PILOTO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plataforma, ao vivo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77240" y="14173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reais do sistema em produção — o que o titular da Nippon abre todos os dias.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737360" y="1965960"/>
            <a:ext cx="8778240" cy="5486400"/>
          </a:xfrm>
          <a:prstGeom prst="roundRect">
            <a:avLst>
              <a:gd name="adj" fmla="val 1167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8366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5"/>
          <p:cNvSpPr/>
          <p:nvPr/>
        </p:nvSpPr>
        <p:spPr>
          <a:xfrm>
            <a:off x="203911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6"/>
          <p:cNvSpPr/>
          <p:nvPr/>
        </p:nvSpPr>
        <p:spPr>
          <a:xfrm>
            <a:off x="219456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Text 7"/>
          <p:cNvSpPr/>
          <p:nvPr/>
        </p:nvSpPr>
        <p:spPr>
          <a:xfrm>
            <a:off x="4754880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11" name="Image 1" descr="_NOVAS MELHORIAS/deck-assets/perform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36" y="2240280"/>
            <a:ext cx="8705088" cy="51755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AS NOVAS FRENTES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Yamaha: recusado não é fim de linha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cruza a base de recusados do CDC com o Liberacred e devolve ao vendedor um cliente já aprovado de novo.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993392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recusados no CDC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828800" y="22585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trimestre, no grupo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33272" y="246888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633472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06624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828800" y="27157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elegíveis Liberacred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828800" y="297180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 automático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33272" y="3182112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346704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419856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828800" y="34290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contatados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28800" y="368503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trabalho do vendedor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33272" y="3895344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059936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133088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828800" y="41422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convertidos em venda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828800" y="439826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R$ 92.300 recuperados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4892040"/>
            <a:ext cx="4892040" cy="1371600"/>
          </a:xfrm>
          <a:prstGeom prst="roundRect">
            <a:avLst>
              <a:gd name="adj" fmla="val 2000"/>
            </a:avLst>
          </a:prstGeom>
          <a:solidFill>
            <a:srgbClr val="EEF4FF"/>
          </a:solidFill>
          <a:ln/>
        </p:spPr>
      </p:sp>
      <p:sp>
        <p:nvSpPr>
          <p:cNvPr id="26" name="Text 24"/>
          <p:cNvSpPr/>
          <p:nvPr/>
        </p:nvSpPr>
        <p:spPr>
          <a:xfrm>
            <a:off x="978408" y="502920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Liberacred como prêmio, nunca como recusa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78408" y="5303520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"Parabéns! Você acaba de ser APROVADO no Liberacred do Banco Yamaha — condições especiais, sem nova análise." Disparada pelo vendedor em um clique.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30" name="Shape 28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31" name="Shape 29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2" name="Text 30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3" name="Image 0" descr="_NOVAS MELHORIAS/deck-assets/b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Aprovados não pagos e contratos quitando na mesma tela — cada um com ação sugerida.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AS NOVAS FRENTES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Premya: quanto vale a fidelidade, em reais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folder oficial do Banco Yamaha codificado no sistema — o índice acompanhado em curso, não descoberto na apuração.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2996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Diamante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40280" y="203911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37560" y="203911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2,00% do liberado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487168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59689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40280" y="260604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85–94,9%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37560" y="26060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1,50% do liberado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054096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16382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40280" y="3172968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75–84,9%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317296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1,00% do liberado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621024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CF3E3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3730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240280" y="3739896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60–74,9%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37560" y="37398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do liberado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3739896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Nippon hoje (71,6%)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77240" y="4343400"/>
            <a:ext cx="4892040" cy="1554480"/>
          </a:xfrm>
          <a:prstGeom prst="roundRect">
            <a:avLst>
              <a:gd name="adj" fmla="val 1765"/>
            </a:avLst>
          </a:prstGeom>
          <a:solidFill>
            <a:srgbClr val="E7F6EE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9884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para Ouro vale ~R$ 148 mil/ano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78408" y="4791456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vender uma moto a mais: toda venda financiada submetida primeiro ao BYMD e nenhuma proposta aprovada fugindo para outro banco. O sistema alerta cada fuga e simula o ganho.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8" name="Shape 26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9" name="Shape 27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0" name="Text 28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1" name="Image 0" descr="_NOVAS MELHORIAS/deck-assets/premy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interativo: mexa nos números e veja a categoria — e os reais — mudarem na hora.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AS NOVAS FRENTES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e Consórcio: receita que já é sua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carteiras que rendem sem depender de venda nova — hoje invisíveis para a operação.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2166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SEGUROS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195060" y="1874520"/>
            <a:ext cx="52166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5216652" cy="1078992"/>
          </a:xfrm>
          <a:prstGeom prst="roundRect">
            <a:avLst>
              <a:gd name="adj" fmla="val 2542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996696" y="2322576"/>
            <a:ext cx="47777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Penetração 33,6% · meta 45%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6696" y="2615184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motos × 37 seguros em julho. A fila de vendas sem seguro vira oferta na entrega técnica.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3401568"/>
            <a:ext cx="5216652" cy="1078992"/>
          </a:xfrm>
          <a:prstGeom prst="roundRect">
            <a:avLst>
              <a:gd name="adj" fmla="val 2542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996696" y="3529584"/>
            <a:ext cx="47777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circulante: 2.840 motos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96696" y="3822192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618 com apólice ativa. 141 renovações no radar agora — ninguém estava olhando.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4608576"/>
            <a:ext cx="5216652" cy="1078992"/>
          </a:xfrm>
          <a:prstGeom prst="roundRect">
            <a:avLst>
              <a:gd name="adj" fmla="val 2542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4736592"/>
            <a:ext cx="47777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+R$ 39 mil/ano fechando o gap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5029200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Comissão adicional estimada só de atingir a meta de penetração.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5060" y="2194560"/>
            <a:ext cx="5216652" cy="1078992"/>
          </a:xfrm>
          <a:prstGeom prst="roundRect">
            <a:avLst>
              <a:gd name="adj" fmla="val 2542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6414516" y="2322576"/>
            <a:ext cx="47777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Carteira: 486 cotas ativas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14516" y="2615184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R$ 10,4 milhões em crédito · retenção de 94,5% · cotas em risco com ação de resgate.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95060" y="3401568"/>
            <a:ext cx="5216652" cy="1078992"/>
          </a:xfrm>
          <a:prstGeom prst="roundRect">
            <a:avLst>
              <a:gd name="adj" fmla="val 2542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6414516" y="3529584"/>
            <a:ext cx="47777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Quality garantido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14516" y="3822192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Adimplência 91,4% e cancelamento 8,7% → R$ 11,8 mil no trimestre. O sistema vigia os critérios.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5060" y="4608576"/>
            <a:ext cx="5216652" cy="1078992"/>
          </a:xfrm>
          <a:prstGeom prst="roundRect">
            <a:avLst>
              <a:gd name="adj" fmla="val 2542"/>
            </a:avLst>
          </a:prstGeom>
          <a:solidFill>
            <a:srgbClr val="F7F9FC"/>
          </a:solidFill>
          <a:ln/>
        </p:spPr>
      </p:sp>
      <p:sp>
        <p:nvSpPr>
          <p:cNvPr id="24" name="Text 22"/>
          <p:cNvSpPr/>
          <p:nvPr/>
        </p:nvSpPr>
        <p:spPr>
          <a:xfrm>
            <a:off x="6414516" y="4736592"/>
            <a:ext cx="47777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Contemplado compra aqui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14516" y="5029200"/>
            <a:ext cx="4777740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de conversão — alerta ao vendedor na semana da assembleia.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AS NOVAS FRENTES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com cobrança configurada, não com boa vontade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equipe, mesmos leads — o que mudou foi a governança: régua, escalonamento ao gerente e redistribuição.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299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resposta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54680" y="2048256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trike="sngStrike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 47min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60520" y="2039112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80560" y="1993392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2487168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59689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10 minutos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54680" y="2615184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trike="sngStrike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60520" y="2606040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0560" y="2560320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054096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16382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de leads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54680" y="318211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trike="sngStrike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60520" y="3172968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3127248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13,9%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3621024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373075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sem resposta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374904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trike="sngStrike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60520" y="3739896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0560" y="3694176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77240" y="4187952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" y="42976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cumprido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154680" y="4315968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trike="sngStrike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60520" y="4306824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80560" y="4261104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77240" y="4892040"/>
            <a:ext cx="4892040" cy="1051560"/>
          </a:xfrm>
          <a:prstGeom prst="roundRect">
            <a:avLst>
              <a:gd name="adj" fmla="val 2609"/>
            </a:avLst>
          </a:prstGeom>
          <a:solidFill>
            <a:srgbClr val="EEF4FF"/>
          </a:solidFill>
          <a:ln/>
        </p:spPr>
      </p:sp>
      <p:sp>
        <p:nvSpPr>
          <p:cNvPr id="32" name="Text 30"/>
          <p:cNvSpPr/>
          <p:nvPr/>
        </p:nvSpPr>
        <p:spPr>
          <a:xfrm>
            <a:off x="978408" y="5010912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régua que sustenta os números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5266944"/>
            <a:ext cx="448056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min: SLA vermelho no painel · 15 min: sobe ao gerente · 2 h: redistribui · D+1/D+3/D+7: follow-ups com roteiro. Cada perda alimenta uma frente (crédito recusado → Liberacred).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36" name="Shape 34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37" name="Shape 35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8" name="Text 36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9" name="Image 0" descr="_NOVAS MELHORIAS/deck-assets/crm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publicada: hierarquia de cobrança, régua, regionalização e cadências — parametrizável por grupo.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AS NOVAS FRENTES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chat universal para toda a operação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(Anthropic) raciocina sobre os dados da concessionária e as regras da Yamaha — cada papel pergunta no seu idioma.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"Qual o bônus da NMAX este mês?"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robô já leu as circulares CA-MTC028 a 033: responde valor, custeio e regra de acúmulo na hora.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5060" y="1965960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6414516" y="216712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14516" y="242316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"Procedimento de revisão dos 6.000 km da Fazer 250?"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4516" y="2788920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o manual técnico oficial e responde com a seção citada.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584448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78561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96696" y="404164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"Onde estou perdendo share?"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407408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 emplacamento, segmentos e concorrentes — resposta com números e fonte.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95060" y="3584448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6414516" y="378561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14516" y="404164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aprovados não foram pagos?"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4516" y="4407408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clientes, motivo e ação sugerida — direto da base do Banco.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5166360"/>
            <a:ext cx="10634472" cy="868680"/>
          </a:xfrm>
          <a:prstGeom prst="roundRect">
            <a:avLst>
              <a:gd name="adj" fmla="val 3158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53126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 de agosto: a circular entra no robô no dia em que é publicada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5623560"/>
            <a:ext cx="10085832" cy="3017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inteira responde igual, sem depender da memória de ninguém.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 VOZ DO CLIENTE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compra medidos, não achados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própria com 32 clientes da Nippon (18 compraram, 14 não) · 28/07 a 14/08 · formulário WhatsApp + presencial.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SATISFAÇÃO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 / 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9669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"como foi ser atendido?"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8615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DA PESQUISA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70560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promotores − detratores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506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COMPRA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 72%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451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depois: rapidez 66% · crédito 56%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0397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COMPROU POR QUÊ?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43%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2342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o público do Liberacred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70332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978408" y="3886200"/>
            <a:ext cx="3008376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 responderam em uns cinco minutos. Na outra loja eu esperei dois dias e desisti."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5074920"/>
            <a:ext cx="3008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Eduardo · comprou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89120" y="370332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EEF4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90288" y="3886200"/>
            <a:ext cx="3008376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"Meu crédito não passou e ninguém mais me procurou. Se tivessem uma segunda opção eu tinha fechado."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0288" y="5074920"/>
            <a:ext cx="3008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Vitor · não comprou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01000" y="370332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EEF4FF"/>
          </a:solidFill>
          <a:ln/>
        </p:spPr>
      </p:sp>
      <p:sp>
        <p:nvSpPr>
          <p:cNvPr id="29" name="Text 27"/>
          <p:cNvSpPr/>
          <p:nvPr/>
        </p:nvSpPr>
        <p:spPr>
          <a:xfrm>
            <a:off x="8202168" y="3886200"/>
            <a:ext cx="3008376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"Voltar eu volto se vocês me avisarem da revisão. Da última vez passou do prazo e eu nem vi."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02168" y="5074920"/>
            <a:ext cx="3008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Paulo · comprou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77240" y="566928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dor citada tem um módulo respondendo: rapidez → SLA de 10 min · crédito → Liberacred · revisão → régua automática.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O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mensurável — números do piloto, anualizados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341071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01168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 DA MONTADORA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24942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~R$ 400 mil/ano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96696" y="285292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e vouchers capturados por disciplina de carta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41071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01168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 ABSORÇÃO (K2)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08576" y="224942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~R$ 490 mil/ano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08576" y="285292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margem de pós-vendas para chegar aos 65%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01000" y="1828800"/>
            <a:ext cx="341071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0456" y="201168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 · SEGUROS · CONSÓRCIO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0456" y="224942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~R$ 200 mil/ano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20456" y="2852928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Ouro + gap de penetração + Bônus Quality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657600"/>
            <a:ext cx="10634472" cy="1188720"/>
          </a:xfrm>
          <a:prstGeom prst="roundRect">
            <a:avLst>
              <a:gd name="adj" fmla="val 2308"/>
            </a:avLst>
          </a:prstGeom>
          <a:solidFill>
            <a:srgbClr val="E7F6EE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380390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identificado pelo sistema: cerca de R$ 1,1 milhão por ano — em uma única concessionária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51560" y="4114800"/>
            <a:ext cx="10085832" cy="6217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um custo de operação de R$ 600/mês (SaaS, sem instalação, sem hardware, sem projeto de TI local). Um único prêmio de campanha capturado paga o ano inteiro.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5120640"/>
            <a:ext cx="3410712" cy="1051560"/>
          </a:xfrm>
          <a:prstGeom prst="roundRect">
            <a:avLst>
              <a:gd name="adj" fmla="val 2609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" y="53218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varejo · +15% leads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96696" y="568756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+ governança + campanha aplicada na proposta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89120" y="5120640"/>
            <a:ext cx="3410712" cy="1051560"/>
          </a:xfrm>
          <a:prstGeom prst="roundRect">
            <a:avLst>
              <a:gd name="adj" fmla="val 2609"/>
            </a:avLst>
          </a:prstGeom>
          <a:solidFill>
            <a:srgbClr val="F7F9FC"/>
          </a:solidFill>
          <a:ln/>
        </p:spPr>
      </p:sp>
      <p:sp>
        <p:nvSpPr>
          <p:cNvPr id="24" name="Text 22"/>
          <p:cNvSpPr/>
          <p:nvPr/>
        </p:nvSpPr>
        <p:spPr>
          <a:xfrm>
            <a:off x="4608576" y="53218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 aprovação financeira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08576" y="568756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submissão disciplinada ao BYMD + resgate Liberacred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01000" y="5120640"/>
            <a:ext cx="3410712" cy="1051560"/>
          </a:xfrm>
          <a:prstGeom prst="roundRect">
            <a:avLst>
              <a:gd name="adj" fmla="val 2609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8220456" y="53218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pts NPS e fidelização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0456" y="568756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de revisão + recompra na quitação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O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moto a vida inteira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completo que nunca devolve o cliente ao mercado — cada etapa alimenta a seguinte com dados.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834640"/>
            <a:ext cx="1252728" cy="1600200"/>
          </a:xfrm>
          <a:prstGeom prst="roundRect">
            <a:avLst>
              <a:gd name="adj" fmla="val 292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05256" y="2999232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05256" y="3310128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05256" y="3611880"/>
            <a:ext cx="99669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10 min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11680" y="3401568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40864" y="2834640"/>
            <a:ext cx="1252728" cy="1600200"/>
          </a:xfrm>
          <a:prstGeom prst="roundRect">
            <a:avLst>
              <a:gd name="adj" fmla="val 2920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2468880" y="2999232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3310128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468880" y="3611880"/>
            <a:ext cx="99669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da circular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575304" y="3401568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904488" y="2834640"/>
            <a:ext cx="1252728" cy="1600200"/>
          </a:xfrm>
          <a:prstGeom prst="roundRect">
            <a:avLst>
              <a:gd name="adj" fmla="val 2920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4032504" y="2999232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032504" y="3310128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32504" y="3611880"/>
            <a:ext cx="99669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BYMD primeiro (Premya)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138928" y="3401568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68112" y="2834640"/>
            <a:ext cx="1252728" cy="1600200"/>
          </a:xfrm>
          <a:prstGeom prst="roundRect">
            <a:avLst>
              <a:gd name="adj" fmla="val 2920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5596128" y="2999232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96128" y="3310128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596128" y="3611880"/>
            <a:ext cx="99669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ofertado na entrega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702552" y="3401568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031736" y="2834640"/>
            <a:ext cx="1252728" cy="1600200"/>
          </a:xfrm>
          <a:prstGeom prst="roundRect">
            <a:avLst>
              <a:gd name="adj" fmla="val 2920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7159752" y="2999232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59752" y="3310128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Revisões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159752" y="3611880"/>
            <a:ext cx="99669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R1 a R4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66176" y="3401568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595360" y="2834640"/>
            <a:ext cx="1252728" cy="1600200"/>
          </a:xfrm>
          <a:prstGeom prst="roundRect">
            <a:avLst>
              <a:gd name="adj" fmla="val 2920"/>
            </a:avLst>
          </a:prstGeom>
          <a:solidFill>
            <a:srgbClr val="F7F9FC"/>
          </a:solidFill>
          <a:ln/>
        </p:spPr>
      </p:sp>
      <p:sp>
        <p:nvSpPr>
          <p:cNvPr id="32" name="Text 30"/>
          <p:cNvSpPr/>
          <p:nvPr/>
        </p:nvSpPr>
        <p:spPr>
          <a:xfrm>
            <a:off x="8723376" y="2999232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23376" y="3310128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Quitação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723376" y="3611880"/>
            <a:ext cx="99669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recompra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829800" y="3401568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0158984" y="2834640"/>
            <a:ext cx="1252728" cy="1600200"/>
          </a:xfrm>
          <a:prstGeom prst="roundRect">
            <a:avLst>
              <a:gd name="adj" fmla="val 2920"/>
            </a:avLst>
          </a:prstGeom>
          <a:solidFill>
            <a:srgbClr val="091426"/>
          </a:solidFill>
          <a:ln/>
        </p:spPr>
      </p:sp>
      <p:sp>
        <p:nvSpPr>
          <p:cNvPr id="37" name="Text 35"/>
          <p:cNvSpPr/>
          <p:nvPr/>
        </p:nvSpPr>
        <p:spPr>
          <a:xfrm>
            <a:off x="10287000" y="2999232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287000" y="3310128"/>
            <a:ext cx="99669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venda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287000" y="3611880"/>
            <a:ext cx="99669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recomeça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77240" y="489204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isso que nenhum sistema isolado consegue fazer — e o que transforma dado em experiência.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 ESCALA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já nasceu pronta para crescer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Replicar é configurar, não reprogramar — a vantagem competitiva é o método Yamaha codificado dentro do software.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Nippon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lojas, 25 módulos em produção, pago pela própria CCY.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86150" y="196596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6712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SET–DEZ/26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42316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05606" y="278892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já estão na base — falta só criar os acessos.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95060" y="196596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6712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2027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42316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Nacional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14516" y="278892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multi-grupo com governança parametrizável por concessionária.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03970" y="196596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6712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8B3A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42316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Yamaha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23426" y="278892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know-how (dois relógios, K2, PDCA, circulares) vira padrão exportável.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114800"/>
            <a:ext cx="10634472" cy="1097280"/>
          </a:xfrm>
          <a:prstGeom prst="roundRect">
            <a:avLst>
              <a:gd name="adj" fmla="val 2500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426110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de replicabilidade: o método já rodou fora da Nippon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4572000"/>
            <a:ext cx="10085832" cy="5303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PDCAs da NOBRE Motos (Caraguatatuba e Mogi) usam o mesmo método, em outro grupo, sem mudar uma linha. O consultor da regional já acompanha as 9 CCYs neste formato.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desta reunião: aprovar a Fase 2 —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ainda em 2026.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validado e pago pela própria concessionária · estrutura multi-grupo pronta · payback menor que um mês.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1706453" y="48920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Smart Dealer é mais do que uma plataforma tecnológica. É um novo padrão de relacionamento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cliente, concessionária e Yamaha."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3093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SHOGUN RIDERS · NIPPON MOTOS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Apresentação à Diretoria</dc:title>
  <dc:subject>PptxGenJS Presentation</dc:subject>
  <dc:creator>Caique Oliveira · Klenilson Paiva</dc:creator>
  <cp:lastModifiedBy>Caique Oliveira · Klenilson Paiva</cp:lastModifiedBy>
  <cp:revision>1</cp:revision>
  <dcterms:created xsi:type="dcterms:W3CDTF">2026-08-20T11:06:49Z</dcterms:created>
  <dcterms:modified xsi:type="dcterms:W3CDTF">2026-08-20T11:06:49Z</dcterms:modified>
</cp:coreProperties>
</file>