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</p:sldIdLst>
  <p:notesMasterIdLst>
    <p:notesMasterId r:id="rId21"/>
  </p:notesMasterIdLst>
  <p:sldSz cx="12188952" cy="6858000"/>
  <p:notesSz cx="6858000" cy="12188952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notesMaster" Target="notesMasters/notesMaster1.xml"/><Relationship Id="rId22" Type="http://schemas.openxmlformats.org/officeDocument/2006/relationships/presProps" Target="presProps.xml"/><Relationship Id="rId23" Type="http://schemas.openxmlformats.org/officeDocument/2006/relationships/viewProps" Target="viewProps.xml"/><Relationship Id="rId24" Type="http://schemas.openxmlformats.org/officeDocument/2006/relationships/theme" Target="theme/theme1.xml"/><Relationship Id="rId25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image" Target="../media/image-8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9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9142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_NOVAS MELHORIAS/deck-assets/bg-capa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88952" cy="68580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777240" y="2331720"/>
            <a:ext cx="6593373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4CD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APRESENTAÇÃO À DIRETORIA · AGOSTO 2026</a:t>
            </a:r>
            <a:endParaRPr lang="en-US" sz="1200" dirty="0"/>
          </a:p>
        </p:txBody>
      </p:sp>
      <p:sp>
        <p:nvSpPr>
          <p:cNvPr id="4" name="Text 1"/>
          <p:cNvSpPr/>
          <p:nvPr/>
        </p:nvSpPr>
        <p:spPr>
          <a:xfrm>
            <a:off x="777240" y="2651760"/>
            <a:ext cx="6593373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5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Smart Dealer</a:t>
            </a:r>
            <a:endParaRPr lang="en-US" sz="5400" dirty="0"/>
          </a:p>
        </p:txBody>
      </p:sp>
      <p:sp>
        <p:nvSpPr>
          <p:cNvPr id="5" name="Text 2"/>
          <p:cNvSpPr/>
          <p:nvPr/>
        </p:nvSpPr>
        <p:spPr>
          <a:xfrm>
            <a:off x="777240" y="3749040"/>
            <a:ext cx="5955304" cy="86868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lnSpc>
                <a:spcPts val="2400"/>
              </a:lnSpc>
              <a:buNone/>
            </a:pPr>
            <a:r>
              <a:rPr lang="en-US" sz="1600" dirty="0">
                <a:solidFill>
                  <a:srgbClr val="B8CD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Plataforma inteligente de gestão da experiência do cliente.</a:t>
            </a:r>
            <a:endParaRPr lang="en-US" sz="1600" dirty="0"/>
          </a:p>
          <a:p>
            <a:pPr indent="0" marL="0">
              <a:lnSpc>
                <a:spcPts val="2400"/>
              </a:lnSpc>
              <a:buNone/>
            </a:pPr>
            <a:r>
              <a:rPr lang="en-US" sz="1600" dirty="0">
                <a:solidFill>
                  <a:srgbClr val="B8CD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 piloto na Nippon Motos ao padrão da rede Yamaha.</a:t>
            </a:r>
            <a:endParaRPr lang="en-US" sz="1600" dirty="0"/>
          </a:p>
        </p:txBody>
      </p:sp>
      <p:sp>
        <p:nvSpPr>
          <p:cNvPr id="6" name="Shape 3"/>
          <p:cNvSpPr/>
          <p:nvPr/>
        </p:nvSpPr>
        <p:spPr>
          <a:xfrm>
            <a:off x="777240" y="5074920"/>
            <a:ext cx="3840480" cy="0"/>
          </a:xfrm>
          <a:prstGeom prst="line">
            <a:avLst/>
          </a:prstGeom>
          <a:noFill/>
          <a:ln w="12700">
            <a:solidFill>
              <a:srgbClr val="3D4F61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777240" y="5257800"/>
            <a:ext cx="6380683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150" dirty="0">
                <a:solidFill>
                  <a:srgbClr val="8A96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Caique Oliveira · Klenilson Paiva  ·  Yamaha Way 2026 · Grupo Shogun Riders · Nippon Motos</a:t>
            </a:r>
            <a:endParaRPr lang="en-US" sz="1150" dirty="0"/>
          </a:p>
        </p:txBody>
      </p:sp>
      <p:pic>
        <p:nvPicPr>
          <p:cNvPr id="8" name="Image 1" descr="_NOVAS MELHORIAS/deck-assets/dashboar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 rot="180000">
            <a:off x="7635240" y="1417320"/>
            <a:ext cx="5486400" cy="3257550"/>
          </a:xfrm>
          <a:prstGeom prst="rect">
            <a:avLst/>
          </a:prstGeom>
          <a:effectLst>
            <a:outerShdw sx="100000" sy="100000" kx="0" ky="0" algn="bl" rotWithShape="0" blurRad="279400" dist="101600" dir="5400000">
              <a:srgbClr val="05090F">
                <a:alpha val="60000"/>
              </a:srgbClr>
            </a:outerShdw>
          </a:effectLst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9142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_NOVAS MELHORIAS/deck-assets/bg-fech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88952" cy="68580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777240" y="2148840"/>
            <a:ext cx="10634472" cy="164592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ctr" indent="0" marL="0">
              <a:lnSpc>
                <a:spcPts val="4400"/>
              </a:lnSpc>
              <a:buNone/>
            </a:pPr>
            <a:r>
              <a:rPr lang="en-US" sz="3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Yamaha conhece seus clientes tão bem</a:t>
            </a:r>
            <a:endParaRPr lang="en-US" sz="3200" dirty="0"/>
          </a:p>
          <a:p>
            <a:pPr algn="ctr" indent="0" marL="0">
              <a:lnSpc>
                <a:spcPts val="4400"/>
              </a:lnSpc>
              <a:buNone/>
            </a:pPr>
            <a:r>
              <a:rPr lang="en-US" sz="3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quanto Amazon, Netflix ou Nubank?</a:t>
            </a:r>
            <a:endParaRPr lang="en-US" sz="3200" dirty="0"/>
          </a:p>
        </p:txBody>
      </p:sp>
      <p:sp>
        <p:nvSpPr>
          <p:cNvPr id="4" name="Text 1"/>
          <p:cNvSpPr/>
          <p:nvPr/>
        </p:nvSpPr>
        <p:spPr>
          <a:xfrm>
            <a:off x="1706453" y="3977640"/>
            <a:ext cx="8776045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ts val="2200"/>
              </a:lnSpc>
              <a:buNone/>
            </a:pPr>
            <a:r>
              <a:rPr lang="en-US" sz="1450" dirty="0">
                <a:solidFill>
                  <a:srgbClr val="B8CD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padrão de comparação do cliente não é outra concessionária.</a:t>
            </a:r>
            <a:endParaRPr lang="en-US" sz="1450" dirty="0"/>
          </a:p>
          <a:p>
            <a:pPr algn="ctr" indent="0" marL="0">
              <a:lnSpc>
                <a:spcPts val="2200"/>
              </a:lnSpc>
              <a:buNone/>
            </a:pPr>
            <a:r>
              <a:rPr lang="en-US" sz="1450" dirty="0">
                <a:solidFill>
                  <a:srgbClr val="B8CD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É a melhor experiência digital que ele já teve.</a:t>
            </a:r>
            <a:endParaRPr lang="en-US" sz="14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77240" y="502920"/>
            <a:ext cx="10634472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150" kern="0" dirty="0">
                <a:solidFill>
                  <a:srgbClr val="0365F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CONTEXTO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777240" y="777240"/>
            <a:ext cx="10634472" cy="566928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0914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cliente de 2026 não aceita experiências de 2016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10954512" y="644652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C3D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01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777240" y="2011680"/>
            <a:ext cx="4951476" cy="2651760"/>
          </a:xfrm>
          <a:prstGeom prst="roundRect">
            <a:avLst>
              <a:gd name="adj" fmla="val 1379"/>
            </a:avLst>
          </a:prstGeom>
          <a:solidFill>
            <a:srgbClr val="F7F9FC"/>
          </a:solidFill>
          <a:ln/>
        </p:spPr>
      </p:sp>
      <p:sp>
        <p:nvSpPr>
          <p:cNvPr id="6" name="Text 4"/>
          <p:cNvSpPr/>
          <p:nvPr/>
        </p:nvSpPr>
        <p:spPr>
          <a:xfrm>
            <a:off x="1051560" y="2286000"/>
            <a:ext cx="4402836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8A96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2016</a:t>
            </a:r>
            <a:endParaRPr lang="en-US" sz="3000" dirty="0"/>
          </a:p>
        </p:txBody>
      </p:sp>
      <p:sp>
        <p:nvSpPr>
          <p:cNvPr id="7" name="Text 5"/>
          <p:cNvSpPr/>
          <p:nvPr/>
        </p:nvSpPr>
        <p:spPr>
          <a:xfrm>
            <a:off x="1051560" y="2880360"/>
            <a:ext cx="4402836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150" kern="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ATENDIMENTO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1051560" y="3246120"/>
            <a:ext cx="4402836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20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Esperar na loja, esperar no telefone, esperar o retorno que não vem. O cliente se adapta ao processo da concessionária.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5856732" y="3063240"/>
            <a:ext cx="475488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B8CD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3000" dirty="0"/>
          </a:p>
        </p:txBody>
      </p:sp>
      <p:sp>
        <p:nvSpPr>
          <p:cNvPr id="10" name="Shape 8"/>
          <p:cNvSpPr/>
          <p:nvPr/>
        </p:nvSpPr>
        <p:spPr>
          <a:xfrm>
            <a:off x="6460236" y="2011680"/>
            <a:ext cx="4951476" cy="2651760"/>
          </a:xfrm>
          <a:prstGeom prst="roundRect">
            <a:avLst>
              <a:gd name="adj" fmla="val 1379"/>
            </a:avLst>
          </a:prstGeom>
          <a:solidFill>
            <a:srgbClr val="EEF4FF"/>
          </a:solidFill>
          <a:ln/>
        </p:spPr>
      </p:sp>
      <p:sp>
        <p:nvSpPr>
          <p:cNvPr id="11" name="Text 9"/>
          <p:cNvSpPr/>
          <p:nvPr/>
        </p:nvSpPr>
        <p:spPr>
          <a:xfrm>
            <a:off x="6734556" y="2286000"/>
            <a:ext cx="4402836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365F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</a:t>
            </a:r>
            <a:endParaRPr lang="en-US" sz="3000" dirty="0"/>
          </a:p>
        </p:txBody>
      </p:sp>
      <p:sp>
        <p:nvSpPr>
          <p:cNvPr id="12" name="Text 10"/>
          <p:cNvSpPr/>
          <p:nvPr/>
        </p:nvSpPr>
        <p:spPr>
          <a:xfrm>
            <a:off x="6734556" y="2880360"/>
            <a:ext cx="4402836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150" kern="0" dirty="0">
                <a:solidFill>
                  <a:srgbClr val="0914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EXPERIÊNCIA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6734556" y="3246120"/>
            <a:ext cx="4402836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20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Resposta em minutos, oferta certa, crédito transparente, a loja que lembra dele. O processo se adapta ao cliente.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777240" y="5029200"/>
            <a:ext cx="10634472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i="1" dirty="0">
                <a:solidFill>
                  <a:srgbClr val="8A96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Quem entrega experiência ganha o cliente — e o mantém pela vida útil da moto inteira.</a:t>
            </a:r>
            <a:endParaRPr lang="en-US" sz="13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77240" y="502920"/>
            <a:ext cx="10634472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150" kern="0" dirty="0">
                <a:solidFill>
                  <a:srgbClr val="0365F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PROBLEMA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777240" y="777240"/>
            <a:ext cx="10634472" cy="566928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0914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Os dados existem. A inteligência, não.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777240" y="1444752"/>
            <a:ext cx="10634472" cy="292608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35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que se perde todos os dias, em todas as concessionárias — porque nenhum sistema conversa com o outro.</a:t>
            </a:r>
            <a:endParaRPr lang="en-US" sz="1350" dirty="0"/>
          </a:p>
        </p:txBody>
      </p:sp>
      <p:sp>
        <p:nvSpPr>
          <p:cNvPr id="5" name="Text 3"/>
          <p:cNvSpPr/>
          <p:nvPr/>
        </p:nvSpPr>
        <p:spPr>
          <a:xfrm>
            <a:off x="10954512" y="644652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C3D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02</a:t>
            </a:r>
            <a:endParaRPr lang="en-US" sz="1000" dirty="0"/>
          </a:p>
        </p:txBody>
      </p:sp>
      <p:sp>
        <p:nvSpPr>
          <p:cNvPr id="6" name="Shape 4"/>
          <p:cNvSpPr/>
          <p:nvPr/>
        </p:nvSpPr>
        <p:spPr>
          <a:xfrm>
            <a:off x="777240" y="1965960"/>
            <a:ext cx="3410712" cy="1481328"/>
          </a:xfrm>
          <a:prstGeom prst="roundRect">
            <a:avLst>
              <a:gd name="adj" fmla="val 1852"/>
            </a:avLst>
          </a:prstGeom>
          <a:solidFill>
            <a:srgbClr val="F7F9FC"/>
          </a:solidFill>
          <a:ln/>
        </p:spPr>
      </p:sp>
      <p:sp>
        <p:nvSpPr>
          <p:cNvPr id="7" name="Text 5"/>
          <p:cNvSpPr/>
          <p:nvPr/>
        </p:nvSpPr>
        <p:spPr>
          <a:xfrm>
            <a:off x="996696" y="2167128"/>
            <a:ext cx="2971800" cy="310896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400" b="1" dirty="0">
                <a:solidFill>
                  <a:srgbClr val="0914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Crédito recusado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996696" y="2532888"/>
            <a:ext cx="2971800" cy="749808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cliente nunca mais é procurado — mesmo quando o Liberacred já o aprovou de novo.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4389120" y="1965960"/>
            <a:ext cx="3410712" cy="1481328"/>
          </a:xfrm>
          <a:prstGeom prst="roundRect">
            <a:avLst>
              <a:gd name="adj" fmla="val 1852"/>
            </a:avLst>
          </a:prstGeom>
          <a:solidFill>
            <a:srgbClr val="F7F9FC"/>
          </a:solidFill>
          <a:ln/>
        </p:spPr>
      </p:sp>
      <p:sp>
        <p:nvSpPr>
          <p:cNvPr id="10" name="Text 8"/>
          <p:cNvSpPr/>
          <p:nvPr/>
        </p:nvSpPr>
        <p:spPr>
          <a:xfrm>
            <a:off x="4608576" y="2167128"/>
            <a:ext cx="2971800" cy="310896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400" b="1" dirty="0">
                <a:solidFill>
                  <a:srgbClr val="0914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Aprovado não pago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4608576" y="2532888"/>
            <a:ext cx="2971800" cy="749808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proposta aprovada fica parada semanas. A venda já estava ganha; ninguém cobra o desfecho.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8001000" y="1965960"/>
            <a:ext cx="3410712" cy="1481328"/>
          </a:xfrm>
          <a:prstGeom prst="roundRect">
            <a:avLst>
              <a:gd name="adj" fmla="val 1852"/>
            </a:avLst>
          </a:prstGeom>
          <a:solidFill>
            <a:srgbClr val="F7F9FC"/>
          </a:solidFill>
          <a:ln/>
        </p:spPr>
      </p:sp>
      <p:sp>
        <p:nvSpPr>
          <p:cNvPr id="13" name="Text 11"/>
          <p:cNvSpPr/>
          <p:nvPr/>
        </p:nvSpPr>
        <p:spPr>
          <a:xfrm>
            <a:off x="8220456" y="2167128"/>
            <a:ext cx="2971800" cy="310896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400" b="1" dirty="0">
                <a:solidFill>
                  <a:srgbClr val="0914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Contrato quitando</a:t>
            </a:r>
            <a:endParaRPr lang="en-US" sz="1400" dirty="0"/>
          </a:p>
        </p:txBody>
      </p:sp>
      <p:sp>
        <p:nvSpPr>
          <p:cNvPr id="14" name="Text 12"/>
          <p:cNvSpPr/>
          <p:nvPr/>
        </p:nvSpPr>
        <p:spPr>
          <a:xfrm>
            <a:off x="8220456" y="2532888"/>
            <a:ext cx="2971800" cy="749808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cliente volta ao mercado em silêncio. Quem chama primeiro leva — hoje é o concorrente.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777240" y="3648456"/>
            <a:ext cx="3410712" cy="1481328"/>
          </a:xfrm>
          <a:prstGeom prst="roundRect">
            <a:avLst>
              <a:gd name="adj" fmla="val 1852"/>
            </a:avLst>
          </a:prstGeom>
          <a:solidFill>
            <a:srgbClr val="F7F9FC"/>
          </a:solidFill>
          <a:ln/>
        </p:spPr>
      </p:sp>
      <p:sp>
        <p:nvSpPr>
          <p:cNvPr id="16" name="Text 14"/>
          <p:cNvSpPr/>
          <p:nvPr/>
        </p:nvSpPr>
        <p:spPr>
          <a:xfrm>
            <a:off x="996696" y="3849624"/>
            <a:ext cx="2971800" cy="310896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400" b="1" dirty="0">
                <a:solidFill>
                  <a:srgbClr val="0914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Frota sem seguro</a:t>
            </a:r>
            <a:endParaRPr lang="en-US" sz="1400" dirty="0"/>
          </a:p>
        </p:txBody>
      </p:sp>
      <p:sp>
        <p:nvSpPr>
          <p:cNvPr id="17" name="Text 15"/>
          <p:cNvSpPr/>
          <p:nvPr/>
        </p:nvSpPr>
        <p:spPr>
          <a:xfrm>
            <a:off x="996696" y="4215384"/>
            <a:ext cx="2971800" cy="749808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Milhares de motos vendidas rodando sem apólice. Renovação é receita que evapora.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4389120" y="3648456"/>
            <a:ext cx="3410712" cy="1481328"/>
          </a:xfrm>
          <a:prstGeom prst="roundRect">
            <a:avLst>
              <a:gd name="adj" fmla="val 1852"/>
            </a:avLst>
          </a:prstGeom>
          <a:solidFill>
            <a:srgbClr val="F7F9FC"/>
          </a:solidFill>
          <a:ln/>
        </p:spPr>
      </p:sp>
      <p:sp>
        <p:nvSpPr>
          <p:cNvPr id="19" name="Text 17"/>
          <p:cNvSpPr/>
          <p:nvPr/>
        </p:nvSpPr>
        <p:spPr>
          <a:xfrm>
            <a:off x="4608576" y="3849624"/>
            <a:ext cx="2971800" cy="310896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400" b="1" dirty="0">
                <a:solidFill>
                  <a:srgbClr val="0914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Revisão vencida</a:t>
            </a:r>
            <a:endParaRPr lang="en-US" sz="1400" dirty="0"/>
          </a:p>
        </p:txBody>
      </p:sp>
      <p:sp>
        <p:nvSpPr>
          <p:cNvPr id="20" name="Text 18"/>
          <p:cNvSpPr/>
          <p:nvPr/>
        </p:nvSpPr>
        <p:spPr>
          <a:xfrm>
            <a:off x="4608576" y="4215384"/>
            <a:ext cx="2971800" cy="749808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cliente esquece, a oficina não avisa — e a absorção do pós-vendas fica no papel.</a:t>
            </a:r>
            <a:endParaRPr lang="en-US" sz="1100" dirty="0"/>
          </a:p>
        </p:txBody>
      </p:sp>
      <p:sp>
        <p:nvSpPr>
          <p:cNvPr id="21" name="Shape 19"/>
          <p:cNvSpPr/>
          <p:nvPr/>
        </p:nvSpPr>
        <p:spPr>
          <a:xfrm>
            <a:off x="8001000" y="3648456"/>
            <a:ext cx="3410712" cy="1481328"/>
          </a:xfrm>
          <a:prstGeom prst="roundRect">
            <a:avLst>
              <a:gd name="adj" fmla="val 1852"/>
            </a:avLst>
          </a:prstGeom>
          <a:solidFill>
            <a:srgbClr val="F7F9FC"/>
          </a:solidFill>
          <a:ln/>
        </p:spPr>
      </p:sp>
      <p:sp>
        <p:nvSpPr>
          <p:cNvPr id="22" name="Text 20"/>
          <p:cNvSpPr/>
          <p:nvPr/>
        </p:nvSpPr>
        <p:spPr>
          <a:xfrm>
            <a:off x="8220456" y="3849624"/>
            <a:ext cx="2971800" cy="310896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400" b="1" dirty="0">
                <a:solidFill>
                  <a:srgbClr val="0914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Circular no e-mail</a:t>
            </a:r>
            <a:endParaRPr lang="en-US" sz="1400" dirty="0"/>
          </a:p>
        </p:txBody>
      </p:sp>
      <p:sp>
        <p:nvSpPr>
          <p:cNvPr id="23" name="Text 21"/>
          <p:cNvSpPr/>
          <p:nvPr/>
        </p:nvSpPr>
        <p:spPr>
          <a:xfrm>
            <a:off x="8220456" y="4215384"/>
            <a:ext cx="2971800" cy="749808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condição de campanha mora na caixa de entrada de alguém. A loja responde errado ou não responde.</a:t>
            </a:r>
            <a:endParaRPr lang="en-US" sz="1100" dirty="0"/>
          </a:p>
        </p:txBody>
      </p:sp>
      <p:sp>
        <p:nvSpPr>
          <p:cNvPr id="24" name="Text 22"/>
          <p:cNvSpPr/>
          <p:nvPr/>
        </p:nvSpPr>
        <p:spPr>
          <a:xfrm>
            <a:off x="777240" y="5623560"/>
            <a:ext cx="1063447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50" b="1" i="1" dirty="0">
                <a:solidFill>
                  <a:srgbClr val="8A96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Todos os dados existiam. A oportunidade passou despercebida.</a:t>
            </a:r>
            <a:endParaRPr lang="en-US" sz="12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77240" y="502920"/>
            <a:ext cx="10634472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150" kern="0" dirty="0">
                <a:solidFill>
                  <a:srgbClr val="0365F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PROBLEMA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777240" y="777240"/>
            <a:ext cx="10634472" cy="566928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0914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Dados dispersos — ninguém enxerga o todo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777240" y="1444752"/>
            <a:ext cx="10634472" cy="292608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35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Cada informação vive num sistema. A visão completa não vive em lugar nenhum.</a:t>
            </a:r>
            <a:endParaRPr lang="en-US" sz="1350" dirty="0"/>
          </a:p>
        </p:txBody>
      </p:sp>
      <p:sp>
        <p:nvSpPr>
          <p:cNvPr id="5" name="Text 3"/>
          <p:cNvSpPr/>
          <p:nvPr/>
        </p:nvSpPr>
        <p:spPr>
          <a:xfrm>
            <a:off x="10954512" y="644652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C3D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</a:t>
            </a:r>
            <a:endParaRPr lang="en-US" sz="1000" dirty="0"/>
          </a:p>
        </p:txBody>
      </p:sp>
      <p:sp>
        <p:nvSpPr>
          <p:cNvPr id="6" name="Shape 4"/>
          <p:cNvSpPr/>
          <p:nvPr/>
        </p:nvSpPr>
        <p:spPr>
          <a:xfrm>
            <a:off x="777240" y="1965960"/>
            <a:ext cx="1543812" cy="640080"/>
          </a:xfrm>
          <a:prstGeom prst="roundRect">
            <a:avLst>
              <a:gd name="adj" fmla="val 5714"/>
            </a:avLst>
          </a:prstGeom>
          <a:solidFill>
            <a:srgbClr val="F7F9FC"/>
          </a:solidFill>
          <a:ln w="9525">
            <a:solidFill>
              <a:srgbClr val="E5EAF2"/>
            </a:solidFill>
            <a:prstDash val="dash"/>
          </a:ln>
        </p:spPr>
      </p:sp>
      <p:sp>
        <p:nvSpPr>
          <p:cNvPr id="7" name="Text 5"/>
          <p:cNvSpPr/>
          <p:nvPr/>
        </p:nvSpPr>
        <p:spPr>
          <a:xfrm>
            <a:off x="777240" y="1965960"/>
            <a:ext cx="1543812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Lead</a:t>
            </a:r>
            <a:endParaRPr lang="en-US" sz="1250" dirty="0"/>
          </a:p>
        </p:txBody>
      </p:sp>
      <p:sp>
        <p:nvSpPr>
          <p:cNvPr id="8" name="Shape 6"/>
          <p:cNvSpPr/>
          <p:nvPr/>
        </p:nvSpPr>
        <p:spPr>
          <a:xfrm>
            <a:off x="2595372" y="1965960"/>
            <a:ext cx="1543812" cy="640080"/>
          </a:xfrm>
          <a:prstGeom prst="roundRect">
            <a:avLst>
              <a:gd name="adj" fmla="val 5714"/>
            </a:avLst>
          </a:prstGeom>
          <a:solidFill>
            <a:srgbClr val="F7F9FC"/>
          </a:solidFill>
          <a:ln w="9525">
            <a:solidFill>
              <a:srgbClr val="E5EAF2"/>
            </a:solidFill>
            <a:prstDash val="dash"/>
          </a:ln>
        </p:spPr>
      </p:sp>
      <p:sp>
        <p:nvSpPr>
          <p:cNvPr id="9" name="Text 7"/>
          <p:cNvSpPr/>
          <p:nvPr/>
        </p:nvSpPr>
        <p:spPr>
          <a:xfrm>
            <a:off x="2595372" y="1965960"/>
            <a:ext cx="1543812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Estoque</a:t>
            </a:r>
            <a:endParaRPr lang="en-US" sz="1250" dirty="0"/>
          </a:p>
        </p:txBody>
      </p:sp>
      <p:sp>
        <p:nvSpPr>
          <p:cNvPr id="10" name="Shape 8"/>
          <p:cNvSpPr/>
          <p:nvPr/>
        </p:nvSpPr>
        <p:spPr>
          <a:xfrm>
            <a:off x="4413504" y="1965960"/>
            <a:ext cx="1543812" cy="640080"/>
          </a:xfrm>
          <a:prstGeom prst="roundRect">
            <a:avLst>
              <a:gd name="adj" fmla="val 5714"/>
            </a:avLst>
          </a:prstGeom>
          <a:solidFill>
            <a:srgbClr val="F7F9FC"/>
          </a:solidFill>
          <a:ln w="9525">
            <a:solidFill>
              <a:srgbClr val="E5EAF2"/>
            </a:solidFill>
            <a:prstDash val="dash"/>
          </a:ln>
        </p:spPr>
      </p:sp>
      <p:sp>
        <p:nvSpPr>
          <p:cNvPr id="11" name="Text 9"/>
          <p:cNvSpPr/>
          <p:nvPr/>
        </p:nvSpPr>
        <p:spPr>
          <a:xfrm>
            <a:off x="4413504" y="1965960"/>
            <a:ext cx="1543812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Campanha</a:t>
            </a:r>
            <a:endParaRPr lang="en-US" sz="1250" dirty="0"/>
          </a:p>
        </p:txBody>
      </p:sp>
      <p:sp>
        <p:nvSpPr>
          <p:cNvPr id="12" name="Shape 10"/>
          <p:cNvSpPr/>
          <p:nvPr/>
        </p:nvSpPr>
        <p:spPr>
          <a:xfrm>
            <a:off x="6231636" y="1965960"/>
            <a:ext cx="1543812" cy="640080"/>
          </a:xfrm>
          <a:prstGeom prst="roundRect">
            <a:avLst>
              <a:gd name="adj" fmla="val 5714"/>
            </a:avLst>
          </a:prstGeom>
          <a:solidFill>
            <a:srgbClr val="F7F9FC"/>
          </a:solidFill>
          <a:ln w="9525">
            <a:solidFill>
              <a:srgbClr val="E5EAF2"/>
            </a:solidFill>
            <a:prstDash val="dash"/>
          </a:ln>
        </p:spPr>
      </p:sp>
      <p:sp>
        <p:nvSpPr>
          <p:cNvPr id="13" name="Text 11"/>
          <p:cNvSpPr/>
          <p:nvPr/>
        </p:nvSpPr>
        <p:spPr>
          <a:xfrm>
            <a:off x="6231636" y="1965960"/>
            <a:ext cx="1543812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Banco</a:t>
            </a:r>
            <a:endParaRPr lang="en-US" sz="1250" dirty="0"/>
          </a:p>
        </p:txBody>
      </p:sp>
      <p:sp>
        <p:nvSpPr>
          <p:cNvPr id="14" name="Shape 12"/>
          <p:cNvSpPr/>
          <p:nvPr/>
        </p:nvSpPr>
        <p:spPr>
          <a:xfrm>
            <a:off x="8049768" y="1965960"/>
            <a:ext cx="1543812" cy="640080"/>
          </a:xfrm>
          <a:prstGeom prst="roundRect">
            <a:avLst>
              <a:gd name="adj" fmla="val 5714"/>
            </a:avLst>
          </a:prstGeom>
          <a:solidFill>
            <a:srgbClr val="F7F9FC"/>
          </a:solidFill>
          <a:ln w="9525">
            <a:solidFill>
              <a:srgbClr val="E5EAF2"/>
            </a:solidFill>
            <a:prstDash val="dash"/>
          </a:ln>
        </p:spPr>
      </p:sp>
      <p:sp>
        <p:nvSpPr>
          <p:cNvPr id="15" name="Text 13"/>
          <p:cNvSpPr/>
          <p:nvPr/>
        </p:nvSpPr>
        <p:spPr>
          <a:xfrm>
            <a:off x="8049768" y="1965960"/>
            <a:ext cx="1543812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Cliente</a:t>
            </a:r>
            <a:endParaRPr lang="en-US" sz="1250" dirty="0"/>
          </a:p>
        </p:txBody>
      </p:sp>
      <p:sp>
        <p:nvSpPr>
          <p:cNvPr id="16" name="Shape 14"/>
          <p:cNvSpPr/>
          <p:nvPr/>
        </p:nvSpPr>
        <p:spPr>
          <a:xfrm>
            <a:off x="9867900" y="1965960"/>
            <a:ext cx="1543812" cy="640080"/>
          </a:xfrm>
          <a:prstGeom prst="roundRect">
            <a:avLst>
              <a:gd name="adj" fmla="val 5714"/>
            </a:avLst>
          </a:prstGeom>
          <a:solidFill>
            <a:srgbClr val="F7F9FC"/>
          </a:solidFill>
          <a:ln w="9525">
            <a:solidFill>
              <a:srgbClr val="E5EAF2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9867900" y="1965960"/>
            <a:ext cx="1543812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Venda</a:t>
            </a:r>
            <a:endParaRPr lang="en-US" sz="1250" dirty="0"/>
          </a:p>
        </p:txBody>
      </p:sp>
      <p:sp>
        <p:nvSpPr>
          <p:cNvPr id="18" name="Text 16"/>
          <p:cNvSpPr/>
          <p:nvPr/>
        </p:nvSpPr>
        <p:spPr>
          <a:xfrm>
            <a:off x="777240" y="2697480"/>
            <a:ext cx="10634472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i="1" dirty="0">
                <a:solidFill>
                  <a:srgbClr val="8A96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sistemas que não conversam entre si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777240" y="3246120"/>
            <a:ext cx="5216652" cy="1143000"/>
          </a:xfrm>
          <a:prstGeom prst="roundRect">
            <a:avLst>
              <a:gd name="adj" fmla="val 2400"/>
            </a:avLst>
          </a:prstGeom>
          <a:solidFill>
            <a:srgbClr val="F7F9FC"/>
          </a:solidFill>
          <a:ln/>
        </p:spPr>
      </p:sp>
      <p:sp>
        <p:nvSpPr>
          <p:cNvPr id="20" name="Text 18"/>
          <p:cNvSpPr/>
          <p:nvPr/>
        </p:nvSpPr>
        <p:spPr>
          <a:xfrm>
            <a:off x="996696" y="3447288"/>
            <a:ext cx="4777740" cy="310896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400" b="1" dirty="0">
                <a:solidFill>
                  <a:srgbClr val="0914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vendedor não tem a visão completa do cliente</a:t>
            </a:r>
            <a:endParaRPr lang="en-US" sz="1400" dirty="0"/>
          </a:p>
        </p:txBody>
      </p:sp>
      <p:sp>
        <p:nvSpPr>
          <p:cNvPr id="21" name="Text 19"/>
          <p:cNvSpPr/>
          <p:nvPr/>
        </p:nvSpPr>
        <p:spPr>
          <a:xfrm>
            <a:off x="996696" y="3813048"/>
            <a:ext cx="4777740" cy="41148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histórico, crédito e interesse em telas diferentes — quando existem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6195060" y="3246120"/>
            <a:ext cx="5216652" cy="1143000"/>
          </a:xfrm>
          <a:prstGeom prst="roundRect">
            <a:avLst>
              <a:gd name="adj" fmla="val 2400"/>
            </a:avLst>
          </a:prstGeom>
          <a:solidFill>
            <a:srgbClr val="F7F9FC"/>
          </a:solidFill>
          <a:ln/>
        </p:spPr>
      </p:sp>
      <p:sp>
        <p:nvSpPr>
          <p:cNvPr id="23" name="Text 21"/>
          <p:cNvSpPr/>
          <p:nvPr/>
        </p:nvSpPr>
        <p:spPr>
          <a:xfrm>
            <a:off x="6414516" y="3447288"/>
            <a:ext cx="4777740" cy="310896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400" b="1" dirty="0">
                <a:solidFill>
                  <a:srgbClr val="0914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gerente não tem a visão completa da operação</a:t>
            </a:r>
            <a:endParaRPr lang="en-US" sz="1400" dirty="0"/>
          </a:p>
        </p:txBody>
      </p:sp>
      <p:sp>
        <p:nvSpPr>
          <p:cNvPr id="24" name="Text 22"/>
          <p:cNvSpPr/>
          <p:nvPr/>
        </p:nvSpPr>
        <p:spPr>
          <a:xfrm>
            <a:off x="6414516" y="3813048"/>
            <a:ext cx="4777740" cy="41148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cobra no feeling, descobre o problema no fechamento</a:t>
            </a:r>
            <a:endParaRPr lang="en-US" sz="1100" dirty="0"/>
          </a:p>
        </p:txBody>
      </p:sp>
      <p:sp>
        <p:nvSpPr>
          <p:cNvPr id="25" name="Shape 23"/>
          <p:cNvSpPr/>
          <p:nvPr/>
        </p:nvSpPr>
        <p:spPr>
          <a:xfrm>
            <a:off x="777240" y="4590288"/>
            <a:ext cx="5216652" cy="1143000"/>
          </a:xfrm>
          <a:prstGeom prst="roundRect">
            <a:avLst>
              <a:gd name="adj" fmla="val 2400"/>
            </a:avLst>
          </a:prstGeom>
          <a:solidFill>
            <a:srgbClr val="F7F9FC"/>
          </a:solidFill>
          <a:ln/>
        </p:spPr>
      </p:sp>
      <p:sp>
        <p:nvSpPr>
          <p:cNvPr id="26" name="Text 24"/>
          <p:cNvSpPr/>
          <p:nvPr/>
        </p:nvSpPr>
        <p:spPr>
          <a:xfrm>
            <a:off x="996696" y="4791456"/>
            <a:ext cx="4777740" cy="310896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400" b="1" dirty="0">
                <a:solidFill>
                  <a:srgbClr val="0914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concessionário não tem a visão do negócio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996696" y="5157216"/>
            <a:ext cx="4777740" cy="41148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mercado, share e absorção chegam tarde e fatiados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6195060" y="4590288"/>
            <a:ext cx="5216652" cy="1143000"/>
          </a:xfrm>
          <a:prstGeom prst="roundRect">
            <a:avLst>
              <a:gd name="adj" fmla="val 2400"/>
            </a:avLst>
          </a:prstGeom>
          <a:solidFill>
            <a:srgbClr val="F7F9FC"/>
          </a:solidFill>
          <a:ln/>
        </p:spPr>
      </p:sp>
      <p:sp>
        <p:nvSpPr>
          <p:cNvPr id="29" name="Text 27"/>
          <p:cNvSpPr/>
          <p:nvPr/>
        </p:nvSpPr>
        <p:spPr>
          <a:xfrm>
            <a:off x="6414516" y="4791456"/>
            <a:ext cx="4777740" cy="310896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400" b="1" dirty="0">
                <a:solidFill>
                  <a:srgbClr val="0914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cliente não recebe uma experiência integrada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6414516" y="5157216"/>
            <a:ext cx="4777740" cy="41148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repete a história a cada contato, espera a cada etapa</a:t>
            </a:r>
            <a:endParaRPr lang="en-US" sz="11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77240" y="502920"/>
            <a:ext cx="10634472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150" kern="0" dirty="0">
                <a:solidFill>
                  <a:srgbClr val="0365F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VIRADA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777240" y="777240"/>
            <a:ext cx="10634472" cy="566928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0914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Yamaha já possui um patrimônio estratégico invisível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777240" y="1444752"/>
            <a:ext cx="10634472" cy="292608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35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Cada moto vendida, revisão feita e proposta analisada gera dado. A rede está sentada numa mina — sem escavadeira.</a:t>
            </a:r>
            <a:endParaRPr lang="en-US" sz="1350" dirty="0"/>
          </a:p>
        </p:txBody>
      </p:sp>
      <p:sp>
        <p:nvSpPr>
          <p:cNvPr id="5" name="Text 3"/>
          <p:cNvSpPr/>
          <p:nvPr/>
        </p:nvSpPr>
        <p:spPr>
          <a:xfrm>
            <a:off x="10954512" y="644652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C3D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04</a:t>
            </a:r>
            <a:endParaRPr lang="en-US" sz="1000" dirty="0"/>
          </a:p>
        </p:txBody>
      </p:sp>
      <p:sp>
        <p:nvSpPr>
          <p:cNvPr id="6" name="Shape 4"/>
          <p:cNvSpPr/>
          <p:nvPr/>
        </p:nvSpPr>
        <p:spPr>
          <a:xfrm>
            <a:off x="777240" y="2103120"/>
            <a:ext cx="1589532" cy="566928"/>
          </a:xfrm>
          <a:prstGeom prst="roundRect">
            <a:avLst>
              <a:gd name="adj" fmla="val 50000"/>
            </a:avLst>
          </a:prstGeom>
          <a:solidFill>
            <a:srgbClr val="EEF4FF"/>
          </a:solidFill>
          <a:ln/>
        </p:spPr>
      </p:sp>
      <p:sp>
        <p:nvSpPr>
          <p:cNvPr id="7" name="Text 5"/>
          <p:cNvSpPr/>
          <p:nvPr/>
        </p:nvSpPr>
        <p:spPr>
          <a:xfrm>
            <a:off x="777240" y="2103120"/>
            <a:ext cx="1589532" cy="566928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ctr" indent="0" marL="0">
              <a:buNone/>
            </a:pPr>
            <a:r>
              <a:rPr lang="en-US" sz="1050" b="1" spc="50" kern="0" dirty="0">
                <a:solidFill>
                  <a:srgbClr val="0365F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VENDA</a:t>
            </a:r>
            <a:endParaRPr lang="en-US" sz="1050" dirty="0"/>
          </a:p>
        </p:txBody>
      </p:sp>
      <p:sp>
        <p:nvSpPr>
          <p:cNvPr id="8" name="Shape 6"/>
          <p:cNvSpPr/>
          <p:nvPr/>
        </p:nvSpPr>
        <p:spPr>
          <a:xfrm>
            <a:off x="2586228" y="2103120"/>
            <a:ext cx="1589532" cy="566928"/>
          </a:xfrm>
          <a:prstGeom prst="roundRect">
            <a:avLst>
              <a:gd name="adj" fmla="val 50000"/>
            </a:avLst>
          </a:prstGeom>
          <a:solidFill>
            <a:srgbClr val="EEF4FF"/>
          </a:solidFill>
          <a:ln/>
        </p:spPr>
      </p:sp>
      <p:sp>
        <p:nvSpPr>
          <p:cNvPr id="9" name="Text 7"/>
          <p:cNvSpPr/>
          <p:nvPr/>
        </p:nvSpPr>
        <p:spPr>
          <a:xfrm>
            <a:off x="2586228" y="2103120"/>
            <a:ext cx="1589532" cy="566928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ctr" indent="0" marL="0">
              <a:buNone/>
            </a:pPr>
            <a:r>
              <a:rPr lang="en-US" sz="1050" b="1" spc="50" kern="0" dirty="0">
                <a:solidFill>
                  <a:srgbClr val="0365F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REVISÃO</a:t>
            </a:r>
            <a:endParaRPr lang="en-US" sz="1050" dirty="0"/>
          </a:p>
        </p:txBody>
      </p:sp>
      <p:sp>
        <p:nvSpPr>
          <p:cNvPr id="10" name="Shape 8"/>
          <p:cNvSpPr/>
          <p:nvPr/>
        </p:nvSpPr>
        <p:spPr>
          <a:xfrm>
            <a:off x="4395216" y="2103120"/>
            <a:ext cx="1589532" cy="566928"/>
          </a:xfrm>
          <a:prstGeom prst="roundRect">
            <a:avLst>
              <a:gd name="adj" fmla="val 50000"/>
            </a:avLst>
          </a:prstGeom>
          <a:solidFill>
            <a:srgbClr val="EEF4FF"/>
          </a:solidFill>
          <a:ln/>
        </p:spPr>
      </p:sp>
      <p:sp>
        <p:nvSpPr>
          <p:cNvPr id="11" name="Text 9"/>
          <p:cNvSpPr/>
          <p:nvPr/>
        </p:nvSpPr>
        <p:spPr>
          <a:xfrm>
            <a:off x="4395216" y="2103120"/>
            <a:ext cx="1589532" cy="566928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ctr" indent="0" marL="0">
              <a:buNone/>
            </a:pPr>
            <a:r>
              <a:rPr lang="en-US" sz="1050" b="1" spc="50" kern="0" dirty="0">
                <a:solidFill>
                  <a:srgbClr val="0365F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FINANCIAMENTO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6204204" y="2103120"/>
            <a:ext cx="1589532" cy="566928"/>
          </a:xfrm>
          <a:prstGeom prst="roundRect">
            <a:avLst>
              <a:gd name="adj" fmla="val 50000"/>
            </a:avLst>
          </a:prstGeom>
          <a:solidFill>
            <a:srgbClr val="EEF4FF"/>
          </a:solidFill>
          <a:ln/>
        </p:spPr>
      </p:sp>
      <p:sp>
        <p:nvSpPr>
          <p:cNvPr id="13" name="Text 11"/>
          <p:cNvSpPr/>
          <p:nvPr/>
        </p:nvSpPr>
        <p:spPr>
          <a:xfrm>
            <a:off x="6204204" y="2103120"/>
            <a:ext cx="1589532" cy="566928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ctr" indent="0" marL="0">
              <a:buNone/>
            </a:pPr>
            <a:r>
              <a:rPr lang="en-US" sz="1050" b="1" spc="50" kern="0" dirty="0">
                <a:solidFill>
                  <a:srgbClr val="0365F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NPS</a:t>
            </a:r>
            <a:endParaRPr lang="en-US" sz="1050" dirty="0"/>
          </a:p>
        </p:txBody>
      </p:sp>
      <p:sp>
        <p:nvSpPr>
          <p:cNvPr id="14" name="Shape 12"/>
          <p:cNvSpPr/>
          <p:nvPr/>
        </p:nvSpPr>
        <p:spPr>
          <a:xfrm>
            <a:off x="8013192" y="2103120"/>
            <a:ext cx="1589532" cy="566928"/>
          </a:xfrm>
          <a:prstGeom prst="roundRect">
            <a:avLst>
              <a:gd name="adj" fmla="val 50000"/>
            </a:avLst>
          </a:prstGeom>
          <a:solidFill>
            <a:srgbClr val="F7F9FC"/>
          </a:solidFill>
          <a:ln/>
        </p:spPr>
      </p:sp>
      <p:sp>
        <p:nvSpPr>
          <p:cNvPr id="15" name="Text 13"/>
          <p:cNvSpPr/>
          <p:nvPr/>
        </p:nvSpPr>
        <p:spPr>
          <a:xfrm>
            <a:off x="8013192" y="2103120"/>
            <a:ext cx="1589532" cy="566928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ctr" indent="0" marL="0">
              <a:buNone/>
            </a:pPr>
            <a:r>
              <a:rPr lang="en-US" sz="1050" b="1" spc="50" kern="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LCR</a:t>
            </a:r>
            <a:endParaRPr lang="en-US" sz="1050" dirty="0"/>
          </a:p>
        </p:txBody>
      </p:sp>
      <p:sp>
        <p:nvSpPr>
          <p:cNvPr id="16" name="Shape 14"/>
          <p:cNvSpPr/>
          <p:nvPr/>
        </p:nvSpPr>
        <p:spPr>
          <a:xfrm>
            <a:off x="9822180" y="2103120"/>
            <a:ext cx="1589532" cy="566928"/>
          </a:xfrm>
          <a:prstGeom prst="roundRect">
            <a:avLst>
              <a:gd name="adj" fmla="val 50000"/>
            </a:avLst>
          </a:prstGeom>
          <a:solidFill>
            <a:srgbClr val="F7F9FC"/>
          </a:solidFill>
          <a:ln/>
        </p:spPr>
      </p:sp>
      <p:sp>
        <p:nvSpPr>
          <p:cNvPr id="17" name="Text 15"/>
          <p:cNvSpPr/>
          <p:nvPr/>
        </p:nvSpPr>
        <p:spPr>
          <a:xfrm>
            <a:off x="9822180" y="2103120"/>
            <a:ext cx="1589532" cy="566928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ctr" indent="0" marL="0">
              <a:buNone/>
            </a:pPr>
            <a:r>
              <a:rPr lang="en-US" sz="1050" b="1" spc="50" kern="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KAIZEN</a:t>
            </a:r>
            <a:endParaRPr lang="en-US" sz="1050" dirty="0"/>
          </a:p>
        </p:txBody>
      </p:sp>
      <p:sp>
        <p:nvSpPr>
          <p:cNvPr id="18" name="Shape 16"/>
          <p:cNvSpPr/>
          <p:nvPr/>
        </p:nvSpPr>
        <p:spPr>
          <a:xfrm>
            <a:off x="777240" y="2880360"/>
            <a:ext cx="1589532" cy="566928"/>
          </a:xfrm>
          <a:prstGeom prst="roundRect">
            <a:avLst>
              <a:gd name="adj" fmla="val 50000"/>
            </a:avLst>
          </a:prstGeom>
          <a:solidFill>
            <a:srgbClr val="F7F9FC"/>
          </a:solidFill>
          <a:ln/>
        </p:spPr>
      </p:sp>
      <p:sp>
        <p:nvSpPr>
          <p:cNvPr id="19" name="Text 17"/>
          <p:cNvSpPr/>
          <p:nvPr/>
        </p:nvSpPr>
        <p:spPr>
          <a:xfrm>
            <a:off x="777240" y="2880360"/>
            <a:ext cx="1589532" cy="566928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ctr" indent="0" marL="0">
              <a:buNone/>
            </a:pPr>
            <a:r>
              <a:rPr lang="en-US" sz="1050" b="1" spc="50" kern="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ESTOQUE</a:t>
            </a:r>
            <a:endParaRPr lang="en-US" sz="1050" dirty="0"/>
          </a:p>
        </p:txBody>
      </p:sp>
      <p:sp>
        <p:nvSpPr>
          <p:cNvPr id="20" name="Shape 18"/>
          <p:cNvSpPr/>
          <p:nvPr/>
        </p:nvSpPr>
        <p:spPr>
          <a:xfrm>
            <a:off x="2586228" y="2880360"/>
            <a:ext cx="1589532" cy="566928"/>
          </a:xfrm>
          <a:prstGeom prst="roundRect">
            <a:avLst>
              <a:gd name="adj" fmla="val 50000"/>
            </a:avLst>
          </a:prstGeom>
          <a:solidFill>
            <a:srgbClr val="F7F9FC"/>
          </a:solidFill>
          <a:ln/>
        </p:spPr>
      </p:sp>
      <p:sp>
        <p:nvSpPr>
          <p:cNvPr id="21" name="Text 19"/>
          <p:cNvSpPr/>
          <p:nvPr/>
        </p:nvSpPr>
        <p:spPr>
          <a:xfrm>
            <a:off x="2586228" y="2880360"/>
            <a:ext cx="1589532" cy="566928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ctr" indent="0" marL="0">
              <a:buNone/>
            </a:pPr>
            <a:r>
              <a:rPr lang="en-US" sz="1050" b="1" spc="50" kern="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OFICINA</a:t>
            </a:r>
            <a:endParaRPr lang="en-US" sz="1050" dirty="0"/>
          </a:p>
        </p:txBody>
      </p:sp>
      <p:sp>
        <p:nvSpPr>
          <p:cNvPr id="22" name="Shape 20"/>
          <p:cNvSpPr/>
          <p:nvPr/>
        </p:nvSpPr>
        <p:spPr>
          <a:xfrm>
            <a:off x="4395216" y="2880360"/>
            <a:ext cx="1589532" cy="566928"/>
          </a:xfrm>
          <a:prstGeom prst="roundRect">
            <a:avLst>
              <a:gd name="adj" fmla="val 50000"/>
            </a:avLst>
          </a:prstGeom>
          <a:solidFill>
            <a:srgbClr val="F7F9FC"/>
          </a:solidFill>
          <a:ln/>
        </p:spPr>
      </p:sp>
      <p:sp>
        <p:nvSpPr>
          <p:cNvPr id="23" name="Text 21"/>
          <p:cNvSpPr/>
          <p:nvPr/>
        </p:nvSpPr>
        <p:spPr>
          <a:xfrm>
            <a:off x="4395216" y="2880360"/>
            <a:ext cx="1589532" cy="566928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ctr" indent="0" marL="0">
              <a:buNone/>
            </a:pPr>
            <a:r>
              <a:rPr lang="en-US" sz="1050" b="1" spc="50" kern="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CONSÓRCIO</a:t>
            </a:r>
            <a:endParaRPr lang="en-US" sz="1050" dirty="0"/>
          </a:p>
        </p:txBody>
      </p:sp>
      <p:sp>
        <p:nvSpPr>
          <p:cNvPr id="24" name="Shape 22"/>
          <p:cNvSpPr/>
          <p:nvPr/>
        </p:nvSpPr>
        <p:spPr>
          <a:xfrm>
            <a:off x="6204204" y="2880360"/>
            <a:ext cx="1589532" cy="566928"/>
          </a:xfrm>
          <a:prstGeom prst="roundRect">
            <a:avLst>
              <a:gd name="adj" fmla="val 50000"/>
            </a:avLst>
          </a:prstGeom>
          <a:solidFill>
            <a:srgbClr val="F7F9FC"/>
          </a:solidFill>
          <a:ln/>
        </p:spPr>
      </p:sp>
      <p:sp>
        <p:nvSpPr>
          <p:cNvPr id="25" name="Text 23"/>
          <p:cNvSpPr/>
          <p:nvPr/>
        </p:nvSpPr>
        <p:spPr>
          <a:xfrm>
            <a:off x="6204204" y="2880360"/>
            <a:ext cx="1589532" cy="566928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ctr" indent="0" marL="0">
              <a:buNone/>
            </a:pPr>
            <a:r>
              <a:rPr lang="en-US" sz="1050" b="1" spc="50" kern="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SEGUROS</a:t>
            </a:r>
            <a:endParaRPr lang="en-US" sz="1050" dirty="0"/>
          </a:p>
        </p:txBody>
      </p:sp>
      <p:sp>
        <p:nvSpPr>
          <p:cNvPr id="26" name="Shape 24"/>
          <p:cNvSpPr/>
          <p:nvPr/>
        </p:nvSpPr>
        <p:spPr>
          <a:xfrm>
            <a:off x="8013192" y="2880360"/>
            <a:ext cx="1589532" cy="566928"/>
          </a:xfrm>
          <a:prstGeom prst="roundRect">
            <a:avLst>
              <a:gd name="adj" fmla="val 50000"/>
            </a:avLst>
          </a:prstGeom>
          <a:solidFill>
            <a:srgbClr val="F7F9FC"/>
          </a:solidFill>
          <a:ln/>
        </p:spPr>
      </p:sp>
      <p:sp>
        <p:nvSpPr>
          <p:cNvPr id="27" name="Text 25"/>
          <p:cNvSpPr/>
          <p:nvPr/>
        </p:nvSpPr>
        <p:spPr>
          <a:xfrm>
            <a:off x="8013192" y="2880360"/>
            <a:ext cx="1589532" cy="566928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ctr" indent="0" marL="0">
              <a:buNone/>
            </a:pPr>
            <a:r>
              <a:rPr lang="en-US" sz="1050" b="1" spc="50" kern="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LEADS</a:t>
            </a:r>
            <a:endParaRPr lang="en-US" sz="1050" dirty="0"/>
          </a:p>
        </p:txBody>
      </p:sp>
      <p:sp>
        <p:nvSpPr>
          <p:cNvPr id="28" name="Shape 26"/>
          <p:cNvSpPr/>
          <p:nvPr/>
        </p:nvSpPr>
        <p:spPr>
          <a:xfrm>
            <a:off x="9822180" y="2880360"/>
            <a:ext cx="1589532" cy="566928"/>
          </a:xfrm>
          <a:prstGeom prst="roundRect">
            <a:avLst>
              <a:gd name="adj" fmla="val 50000"/>
            </a:avLst>
          </a:prstGeom>
          <a:solidFill>
            <a:srgbClr val="F7F9FC"/>
          </a:solidFill>
          <a:ln/>
        </p:spPr>
      </p:sp>
      <p:sp>
        <p:nvSpPr>
          <p:cNvPr id="29" name="Text 27"/>
          <p:cNvSpPr/>
          <p:nvPr/>
        </p:nvSpPr>
        <p:spPr>
          <a:xfrm>
            <a:off x="9822180" y="2880360"/>
            <a:ext cx="1589532" cy="566928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ctr" indent="0" marL="0">
              <a:buNone/>
            </a:pPr>
            <a:r>
              <a:rPr lang="en-US" sz="1050" b="1" spc="50" kern="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CAMPANHA</a:t>
            </a:r>
            <a:endParaRPr lang="en-US" sz="1050" dirty="0"/>
          </a:p>
        </p:txBody>
      </p:sp>
      <p:sp>
        <p:nvSpPr>
          <p:cNvPr id="30" name="Shape 28"/>
          <p:cNvSpPr/>
          <p:nvPr/>
        </p:nvSpPr>
        <p:spPr>
          <a:xfrm>
            <a:off x="777240" y="3657600"/>
            <a:ext cx="1589532" cy="566928"/>
          </a:xfrm>
          <a:prstGeom prst="roundRect">
            <a:avLst>
              <a:gd name="adj" fmla="val 50000"/>
            </a:avLst>
          </a:prstGeom>
          <a:solidFill>
            <a:srgbClr val="F7F9FC"/>
          </a:solidFill>
          <a:ln/>
        </p:spPr>
      </p:sp>
      <p:sp>
        <p:nvSpPr>
          <p:cNvPr id="31" name="Text 29"/>
          <p:cNvSpPr/>
          <p:nvPr/>
        </p:nvSpPr>
        <p:spPr>
          <a:xfrm>
            <a:off x="777240" y="3657600"/>
            <a:ext cx="1589532" cy="566928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ctr" indent="0" marL="0">
              <a:buNone/>
            </a:pPr>
            <a:r>
              <a:rPr lang="en-US" sz="1050" b="1" spc="50" kern="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INTERAÇÃO</a:t>
            </a:r>
            <a:endParaRPr lang="en-US" sz="1050" dirty="0"/>
          </a:p>
        </p:txBody>
      </p:sp>
      <p:sp>
        <p:nvSpPr>
          <p:cNvPr id="32" name="Shape 30"/>
          <p:cNvSpPr/>
          <p:nvPr/>
        </p:nvSpPr>
        <p:spPr>
          <a:xfrm>
            <a:off x="2586228" y="3657600"/>
            <a:ext cx="1589532" cy="566928"/>
          </a:xfrm>
          <a:prstGeom prst="roundRect">
            <a:avLst>
              <a:gd name="adj" fmla="val 50000"/>
            </a:avLst>
          </a:prstGeom>
          <a:solidFill>
            <a:srgbClr val="F7F9FC"/>
          </a:solidFill>
          <a:ln/>
        </p:spPr>
      </p:sp>
      <p:sp>
        <p:nvSpPr>
          <p:cNvPr id="33" name="Text 31"/>
          <p:cNvSpPr/>
          <p:nvPr/>
        </p:nvSpPr>
        <p:spPr>
          <a:xfrm>
            <a:off x="2586228" y="3657600"/>
            <a:ext cx="1589532" cy="566928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ctr" indent="0" marL="0">
              <a:buNone/>
            </a:pPr>
            <a:r>
              <a:rPr lang="en-US" sz="1050" b="1" spc="50" kern="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BLU CLUB</a:t>
            </a:r>
            <a:endParaRPr lang="en-US" sz="1050" dirty="0"/>
          </a:p>
        </p:txBody>
      </p:sp>
      <p:sp>
        <p:nvSpPr>
          <p:cNvPr id="34" name="Shape 32"/>
          <p:cNvSpPr/>
          <p:nvPr/>
        </p:nvSpPr>
        <p:spPr>
          <a:xfrm>
            <a:off x="4395216" y="3657600"/>
            <a:ext cx="1589532" cy="566928"/>
          </a:xfrm>
          <a:prstGeom prst="roundRect">
            <a:avLst>
              <a:gd name="adj" fmla="val 50000"/>
            </a:avLst>
          </a:prstGeom>
          <a:solidFill>
            <a:srgbClr val="F7F9FC"/>
          </a:solidFill>
          <a:ln/>
        </p:spPr>
      </p:sp>
      <p:sp>
        <p:nvSpPr>
          <p:cNvPr id="35" name="Text 33"/>
          <p:cNvSpPr/>
          <p:nvPr/>
        </p:nvSpPr>
        <p:spPr>
          <a:xfrm>
            <a:off x="4395216" y="3657600"/>
            <a:ext cx="1589532" cy="566928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ctr" indent="0" marL="0">
              <a:buNone/>
            </a:pPr>
            <a:r>
              <a:rPr lang="en-US" sz="1050" b="1" spc="50" kern="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EMPLACAMENTO</a:t>
            </a:r>
            <a:endParaRPr lang="en-US" sz="1050" dirty="0"/>
          </a:p>
        </p:txBody>
      </p:sp>
      <p:sp>
        <p:nvSpPr>
          <p:cNvPr id="36" name="Shape 34"/>
          <p:cNvSpPr/>
          <p:nvPr/>
        </p:nvSpPr>
        <p:spPr>
          <a:xfrm>
            <a:off x="6204204" y="3657600"/>
            <a:ext cx="1589532" cy="566928"/>
          </a:xfrm>
          <a:prstGeom prst="roundRect">
            <a:avLst>
              <a:gd name="adj" fmla="val 50000"/>
            </a:avLst>
          </a:prstGeom>
          <a:solidFill>
            <a:srgbClr val="F7F9FC"/>
          </a:solidFill>
          <a:ln/>
        </p:spPr>
      </p:sp>
      <p:sp>
        <p:nvSpPr>
          <p:cNvPr id="37" name="Text 35"/>
          <p:cNvSpPr/>
          <p:nvPr/>
        </p:nvSpPr>
        <p:spPr>
          <a:xfrm>
            <a:off x="6204204" y="3657600"/>
            <a:ext cx="1589532" cy="566928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ctr" indent="0" marL="0">
              <a:buNone/>
            </a:pPr>
            <a:r>
              <a:rPr lang="en-US" sz="1050" b="1" spc="50" kern="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PREMYA</a:t>
            </a:r>
            <a:endParaRPr lang="en-US" sz="1050" dirty="0"/>
          </a:p>
        </p:txBody>
      </p:sp>
      <p:sp>
        <p:nvSpPr>
          <p:cNvPr id="38" name="Shape 36"/>
          <p:cNvSpPr/>
          <p:nvPr/>
        </p:nvSpPr>
        <p:spPr>
          <a:xfrm>
            <a:off x="8013192" y="3657600"/>
            <a:ext cx="1589532" cy="566928"/>
          </a:xfrm>
          <a:prstGeom prst="roundRect">
            <a:avLst>
              <a:gd name="adj" fmla="val 50000"/>
            </a:avLst>
          </a:prstGeom>
          <a:solidFill>
            <a:srgbClr val="F7F9FC"/>
          </a:solidFill>
          <a:ln/>
        </p:spPr>
      </p:sp>
      <p:sp>
        <p:nvSpPr>
          <p:cNvPr id="39" name="Text 37"/>
          <p:cNvSpPr/>
          <p:nvPr/>
        </p:nvSpPr>
        <p:spPr>
          <a:xfrm>
            <a:off x="8013192" y="3657600"/>
            <a:ext cx="1589532" cy="566928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ctr" indent="0" marL="0">
              <a:buNone/>
            </a:pPr>
            <a:r>
              <a:rPr lang="en-US" sz="1050" b="1" spc="50" kern="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CIRCULARES</a:t>
            </a:r>
            <a:endParaRPr lang="en-US" sz="1050" dirty="0"/>
          </a:p>
        </p:txBody>
      </p:sp>
      <p:sp>
        <p:nvSpPr>
          <p:cNvPr id="40" name="Shape 38"/>
          <p:cNvSpPr/>
          <p:nvPr/>
        </p:nvSpPr>
        <p:spPr>
          <a:xfrm>
            <a:off x="9822180" y="3657600"/>
            <a:ext cx="1589532" cy="566928"/>
          </a:xfrm>
          <a:prstGeom prst="roundRect">
            <a:avLst>
              <a:gd name="adj" fmla="val 50000"/>
            </a:avLst>
          </a:prstGeom>
          <a:solidFill>
            <a:srgbClr val="F7F9FC"/>
          </a:solidFill>
          <a:ln/>
        </p:spPr>
      </p:sp>
      <p:sp>
        <p:nvSpPr>
          <p:cNvPr id="41" name="Text 39"/>
          <p:cNvSpPr/>
          <p:nvPr/>
        </p:nvSpPr>
        <p:spPr>
          <a:xfrm>
            <a:off x="9822180" y="3657600"/>
            <a:ext cx="1589532" cy="566928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ctr" indent="0" marL="0">
              <a:buNone/>
            </a:pPr>
            <a:r>
              <a:rPr lang="en-US" sz="1050" b="1" spc="50" kern="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TREINAMENTO</a:t>
            </a:r>
            <a:endParaRPr lang="en-US" sz="1050" dirty="0"/>
          </a:p>
        </p:txBody>
      </p:sp>
      <p:sp>
        <p:nvSpPr>
          <p:cNvPr id="42" name="Shape 40"/>
          <p:cNvSpPr/>
          <p:nvPr/>
        </p:nvSpPr>
        <p:spPr>
          <a:xfrm>
            <a:off x="777240" y="4709160"/>
            <a:ext cx="10634472" cy="1005840"/>
          </a:xfrm>
          <a:prstGeom prst="roundRect">
            <a:avLst>
              <a:gd name="adj" fmla="val 2727"/>
            </a:avLst>
          </a:prstGeom>
          <a:solidFill>
            <a:srgbClr val="EEF4FF"/>
          </a:solidFill>
          <a:ln/>
        </p:spPr>
      </p:sp>
      <p:sp>
        <p:nvSpPr>
          <p:cNvPr id="43" name="Text 41"/>
          <p:cNvSpPr/>
          <p:nvPr/>
        </p:nvSpPr>
        <p:spPr>
          <a:xfrm>
            <a:off x="1051560" y="4855464"/>
            <a:ext cx="10085832" cy="27432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350" b="1" dirty="0">
                <a:solidFill>
                  <a:srgbClr val="0914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ativo não é o software — é este patrimônio de dados, que só a Yamaha tem</a:t>
            </a:r>
            <a:endParaRPr lang="en-US" sz="1350" dirty="0"/>
          </a:p>
        </p:txBody>
      </p:sp>
      <p:sp>
        <p:nvSpPr>
          <p:cNvPr id="44" name="Text 42"/>
          <p:cNvSpPr/>
          <p:nvPr/>
        </p:nvSpPr>
        <p:spPr>
          <a:xfrm>
            <a:off x="1051560" y="5166360"/>
            <a:ext cx="10085832" cy="438912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lnSpc>
                <a:spcPts val="1600"/>
              </a:lnSpc>
              <a:buNone/>
            </a:pPr>
            <a:r>
              <a:rPr lang="en-US" sz="115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Smart Dealer é a escavadeira: transforma o que a rede já produz todos os dias em decisão, oferta e experiência.</a:t>
            </a:r>
            <a:endParaRPr lang="en-US" sz="11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77240" y="502920"/>
            <a:ext cx="10634472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150" kern="0" dirty="0">
                <a:solidFill>
                  <a:srgbClr val="0365F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SOLUÇÃO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777240" y="777240"/>
            <a:ext cx="10634472" cy="566928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0914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Centro de Inteligência da Rede Yamaha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777240" y="1444752"/>
            <a:ext cx="10634472" cy="292608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35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CCY inteligente gerencia experiências — não sistemas.</a:t>
            </a:r>
            <a:endParaRPr lang="en-US" sz="1350" dirty="0"/>
          </a:p>
        </p:txBody>
      </p:sp>
      <p:sp>
        <p:nvSpPr>
          <p:cNvPr id="5" name="Text 3"/>
          <p:cNvSpPr/>
          <p:nvPr/>
        </p:nvSpPr>
        <p:spPr>
          <a:xfrm>
            <a:off x="10954512" y="644652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C3D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05</a:t>
            </a:r>
            <a:endParaRPr lang="en-US" sz="1000" dirty="0"/>
          </a:p>
        </p:txBody>
      </p:sp>
      <p:sp>
        <p:nvSpPr>
          <p:cNvPr id="6" name="Shape 4"/>
          <p:cNvSpPr/>
          <p:nvPr/>
        </p:nvSpPr>
        <p:spPr>
          <a:xfrm>
            <a:off x="777240" y="1965960"/>
            <a:ext cx="1874520" cy="457200"/>
          </a:xfrm>
          <a:prstGeom prst="roundRect">
            <a:avLst>
              <a:gd name="adj" fmla="val 8000"/>
            </a:avLst>
          </a:prstGeom>
          <a:solidFill>
            <a:srgbClr val="F7F9FC"/>
          </a:solidFill>
          <a:ln/>
        </p:spPr>
      </p:sp>
      <p:sp>
        <p:nvSpPr>
          <p:cNvPr id="7" name="Text 5"/>
          <p:cNvSpPr/>
          <p:nvPr/>
        </p:nvSpPr>
        <p:spPr>
          <a:xfrm>
            <a:off x="777240" y="1965960"/>
            <a:ext cx="1874520" cy="4572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Vendas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2779776" y="1965960"/>
            <a:ext cx="1874520" cy="457200"/>
          </a:xfrm>
          <a:prstGeom prst="roundRect">
            <a:avLst>
              <a:gd name="adj" fmla="val 8000"/>
            </a:avLst>
          </a:prstGeom>
          <a:solidFill>
            <a:srgbClr val="F7F9FC"/>
          </a:solidFill>
          <a:ln/>
        </p:spPr>
      </p:sp>
      <p:sp>
        <p:nvSpPr>
          <p:cNvPr id="9" name="Text 7"/>
          <p:cNvSpPr/>
          <p:nvPr/>
        </p:nvSpPr>
        <p:spPr>
          <a:xfrm>
            <a:off x="2779776" y="1965960"/>
            <a:ext cx="1874520" cy="4572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Leads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777240" y="2542032"/>
            <a:ext cx="1874520" cy="457200"/>
          </a:xfrm>
          <a:prstGeom prst="roundRect">
            <a:avLst>
              <a:gd name="adj" fmla="val 8000"/>
            </a:avLst>
          </a:prstGeom>
          <a:solidFill>
            <a:srgbClr val="F7F9FC"/>
          </a:solidFill>
          <a:ln/>
        </p:spPr>
      </p:sp>
      <p:sp>
        <p:nvSpPr>
          <p:cNvPr id="11" name="Text 9"/>
          <p:cNvSpPr/>
          <p:nvPr/>
        </p:nvSpPr>
        <p:spPr>
          <a:xfrm>
            <a:off x="777240" y="2542032"/>
            <a:ext cx="1874520" cy="4572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Banco Yamaha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2779776" y="2542032"/>
            <a:ext cx="1874520" cy="457200"/>
          </a:xfrm>
          <a:prstGeom prst="roundRect">
            <a:avLst>
              <a:gd name="adj" fmla="val 8000"/>
            </a:avLst>
          </a:prstGeom>
          <a:solidFill>
            <a:srgbClr val="F7F9FC"/>
          </a:solidFill>
          <a:ln/>
        </p:spPr>
      </p:sp>
      <p:sp>
        <p:nvSpPr>
          <p:cNvPr id="13" name="Text 11"/>
          <p:cNvSpPr/>
          <p:nvPr/>
        </p:nvSpPr>
        <p:spPr>
          <a:xfrm>
            <a:off x="2779776" y="2542032"/>
            <a:ext cx="1874520" cy="4572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Consórcio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777240" y="3118104"/>
            <a:ext cx="1874520" cy="457200"/>
          </a:xfrm>
          <a:prstGeom prst="roundRect">
            <a:avLst>
              <a:gd name="adj" fmla="val 8000"/>
            </a:avLst>
          </a:prstGeom>
          <a:solidFill>
            <a:srgbClr val="F7F9FC"/>
          </a:solidFill>
          <a:ln/>
        </p:spPr>
      </p:sp>
      <p:sp>
        <p:nvSpPr>
          <p:cNvPr id="15" name="Text 13"/>
          <p:cNvSpPr/>
          <p:nvPr/>
        </p:nvSpPr>
        <p:spPr>
          <a:xfrm>
            <a:off x="777240" y="3118104"/>
            <a:ext cx="1874520" cy="4572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Seguros</a:t>
            </a:r>
            <a:endParaRPr lang="en-US" sz="1000" dirty="0"/>
          </a:p>
        </p:txBody>
      </p:sp>
      <p:sp>
        <p:nvSpPr>
          <p:cNvPr id="16" name="Shape 14"/>
          <p:cNvSpPr/>
          <p:nvPr/>
        </p:nvSpPr>
        <p:spPr>
          <a:xfrm>
            <a:off x="2779776" y="3118104"/>
            <a:ext cx="1874520" cy="457200"/>
          </a:xfrm>
          <a:prstGeom prst="roundRect">
            <a:avLst>
              <a:gd name="adj" fmla="val 8000"/>
            </a:avLst>
          </a:prstGeom>
          <a:solidFill>
            <a:srgbClr val="F7F9FC"/>
          </a:solidFill>
          <a:ln/>
        </p:spPr>
      </p:sp>
      <p:sp>
        <p:nvSpPr>
          <p:cNvPr id="17" name="Text 15"/>
          <p:cNvSpPr/>
          <p:nvPr/>
        </p:nvSpPr>
        <p:spPr>
          <a:xfrm>
            <a:off x="2779776" y="3118104"/>
            <a:ext cx="1874520" cy="4572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Pós-venda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777240" y="3694176"/>
            <a:ext cx="1874520" cy="457200"/>
          </a:xfrm>
          <a:prstGeom prst="roundRect">
            <a:avLst>
              <a:gd name="adj" fmla="val 8000"/>
            </a:avLst>
          </a:prstGeom>
          <a:solidFill>
            <a:srgbClr val="F7F9FC"/>
          </a:solidFill>
          <a:ln/>
        </p:spPr>
      </p:sp>
      <p:sp>
        <p:nvSpPr>
          <p:cNvPr id="19" name="Text 17"/>
          <p:cNvSpPr/>
          <p:nvPr/>
        </p:nvSpPr>
        <p:spPr>
          <a:xfrm>
            <a:off x="777240" y="3694176"/>
            <a:ext cx="1874520" cy="4572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NPS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2779776" y="3694176"/>
            <a:ext cx="1874520" cy="457200"/>
          </a:xfrm>
          <a:prstGeom prst="roundRect">
            <a:avLst>
              <a:gd name="adj" fmla="val 8000"/>
            </a:avLst>
          </a:prstGeom>
          <a:solidFill>
            <a:srgbClr val="F7F9FC"/>
          </a:solidFill>
          <a:ln/>
        </p:spPr>
      </p:sp>
      <p:sp>
        <p:nvSpPr>
          <p:cNvPr id="21" name="Text 19"/>
          <p:cNvSpPr/>
          <p:nvPr/>
        </p:nvSpPr>
        <p:spPr>
          <a:xfrm>
            <a:off x="2779776" y="3694176"/>
            <a:ext cx="1874520" cy="4572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Campanhas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777240" y="4270248"/>
            <a:ext cx="1874520" cy="457200"/>
          </a:xfrm>
          <a:prstGeom prst="roundRect">
            <a:avLst>
              <a:gd name="adj" fmla="val 8000"/>
            </a:avLst>
          </a:prstGeom>
          <a:solidFill>
            <a:srgbClr val="F7F9FC"/>
          </a:solidFill>
          <a:ln/>
        </p:spPr>
      </p:sp>
      <p:sp>
        <p:nvSpPr>
          <p:cNvPr id="23" name="Text 21"/>
          <p:cNvSpPr/>
          <p:nvPr/>
        </p:nvSpPr>
        <p:spPr>
          <a:xfrm>
            <a:off x="777240" y="4270248"/>
            <a:ext cx="1874520" cy="4572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Estoque</a:t>
            </a:r>
            <a:endParaRPr lang="en-US" sz="1000" dirty="0"/>
          </a:p>
        </p:txBody>
      </p:sp>
      <p:sp>
        <p:nvSpPr>
          <p:cNvPr id="24" name="Shape 22"/>
          <p:cNvSpPr/>
          <p:nvPr/>
        </p:nvSpPr>
        <p:spPr>
          <a:xfrm>
            <a:off x="2779776" y="4270248"/>
            <a:ext cx="1874520" cy="457200"/>
          </a:xfrm>
          <a:prstGeom prst="roundRect">
            <a:avLst>
              <a:gd name="adj" fmla="val 8000"/>
            </a:avLst>
          </a:prstGeom>
          <a:solidFill>
            <a:srgbClr val="F7F9FC"/>
          </a:solidFill>
          <a:ln/>
        </p:spPr>
      </p:sp>
      <p:sp>
        <p:nvSpPr>
          <p:cNvPr id="25" name="Text 23"/>
          <p:cNvSpPr/>
          <p:nvPr/>
        </p:nvSpPr>
        <p:spPr>
          <a:xfrm>
            <a:off x="2779776" y="4270248"/>
            <a:ext cx="1874520" cy="4572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Kaizen</a:t>
            </a:r>
            <a:endParaRPr lang="en-US" sz="1000" dirty="0"/>
          </a:p>
        </p:txBody>
      </p:sp>
      <p:sp>
        <p:nvSpPr>
          <p:cNvPr id="26" name="Text 24"/>
          <p:cNvSpPr/>
          <p:nvPr/>
        </p:nvSpPr>
        <p:spPr>
          <a:xfrm>
            <a:off x="4846320" y="3566160"/>
            <a:ext cx="502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B8CD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2400" dirty="0"/>
          </a:p>
        </p:txBody>
      </p:sp>
      <p:sp>
        <p:nvSpPr>
          <p:cNvPr id="27" name="Shape 25"/>
          <p:cNvSpPr/>
          <p:nvPr/>
        </p:nvSpPr>
        <p:spPr>
          <a:xfrm>
            <a:off x="5486400" y="2788920"/>
            <a:ext cx="2514600" cy="2011680"/>
          </a:xfrm>
          <a:prstGeom prst="roundRect">
            <a:avLst>
              <a:gd name="adj" fmla="val 3636"/>
            </a:avLst>
          </a:prstGeom>
          <a:solidFill>
            <a:srgbClr val="091426"/>
          </a:solidFill>
          <a:ln/>
          <a:effectLst>
            <a:outerShdw sx="100000" sy="100000" kx="0" ky="0" algn="bl" rotWithShape="0" blurRad="203200" dist="50800" dir="5400000">
              <a:srgbClr val="B8CDEA">
                <a:alpha val="55000"/>
              </a:srgbClr>
            </a:outerShdw>
          </a:effectLst>
        </p:spPr>
      </p:sp>
      <p:sp>
        <p:nvSpPr>
          <p:cNvPr id="28" name="Text 26"/>
          <p:cNvSpPr/>
          <p:nvPr/>
        </p:nvSpPr>
        <p:spPr>
          <a:xfrm>
            <a:off x="5486400" y="3063240"/>
            <a:ext cx="25146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ts val="2400"/>
              </a:lnSpc>
              <a:buNone/>
            </a:pPr>
            <a:r>
              <a:rPr lang="en-US" sz="2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SMART</a:t>
            </a:r>
            <a:endParaRPr lang="en-US" sz="2100" dirty="0"/>
          </a:p>
          <a:p>
            <a:pPr algn="ctr" indent="0" marL="0">
              <a:lnSpc>
                <a:spcPts val="2400"/>
              </a:lnSpc>
              <a:buNone/>
            </a:pPr>
            <a:r>
              <a:rPr lang="en-US" sz="2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DEALER</a:t>
            </a:r>
            <a:endParaRPr lang="en-US" sz="2100" dirty="0"/>
          </a:p>
        </p:txBody>
      </p:sp>
      <p:sp>
        <p:nvSpPr>
          <p:cNvPr id="29" name="Text 27"/>
          <p:cNvSpPr/>
          <p:nvPr/>
        </p:nvSpPr>
        <p:spPr>
          <a:xfrm>
            <a:off x="5486400" y="4023360"/>
            <a:ext cx="2514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ts val="1200"/>
              </a:lnSpc>
              <a:buNone/>
            </a:pPr>
            <a:r>
              <a:rPr lang="en-US" sz="950" dirty="0">
                <a:solidFill>
                  <a:srgbClr val="B8CD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IA + regras Yamaha</a:t>
            </a:r>
            <a:endParaRPr lang="en-US" sz="950" dirty="0"/>
          </a:p>
          <a:p>
            <a:pPr algn="ctr" indent="0" marL="0">
              <a:lnSpc>
                <a:spcPts val="1200"/>
              </a:lnSpc>
              <a:buNone/>
            </a:pPr>
            <a:r>
              <a:rPr lang="en-US" sz="950" dirty="0">
                <a:solidFill>
                  <a:srgbClr val="B8CD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codificadas</a:t>
            </a:r>
            <a:endParaRPr lang="en-US" sz="950" dirty="0"/>
          </a:p>
        </p:txBody>
      </p:sp>
      <p:sp>
        <p:nvSpPr>
          <p:cNvPr id="30" name="Text 28"/>
          <p:cNvSpPr/>
          <p:nvPr/>
        </p:nvSpPr>
        <p:spPr>
          <a:xfrm>
            <a:off x="8138160" y="3566160"/>
            <a:ext cx="502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B8CD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2400" dirty="0"/>
          </a:p>
        </p:txBody>
      </p:sp>
      <p:sp>
        <p:nvSpPr>
          <p:cNvPr id="31" name="Shape 29"/>
          <p:cNvSpPr/>
          <p:nvPr/>
        </p:nvSpPr>
        <p:spPr>
          <a:xfrm>
            <a:off x="8778240" y="1965960"/>
            <a:ext cx="2633472" cy="804672"/>
          </a:xfrm>
          <a:prstGeom prst="roundRect">
            <a:avLst>
              <a:gd name="adj" fmla="val 4545"/>
            </a:avLst>
          </a:prstGeom>
          <a:solidFill>
            <a:srgbClr val="EEF4FF"/>
          </a:solidFill>
          <a:ln/>
        </p:spPr>
      </p:sp>
      <p:sp>
        <p:nvSpPr>
          <p:cNvPr id="32" name="Text 30"/>
          <p:cNvSpPr/>
          <p:nvPr/>
        </p:nvSpPr>
        <p:spPr>
          <a:xfrm>
            <a:off x="8961120" y="2075688"/>
            <a:ext cx="226771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914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Oportunidades</a:t>
            </a:r>
            <a:endParaRPr lang="en-US" sz="1250" dirty="0"/>
          </a:p>
        </p:txBody>
      </p:sp>
      <p:sp>
        <p:nvSpPr>
          <p:cNvPr id="33" name="Text 31"/>
          <p:cNvSpPr/>
          <p:nvPr/>
        </p:nvSpPr>
        <p:spPr>
          <a:xfrm>
            <a:off x="8961120" y="2368296"/>
            <a:ext cx="226771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identificadas sozinhas</a:t>
            </a:r>
            <a:endParaRPr lang="en-US" sz="1000" dirty="0"/>
          </a:p>
        </p:txBody>
      </p:sp>
      <p:sp>
        <p:nvSpPr>
          <p:cNvPr id="34" name="Shape 32"/>
          <p:cNvSpPr/>
          <p:nvPr/>
        </p:nvSpPr>
        <p:spPr>
          <a:xfrm>
            <a:off x="8778240" y="2898648"/>
            <a:ext cx="2633472" cy="804672"/>
          </a:xfrm>
          <a:prstGeom prst="roundRect">
            <a:avLst>
              <a:gd name="adj" fmla="val 4545"/>
            </a:avLst>
          </a:prstGeom>
          <a:solidFill>
            <a:srgbClr val="EEF4FF"/>
          </a:solidFill>
          <a:ln/>
        </p:spPr>
      </p:sp>
      <p:sp>
        <p:nvSpPr>
          <p:cNvPr id="35" name="Text 33"/>
          <p:cNvSpPr/>
          <p:nvPr/>
        </p:nvSpPr>
        <p:spPr>
          <a:xfrm>
            <a:off x="8961120" y="3008376"/>
            <a:ext cx="226771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914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Alertas</a:t>
            </a:r>
            <a:endParaRPr lang="en-US" sz="1250" dirty="0"/>
          </a:p>
        </p:txBody>
      </p:sp>
      <p:sp>
        <p:nvSpPr>
          <p:cNvPr id="36" name="Text 34"/>
          <p:cNvSpPr/>
          <p:nvPr/>
        </p:nvSpPr>
        <p:spPr>
          <a:xfrm>
            <a:off x="8961120" y="3300984"/>
            <a:ext cx="226771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operacionais na hora</a:t>
            </a:r>
            <a:endParaRPr lang="en-US" sz="1000" dirty="0"/>
          </a:p>
        </p:txBody>
      </p:sp>
      <p:sp>
        <p:nvSpPr>
          <p:cNvPr id="37" name="Shape 35"/>
          <p:cNvSpPr/>
          <p:nvPr/>
        </p:nvSpPr>
        <p:spPr>
          <a:xfrm>
            <a:off x="8778240" y="3831336"/>
            <a:ext cx="2633472" cy="804672"/>
          </a:xfrm>
          <a:prstGeom prst="roundRect">
            <a:avLst>
              <a:gd name="adj" fmla="val 4545"/>
            </a:avLst>
          </a:prstGeom>
          <a:solidFill>
            <a:srgbClr val="EEF4FF"/>
          </a:solidFill>
          <a:ln/>
        </p:spPr>
      </p:sp>
      <p:sp>
        <p:nvSpPr>
          <p:cNvPr id="38" name="Text 36"/>
          <p:cNvSpPr/>
          <p:nvPr/>
        </p:nvSpPr>
        <p:spPr>
          <a:xfrm>
            <a:off x="8961120" y="3941064"/>
            <a:ext cx="226771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914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Jornada</a:t>
            </a:r>
            <a:endParaRPr lang="en-US" sz="1250" dirty="0"/>
          </a:p>
        </p:txBody>
      </p:sp>
      <p:sp>
        <p:nvSpPr>
          <p:cNvPr id="39" name="Text 37"/>
          <p:cNvSpPr/>
          <p:nvPr/>
        </p:nvSpPr>
        <p:spPr>
          <a:xfrm>
            <a:off x="8961120" y="4233672"/>
            <a:ext cx="226771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completa do cliente</a:t>
            </a:r>
            <a:endParaRPr lang="en-US" sz="1000" dirty="0"/>
          </a:p>
        </p:txBody>
      </p:sp>
      <p:sp>
        <p:nvSpPr>
          <p:cNvPr id="40" name="Shape 38"/>
          <p:cNvSpPr/>
          <p:nvPr/>
        </p:nvSpPr>
        <p:spPr>
          <a:xfrm>
            <a:off x="8778240" y="4764024"/>
            <a:ext cx="2633472" cy="804672"/>
          </a:xfrm>
          <a:prstGeom prst="roundRect">
            <a:avLst>
              <a:gd name="adj" fmla="val 4545"/>
            </a:avLst>
          </a:prstGeom>
          <a:solidFill>
            <a:srgbClr val="EEF4FF"/>
          </a:solidFill>
          <a:ln/>
        </p:spPr>
      </p:sp>
      <p:sp>
        <p:nvSpPr>
          <p:cNvPr id="41" name="Text 39"/>
          <p:cNvSpPr/>
          <p:nvPr/>
        </p:nvSpPr>
        <p:spPr>
          <a:xfrm>
            <a:off x="8961120" y="4873752"/>
            <a:ext cx="226771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914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Decisão</a:t>
            </a:r>
            <a:endParaRPr lang="en-US" sz="1250" dirty="0"/>
          </a:p>
        </p:txBody>
      </p:sp>
      <p:sp>
        <p:nvSpPr>
          <p:cNvPr id="42" name="Text 40"/>
          <p:cNvSpPr/>
          <p:nvPr/>
        </p:nvSpPr>
        <p:spPr>
          <a:xfrm>
            <a:off x="8961120" y="5166360"/>
            <a:ext cx="226771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recomendada com IA</a:t>
            </a:r>
            <a:endParaRPr lang="en-US" sz="10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9142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_NOVAS MELHORIAS/deck-assets/bg-produt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88952" cy="68580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777240" y="502920"/>
            <a:ext cx="10634472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150" kern="0" dirty="0">
                <a:solidFill>
                  <a:srgbClr val="04CD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SOLUÇÃO</a:t>
            </a:r>
            <a:endParaRPr lang="en-US" sz="1100" dirty="0"/>
          </a:p>
        </p:txBody>
      </p:sp>
      <p:sp>
        <p:nvSpPr>
          <p:cNvPr id="4" name="Text 1"/>
          <p:cNvSpPr/>
          <p:nvPr/>
        </p:nvSpPr>
        <p:spPr>
          <a:xfrm>
            <a:off x="777240" y="777240"/>
            <a:ext cx="10634472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Não é conceito: está rodando na Nippon Motos</a:t>
            </a:r>
            <a:endParaRPr lang="en-US" sz="3000" dirty="0"/>
          </a:p>
        </p:txBody>
      </p:sp>
      <p:sp>
        <p:nvSpPr>
          <p:cNvPr id="5" name="Text 2"/>
          <p:cNvSpPr/>
          <p:nvPr/>
        </p:nvSpPr>
        <p:spPr>
          <a:xfrm>
            <a:off x="777240" y="1417320"/>
            <a:ext cx="1063447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B8CD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 lojas · 25 módulos em produção · pago pela própria concessionária (R$ 600/mês) · acompanhado pela regional.</a:t>
            </a:r>
            <a:endParaRPr lang="en-US" sz="1300" dirty="0"/>
          </a:p>
        </p:txBody>
      </p:sp>
      <p:sp>
        <p:nvSpPr>
          <p:cNvPr id="6" name="Shape 3"/>
          <p:cNvSpPr/>
          <p:nvPr/>
        </p:nvSpPr>
        <p:spPr>
          <a:xfrm>
            <a:off x="1737360" y="1965960"/>
            <a:ext cx="8778240" cy="5486400"/>
          </a:xfrm>
          <a:prstGeom prst="roundRect">
            <a:avLst>
              <a:gd name="adj" fmla="val 1167"/>
            </a:avLst>
          </a:prstGeom>
          <a:solidFill>
            <a:srgbClr val="0E1D36"/>
          </a:solidFill>
          <a:ln w="9525">
            <a:solidFill>
              <a:srgbClr val="22304A"/>
            </a:solidFill>
            <a:prstDash val="solid"/>
          </a:ln>
          <a:effectLst>
            <a:outerShdw sx="100000" sy="100000" kx="0" ky="0" algn="bl" rotWithShape="0" blurRad="177800" dist="63500" dir="5400000">
              <a:srgbClr val="0A1220">
                <a:alpha val="50000"/>
              </a:srgbClr>
            </a:outerShdw>
          </a:effectLst>
        </p:spPr>
      </p:sp>
      <p:sp>
        <p:nvSpPr>
          <p:cNvPr id="7" name="Shape 4"/>
          <p:cNvSpPr/>
          <p:nvPr/>
        </p:nvSpPr>
        <p:spPr>
          <a:xfrm>
            <a:off x="1883664" y="2057400"/>
            <a:ext cx="91440" cy="91440"/>
          </a:xfrm>
          <a:prstGeom prst="ellipse">
            <a:avLst/>
          </a:prstGeom>
          <a:solidFill>
            <a:srgbClr val="FF5F57"/>
          </a:solidFill>
          <a:ln/>
        </p:spPr>
      </p:sp>
      <p:sp>
        <p:nvSpPr>
          <p:cNvPr id="8" name="Shape 5"/>
          <p:cNvSpPr/>
          <p:nvPr/>
        </p:nvSpPr>
        <p:spPr>
          <a:xfrm>
            <a:off x="2039112" y="2057400"/>
            <a:ext cx="91440" cy="91440"/>
          </a:xfrm>
          <a:prstGeom prst="ellipse">
            <a:avLst/>
          </a:prstGeom>
          <a:solidFill>
            <a:srgbClr val="FFBD2E"/>
          </a:solidFill>
          <a:ln/>
        </p:spPr>
      </p:sp>
      <p:sp>
        <p:nvSpPr>
          <p:cNvPr id="9" name="Shape 6"/>
          <p:cNvSpPr/>
          <p:nvPr/>
        </p:nvSpPr>
        <p:spPr>
          <a:xfrm>
            <a:off x="2194560" y="2057400"/>
            <a:ext cx="91440" cy="91440"/>
          </a:xfrm>
          <a:prstGeom prst="ellipse">
            <a:avLst/>
          </a:prstGeom>
          <a:solidFill>
            <a:srgbClr val="28C840"/>
          </a:solidFill>
          <a:ln/>
        </p:spPr>
      </p:sp>
      <p:sp>
        <p:nvSpPr>
          <p:cNvPr id="10" name="Text 7"/>
          <p:cNvSpPr/>
          <p:nvPr/>
        </p:nvSpPr>
        <p:spPr>
          <a:xfrm>
            <a:off x="4754880" y="1993392"/>
            <a:ext cx="274320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8FA3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smart-dealer.vercel.app</a:t>
            </a:r>
            <a:endParaRPr lang="en-US" sz="800" dirty="0"/>
          </a:p>
        </p:txBody>
      </p:sp>
      <p:pic>
        <p:nvPicPr>
          <p:cNvPr id="11" name="Image 1" descr="_NOVAS MELHORIAS/deck-assets/performance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773936" y="2240280"/>
            <a:ext cx="8705088" cy="5175504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10954512" y="644652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3D4F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06</a:t>
            </a:r>
            <a:endParaRPr lang="en-US" sz="10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77240" y="502920"/>
            <a:ext cx="10634472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150" kern="0" dirty="0">
                <a:solidFill>
                  <a:srgbClr val="0365F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SOLUÇÃO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777240" y="777240"/>
            <a:ext cx="10634472" cy="566928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0914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que antes levava horas agora leva segundos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10954512" y="644652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C3D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07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777240" y="1874520"/>
            <a:ext cx="548640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D64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HOJE — 30 MINUTOS A 3 HORAS POR ANÁLISE</a:t>
            </a:r>
            <a:endParaRPr lang="en-US" sz="1000" dirty="0"/>
          </a:p>
        </p:txBody>
      </p:sp>
      <p:sp>
        <p:nvSpPr>
          <p:cNvPr id="6" name="Shape 4"/>
          <p:cNvSpPr/>
          <p:nvPr/>
        </p:nvSpPr>
        <p:spPr>
          <a:xfrm>
            <a:off x="777240" y="2240280"/>
            <a:ext cx="4846320" cy="457200"/>
          </a:xfrm>
          <a:prstGeom prst="roundRect">
            <a:avLst>
              <a:gd name="adj" fmla="val 6000"/>
            </a:avLst>
          </a:prstGeom>
          <a:solidFill>
            <a:srgbClr val="F7F9FC"/>
          </a:solidFill>
          <a:ln/>
        </p:spPr>
      </p:sp>
      <p:sp>
        <p:nvSpPr>
          <p:cNvPr id="7" name="Text 5"/>
          <p:cNvSpPr/>
          <p:nvPr/>
        </p:nvSpPr>
        <p:spPr>
          <a:xfrm>
            <a:off x="941832" y="2331720"/>
            <a:ext cx="3657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B8CD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1344168" y="2340864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Abrir o CRM</a:t>
            </a:r>
            <a:endParaRPr lang="en-US" sz="1150" dirty="0"/>
          </a:p>
        </p:txBody>
      </p:sp>
      <p:sp>
        <p:nvSpPr>
          <p:cNvPr id="9" name="Shape 7"/>
          <p:cNvSpPr/>
          <p:nvPr/>
        </p:nvSpPr>
        <p:spPr>
          <a:xfrm>
            <a:off x="777240" y="2788920"/>
            <a:ext cx="4846320" cy="457200"/>
          </a:xfrm>
          <a:prstGeom prst="roundRect">
            <a:avLst>
              <a:gd name="adj" fmla="val 6000"/>
            </a:avLst>
          </a:prstGeom>
          <a:solidFill>
            <a:srgbClr val="F7F9FC"/>
          </a:solidFill>
          <a:ln/>
        </p:spPr>
      </p:sp>
      <p:sp>
        <p:nvSpPr>
          <p:cNvPr id="10" name="Text 8"/>
          <p:cNvSpPr/>
          <p:nvPr/>
        </p:nvSpPr>
        <p:spPr>
          <a:xfrm>
            <a:off x="941832" y="2880360"/>
            <a:ext cx="3657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B8CD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1344168" y="2889504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Abrir o Banco Yamaha</a:t>
            </a:r>
            <a:endParaRPr lang="en-US" sz="1150" dirty="0"/>
          </a:p>
        </p:txBody>
      </p:sp>
      <p:sp>
        <p:nvSpPr>
          <p:cNvPr id="12" name="Shape 10"/>
          <p:cNvSpPr/>
          <p:nvPr/>
        </p:nvSpPr>
        <p:spPr>
          <a:xfrm>
            <a:off x="777240" y="3337560"/>
            <a:ext cx="4846320" cy="457200"/>
          </a:xfrm>
          <a:prstGeom prst="roundRect">
            <a:avLst>
              <a:gd name="adj" fmla="val 6000"/>
            </a:avLst>
          </a:prstGeom>
          <a:solidFill>
            <a:srgbClr val="F7F9FC"/>
          </a:solidFill>
          <a:ln/>
        </p:spPr>
      </p:sp>
      <p:sp>
        <p:nvSpPr>
          <p:cNvPr id="13" name="Text 11"/>
          <p:cNvSpPr/>
          <p:nvPr/>
        </p:nvSpPr>
        <p:spPr>
          <a:xfrm>
            <a:off x="941832" y="3429000"/>
            <a:ext cx="3657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B8CD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1344168" y="3438144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Abrir o Consórcio</a:t>
            </a:r>
            <a:endParaRPr lang="en-US" sz="1150" dirty="0"/>
          </a:p>
        </p:txBody>
      </p:sp>
      <p:sp>
        <p:nvSpPr>
          <p:cNvPr id="15" name="Shape 13"/>
          <p:cNvSpPr/>
          <p:nvPr/>
        </p:nvSpPr>
        <p:spPr>
          <a:xfrm>
            <a:off x="777240" y="3886200"/>
            <a:ext cx="4846320" cy="457200"/>
          </a:xfrm>
          <a:prstGeom prst="roundRect">
            <a:avLst>
              <a:gd name="adj" fmla="val 6000"/>
            </a:avLst>
          </a:prstGeom>
          <a:solidFill>
            <a:srgbClr val="F7F9FC"/>
          </a:solidFill>
          <a:ln/>
        </p:spPr>
      </p:sp>
      <p:sp>
        <p:nvSpPr>
          <p:cNvPr id="16" name="Text 14"/>
          <p:cNvSpPr/>
          <p:nvPr/>
        </p:nvSpPr>
        <p:spPr>
          <a:xfrm>
            <a:off x="941832" y="3977640"/>
            <a:ext cx="3657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B8CD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1344168" y="3986784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Abrir as planilhas internas</a:t>
            </a:r>
            <a:endParaRPr lang="en-US" sz="1150" dirty="0"/>
          </a:p>
        </p:txBody>
      </p:sp>
      <p:sp>
        <p:nvSpPr>
          <p:cNvPr id="18" name="Shape 16"/>
          <p:cNvSpPr/>
          <p:nvPr/>
        </p:nvSpPr>
        <p:spPr>
          <a:xfrm>
            <a:off x="777240" y="4434840"/>
            <a:ext cx="4846320" cy="457200"/>
          </a:xfrm>
          <a:prstGeom prst="roundRect">
            <a:avLst>
              <a:gd name="adj" fmla="val 6000"/>
            </a:avLst>
          </a:prstGeom>
          <a:solidFill>
            <a:srgbClr val="F7F9FC"/>
          </a:solidFill>
          <a:ln/>
        </p:spPr>
      </p:sp>
      <p:sp>
        <p:nvSpPr>
          <p:cNvPr id="19" name="Text 17"/>
          <p:cNvSpPr/>
          <p:nvPr/>
        </p:nvSpPr>
        <p:spPr>
          <a:xfrm>
            <a:off x="941832" y="4526280"/>
            <a:ext cx="3657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B8CD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200" dirty="0"/>
          </a:p>
        </p:txBody>
      </p:sp>
      <p:sp>
        <p:nvSpPr>
          <p:cNvPr id="20" name="Text 18"/>
          <p:cNvSpPr/>
          <p:nvPr/>
        </p:nvSpPr>
        <p:spPr>
          <a:xfrm>
            <a:off x="1344168" y="4535424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Cruzar as informações</a:t>
            </a:r>
            <a:endParaRPr lang="en-US" sz="1150" dirty="0"/>
          </a:p>
        </p:txBody>
      </p:sp>
      <p:sp>
        <p:nvSpPr>
          <p:cNvPr id="21" name="Shape 19"/>
          <p:cNvSpPr/>
          <p:nvPr/>
        </p:nvSpPr>
        <p:spPr>
          <a:xfrm>
            <a:off x="777240" y="4983480"/>
            <a:ext cx="4846320" cy="457200"/>
          </a:xfrm>
          <a:prstGeom prst="roundRect">
            <a:avLst>
              <a:gd name="adj" fmla="val 6000"/>
            </a:avLst>
          </a:prstGeom>
          <a:solidFill>
            <a:srgbClr val="F7F9FC"/>
          </a:solidFill>
          <a:ln/>
        </p:spPr>
      </p:sp>
      <p:sp>
        <p:nvSpPr>
          <p:cNvPr id="22" name="Text 20"/>
          <p:cNvSpPr/>
          <p:nvPr/>
        </p:nvSpPr>
        <p:spPr>
          <a:xfrm>
            <a:off x="941832" y="5074920"/>
            <a:ext cx="3657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B8CD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1200" dirty="0"/>
          </a:p>
        </p:txBody>
      </p:sp>
      <p:sp>
        <p:nvSpPr>
          <p:cNvPr id="23" name="Text 21"/>
          <p:cNvSpPr/>
          <p:nvPr/>
        </p:nvSpPr>
        <p:spPr>
          <a:xfrm>
            <a:off x="1344168" y="5084064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Analisar manualmente</a:t>
            </a:r>
            <a:endParaRPr lang="en-US" sz="1150" dirty="0"/>
          </a:p>
        </p:txBody>
      </p:sp>
      <p:sp>
        <p:nvSpPr>
          <p:cNvPr id="24" name="Text 22"/>
          <p:cNvSpPr/>
          <p:nvPr/>
        </p:nvSpPr>
        <p:spPr>
          <a:xfrm>
            <a:off x="6217920" y="1874520"/>
            <a:ext cx="5193792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1E9E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 SMART DEALER</a:t>
            </a:r>
            <a:endParaRPr lang="en-US" sz="1000" dirty="0"/>
          </a:p>
        </p:txBody>
      </p:sp>
      <p:sp>
        <p:nvSpPr>
          <p:cNvPr id="25" name="Shape 23"/>
          <p:cNvSpPr/>
          <p:nvPr/>
        </p:nvSpPr>
        <p:spPr>
          <a:xfrm>
            <a:off x="6217920" y="2240280"/>
            <a:ext cx="5193792" cy="3200400"/>
          </a:xfrm>
          <a:prstGeom prst="roundRect">
            <a:avLst>
              <a:gd name="adj" fmla="val 1143"/>
            </a:avLst>
          </a:prstGeom>
          <a:solidFill>
            <a:srgbClr val="E7F6EE"/>
          </a:solidFill>
          <a:ln/>
        </p:spPr>
      </p:sp>
      <p:sp>
        <p:nvSpPr>
          <p:cNvPr id="26" name="Text 24"/>
          <p:cNvSpPr/>
          <p:nvPr/>
        </p:nvSpPr>
        <p:spPr>
          <a:xfrm>
            <a:off x="6492240" y="2606040"/>
            <a:ext cx="4645152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914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Resposta em segundos</a:t>
            </a:r>
            <a:endParaRPr lang="en-US" sz="2200" dirty="0"/>
          </a:p>
        </p:txBody>
      </p:sp>
      <p:sp>
        <p:nvSpPr>
          <p:cNvPr id="27" name="Text 25"/>
          <p:cNvSpPr/>
          <p:nvPr/>
        </p:nvSpPr>
        <p:spPr>
          <a:xfrm>
            <a:off x="6492240" y="3154680"/>
            <a:ext cx="4645152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20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Uma pergunta na tela — ou no chat — e a análise vem pronta, cruzada e com fonte. O tempo do gerente vai para a decisão, não para a coleta.</a:t>
            </a:r>
            <a:endParaRPr lang="en-US" sz="1200" dirty="0"/>
          </a:p>
        </p:txBody>
      </p:sp>
      <p:sp>
        <p:nvSpPr>
          <p:cNvPr id="28" name="Text 26"/>
          <p:cNvSpPr/>
          <p:nvPr/>
        </p:nvSpPr>
        <p:spPr>
          <a:xfrm>
            <a:off x="6492240" y="4297680"/>
            <a:ext cx="4645152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00" i="1" dirty="0">
                <a:solidFill>
                  <a:srgbClr val="1E9E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Exemplo real: o PDCA oficial da regional, que levava horas, sai em um clique.</a:t>
            </a:r>
            <a:endParaRPr lang="en-US" sz="11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77240" y="502920"/>
            <a:ext cx="10634472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150" kern="0" dirty="0">
                <a:solidFill>
                  <a:srgbClr val="0365F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SOLUÇÃO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777240" y="777240"/>
            <a:ext cx="10634472" cy="566928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0914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jornada do gerente: gestão baseada em dados, não em percepção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10954512" y="644652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C3D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08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777240" y="1920240"/>
            <a:ext cx="3410712" cy="1234440"/>
          </a:xfrm>
          <a:prstGeom prst="roundRect">
            <a:avLst>
              <a:gd name="adj" fmla="val 2222"/>
            </a:avLst>
          </a:prstGeom>
          <a:solidFill>
            <a:srgbClr val="F7F9FC"/>
          </a:solidFill>
          <a:ln/>
        </p:spPr>
      </p:sp>
      <p:sp>
        <p:nvSpPr>
          <p:cNvPr id="6" name="Text 4"/>
          <p:cNvSpPr/>
          <p:nvPr/>
        </p:nvSpPr>
        <p:spPr>
          <a:xfrm>
            <a:off x="996696" y="2121408"/>
            <a:ext cx="2971800" cy="310896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400" b="1" dirty="0">
                <a:solidFill>
                  <a:srgbClr val="0914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Conversão por vendedor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996696" y="2487168"/>
            <a:ext cx="2971800" cy="50292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Performance individual visível em tempo real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389120" y="1920240"/>
            <a:ext cx="3410712" cy="1234440"/>
          </a:xfrm>
          <a:prstGeom prst="roundRect">
            <a:avLst>
              <a:gd name="adj" fmla="val 2222"/>
            </a:avLst>
          </a:prstGeom>
          <a:solidFill>
            <a:srgbClr val="F7F9FC"/>
          </a:solidFill>
          <a:ln/>
        </p:spPr>
      </p:sp>
      <p:sp>
        <p:nvSpPr>
          <p:cNvPr id="9" name="Text 7"/>
          <p:cNvSpPr/>
          <p:nvPr/>
        </p:nvSpPr>
        <p:spPr>
          <a:xfrm>
            <a:off x="4608576" y="2121408"/>
            <a:ext cx="2971800" cy="310896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400" b="1" dirty="0">
                <a:solidFill>
                  <a:srgbClr val="0914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Gestão da equipe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4608576" y="2487168"/>
            <a:ext cx="2971800" cy="50292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Metas, resultados e ranking atualizados ao vivo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8001000" y="1920240"/>
            <a:ext cx="3410712" cy="1234440"/>
          </a:xfrm>
          <a:prstGeom prst="roundRect">
            <a:avLst>
              <a:gd name="adj" fmla="val 2222"/>
            </a:avLst>
          </a:prstGeom>
          <a:solidFill>
            <a:srgbClr val="F7F9FC"/>
          </a:solidFill>
          <a:ln/>
        </p:spPr>
      </p:sp>
      <p:sp>
        <p:nvSpPr>
          <p:cNvPr id="12" name="Text 10"/>
          <p:cNvSpPr/>
          <p:nvPr/>
        </p:nvSpPr>
        <p:spPr>
          <a:xfrm>
            <a:off x="8220456" y="2121408"/>
            <a:ext cx="2971800" cy="310896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400" b="1" dirty="0">
                <a:solidFill>
                  <a:srgbClr val="0914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Gargalos do funil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8220456" y="2487168"/>
            <a:ext cx="2971800" cy="50292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Identifica onde os leads estão travando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777240" y="3355848"/>
            <a:ext cx="3410712" cy="1234440"/>
          </a:xfrm>
          <a:prstGeom prst="roundRect">
            <a:avLst>
              <a:gd name="adj" fmla="val 2222"/>
            </a:avLst>
          </a:prstGeom>
          <a:solidFill>
            <a:srgbClr val="F7F9FC"/>
          </a:solidFill>
          <a:ln/>
        </p:spPr>
      </p:sp>
      <p:sp>
        <p:nvSpPr>
          <p:cNvPr id="15" name="Text 13"/>
          <p:cNvSpPr/>
          <p:nvPr/>
        </p:nvSpPr>
        <p:spPr>
          <a:xfrm>
            <a:off x="996696" y="3557016"/>
            <a:ext cx="2971800" cy="310896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400" b="1" dirty="0">
                <a:solidFill>
                  <a:srgbClr val="0914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NPS em tempo real</a:t>
            </a:r>
            <a:endParaRPr lang="en-US" sz="1400" dirty="0"/>
          </a:p>
        </p:txBody>
      </p:sp>
      <p:sp>
        <p:nvSpPr>
          <p:cNvPr id="16" name="Text 14"/>
          <p:cNvSpPr/>
          <p:nvPr/>
        </p:nvSpPr>
        <p:spPr>
          <a:xfrm>
            <a:off x="996696" y="3922776"/>
            <a:ext cx="2971800" cy="50292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Monitora a satisfação e age imediatamente</a:t>
            </a:r>
            <a:endParaRPr lang="en-US" sz="1100" dirty="0"/>
          </a:p>
        </p:txBody>
      </p:sp>
      <p:sp>
        <p:nvSpPr>
          <p:cNvPr id="17" name="Shape 15"/>
          <p:cNvSpPr/>
          <p:nvPr/>
        </p:nvSpPr>
        <p:spPr>
          <a:xfrm>
            <a:off x="4389120" y="3355848"/>
            <a:ext cx="3410712" cy="1234440"/>
          </a:xfrm>
          <a:prstGeom prst="roundRect">
            <a:avLst>
              <a:gd name="adj" fmla="val 2222"/>
            </a:avLst>
          </a:prstGeom>
          <a:solidFill>
            <a:srgbClr val="F7F9FC"/>
          </a:solidFill>
          <a:ln/>
        </p:spPr>
      </p:sp>
      <p:sp>
        <p:nvSpPr>
          <p:cNvPr id="18" name="Text 16"/>
          <p:cNvSpPr/>
          <p:nvPr/>
        </p:nvSpPr>
        <p:spPr>
          <a:xfrm>
            <a:off x="4608576" y="3557016"/>
            <a:ext cx="2971800" cy="310896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400" b="1" dirty="0">
                <a:solidFill>
                  <a:srgbClr val="0914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Aprovação bancária</a:t>
            </a:r>
            <a:endParaRPr lang="en-US" sz="1400" dirty="0"/>
          </a:p>
        </p:txBody>
      </p:sp>
      <p:sp>
        <p:nvSpPr>
          <p:cNvPr id="19" name="Text 17"/>
          <p:cNvSpPr/>
          <p:nvPr/>
        </p:nvSpPr>
        <p:spPr>
          <a:xfrm>
            <a:off x="4608576" y="3922776"/>
            <a:ext cx="2971800" cy="50292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Taxa de financiamento e motivos de recusa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8001000" y="3355848"/>
            <a:ext cx="3410712" cy="1234440"/>
          </a:xfrm>
          <a:prstGeom prst="roundRect">
            <a:avLst>
              <a:gd name="adj" fmla="val 2222"/>
            </a:avLst>
          </a:prstGeom>
          <a:solidFill>
            <a:srgbClr val="F7F9FC"/>
          </a:solidFill>
          <a:ln/>
        </p:spPr>
      </p:sp>
      <p:sp>
        <p:nvSpPr>
          <p:cNvPr id="21" name="Text 19"/>
          <p:cNvSpPr/>
          <p:nvPr/>
        </p:nvSpPr>
        <p:spPr>
          <a:xfrm>
            <a:off x="8220456" y="3557016"/>
            <a:ext cx="2971800" cy="310896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400" b="1" dirty="0">
                <a:solidFill>
                  <a:srgbClr val="0914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Eficiência operacional</a:t>
            </a:r>
            <a:endParaRPr lang="en-US" sz="1400" dirty="0"/>
          </a:p>
        </p:txBody>
      </p:sp>
      <p:sp>
        <p:nvSpPr>
          <p:cNvPr id="22" name="Text 20"/>
          <p:cNvSpPr/>
          <p:nvPr/>
        </p:nvSpPr>
        <p:spPr>
          <a:xfrm>
            <a:off x="8220456" y="3922776"/>
            <a:ext cx="2971800" cy="50292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Painel completo da operação da concessionária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777240" y="4709160"/>
            <a:ext cx="10634472" cy="1051560"/>
          </a:xfrm>
          <a:prstGeom prst="roundRect">
            <a:avLst>
              <a:gd name="adj" fmla="val 2609"/>
            </a:avLst>
          </a:prstGeom>
          <a:solidFill>
            <a:srgbClr val="E7F6EE"/>
          </a:solidFill>
          <a:ln/>
        </p:spPr>
      </p:sp>
      <p:sp>
        <p:nvSpPr>
          <p:cNvPr id="24" name="Text 22"/>
          <p:cNvSpPr/>
          <p:nvPr/>
        </p:nvSpPr>
        <p:spPr>
          <a:xfrm>
            <a:off x="1051560" y="4855464"/>
            <a:ext cx="10085832" cy="27432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350" b="1" dirty="0">
                <a:solidFill>
                  <a:srgbClr val="0914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Resultado: previsibilidade operacional e comercial</a:t>
            </a:r>
            <a:endParaRPr lang="en-US" sz="1350" dirty="0"/>
          </a:p>
        </p:txBody>
      </p:sp>
      <p:sp>
        <p:nvSpPr>
          <p:cNvPr id="25" name="Text 23"/>
          <p:cNvSpPr/>
          <p:nvPr/>
        </p:nvSpPr>
        <p:spPr>
          <a:xfrm>
            <a:off x="1051560" y="5166360"/>
            <a:ext cx="10085832" cy="484632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lnSpc>
                <a:spcPts val="1600"/>
              </a:lnSpc>
              <a:buNone/>
            </a:pPr>
            <a:r>
              <a:rPr lang="en-US" sz="115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Governança de CRM comprova: primeira resposta de 3h47 para 8 min · SLA de 10 minutos de 22% para 81% · conversão de 8,1% para 13,9% · leads sem resposta de 32% para 2% — mesma equipe, mesmos leads.</a:t>
            </a:r>
            <a:endParaRPr lang="en-US" sz="115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77240" y="502920"/>
            <a:ext cx="10634472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150" kern="0" dirty="0">
                <a:solidFill>
                  <a:srgbClr val="0365F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INTELIGÊNCIA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777240" y="777240"/>
            <a:ext cx="10634472" cy="566928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0914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Claude — o cérebro do Smart Dealer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777240" y="1444752"/>
            <a:ext cx="10634472" cy="292608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35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by Anthropic</a:t>
            </a:r>
            <a:endParaRPr lang="en-US" sz="1350" dirty="0"/>
          </a:p>
        </p:txBody>
      </p:sp>
      <p:sp>
        <p:nvSpPr>
          <p:cNvPr id="5" name="Text 3"/>
          <p:cNvSpPr/>
          <p:nvPr/>
        </p:nvSpPr>
        <p:spPr>
          <a:xfrm>
            <a:off x="10954512" y="644652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C3D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09</a:t>
            </a:r>
            <a:endParaRPr lang="en-US" sz="1000" dirty="0"/>
          </a:p>
        </p:txBody>
      </p:sp>
      <p:sp>
        <p:nvSpPr>
          <p:cNvPr id="6" name="Shape 4"/>
          <p:cNvSpPr/>
          <p:nvPr/>
        </p:nvSpPr>
        <p:spPr>
          <a:xfrm>
            <a:off x="777240" y="1920240"/>
            <a:ext cx="5088636" cy="3291840"/>
          </a:xfrm>
          <a:prstGeom prst="roundRect">
            <a:avLst>
              <a:gd name="adj" fmla="val 1111"/>
            </a:avLst>
          </a:prstGeom>
          <a:solidFill>
            <a:srgbClr val="F7F9FC"/>
          </a:solidFill>
          <a:ln/>
        </p:spPr>
      </p:sp>
      <p:sp>
        <p:nvSpPr>
          <p:cNvPr id="7" name="Text 5"/>
          <p:cNvSpPr/>
          <p:nvPr/>
        </p:nvSpPr>
        <p:spPr>
          <a:xfrm>
            <a:off x="1051560" y="2148840"/>
            <a:ext cx="4539996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914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que é Claude?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1051560" y="2560320"/>
            <a:ext cx="4539996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15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Modelo de inteligência artificial da Anthropic — empresa avaliada em mais de US$ 61 bilhões, fundada por ex-pesquisadores da OpenAI. Considerado um dos modelos mais avançados do mundo.</a:t>
            </a:r>
            <a:endParaRPr lang="en-US" sz="1150" dirty="0"/>
          </a:p>
        </p:txBody>
      </p:sp>
      <p:sp>
        <p:nvSpPr>
          <p:cNvPr id="9" name="Text 7"/>
          <p:cNvSpPr/>
          <p:nvPr/>
        </p:nvSpPr>
        <p:spPr>
          <a:xfrm>
            <a:off x="1051560" y="3840480"/>
            <a:ext cx="4539996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15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Diferente de um buscador, Claude raciocina: interpreta documentos inteiros, entende contexto e adapta cada resposta — um especialista disponível 24 horas por dia.</a:t>
            </a:r>
            <a:endParaRPr lang="en-US" sz="1150" dirty="0"/>
          </a:p>
        </p:txBody>
      </p:sp>
      <p:sp>
        <p:nvSpPr>
          <p:cNvPr id="10" name="Shape 8"/>
          <p:cNvSpPr/>
          <p:nvPr/>
        </p:nvSpPr>
        <p:spPr>
          <a:xfrm>
            <a:off x="6323076" y="1920240"/>
            <a:ext cx="5088636" cy="3291840"/>
          </a:xfrm>
          <a:prstGeom prst="roundRect">
            <a:avLst>
              <a:gd name="adj" fmla="val 1111"/>
            </a:avLst>
          </a:prstGeom>
          <a:solidFill>
            <a:srgbClr val="EEF4FF"/>
          </a:solidFill>
          <a:ln/>
        </p:spPr>
      </p:sp>
      <p:sp>
        <p:nvSpPr>
          <p:cNvPr id="11" name="Text 9"/>
          <p:cNvSpPr/>
          <p:nvPr/>
        </p:nvSpPr>
        <p:spPr>
          <a:xfrm>
            <a:off x="6597396" y="2148840"/>
            <a:ext cx="4539996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914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que ele faz no Smart Dealer</a:t>
            </a:r>
            <a:endParaRPr lang="en-US" sz="1500" dirty="0"/>
          </a:p>
        </p:txBody>
      </p:sp>
      <p:sp>
        <p:nvSpPr>
          <p:cNvPr id="12" name="Shape 10"/>
          <p:cNvSpPr/>
          <p:nvPr/>
        </p:nvSpPr>
        <p:spPr>
          <a:xfrm>
            <a:off x="6615684" y="2679192"/>
            <a:ext cx="128016" cy="128016"/>
          </a:xfrm>
          <a:prstGeom prst="ellipse">
            <a:avLst/>
          </a:prstGeom>
          <a:solidFill>
            <a:srgbClr val="1E9E5A"/>
          </a:solidFill>
          <a:ln/>
        </p:spPr>
      </p:sp>
      <p:sp>
        <p:nvSpPr>
          <p:cNvPr id="13" name="Text 11"/>
          <p:cNvSpPr/>
          <p:nvPr/>
        </p:nvSpPr>
        <p:spPr>
          <a:xfrm>
            <a:off x="6917436" y="2615184"/>
            <a:ext cx="4174236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Lê os dados da operação e responde em linguagem de gente</a:t>
            </a:r>
            <a:endParaRPr lang="en-US" sz="1150" dirty="0"/>
          </a:p>
        </p:txBody>
      </p:sp>
      <p:sp>
        <p:nvSpPr>
          <p:cNvPr id="14" name="Shape 12"/>
          <p:cNvSpPr/>
          <p:nvPr/>
        </p:nvSpPr>
        <p:spPr>
          <a:xfrm>
            <a:off x="6615684" y="3300984"/>
            <a:ext cx="128016" cy="128016"/>
          </a:xfrm>
          <a:prstGeom prst="ellipse">
            <a:avLst/>
          </a:prstGeom>
          <a:solidFill>
            <a:srgbClr val="1E9E5A"/>
          </a:solidFill>
          <a:ln/>
        </p:spPr>
      </p:sp>
      <p:sp>
        <p:nvSpPr>
          <p:cNvPr id="15" name="Text 13"/>
          <p:cNvSpPr/>
          <p:nvPr/>
        </p:nvSpPr>
        <p:spPr>
          <a:xfrm>
            <a:off x="6917436" y="3236976"/>
            <a:ext cx="4174236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Consulta manual técnico e circulares oficiais, com citação</a:t>
            </a:r>
            <a:endParaRPr lang="en-US" sz="1150" dirty="0"/>
          </a:p>
        </p:txBody>
      </p:sp>
      <p:sp>
        <p:nvSpPr>
          <p:cNvPr id="16" name="Shape 14"/>
          <p:cNvSpPr/>
          <p:nvPr/>
        </p:nvSpPr>
        <p:spPr>
          <a:xfrm>
            <a:off x="6615684" y="3922776"/>
            <a:ext cx="128016" cy="128016"/>
          </a:xfrm>
          <a:prstGeom prst="ellipse">
            <a:avLst/>
          </a:prstGeom>
          <a:solidFill>
            <a:srgbClr val="1E9E5A"/>
          </a:solidFill>
          <a:ln/>
        </p:spPr>
      </p:sp>
      <p:sp>
        <p:nvSpPr>
          <p:cNvPr id="17" name="Text 15"/>
          <p:cNvSpPr/>
          <p:nvPr/>
        </p:nvSpPr>
        <p:spPr>
          <a:xfrm>
            <a:off x="6917436" y="3858768"/>
            <a:ext cx="4174236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Sugere a próxima ação: lead, oferta, cobrança, campanha</a:t>
            </a:r>
            <a:endParaRPr lang="en-US" sz="1150" dirty="0"/>
          </a:p>
        </p:txBody>
      </p:sp>
      <p:sp>
        <p:nvSpPr>
          <p:cNvPr id="18" name="Shape 16"/>
          <p:cNvSpPr/>
          <p:nvPr/>
        </p:nvSpPr>
        <p:spPr>
          <a:xfrm>
            <a:off x="6615684" y="4544568"/>
            <a:ext cx="128016" cy="128016"/>
          </a:xfrm>
          <a:prstGeom prst="ellipse">
            <a:avLst/>
          </a:prstGeom>
          <a:solidFill>
            <a:srgbClr val="1E9E5A"/>
          </a:solidFill>
          <a:ln/>
        </p:spPr>
      </p:sp>
      <p:sp>
        <p:nvSpPr>
          <p:cNvPr id="19" name="Text 17"/>
          <p:cNvSpPr/>
          <p:nvPr/>
        </p:nvSpPr>
        <p:spPr>
          <a:xfrm>
            <a:off x="6917436" y="4480560"/>
            <a:ext cx="4174236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Escreve o texto pronto: WhatsApp, post, plano de ação</a:t>
            </a:r>
            <a:endParaRPr lang="en-US" sz="115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77240" y="502920"/>
            <a:ext cx="10634472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150" kern="0" dirty="0">
                <a:solidFill>
                  <a:srgbClr val="0365F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INTELIGÊNCIA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777240" y="777240"/>
            <a:ext cx="10634472" cy="566928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0914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Um chat universal para toda a operação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777240" y="1444752"/>
            <a:ext cx="10634472" cy="292608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35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Uma única interface inteligente que serve todas as áreas da concessionária — cada papel pergunta no seu idioma.</a:t>
            </a:r>
            <a:endParaRPr lang="en-US" sz="1350" dirty="0"/>
          </a:p>
        </p:txBody>
      </p:sp>
      <p:sp>
        <p:nvSpPr>
          <p:cNvPr id="5" name="Text 3"/>
          <p:cNvSpPr/>
          <p:nvPr/>
        </p:nvSpPr>
        <p:spPr>
          <a:xfrm>
            <a:off x="10954512" y="644652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C3D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</a:t>
            </a:r>
            <a:endParaRPr lang="en-US" sz="1000" dirty="0"/>
          </a:p>
        </p:txBody>
      </p:sp>
      <p:sp>
        <p:nvSpPr>
          <p:cNvPr id="6" name="Shape 4"/>
          <p:cNvSpPr/>
          <p:nvPr/>
        </p:nvSpPr>
        <p:spPr>
          <a:xfrm>
            <a:off x="777240" y="1965960"/>
            <a:ext cx="5216652" cy="1417320"/>
          </a:xfrm>
          <a:prstGeom prst="roundRect">
            <a:avLst>
              <a:gd name="adj" fmla="val 1935"/>
            </a:avLst>
          </a:prstGeom>
          <a:solidFill>
            <a:srgbClr val="F7F9FC"/>
          </a:solidFill>
          <a:ln/>
        </p:spPr>
      </p:sp>
      <p:sp>
        <p:nvSpPr>
          <p:cNvPr id="7" name="Text 5"/>
          <p:cNvSpPr/>
          <p:nvPr/>
        </p:nvSpPr>
        <p:spPr>
          <a:xfrm>
            <a:off x="996696" y="2167128"/>
            <a:ext cx="4777740" cy="201168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950" b="1" spc="50" kern="0" dirty="0">
                <a:solidFill>
                  <a:srgbClr val="0365F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VENDEDOR</a:t>
            </a:r>
            <a:endParaRPr lang="en-US" sz="950" dirty="0"/>
          </a:p>
        </p:txBody>
      </p:sp>
      <p:sp>
        <p:nvSpPr>
          <p:cNvPr id="8" name="Text 6"/>
          <p:cNvSpPr/>
          <p:nvPr/>
        </p:nvSpPr>
        <p:spPr>
          <a:xfrm>
            <a:off x="996696" y="2423160"/>
            <a:ext cx="4777740" cy="310896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400" b="1" dirty="0">
                <a:solidFill>
                  <a:srgbClr val="0914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"Qual o bônus da NMAX este mês?"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996696" y="2788920"/>
            <a:ext cx="4777740" cy="429768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robô já leu as circulares CA-MTC028 a 033: responde valor, custeio e regra de acúmulo na hora.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195060" y="1965960"/>
            <a:ext cx="5216652" cy="1417320"/>
          </a:xfrm>
          <a:prstGeom prst="roundRect">
            <a:avLst>
              <a:gd name="adj" fmla="val 1935"/>
            </a:avLst>
          </a:prstGeom>
          <a:solidFill>
            <a:srgbClr val="F7F9FC"/>
          </a:solidFill>
          <a:ln/>
        </p:spPr>
      </p:sp>
      <p:sp>
        <p:nvSpPr>
          <p:cNvPr id="11" name="Text 9"/>
          <p:cNvSpPr/>
          <p:nvPr/>
        </p:nvSpPr>
        <p:spPr>
          <a:xfrm>
            <a:off x="6414516" y="2167128"/>
            <a:ext cx="4777740" cy="201168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950" b="1" spc="50" kern="0" dirty="0">
                <a:solidFill>
                  <a:srgbClr val="0365F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MECÂNICO</a:t>
            </a:r>
            <a:endParaRPr lang="en-US" sz="950" dirty="0"/>
          </a:p>
        </p:txBody>
      </p:sp>
      <p:sp>
        <p:nvSpPr>
          <p:cNvPr id="12" name="Text 10"/>
          <p:cNvSpPr/>
          <p:nvPr/>
        </p:nvSpPr>
        <p:spPr>
          <a:xfrm>
            <a:off x="6414516" y="2423160"/>
            <a:ext cx="4777740" cy="310896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400" b="1" dirty="0">
                <a:solidFill>
                  <a:srgbClr val="0914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"Procedimento de revisão dos 6.000 km da Fazer 250?"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6414516" y="2788920"/>
            <a:ext cx="4777740" cy="429768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Consulta o manual técnico oficial e responde com a seção citada.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777240" y="3584448"/>
            <a:ext cx="5216652" cy="1417320"/>
          </a:xfrm>
          <a:prstGeom prst="roundRect">
            <a:avLst>
              <a:gd name="adj" fmla="val 1935"/>
            </a:avLst>
          </a:prstGeom>
          <a:solidFill>
            <a:srgbClr val="F7F9FC"/>
          </a:solidFill>
          <a:ln/>
        </p:spPr>
      </p:sp>
      <p:sp>
        <p:nvSpPr>
          <p:cNvPr id="15" name="Text 13"/>
          <p:cNvSpPr/>
          <p:nvPr/>
        </p:nvSpPr>
        <p:spPr>
          <a:xfrm>
            <a:off x="996696" y="3785616"/>
            <a:ext cx="4777740" cy="201168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950" b="1" spc="50" kern="0" dirty="0">
                <a:solidFill>
                  <a:srgbClr val="0365F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PÓS-VENDA</a:t>
            </a:r>
            <a:endParaRPr lang="en-US" sz="950" dirty="0"/>
          </a:p>
        </p:txBody>
      </p:sp>
      <p:sp>
        <p:nvSpPr>
          <p:cNvPr id="16" name="Text 14"/>
          <p:cNvSpPr/>
          <p:nvPr/>
        </p:nvSpPr>
        <p:spPr>
          <a:xfrm>
            <a:off x="996696" y="4041648"/>
            <a:ext cx="4777740" cy="310896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400" b="1" dirty="0">
                <a:solidFill>
                  <a:srgbClr val="0914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"Quais clientes têm revisão vencida ou próxima?"</a:t>
            </a:r>
            <a:endParaRPr lang="en-US" sz="1400" dirty="0"/>
          </a:p>
        </p:txBody>
      </p:sp>
      <p:sp>
        <p:nvSpPr>
          <p:cNvPr id="17" name="Text 15"/>
          <p:cNvSpPr/>
          <p:nvPr/>
        </p:nvSpPr>
        <p:spPr>
          <a:xfrm>
            <a:off x="996696" y="4407408"/>
            <a:ext cx="4777740" cy="429768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Régua R1–R4 com alertas proativos e mensagem pronta para o disparo.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6195060" y="3584448"/>
            <a:ext cx="5216652" cy="1417320"/>
          </a:xfrm>
          <a:prstGeom prst="roundRect">
            <a:avLst>
              <a:gd name="adj" fmla="val 1935"/>
            </a:avLst>
          </a:prstGeom>
          <a:solidFill>
            <a:srgbClr val="F7F9FC"/>
          </a:solidFill>
          <a:ln/>
        </p:spPr>
      </p:sp>
      <p:sp>
        <p:nvSpPr>
          <p:cNvPr id="19" name="Text 17"/>
          <p:cNvSpPr/>
          <p:nvPr/>
        </p:nvSpPr>
        <p:spPr>
          <a:xfrm>
            <a:off x="6414516" y="3785616"/>
            <a:ext cx="4777740" cy="201168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950" b="1" spc="50" kern="0" dirty="0">
                <a:solidFill>
                  <a:srgbClr val="0365F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FINANCEIRO</a:t>
            </a:r>
            <a:endParaRPr lang="en-US" sz="950" dirty="0"/>
          </a:p>
        </p:txBody>
      </p:sp>
      <p:sp>
        <p:nvSpPr>
          <p:cNvPr id="20" name="Text 18"/>
          <p:cNvSpPr/>
          <p:nvPr/>
        </p:nvSpPr>
        <p:spPr>
          <a:xfrm>
            <a:off x="6414516" y="4041648"/>
            <a:ext cx="4777740" cy="310896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400" b="1" dirty="0">
                <a:solidFill>
                  <a:srgbClr val="0914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"Quais aprovados não foram pagos?"</a:t>
            </a:r>
            <a:endParaRPr lang="en-US" sz="1400" dirty="0"/>
          </a:p>
        </p:txBody>
      </p:sp>
      <p:sp>
        <p:nvSpPr>
          <p:cNvPr id="21" name="Text 19"/>
          <p:cNvSpPr/>
          <p:nvPr/>
        </p:nvSpPr>
        <p:spPr>
          <a:xfrm>
            <a:off x="6414516" y="4407408"/>
            <a:ext cx="4777740" cy="429768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Lista clientes, motivo e ação sugerida — direto da base do Banco.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777240" y="5166360"/>
            <a:ext cx="10634472" cy="868680"/>
          </a:xfrm>
          <a:prstGeom prst="roundRect">
            <a:avLst>
              <a:gd name="adj" fmla="val 3158"/>
            </a:avLst>
          </a:prstGeom>
          <a:solidFill>
            <a:srgbClr val="EEF4FF"/>
          </a:solidFill>
          <a:ln/>
        </p:spPr>
      </p:sp>
      <p:sp>
        <p:nvSpPr>
          <p:cNvPr id="23" name="Text 21"/>
          <p:cNvSpPr/>
          <p:nvPr/>
        </p:nvSpPr>
        <p:spPr>
          <a:xfrm>
            <a:off x="1051560" y="5312664"/>
            <a:ext cx="10085832" cy="27432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350" b="1" dirty="0">
                <a:solidFill>
                  <a:srgbClr val="0914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Novidade de agosto: a circular entra no robô no dia em que é publicada</a:t>
            </a:r>
            <a:endParaRPr lang="en-US" sz="1350" dirty="0"/>
          </a:p>
        </p:txBody>
      </p:sp>
      <p:sp>
        <p:nvSpPr>
          <p:cNvPr id="24" name="Text 22"/>
          <p:cNvSpPr/>
          <p:nvPr/>
        </p:nvSpPr>
        <p:spPr>
          <a:xfrm>
            <a:off x="1051560" y="5623560"/>
            <a:ext cx="10085832" cy="301752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lnSpc>
                <a:spcPts val="1600"/>
              </a:lnSpc>
              <a:buNone/>
            </a:pPr>
            <a:r>
              <a:rPr lang="en-US" sz="115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rede inteira responde igual, sem depender da memória de ninguém.</a:t>
            </a:r>
            <a:endParaRPr lang="en-US" sz="115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77240" y="502920"/>
            <a:ext cx="10634472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150" kern="0" dirty="0">
                <a:solidFill>
                  <a:srgbClr val="0365F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INTELIGÊNCIA EM AÇÃO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777240" y="777240"/>
            <a:ext cx="10634472" cy="566928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0914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Banco Yamaha: recusado não é fim de linha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777240" y="1444752"/>
            <a:ext cx="10634472" cy="292608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35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sistema cruza a base de recusados do CDC com o Liberacred e devolve ao vendedor um cliente já aprovado de novo.</a:t>
            </a:r>
            <a:endParaRPr lang="en-US" sz="1350" dirty="0"/>
          </a:p>
        </p:txBody>
      </p:sp>
      <p:sp>
        <p:nvSpPr>
          <p:cNvPr id="5" name="Text 3"/>
          <p:cNvSpPr/>
          <p:nvPr/>
        </p:nvSpPr>
        <p:spPr>
          <a:xfrm>
            <a:off x="10954512" y="644652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C3D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</a:t>
            </a:r>
            <a:endParaRPr lang="en-US" sz="1000" dirty="0"/>
          </a:p>
        </p:txBody>
      </p:sp>
      <p:sp>
        <p:nvSpPr>
          <p:cNvPr id="6" name="Shape 4"/>
          <p:cNvSpPr/>
          <p:nvPr/>
        </p:nvSpPr>
        <p:spPr>
          <a:xfrm>
            <a:off x="777240" y="1920240"/>
            <a:ext cx="4892040" cy="621792"/>
          </a:xfrm>
          <a:prstGeom prst="roundRect">
            <a:avLst>
              <a:gd name="adj" fmla="val 4412"/>
            </a:avLst>
          </a:prstGeom>
          <a:solidFill>
            <a:srgbClr val="F7F9FC"/>
          </a:solidFill>
          <a:ln/>
        </p:spPr>
      </p:sp>
      <p:sp>
        <p:nvSpPr>
          <p:cNvPr id="7" name="Text 5"/>
          <p:cNvSpPr/>
          <p:nvPr/>
        </p:nvSpPr>
        <p:spPr>
          <a:xfrm>
            <a:off x="960120" y="1993392"/>
            <a:ext cx="77724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914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62</a:t>
            </a:r>
            <a:endParaRPr lang="en-US" sz="2200" dirty="0"/>
          </a:p>
        </p:txBody>
      </p:sp>
      <p:sp>
        <p:nvSpPr>
          <p:cNvPr id="8" name="Text 6"/>
          <p:cNvSpPr/>
          <p:nvPr/>
        </p:nvSpPr>
        <p:spPr>
          <a:xfrm>
            <a:off x="1828800" y="2002536"/>
            <a:ext cx="36576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0914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recusados no CDC</a:t>
            </a:r>
            <a:endParaRPr lang="en-US" sz="1150" dirty="0"/>
          </a:p>
        </p:txBody>
      </p:sp>
      <p:sp>
        <p:nvSpPr>
          <p:cNvPr id="9" name="Text 7"/>
          <p:cNvSpPr/>
          <p:nvPr/>
        </p:nvSpPr>
        <p:spPr>
          <a:xfrm>
            <a:off x="1828800" y="2258568"/>
            <a:ext cx="365760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trimestre, no grupo</a:t>
            </a:r>
            <a:endParaRPr lang="en-US" sz="950" dirty="0"/>
          </a:p>
        </p:txBody>
      </p:sp>
      <p:sp>
        <p:nvSpPr>
          <p:cNvPr id="10" name="Text 8"/>
          <p:cNvSpPr/>
          <p:nvPr/>
        </p:nvSpPr>
        <p:spPr>
          <a:xfrm>
            <a:off x="1033272" y="2468880"/>
            <a:ext cx="2743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B8CD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↓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777240" y="2633472"/>
            <a:ext cx="4892040" cy="621792"/>
          </a:xfrm>
          <a:prstGeom prst="roundRect">
            <a:avLst>
              <a:gd name="adj" fmla="val 4412"/>
            </a:avLst>
          </a:prstGeom>
          <a:solidFill>
            <a:srgbClr val="F7F9FC"/>
          </a:solidFill>
          <a:ln/>
        </p:spPr>
      </p:sp>
      <p:sp>
        <p:nvSpPr>
          <p:cNvPr id="12" name="Text 10"/>
          <p:cNvSpPr/>
          <p:nvPr/>
        </p:nvSpPr>
        <p:spPr>
          <a:xfrm>
            <a:off x="960120" y="2706624"/>
            <a:ext cx="77724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914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23</a:t>
            </a:r>
            <a:endParaRPr lang="en-US" sz="2200" dirty="0"/>
          </a:p>
        </p:txBody>
      </p:sp>
      <p:sp>
        <p:nvSpPr>
          <p:cNvPr id="13" name="Text 11"/>
          <p:cNvSpPr/>
          <p:nvPr/>
        </p:nvSpPr>
        <p:spPr>
          <a:xfrm>
            <a:off x="1828800" y="2715768"/>
            <a:ext cx="36576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0914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elegíveis Liberacred</a:t>
            </a:r>
            <a:endParaRPr lang="en-US" sz="1150" dirty="0"/>
          </a:p>
        </p:txBody>
      </p:sp>
      <p:sp>
        <p:nvSpPr>
          <p:cNvPr id="14" name="Text 12"/>
          <p:cNvSpPr/>
          <p:nvPr/>
        </p:nvSpPr>
        <p:spPr>
          <a:xfrm>
            <a:off x="1828800" y="2971800"/>
            <a:ext cx="365760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cruzamento automático</a:t>
            </a:r>
            <a:endParaRPr lang="en-US" sz="950" dirty="0"/>
          </a:p>
        </p:txBody>
      </p:sp>
      <p:sp>
        <p:nvSpPr>
          <p:cNvPr id="15" name="Text 13"/>
          <p:cNvSpPr/>
          <p:nvPr/>
        </p:nvSpPr>
        <p:spPr>
          <a:xfrm>
            <a:off x="1033272" y="3182112"/>
            <a:ext cx="2743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B8CD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↓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777240" y="3346704"/>
            <a:ext cx="4892040" cy="621792"/>
          </a:xfrm>
          <a:prstGeom prst="roundRect">
            <a:avLst>
              <a:gd name="adj" fmla="val 4412"/>
            </a:avLst>
          </a:prstGeom>
          <a:solidFill>
            <a:srgbClr val="F7F9FC"/>
          </a:solidFill>
          <a:ln/>
        </p:spPr>
      </p:sp>
      <p:sp>
        <p:nvSpPr>
          <p:cNvPr id="17" name="Text 15"/>
          <p:cNvSpPr/>
          <p:nvPr/>
        </p:nvSpPr>
        <p:spPr>
          <a:xfrm>
            <a:off x="960120" y="3419856"/>
            <a:ext cx="77724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914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14</a:t>
            </a:r>
            <a:endParaRPr lang="en-US" sz="2200" dirty="0"/>
          </a:p>
        </p:txBody>
      </p:sp>
      <p:sp>
        <p:nvSpPr>
          <p:cNvPr id="18" name="Text 16"/>
          <p:cNvSpPr/>
          <p:nvPr/>
        </p:nvSpPr>
        <p:spPr>
          <a:xfrm>
            <a:off x="1828800" y="3429000"/>
            <a:ext cx="36576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0914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contatados</a:t>
            </a:r>
            <a:endParaRPr lang="en-US" sz="1150" dirty="0"/>
          </a:p>
        </p:txBody>
      </p:sp>
      <p:sp>
        <p:nvSpPr>
          <p:cNvPr id="19" name="Text 17"/>
          <p:cNvSpPr/>
          <p:nvPr/>
        </p:nvSpPr>
        <p:spPr>
          <a:xfrm>
            <a:off x="1828800" y="3685032"/>
            <a:ext cx="365760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fila de trabalho do vendedor</a:t>
            </a:r>
            <a:endParaRPr lang="en-US" sz="950" dirty="0"/>
          </a:p>
        </p:txBody>
      </p:sp>
      <p:sp>
        <p:nvSpPr>
          <p:cNvPr id="20" name="Text 18"/>
          <p:cNvSpPr/>
          <p:nvPr/>
        </p:nvSpPr>
        <p:spPr>
          <a:xfrm>
            <a:off x="1033272" y="3895344"/>
            <a:ext cx="2743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B8CD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↓</a:t>
            </a:r>
            <a:endParaRPr lang="en-US" sz="1100" dirty="0"/>
          </a:p>
        </p:txBody>
      </p:sp>
      <p:sp>
        <p:nvSpPr>
          <p:cNvPr id="21" name="Shape 19"/>
          <p:cNvSpPr/>
          <p:nvPr/>
        </p:nvSpPr>
        <p:spPr>
          <a:xfrm>
            <a:off x="777240" y="4059936"/>
            <a:ext cx="4892040" cy="621792"/>
          </a:xfrm>
          <a:prstGeom prst="roundRect">
            <a:avLst>
              <a:gd name="adj" fmla="val 4412"/>
            </a:avLst>
          </a:prstGeom>
          <a:solidFill>
            <a:srgbClr val="F7F9FC"/>
          </a:solidFill>
          <a:ln/>
        </p:spPr>
      </p:sp>
      <p:sp>
        <p:nvSpPr>
          <p:cNvPr id="22" name="Text 20"/>
          <p:cNvSpPr/>
          <p:nvPr/>
        </p:nvSpPr>
        <p:spPr>
          <a:xfrm>
            <a:off x="960120" y="4133088"/>
            <a:ext cx="77724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E9E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2200" dirty="0"/>
          </a:p>
        </p:txBody>
      </p:sp>
      <p:sp>
        <p:nvSpPr>
          <p:cNvPr id="23" name="Text 21"/>
          <p:cNvSpPr/>
          <p:nvPr/>
        </p:nvSpPr>
        <p:spPr>
          <a:xfrm>
            <a:off x="1828800" y="4142232"/>
            <a:ext cx="36576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0914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convertidos em venda</a:t>
            </a:r>
            <a:endParaRPr lang="en-US" sz="1150" dirty="0"/>
          </a:p>
        </p:txBody>
      </p:sp>
      <p:sp>
        <p:nvSpPr>
          <p:cNvPr id="24" name="Text 22"/>
          <p:cNvSpPr/>
          <p:nvPr/>
        </p:nvSpPr>
        <p:spPr>
          <a:xfrm>
            <a:off x="1828800" y="4398264"/>
            <a:ext cx="365760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R$ 92.300 recuperados</a:t>
            </a:r>
            <a:endParaRPr lang="en-US" sz="950" dirty="0"/>
          </a:p>
        </p:txBody>
      </p:sp>
      <p:sp>
        <p:nvSpPr>
          <p:cNvPr id="25" name="Shape 23"/>
          <p:cNvSpPr/>
          <p:nvPr/>
        </p:nvSpPr>
        <p:spPr>
          <a:xfrm>
            <a:off x="777240" y="4892040"/>
            <a:ext cx="4892040" cy="1371600"/>
          </a:xfrm>
          <a:prstGeom prst="roundRect">
            <a:avLst>
              <a:gd name="adj" fmla="val 2000"/>
            </a:avLst>
          </a:prstGeom>
          <a:solidFill>
            <a:srgbClr val="EEF4FF"/>
          </a:solidFill>
          <a:ln/>
        </p:spPr>
      </p:sp>
      <p:sp>
        <p:nvSpPr>
          <p:cNvPr id="26" name="Text 24"/>
          <p:cNvSpPr/>
          <p:nvPr/>
        </p:nvSpPr>
        <p:spPr>
          <a:xfrm>
            <a:off x="978408" y="5029200"/>
            <a:ext cx="448056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0914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Liberacred como prêmio, nunca como recusa</a:t>
            </a:r>
            <a:endParaRPr lang="en-US" sz="1150" dirty="0"/>
          </a:p>
        </p:txBody>
      </p:sp>
      <p:sp>
        <p:nvSpPr>
          <p:cNvPr id="27" name="Text 25"/>
          <p:cNvSpPr/>
          <p:nvPr/>
        </p:nvSpPr>
        <p:spPr>
          <a:xfrm>
            <a:off x="978408" y="5303520"/>
            <a:ext cx="4480560" cy="86868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lnSpc>
                <a:spcPts val="1350"/>
              </a:lnSpc>
              <a:buNone/>
            </a:pPr>
            <a:r>
              <a:rPr lang="en-US" sz="1000" i="1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"Parabéns! Você acaba de ser APROVADO no Liberacred do Banco Yamaha — condições especiais, sem nova análise." Disparada pelo vendedor em um clique.</a:t>
            </a:r>
            <a:endParaRPr lang="en-US" sz="1000" dirty="0"/>
          </a:p>
        </p:txBody>
      </p:sp>
      <p:sp>
        <p:nvSpPr>
          <p:cNvPr id="28" name="Shape 26"/>
          <p:cNvSpPr/>
          <p:nvPr/>
        </p:nvSpPr>
        <p:spPr>
          <a:xfrm>
            <a:off x="6035040" y="1965960"/>
            <a:ext cx="5468112" cy="3521012"/>
          </a:xfrm>
          <a:prstGeom prst="roundRect">
            <a:avLst>
              <a:gd name="adj" fmla="val 1818"/>
            </a:avLst>
          </a:prstGeom>
          <a:solidFill>
            <a:srgbClr val="0E1D36"/>
          </a:solidFill>
          <a:ln w="9525">
            <a:solidFill>
              <a:srgbClr val="22304A"/>
            </a:solidFill>
            <a:prstDash val="solid"/>
          </a:ln>
          <a:effectLst>
            <a:outerShdw sx="100000" sy="100000" kx="0" ky="0" algn="bl" rotWithShape="0" blurRad="177800" dist="63500" dir="5400000">
              <a:srgbClr val="0A1220">
                <a:alpha val="50000"/>
              </a:srgbClr>
            </a:outerShdw>
          </a:effectLst>
        </p:spPr>
      </p:sp>
      <p:sp>
        <p:nvSpPr>
          <p:cNvPr id="29" name="Shape 27"/>
          <p:cNvSpPr/>
          <p:nvPr/>
        </p:nvSpPr>
        <p:spPr>
          <a:xfrm>
            <a:off x="6181344" y="2057400"/>
            <a:ext cx="91440" cy="91440"/>
          </a:xfrm>
          <a:prstGeom prst="ellipse">
            <a:avLst/>
          </a:prstGeom>
          <a:solidFill>
            <a:srgbClr val="FF5F57"/>
          </a:solidFill>
          <a:ln/>
        </p:spPr>
      </p:sp>
      <p:sp>
        <p:nvSpPr>
          <p:cNvPr id="30" name="Shape 28"/>
          <p:cNvSpPr/>
          <p:nvPr/>
        </p:nvSpPr>
        <p:spPr>
          <a:xfrm>
            <a:off x="6336792" y="2057400"/>
            <a:ext cx="91440" cy="91440"/>
          </a:xfrm>
          <a:prstGeom prst="ellipse">
            <a:avLst/>
          </a:prstGeom>
          <a:solidFill>
            <a:srgbClr val="FFBD2E"/>
          </a:solidFill>
          <a:ln/>
        </p:spPr>
      </p:sp>
      <p:sp>
        <p:nvSpPr>
          <p:cNvPr id="31" name="Shape 29"/>
          <p:cNvSpPr/>
          <p:nvPr/>
        </p:nvSpPr>
        <p:spPr>
          <a:xfrm>
            <a:off x="6492240" y="2057400"/>
            <a:ext cx="91440" cy="91440"/>
          </a:xfrm>
          <a:prstGeom prst="ellipse">
            <a:avLst/>
          </a:prstGeom>
          <a:solidFill>
            <a:srgbClr val="28C840"/>
          </a:solidFill>
          <a:ln/>
        </p:spPr>
      </p:sp>
      <p:sp>
        <p:nvSpPr>
          <p:cNvPr id="32" name="Text 30"/>
          <p:cNvSpPr/>
          <p:nvPr/>
        </p:nvSpPr>
        <p:spPr>
          <a:xfrm>
            <a:off x="7397496" y="1993392"/>
            <a:ext cx="274320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8FA3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smart-dealer.vercel.app</a:t>
            </a:r>
            <a:endParaRPr lang="en-US" sz="800" dirty="0"/>
          </a:p>
        </p:txBody>
      </p:sp>
      <p:pic>
        <p:nvPicPr>
          <p:cNvPr id="33" name="Image 0" descr="_NOVAS MELHORIAS/deck-assets/banc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071616" y="2240280"/>
            <a:ext cx="5394960" cy="3210116"/>
          </a:xfrm>
          <a:prstGeom prst="rect">
            <a:avLst/>
          </a:prstGeom>
        </p:spPr>
      </p:pic>
      <p:sp>
        <p:nvSpPr>
          <p:cNvPr id="34" name="Text 31"/>
          <p:cNvSpPr/>
          <p:nvPr/>
        </p:nvSpPr>
        <p:spPr>
          <a:xfrm>
            <a:off x="6035040" y="5577840"/>
            <a:ext cx="5468112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300"/>
              </a:lnSpc>
              <a:buNone/>
            </a:pPr>
            <a:r>
              <a:rPr lang="en-US" sz="950" dirty="0">
                <a:solidFill>
                  <a:srgbClr val="8A96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Aprovados não pagos e contratos quitando na mesma tela — cada um com ação sugerida.</a:t>
            </a:r>
            <a:endParaRPr lang="en-US" sz="95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77240" y="502920"/>
            <a:ext cx="10634472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150" kern="0" dirty="0">
                <a:solidFill>
                  <a:srgbClr val="0365F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INTELIGÊNCIA EM AÇÃO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777240" y="777240"/>
            <a:ext cx="10634472" cy="566928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0914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Premya: quanto vale a fidelidade, em reais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777240" y="1444752"/>
            <a:ext cx="10634472" cy="292608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35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folder oficial do Banco Yamaha codificado no sistema — o índice acompanhado em curso, não descoberto na apuração.</a:t>
            </a:r>
            <a:endParaRPr lang="en-US" sz="1350" dirty="0"/>
          </a:p>
        </p:txBody>
      </p:sp>
      <p:sp>
        <p:nvSpPr>
          <p:cNvPr id="5" name="Text 3"/>
          <p:cNvSpPr/>
          <p:nvPr/>
        </p:nvSpPr>
        <p:spPr>
          <a:xfrm>
            <a:off x="10954512" y="644652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C3D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</a:t>
            </a:r>
            <a:endParaRPr lang="en-US" sz="1000" dirty="0"/>
          </a:p>
        </p:txBody>
      </p:sp>
      <p:sp>
        <p:nvSpPr>
          <p:cNvPr id="6" name="Shape 4"/>
          <p:cNvSpPr/>
          <p:nvPr/>
        </p:nvSpPr>
        <p:spPr>
          <a:xfrm>
            <a:off x="777240" y="1920240"/>
            <a:ext cx="4892040" cy="493776"/>
          </a:xfrm>
          <a:prstGeom prst="roundRect">
            <a:avLst>
              <a:gd name="adj" fmla="val 5556"/>
            </a:avLst>
          </a:prstGeom>
          <a:solidFill>
            <a:srgbClr val="F7F9FC"/>
          </a:solidFill>
          <a:ln/>
        </p:spPr>
      </p:sp>
      <p:sp>
        <p:nvSpPr>
          <p:cNvPr id="7" name="Text 5"/>
          <p:cNvSpPr/>
          <p:nvPr/>
        </p:nvSpPr>
        <p:spPr>
          <a:xfrm>
            <a:off x="960120" y="2029968"/>
            <a:ext cx="12344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0914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Diamante</a:t>
            </a:r>
            <a:endParaRPr lang="en-US" sz="1150" dirty="0"/>
          </a:p>
        </p:txBody>
      </p:sp>
      <p:sp>
        <p:nvSpPr>
          <p:cNvPr id="8" name="Text 6"/>
          <p:cNvSpPr/>
          <p:nvPr/>
        </p:nvSpPr>
        <p:spPr>
          <a:xfrm>
            <a:off x="2240280" y="2039112"/>
            <a:ext cx="105156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95–100%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3337560" y="2039112"/>
            <a:ext cx="14630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2,00% do liberado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777240" y="2487168"/>
            <a:ext cx="4892040" cy="493776"/>
          </a:xfrm>
          <a:prstGeom prst="roundRect">
            <a:avLst>
              <a:gd name="adj" fmla="val 5556"/>
            </a:avLst>
          </a:prstGeom>
          <a:solidFill>
            <a:srgbClr val="F7F9FC"/>
          </a:solidFill>
          <a:ln/>
        </p:spPr>
      </p:sp>
      <p:sp>
        <p:nvSpPr>
          <p:cNvPr id="11" name="Text 9"/>
          <p:cNvSpPr/>
          <p:nvPr/>
        </p:nvSpPr>
        <p:spPr>
          <a:xfrm>
            <a:off x="960120" y="2596896"/>
            <a:ext cx="12344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0914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Ouro</a:t>
            </a:r>
            <a:endParaRPr lang="en-US" sz="1150" dirty="0"/>
          </a:p>
        </p:txBody>
      </p:sp>
      <p:sp>
        <p:nvSpPr>
          <p:cNvPr id="12" name="Text 10"/>
          <p:cNvSpPr/>
          <p:nvPr/>
        </p:nvSpPr>
        <p:spPr>
          <a:xfrm>
            <a:off x="2240280" y="2606040"/>
            <a:ext cx="105156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85–94,9%</a:t>
            </a:r>
            <a:endParaRPr lang="en-US" sz="1000" dirty="0"/>
          </a:p>
        </p:txBody>
      </p:sp>
      <p:sp>
        <p:nvSpPr>
          <p:cNvPr id="13" name="Text 11"/>
          <p:cNvSpPr/>
          <p:nvPr/>
        </p:nvSpPr>
        <p:spPr>
          <a:xfrm>
            <a:off x="3337560" y="2606040"/>
            <a:ext cx="14630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1,50% do liberado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777240" y="3054096"/>
            <a:ext cx="4892040" cy="493776"/>
          </a:xfrm>
          <a:prstGeom prst="roundRect">
            <a:avLst>
              <a:gd name="adj" fmla="val 5556"/>
            </a:avLst>
          </a:prstGeom>
          <a:solidFill>
            <a:srgbClr val="F7F9FC"/>
          </a:solidFill>
          <a:ln/>
        </p:spPr>
      </p:sp>
      <p:sp>
        <p:nvSpPr>
          <p:cNvPr id="15" name="Text 13"/>
          <p:cNvSpPr/>
          <p:nvPr/>
        </p:nvSpPr>
        <p:spPr>
          <a:xfrm>
            <a:off x="960120" y="3163824"/>
            <a:ext cx="12344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0914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Prata</a:t>
            </a:r>
            <a:endParaRPr lang="en-US" sz="1150" dirty="0"/>
          </a:p>
        </p:txBody>
      </p:sp>
      <p:sp>
        <p:nvSpPr>
          <p:cNvPr id="16" name="Text 14"/>
          <p:cNvSpPr/>
          <p:nvPr/>
        </p:nvSpPr>
        <p:spPr>
          <a:xfrm>
            <a:off x="2240280" y="3172968"/>
            <a:ext cx="105156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75–84,9%</a:t>
            </a:r>
            <a:endParaRPr lang="en-US" sz="1000" dirty="0"/>
          </a:p>
        </p:txBody>
      </p:sp>
      <p:sp>
        <p:nvSpPr>
          <p:cNvPr id="17" name="Text 15"/>
          <p:cNvSpPr/>
          <p:nvPr/>
        </p:nvSpPr>
        <p:spPr>
          <a:xfrm>
            <a:off x="3337560" y="3172968"/>
            <a:ext cx="14630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1,00% do liberado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777240" y="3621024"/>
            <a:ext cx="4892040" cy="493776"/>
          </a:xfrm>
          <a:prstGeom prst="roundRect">
            <a:avLst>
              <a:gd name="adj" fmla="val 5556"/>
            </a:avLst>
          </a:prstGeom>
          <a:solidFill>
            <a:srgbClr val="FCF3E3"/>
          </a:solidFill>
          <a:ln/>
        </p:spPr>
      </p:sp>
      <p:sp>
        <p:nvSpPr>
          <p:cNvPr id="19" name="Text 17"/>
          <p:cNvSpPr/>
          <p:nvPr/>
        </p:nvSpPr>
        <p:spPr>
          <a:xfrm>
            <a:off x="960120" y="3730752"/>
            <a:ext cx="12344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B779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Bronze</a:t>
            </a:r>
            <a:endParaRPr lang="en-US" sz="1150" dirty="0"/>
          </a:p>
        </p:txBody>
      </p:sp>
      <p:sp>
        <p:nvSpPr>
          <p:cNvPr id="20" name="Text 18"/>
          <p:cNvSpPr/>
          <p:nvPr/>
        </p:nvSpPr>
        <p:spPr>
          <a:xfrm>
            <a:off x="2240280" y="3739896"/>
            <a:ext cx="105156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60–74,9%</a:t>
            </a:r>
            <a:endParaRPr lang="en-US" sz="1000" dirty="0"/>
          </a:p>
        </p:txBody>
      </p:sp>
      <p:sp>
        <p:nvSpPr>
          <p:cNvPr id="21" name="Text 19"/>
          <p:cNvSpPr/>
          <p:nvPr/>
        </p:nvSpPr>
        <p:spPr>
          <a:xfrm>
            <a:off x="3337560" y="3739896"/>
            <a:ext cx="14630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0,50% do liberado</a:t>
            </a:r>
            <a:endParaRPr lang="en-US" sz="1000" dirty="0"/>
          </a:p>
        </p:txBody>
      </p:sp>
      <p:sp>
        <p:nvSpPr>
          <p:cNvPr id="22" name="Text 20"/>
          <p:cNvSpPr/>
          <p:nvPr/>
        </p:nvSpPr>
        <p:spPr>
          <a:xfrm>
            <a:off x="4480560" y="3739896"/>
            <a:ext cx="1143000" cy="256032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850" b="1" dirty="0">
                <a:solidFill>
                  <a:srgbClr val="B779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← Nippon hoje (71,6%)</a:t>
            </a:r>
            <a:endParaRPr lang="en-US" sz="850" dirty="0"/>
          </a:p>
        </p:txBody>
      </p:sp>
      <p:sp>
        <p:nvSpPr>
          <p:cNvPr id="23" name="Shape 21"/>
          <p:cNvSpPr/>
          <p:nvPr/>
        </p:nvSpPr>
        <p:spPr>
          <a:xfrm>
            <a:off x="777240" y="4343400"/>
            <a:ext cx="4892040" cy="1554480"/>
          </a:xfrm>
          <a:prstGeom prst="roundRect">
            <a:avLst>
              <a:gd name="adj" fmla="val 1765"/>
            </a:avLst>
          </a:prstGeom>
          <a:solidFill>
            <a:srgbClr val="E7F6EE"/>
          </a:solidFill>
          <a:ln/>
        </p:spPr>
      </p:sp>
      <p:sp>
        <p:nvSpPr>
          <p:cNvPr id="24" name="Text 22"/>
          <p:cNvSpPr/>
          <p:nvPr/>
        </p:nvSpPr>
        <p:spPr>
          <a:xfrm>
            <a:off x="978408" y="4498848"/>
            <a:ext cx="44805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914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Subir para Ouro vale ~R$ 148 mil/ano</a:t>
            </a:r>
            <a:endParaRPr lang="en-US" sz="1250" dirty="0"/>
          </a:p>
        </p:txBody>
      </p:sp>
      <p:sp>
        <p:nvSpPr>
          <p:cNvPr id="25" name="Text 23"/>
          <p:cNvSpPr/>
          <p:nvPr/>
        </p:nvSpPr>
        <p:spPr>
          <a:xfrm>
            <a:off x="978408" y="4791456"/>
            <a:ext cx="4480560" cy="100584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lnSpc>
                <a:spcPts val="1400"/>
              </a:lnSpc>
              <a:buNone/>
            </a:pPr>
            <a:r>
              <a:rPr lang="en-US" sz="100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Sem vender uma moto a mais: toda venda financiada submetida primeiro ao BYMD e nenhuma proposta aprovada fugindo para outro banco. O sistema alerta cada fuga e simula o ganho.</a:t>
            </a:r>
            <a:endParaRPr lang="en-US" sz="1000" dirty="0"/>
          </a:p>
        </p:txBody>
      </p:sp>
      <p:sp>
        <p:nvSpPr>
          <p:cNvPr id="26" name="Shape 24"/>
          <p:cNvSpPr/>
          <p:nvPr/>
        </p:nvSpPr>
        <p:spPr>
          <a:xfrm>
            <a:off x="6035040" y="1965960"/>
            <a:ext cx="5468112" cy="3521012"/>
          </a:xfrm>
          <a:prstGeom prst="roundRect">
            <a:avLst>
              <a:gd name="adj" fmla="val 1818"/>
            </a:avLst>
          </a:prstGeom>
          <a:solidFill>
            <a:srgbClr val="0E1D36"/>
          </a:solidFill>
          <a:ln w="9525">
            <a:solidFill>
              <a:srgbClr val="22304A"/>
            </a:solidFill>
            <a:prstDash val="solid"/>
          </a:ln>
          <a:effectLst>
            <a:outerShdw sx="100000" sy="100000" kx="0" ky="0" algn="bl" rotWithShape="0" blurRad="177800" dist="63500" dir="5400000">
              <a:srgbClr val="0A1220">
                <a:alpha val="50000"/>
              </a:srgbClr>
            </a:outerShdw>
          </a:effectLst>
        </p:spPr>
      </p:sp>
      <p:sp>
        <p:nvSpPr>
          <p:cNvPr id="27" name="Shape 25"/>
          <p:cNvSpPr/>
          <p:nvPr/>
        </p:nvSpPr>
        <p:spPr>
          <a:xfrm>
            <a:off x="6181344" y="2057400"/>
            <a:ext cx="91440" cy="91440"/>
          </a:xfrm>
          <a:prstGeom prst="ellipse">
            <a:avLst/>
          </a:prstGeom>
          <a:solidFill>
            <a:srgbClr val="FF5F57"/>
          </a:solidFill>
          <a:ln/>
        </p:spPr>
      </p:sp>
      <p:sp>
        <p:nvSpPr>
          <p:cNvPr id="28" name="Shape 26"/>
          <p:cNvSpPr/>
          <p:nvPr/>
        </p:nvSpPr>
        <p:spPr>
          <a:xfrm>
            <a:off x="6336792" y="2057400"/>
            <a:ext cx="91440" cy="91440"/>
          </a:xfrm>
          <a:prstGeom prst="ellipse">
            <a:avLst/>
          </a:prstGeom>
          <a:solidFill>
            <a:srgbClr val="FFBD2E"/>
          </a:solidFill>
          <a:ln/>
        </p:spPr>
      </p:sp>
      <p:sp>
        <p:nvSpPr>
          <p:cNvPr id="29" name="Shape 27"/>
          <p:cNvSpPr/>
          <p:nvPr/>
        </p:nvSpPr>
        <p:spPr>
          <a:xfrm>
            <a:off x="6492240" y="2057400"/>
            <a:ext cx="91440" cy="91440"/>
          </a:xfrm>
          <a:prstGeom prst="ellipse">
            <a:avLst/>
          </a:prstGeom>
          <a:solidFill>
            <a:srgbClr val="28C840"/>
          </a:solidFill>
          <a:ln/>
        </p:spPr>
      </p:sp>
      <p:sp>
        <p:nvSpPr>
          <p:cNvPr id="30" name="Text 28"/>
          <p:cNvSpPr/>
          <p:nvPr/>
        </p:nvSpPr>
        <p:spPr>
          <a:xfrm>
            <a:off x="7397496" y="1993392"/>
            <a:ext cx="274320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8FA3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smart-dealer.vercel.app</a:t>
            </a:r>
            <a:endParaRPr lang="en-US" sz="800" dirty="0"/>
          </a:p>
        </p:txBody>
      </p:sp>
      <p:pic>
        <p:nvPicPr>
          <p:cNvPr id="31" name="Image 0" descr="_NOVAS MELHORIAS/deck-assets/premya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071616" y="2240280"/>
            <a:ext cx="5394960" cy="3210116"/>
          </a:xfrm>
          <a:prstGeom prst="rect">
            <a:avLst/>
          </a:prstGeom>
        </p:spPr>
      </p:pic>
      <p:sp>
        <p:nvSpPr>
          <p:cNvPr id="32" name="Text 29"/>
          <p:cNvSpPr/>
          <p:nvPr/>
        </p:nvSpPr>
        <p:spPr>
          <a:xfrm>
            <a:off x="6035040" y="5577840"/>
            <a:ext cx="5468112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300"/>
              </a:lnSpc>
              <a:buNone/>
            </a:pPr>
            <a:r>
              <a:rPr lang="en-US" sz="950" dirty="0">
                <a:solidFill>
                  <a:srgbClr val="8A96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Simulador interativo: mexa nos números e veja a categoria — e os reais — mudarem na hora.</a:t>
            </a:r>
            <a:endParaRPr lang="en-US" sz="95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77240" y="502920"/>
            <a:ext cx="10634472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150" kern="0" dirty="0">
                <a:solidFill>
                  <a:srgbClr val="0365F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INTELIGÊNCIA EM AÇÃO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777240" y="777240"/>
            <a:ext cx="10634472" cy="566928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0914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Seguros, Consórcio e a voz do cliente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777240" y="1444752"/>
            <a:ext cx="10634472" cy="292608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35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Receita recorrente que já é da casa — e a pesquisa que diz onde o cliente decide.</a:t>
            </a:r>
            <a:endParaRPr lang="en-US" sz="1350" dirty="0"/>
          </a:p>
        </p:txBody>
      </p:sp>
      <p:sp>
        <p:nvSpPr>
          <p:cNvPr id="5" name="Text 3"/>
          <p:cNvSpPr/>
          <p:nvPr/>
        </p:nvSpPr>
        <p:spPr>
          <a:xfrm>
            <a:off x="10954512" y="644652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C3D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</a:t>
            </a:r>
            <a:endParaRPr lang="en-US" sz="1000" dirty="0"/>
          </a:p>
        </p:txBody>
      </p:sp>
      <p:sp>
        <p:nvSpPr>
          <p:cNvPr id="6" name="Shape 4"/>
          <p:cNvSpPr/>
          <p:nvPr/>
        </p:nvSpPr>
        <p:spPr>
          <a:xfrm>
            <a:off x="777240" y="1965960"/>
            <a:ext cx="3410712" cy="2103120"/>
          </a:xfrm>
          <a:prstGeom prst="roundRect">
            <a:avLst>
              <a:gd name="adj" fmla="val 1304"/>
            </a:avLst>
          </a:prstGeom>
          <a:solidFill>
            <a:srgbClr val="F7F9FC"/>
          </a:solidFill>
          <a:ln/>
        </p:spPr>
      </p:sp>
      <p:sp>
        <p:nvSpPr>
          <p:cNvPr id="7" name="Text 5"/>
          <p:cNvSpPr/>
          <p:nvPr/>
        </p:nvSpPr>
        <p:spPr>
          <a:xfrm>
            <a:off x="996696" y="2167128"/>
            <a:ext cx="2971800" cy="201168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950" b="1" spc="50" kern="0" dirty="0">
                <a:solidFill>
                  <a:srgbClr val="0365F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YAMAHA SEGUROS</a:t>
            </a:r>
            <a:endParaRPr lang="en-US" sz="950" dirty="0"/>
          </a:p>
        </p:txBody>
      </p:sp>
      <p:sp>
        <p:nvSpPr>
          <p:cNvPr id="8" name="Text 6"/>
          <p:cNvSpPr/>
          <p:nvPr/>
        </p:nvSpPr>
        <p:spPr>
          <a:xfrm>
            <a:off x="996696" y="2423160"/>
            <a:ext cx="2971800" cy="310896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400" b="1" dirty="0">
                <a:solidFill>
                  <a:srgbClr val="0914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Frota circulante: 2.840 motos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996696" y="2788920"/>
            <a:ext cx="2971800" cy="1115568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Só 618 com apólice ativa · 141 renovações no radar · +R$ 39 mil/ano fechando o gap de penetração (33,6% → 45%).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4389120" y="1965960"/>
            <a:ext cx="3410712" cy="2103120"/>
          </a:xfrm>
          <a:prstGeom prst="roundRect">
            <a:avLst>
              <a:gd name="adj" fmla="val 1304"/>
            </a:avLst>
          </a:prstGeom>
          <a:solidFill>
            <a:srgbClr val="F7F9FC"/>
          </a:solidFill>
          <a:ln/>
        </p:spPr>
      </p:sp>
      <p:sp>
        <p:nvSpPr>
          <p:cNvPr id="11" name="Text 9"/>
          <p:cNvSpPr/>
          <p:nvPr/>
        </p:nvSpPr>
        <p:spPr>
          <a:xfrm>
            <a:off x="4608576" y="2167128"/>
            <a:ext cx="2971800" cy="201168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950" b="1" spc="50" kern="0" dirty="0">
                <a:solidFill>
                  <a:srgbClr val="0365F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CONSÓRCIO</a:t>
            </a:r>
            <a:endParaRPr lang="en-US" sz="950" dirty="0"/>
          </a:p>
        </p:txBody>
      </p:sp>
      <p:sp>
        <p:nvSpPr>
          <p:cNvPr id="12" name="Text 10"/>
          <p:cNvSpPr/>
          <p:nvPr/>
        </p:nvSpPr>
        <p:spPr>
          <a:xfrm>
            <a:off x="4608576" y="2423160"/>
            <a:ext cx="2971800" cy="310896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400" b="1" dirty="0">
                <a:solidFill>
                  <a:srgbClr val="0914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Bônus Quality garantido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4608576" y="2788920"/>
            <a:ext cx="2971800" cy="1115568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486 cotas ativas (R$ 10,4 mi) · retenção 94,5% · adimplência 91,4% → R$ 11,8 mil no trimestre · contemplado avisado compra aqui (81%).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8001000" y="1965960"/>
            <a:ext cx="3410712" cy="2103120"/>
          </a:xfrm>
          <a:prstGeom prst="roundRect">
            <a:avLst>
              <a:gd name="adj" fmla="val 1304"/>
            </a:avLst>
          </a:prstGeom>
          <a:solidFill>
            <a:srgbClr val="F7F9FC"/>
          </a:solidFill>
          <a:ln/>
        </p:spPr>
      </p:sp>
      <p:sp>
        <p:nvSpPr>
          <p:cNvPr id="15" name="Text 13"/>
          <p:cNvSpPr/>
          <p:nvPr/>
        </p:nvSpPr>
        <p:spPr>
          <a:xfrm>
            <a:off x="8220456" y="2167128"/>
            <a:ext cx="2971800" cy="201168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950" b="1" spc="50" kern="0" dirty="0">
                <a:solidFill>
                  <a:srgbClr val="0365F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VOZ DO CLIENTE</a:t>
            </a:r>
            <a:endParaRPr lang="en-US" sz="950" dirty="0"/>
          </a:p>
        </p:txBody>
      </p:sp>
      <p:sp>
        <p:nvSpPr>
          <p:cNvPr id="16" name="Text 14"/>
          <p:cNvSpPr/>
          <p:nvPr/>
        </p:nvSpPr>
        <p:spPr>
          <a:xfrm>
            <a:off x="8220456" y="2423160"/>
            <a:ext cx="2971800" cy="310896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400" b="1" dirty="0">
                <a:solidFill>
                  <a:srgbClr val="0914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Pesquisa: 32 clientes reais</a:t>
            </a:r>
            <a:endParaRPr lang="en-US" sz="1400" dirty="0"/>
          </a:p>
        </p:txBody>
      </p:sp>
      <p:sp>
        <p:nvSpPr>
          <p:cNvPr id="17" name="Text 15"/>
          <p:cNvSpPr/>
          <p:nvPr/>
        </p:nvSpPr>
        <p:spPr>
          <a:xfrm>
            <a:off x="8220456" y="2788920"/>
            <a:ext cx="2971800" cy="1115568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Decide a compra: parcela 72% · rapidez 66% · crédito 56%. Satisfação 3,6 → 4,5 antes × depois do piloto. NPS 72.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777240" y="4434840"/>
            <a:ext cx="10634472" cy="1097280"/>
          </a:xfrm>
          <a:prstGeom prst="roundRect">
            <a:avLst>
              <a:gd name="adj" fmla="val 2500"/>
            </a:avLst>
          </a:prstGeom>
          <a:solidFill>
            <a:srgbClr val="EEF4FF"/>
          </a:solidFill>
          <a:ln/>
        </p:spPr>
      </p:sp>
      <p:sp>
        <p:nvSpPr>
          <p:cNvPr id="19" name="Text 17"/>
          <p:cNvSpPr/>
          <p:nvPr/>
        </p:nvSpPr>
        <p:spPr>
          <a:xfrm>
            <a:off x="1051560" y="4581144"/>
            <a:ext cx="10085832" cy="27432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350" b="1" dirty="0">
                <a:solidFill>
                  <a:srgbClr val="0914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"Meu crédito não passou e ninguém mais me procurou. Se tivessem uma segunda opção eu tinha fechado."</a:t>
            </a:r>
            <a:endParaRPr lang="en-US" sz="1350" dirty="0"/>
          </a:p>
        </p:txBody>
      </p:sp>
      <p:sp>
        <p:nvSpPr>
          <p:cNvPr id="20" name="Text 18"/>
          <p:cNvSpPr/>
          <p:nvPr/>
        </p:nvSpPr>
        <p:spPr>
          <a:xfrm>
            <a:off x="1051560" y="4892040"/>
            <a:ext cx="10085832" cy="530352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lnSpc>
                <a:spcPts val="1600"/>
              </a:lnSpc>
              <a:buNone/>
            </a:pPr>
            <a:r>
              <a:rPr lang="en-US" sz="115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J. Vitor, cliente que não comprou — 43% das vendas perdidas travaram no crédito. É exatamente o público que o Liberacred devolve à mesa.</a:t>
            </a:r>
            <a:endParaRPr lang="en-US" sz="115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77240" y="502920"/>
            <a:ext cx="10634472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150" kern="0" dirty="0">
                <a:solidFill>
                  <a:srgbClr val="0365F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ARQUITETURA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777240" y="777240"/>
            <a:ext cx="10634472" cy="566928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0914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Quatro pilares sustentam a plataforma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10954512" y="644652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C3D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14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777240" y="1920240"/>
            <a:ext cx="2507742" cy="1828800"/>
          </a:xfrm>
          <a:prstGeom prst="roundRect">
            <a:avLst>
              <a:gd name="adj" fmla="val 1500"/>
            </a:avLst>
          </a:prstGeom>
          <a:solidFill>
            <a:srgbClr val="F7F9FC"/>
          </a:solidFill>
          <a:ln/>
        </p:spPr>
      </p:sp>
      <p:sp>
        <p:nvSpPr>
          <p:cNvPr id="6" name="Text 4"/>
          <p:cNvSpPr/>
          <p:nvPr/>
        </p:nvSpPr>
        <p:spPr>
          <a:xfrm>
            <a:off x="996696" y="2121408"/>
            <a:ext cx="2068830" cy="201168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950" b="1" spc="50" kern="0" dirty="0">
                <a:solidFill>
                  <a:srgbClr val="0365F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01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996696" y="2377440"/>
            <a:ext cx="2068830" cy="310896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400" b="1" dirty="0">
                <a:solidFill>
                  <a:srgbClr val="0914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Plataforma Inteligente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996696" y="2743200"/>
            <a:ext cx="2068830" cy="841248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Painel unificado integrando todas as áreas da concessionária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3486150" y="1920240"/>
            <a:ext cx="2507742" cy="1828800"/>
          </a:xfrm>
          <a:prstGeom prst="roundRect">
            <a:avLst>
              <a:gd name="adj" fmla="val 1500"/>
            </a:avLst>
          </a:prstGeom>
          <a:solidFill>
            <a:srgbClr val="F7F9FC"/>
          </a:solidFill>
          <a:ln/>
        </p:spPr>
      </p:sp>
      <p:sp>
        <p:nvSpPr>
          <p:cNvPr id="10" name="Text 8"/>
          <p:cNvSpPr/>
          <p:nvPr/>
        </p:nvSpPr>
        <p:spPr>
          <a:xfrm>
            <a:off x="3705606" y="2121408"/>
            <a:ext cx="2068830" cy="201168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950" b="1" spc="50" kern="0" dirty="0">
                <a:solidFill>
                  <a:srgbClr val="0365F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02</a:t>
            </a:r>
            <a:endParaRPr lang="en-US" sz="950" dirty="0"/>
          </a:p>
        </p:txBody>
      </p:sp>
      <p:sp>
        <p:nvSpPr>
          <p:cNvPr id="11" name="Text 9"/>
          <p:cNvSpPr/>
          <p:nvPr/>
        </p:nvSpPr>
        <p:spPr>
          <a:xfrm>
            <a:off x="3705606" y="2377440"/>
            <a:ext cx="2068830" cy="310896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400" b="1" dirty="0">
                <a:solidFill>
                  <a:srgbClr val="0914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IA Analítica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3705606" y="2743200"/>
            <a:ext cx="2068830" cy="841248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Insights, recomendações e predições automáticas em tempo real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6195060" y="1920240"/>
            <a:ext cx="2507742" cy="1828800"/>
          </a:xfrm>
          <a:prstGeom prst="roundRect">
            <a:avLst>
              <a:gd name="adj" fmla="val 1500"/>
            </a:avLst>
          </a:prstGeom>
          <a:solidFill>
            <a:srgbClr val="F7F9FC"/>
          </a:solidFill>
          <a:ln/>
        </p:spPr>
      </p:sp>
      <p:sp>
        <p:nvSpPr>
          <p:cNvPr id="14" name="Text 12"/>
          <p:cNvSpPr/>
          <p:nvPr/>
        </p:nvSpPr>
        <p:spPr>
          <a:xfrm>
            <a:off x="6414516" y="2121408"/>
            <a:ext cx="2068830" cy="201168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950" b="1" spc="50" kern="0" dirty="0">
                <a:solidFill>
                  <a:srgbClr val="0365F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</a:t>
            </a:r>
            <a:endParaRPr lang="en-US" sz="950" dirty="0"/>
          </a:p>
        </p:txBody>
      </p:sp>
      <p:sp>
        <p:nvSpPr>
          <p:cNvPr id="15" name="Text 13"/>
          <p:cNvSpPr/>
          <p:nvPr/>
        </p:nvSpPr>
        <p:spPr>
          <a:xfrm>
            <a:off x="6414516" y="2377440"/>
            <a:ext cx="2068830" cy="310896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400" b="1" dirty="0">
                <a:solidFill>
                  <a:srgbClr val="0914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Dashboard Integrado</a:t>
            </a:r>
            <a:endParaRPr lang="en-US" sz="1400" dirty="0"/>
          </a:p>
        </p:txBody>
      </p:sp>
      <p:sp>
        <p:nvSpPr>
          <p:cNvPr id="16" name="Text 14"/>
          <p:cNvSpPr/>
          <p:nvPr/>
        </p:nvSpPr>
        <p:spPr>
          <a:xfrm>
            <a:off x="6414516" y="2743200"/>
            <a:ext cx="2068830" cy="841248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KPIs ao vivo para vendedor, gerente e concessionário</a:t>
            </a:r>
            <a:endParaRPr lang="en-US" sz="1100" dirty="0"/>
          </a:p>
        </p:txBody>
      </p:sp>
      <p:sp>
        <p:nvSpPr>
          <p:cNvPr id="17" name="Shape 15"/>
          <p:cNvSpPr/>
          <p:nvPr/>
        </p:nvSpPr>
        <p:spPr>
          <a:xfrm>
            <a:off x="8903970" y="1920240"/>
            <a:ext cx="2507742" cy="1828800"/>
          </a:xfrm>
          <a:prstGeom prst="roundRect">
            <a:avLst>
              <a:gd name="adj" fmla="val 1500"/>
            </a:avLst>
          </a:prstGeom>
          <a:solidFill>
            <a:srgbClr val="F7F9FC"/>
          </a:solidFill>
          <a:ln/>
        </p:spPr>
      </p:sp>
      <p:sp>
        <p:nvSpPr>
          <p:cNvPr id="18" name="Text 16"/>
          <p:cNvSpPr/>
          <p:nvPr/>
        </p:nvSpPr>
        <p:spPr>
          <a:xfrm>
            <a:off x="9123426" y="2121408"/>
            <a:ext cx="2068830" cy="201168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950" b="1" spc="50" kern="0" dirty="0">
                <a:solidFill>
                  <a:srgbClr val="0365F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04</a:t>
            </a:r>
            <a:endParaRPr lang="en-US" sz="950" dirty="0"/>
          </a:p>
        </p:txBody>
      </p:sp>
      <p:sp>
        <p:nvSpPr>
          <p:cNvPr id="19" name="Text 17"/>
          <p:cNvSpPr/>
          <p:nvPr/>
        </p:nvSpPr>
        <p:spPr>
          <a:xfrm>
            <a:off x="9123426" y="2377440"/>
            <a:ext cx="2068830" cy="310896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400" b="1" dirty="0">
                <a:solidFill>
                  <a:srgbClr val="0914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Gestão da Experiência</a:t>
            </a:r>
            <a:endParaRPr lang="en-US" sz="1400" dirty="0"/>
          </a:p>
        </p:txBody>
      </p:sp>
      <p:sp>
        <p:nvSpPr>
          <p:cNvPr id="20" name="Text 18"/>
          <p:cNvSpPr/>
          <p:nvPr/>
        </p:nvSpPr>
        <p:spPr>
          <a:xfrm>
            <a:off x="9123426" y="2743200"/>
            <a:ext cx="2068830" cy="841248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Jornada do cliente centralizada, fluida e sem repetições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777240" y="4160520"/>
            <a:ext cx="10634472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150" kern="0" dirty="0">
                <a:solidFill>
                  <a:srgbClr val="0365F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INTEGRAÇÕES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777240" y="4526280"/>
            <a:ext cx="898855" cy="502920"/>
          </a:xfrm>
          <a:prstGeom prst="roundRect">
            <a:avLst>
              <a:gd name="adj" fmla="val 49091"/>
            </a:avLst>
          </a:prstGeom>
          <a:solidFill>
            <a:srgbClr val="F7F9FC"/>
          </a:solidFill>
          <a:ln/>
        </p:spPr>
      </p:sp>
      <p:sp>
        <p:nvSpPr>
          <p:cNvPr id="23" name="Text 21"/>
          <p:cNvSpPr/>
          <p:nvPr/>
        </p:nvSpPr>
        <p:spPr>
          <a:xfrm>
            <a:off x="722376" y="4526280"/>
            <a:ext cx="1008583" cy="50292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CRM</a:t>
            </a:r>
            <a:endParaRPr lang="en-US" sz="850" dirty="0"/>
          </a:p>
        </p:txBody>
      </p:sp>
      <p:sp>
        <p:nvSpPr>
          <p:cNvPr id="24" name="Shape 22"/>
          <p:cNvSpPr/>
          <p:nvPr/>
        </p:nvSpPr>
        <p:spPr>
          <a:xfrm>
            <a:off x="1858975" y="4526280"/>
            <a:ext cx="898855" cy="502920"/>
          </a:xfrm>
          <a:prstGeom prst="roundRect">
            <a:avLst>
              <a:gd name="adj" fmla="val 49091"/>
            </a:avLst>
          </a:prstGeom>
          <a:solidFill>
            <a:srgbClr val="F7F9FC"/>
          </a:solidFill>
          <a:ln/>
        </p:spPr>
      </p:sp>
      <p:sp>
        <p:nvSpPr>
          <p:cNvPr id="25" name="Text 23"/>
          <p:cNvSpPr/>
          <p:nvPr/>
        </p:nvSpPr>
        <p:spPr>
          <a:xfrm>
            <a:off x="1804111" y="4526280"/>
            <a:ext cx="1008583" cy="50292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Banco Yamaha</a:t>
            </a:r>
            <a:endParaRPr lang="en-US" sz="850" dirty="0"/>
          </a:p>
        </p:txBody>
      </p:sp>
      <p:sp>
        <p:nvSpPr>
          <p:cNvPr id="26" name="Shape 24"/>
          <p:cNvSpPr/>
          <p:nvPr/>
        </p:nvSpPr>
        <p:spPr>
          <a:xfrm>
            <a:off x="2940710" y="4526280"/>
            <a:ext cx="898855" cy="502920"/>
          </a:xfrm>
          <a:prstGeom prst="roundRect">
            <a:avLst>
              <a:gd name="adj" fmla="val 49091"/>
            </a:avLst>
          </a:prstGeom>
          <a:solidFill>
            <a:srgbClr val="F7F9FC"/>
          </a:solidFill>
          <a:ln/>
        </p:spPr>
      </p:sp>
      <p:sp>
        <p:nvSpPr>
          <p:cNvPr id="27" name="Text 25"/>
          <p:cNvSpPr/>
          <p:nvPr/>
        </p:nvSpPr>
        <p:spPr>
          <a:xfrm>
            <a:off x="2885846" y="4526280"/>
            <a:ext cx="1008583" cy="50292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Consórcio</a:t>
            </a:r>
            <a:endParaRPr lang="en-US" sz="850" dirty="0"/>
          </a:p>
        </p:txBody>
      </p:sp>
      <p:sp>
        <p:nvSpPr>
          <p:cNvPr id="28" name="Shape 26"/>
          <p:cNvSpPr/>
          <p:nvPr/>
        </p:nvSpPr>
        <p:spPr>
          <a:xfrm>
            <a:off x="4022446" y="4526280"/>
            <a:ext cx="898855" cy="502920"/>
          </a:xfrm>
          <a:prstGeom prst="roundRect">
            <a:avLst>
              <a:gd name="adj" fmla="val 49091"/>
            </a:avLst>
          </a:prstGeom>
          <a:solidFill>
            <a:srgbClr val="F7F9FC"/>
          </a:solidFill>
          <a:ln/>
        </p:spPr>
      </p:sp>
      <p:sp>
        <p:nvSpPr>
          <p:cNvPr id="29" name="Text 27"/>
          <p:cNvSpPr/>
          <p:nvPr/>
        </p:nvSpPr>
        <p:spPr>
          <a:xfrm>
            <a:off x="3967582" y="4526280"/>
            <a:ext cx="1008583" cy="50292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Seguros</a:t>
            </a:r>
            <a:endParaRPr lang="en-US" sz="850" dirty="0"/>
          </a:p>
        </p:txBody>
      </p:sp>
      <p:sp>
        <p:nvSpPr>
          <p:cNvPr id="30" name="Shape 28"/>
          <p:cNvSpPr/>
          <p:nvPr/>
        </p:nvSpPr>
        <p:spPr>
          <a:xfrm>
            <a:off x="5104181" y="4526280"/>
            <a:ext cx="898855" cy="502920"/>
          </a:xfrm>
          <a:prstGeom prst="roundRect">
            <a:avLst>
              <a:gd name="adj" fmla="val 49091"/>
            </a:avLst>
          </a:prstGeom>
          <a:solidFill>
            <a:srgbClr val="F7F9FC"/>
          </a:solidFill>
          <a:ln/>
        </p:spPr>
      </p:sp>
      <p:sp>
        <p:nvSpPr>
          <p:cNvPr id="31" name="Text 29"/>
          <p:cNvSpPr/>
          <p:nvPr/>
        </p:nvSpPr>
        <p:spPr>
          <a:xfrm>
            <a:off x="5049317" y="4526280"/>
            <a:ext cx="1008583" cy="50292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Leads</a:t>
            </a:r>
            <a:endParaRPr lang="en-US" sz="850" dirty="0"/>
          </a:p>
        </p:txBody>
      </p:sp>
      <p:sp>
        <p:nvSpPr>
          <p:cNvPr id="32" name="Shape 30"/>
          <p:cNvSpPr/>
          <p:nvPr/>
        </p:nvSpPr>
        <p:spPr>
          <a:xfrm>
            <a:off x="6185916" y="4526280"/>
            <a:ext cx="898855" cy="502920"/>
          </a:xfrm>
          <a:prstGeom prst="roundRect">
            <a:avLst>
              <a:gd name="adj" fmla="val 49091"/>
            </a:avLst>
          </a:prstGeom>
          <a:solidFill>
            <a:srgbClr val="F7F9FC"/>
          </a:solidFill>
          <a:ln/>
        </p:spPr>
      </p:sp>
      <p:sp>
        <p:nvSpPr>
          <p:cNvPr id="33" name="Text 31"/>
          <p:cNvSpPr/>
          <p:nvPr/>
        </p:nvSpPr>
        <p:spPr>
          <a:xfrm>
            <a:off x="6131052" y="4526280"/>
            <a:ext cx="1008583" cy="50292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Pós-venda</a:t>
            </a:r>
            <a:endParaRPr lang="en-US" sz="850" dirty="0"/>
          </a:p>
        </p:txBody>
      </p:sp>
      <p:sp>
        <p:nvSpPr>
          <p:cNvPr id="34" name="Shape 32"/>
          <p:cNvSpPr/>
          <p:nvPr/>
        </p:nvSpPr>
        <p:spPr>
          <a:xfrm>
            <a:off x="7267651" y="4526280"/>
            <a:ext cx="898855" cy="502920"/>
          </a:xfrm>
          <a:prstGeom prst="roundRect">
            <a:avLst>
              <a:gd name="adj" fmla="val 49091"/>
            </a:avLst>
          </a:prstGeom>
          <a:solidFill>
            <a:srgbClr val="F7F9FC"/>
          </a:solidFill>
          <a:ln/>
        </p:spPr>
      </p:sp>
      <p:sp>
        <p:nvSpPr>
          <p:cNvPr id="35" name="Text 33"/>
          <p:cNvSpPr/>
          <p:nvPr/>
        </p:nvSpPr>
        <p:spPr>
          <a:xfrm>
            <a:off x="7212787" y="4526280"/>
            <a:ext cx="1008583" cy="50292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NPS</a:t>
            </a:r>
            <a:endParaRPr lang="en-US" sz="850" dirty="0"/>
          </a:p>
        </p:txBody>
      </p:sp>
      <p:sp>
        <p:nvSpPr>
          <p:cNvPr id="36" name="Shape 34"/>
          <p:cNvSpPr/>
          <p:nvPr/>
        </p:nvSpPr>
        <p:spPr>
          <a:xfrm>
            <a:off x="8349386" y="4526280"/>
            <a:ext cx="898855" cy="502920"/>
          </a:xfrm>
          <a:prstGeom prst="roundRect">
            <a:avLst>
              <a:gd name="adj" fmla="val 49091"/>
            </a:avLst>
          </a:prstGeom>
          <a:solidFill>
            <a:srgbClr val="F7F9FC"/>
          </a:solidFill>
          <a:ln/>
        </p:spPr>
      </p:sp>
      <p:sp>
        <p:nvSpPr>
          <p:cNvPr id="37" name="Text 35"/>
          <p:cNvSpPr/>
          <p:nvPr/>
        </p:nvSpPr>
        <p:spPr>
          <a:xfrm>
            <a:off x="8294522" y="4526280"/>
            <a:ext cx="1008583" cy="50292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Estoque</a:t>
            </a:r>
            <a:endParaRPr lang="en-US" sz="850" dirty="0"/>
          </a:p>
        </p:txBody>
      </p:sp>
      <p:sp>
        <p:nvSpPr>
          <p:cNvPr id="38" name="Shape 36"/>
          <p:cNvSpPr/>
          <p:nvPr/>
        </p:nvSpPr>
        <p:spPr>
          <a:xfrm>
            <a:off x="9431122" y="4526280"/>
            <a:ext cx="898855" cy="502920"/>
          </a:xfrm>
          <a:prstGeom prst="roundRect">
            <a:avLst>
              <a:gd name="adj" fmla="val 49091"/>
            </a:avLst>
          </a:prstGeom>
          <a:solidFill>
            <a:srgbClr val="F7F9FC"/>
          </a:solidFill>
          <a:ln/>
        </p:spPr>
      </p:sp>
      <p:sp>
        <p:nvSpPr>
          <p:cNvPr id="39" name="Text 37"/>
          <p:cNvSpPr/>
          <p:nvPr/>
        </p:nvSpPr>
        <p:spPr>
          <a:xfrm>
            <a:off x="9376258" y="4526280"/>
            <a:ext cx="1008583" cy="50292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Emplacamento</a:t>
            </a:r>
            <a:endParaRPr lang="en-US" sz="850" dirty="0"/>
          </a:p>
        </p:txBody>
      </p:sp>
      <p:sp>
        <p:nvSpPr>
          <p:cNvPr id="40" name="Shape 38"/>
          <p:cNvSpPr/>
          <p:nvPr/>
        </p:nvSpPr>
        <p:spPr>
          <a:xfrm>
            <a:off x="10512857" y="4526280"/>
            <a:ext cx="898855" cy="502920"/>
          </a:xfrm>
          <a:prstGeom prst="roundRect">
            <a:avLst>
              <a:gd name="adj" fmla="val 49091"/>
            </a:avLst>
          </a:prstGeom>
          <a:solidFill>
            <a:srgbClr val="F7F9FC"/>
          </a:solidFill>
          <a:ln/>
        </p:spPr>
      </p:sp>
      <p:sp>
        <p:nvSpPr>
          <p:cNvPr id="41" name="Text 39"/>
          <p:cNvSpPr/>
          <p:nvPr/>
        </p:nvSpPr>
        <p:spPr>
          <a:xfrm>
            <a:off x="10457993" y="4526280"/>
            <a:ext cx="1008583" cy="50292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WhatsApp</a:t>
            </a:r>
            <a:endParaRPr lang="en-US" sz="850" dirty="0"/>
          </a:p>
        </p:txBody>
      </p:sp>
      <p:sp>
        <p:nvSpPr>
          <p:cNvPr id="42" name="Shape 40"/>
          <p:cNvSpPr/>
          <p:nvPr/>
        </p:nvSpPr>
        <p:spPr>
          <a:xfrm>
            <a:off x="777240" y="5349240"/>
            <a:ext cx="10634472" cy="914400"/>
          </a:xfrm>
          <a:prstGeom prst="roundRect">
            <a:avLst>
              <a:gd name="adj" fmla="val 3000"/>
            </a:avLst>
          </a:prstGeom>
          <a:solidFill>
            <a:srgbClr val="EEF4FF"/>
          </a:solidFill>
          <a:ln/>
        </p:spPr>
      </p:sp>
      <p:sp>
        <p:nvSpPr>
          <p:cNvPr id="43" name="Text 41"/>
          <p:cNvSpPr/>
          <p:nvPr/>
        </p:nvSpPr>
        <p:spPr>
          <a:xfrm>
            <a:off x="1051560" y="5495544"/>
            <a:ext cx="10085832" cy="27432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350" b="1" dirty="0">
                <a:solidFill>
                  <a:srgbClr val="0914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SaaS multi-grupo desde o dia 1</a:t>
            </a:r>
            <a:endParaRPr lang="en-US" sz="1350" dirty="0"/>
          </a:p>
        </p:txBody>
      </p:sp>
      <p:sp>
        <p:nvSpPr>
          <p:cNvPr id="44" name="Text 42"/>
          <p:cNvSpPr/>
          <p:nvPr/>
        </p:nvSpPr>
        <p:spPr>
          <a:xfrm>
            <a:off x="1051560" y="5806440"/>
            <a:ext cx="10085832" cy="347472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lnSpc>
                <a:spcPts val="1600"/>
              </a:lnSpc>
              <a:buNone/>
            </a:pPr>
            <a:r>
              <a:rPr lang="en-US" sz="115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Sem instalação, sem hardware, sem projeto de TI local — replicar para outra concessionária é configurar, não reprogramar.</a:t>
            </a:r>
            <a:endParaRPr lang="en-US" sz="115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77240" y="502920"/>
            <a:ext cx="10634472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150" kern="0" dirty="0">
                <a:solidFill>
                  <a:srgbClr val="0365F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CRONOGRAMA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777240" y="777240"/>
            <a:ext cx="10634472" cy="566928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0914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 janeiro ao rollout: o projeto no prazo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777240" y="1444752"/>
            <a:ext cx="10634472" cy="292608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35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Metodologia ágil com PDCA — as fases cumpridas em 2026 e a proposta para a rede.</a:t>
            </a:r>
            <a:endParaRPr lang="en-US" sz="1350" dirty="0"/>
          </a:p>
        </p:txBody>
      </p:sp>
      <p:sp>
        <p:nvSpPr>
          <p:cNvPr id="5" name="Text 3"/>
          <p:cNvSpPr/>
          <p:nvPr/>
        </p:nvSpPr>
        <p:spPr>
          <a:xfrm>
            <a:off x="10954512" y="644652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C3D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</a:t>
            </a:r>
            <a:endParaRPr lang="en-US" sz="1000" dirty="0"/>
          </a:p>
        </p:txBody>
      </p:sp>
      <p:sp>
        <p:nvSpPr>
          <p:cNvPr id="6" name="Shape 4"/>
          <p:cNvSpPr/>
          <p:nvPr/>
        </p:nvSpPr>
        <p:spPr>
          <a:xfrm>
            <a:off x="960120" y="2743200"/>
            <a:ext cx="10268712" cy="0"/>
          </a:xfrm>
          <a:prstGeom prst="line">
            <a:avLst/>
          </a:prstGeom>
          <a:noFill/>
          <a:ln w="19050">
            <a:solidFill>
              <a:srgbClr val="E5EAF2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1393154" y="2670048"/>
            <a:ext cx="146304" cy="146304"/>
          </a:xfrm>
          <a:prstGeom prst="ellipse">
            <a:avLst/>
          </a:prstGeom>
          <a:solidFill>
            <a:srgbClr val="1E9E5A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777240" y="2148840"/>
            <a:ext cx="1378131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Jan–Fev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777240" y="3063240"/>
            <a:ext cx="1378131" cy="1737360"/>
          </a:xfrm>
          <a:prstGeom prst="roundRect">
            <a:avLst>
              <a:gd name="adj" fmla="val 2654"/>
            </a:avLst>
          </a:prstGeom>
          <a:solidFill>
            <a:srgbClr val="F7F9FC"/>
          </a:solidFill>
          <a:ln/>
        </p:spPr>
      </p:sp>
      <p:sp>
        <p:nvSpPr>
          <p:cNvPr id="10" name="Text 8"/>
          <p:cNvSpPr/>
          <p:nvPr/>
        </p:nvSpPr>
        <p:spPr>
          <a:xfrm>
            <a:off x="868680" y="3200400"/>
            <a:ext cx="1195251" cy="292608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0914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Planejamento</a:t>
            </a:r>
            <a:endParaRPr lang="en-US" sz="1150" dirty="0"/>
          </a:p>
        </p:txBody>
      </p:sp>
      <p:sp>
        <p:nvSpPr>
          <p:cNvPr id="11" name="Text 9"/>
          <p:cNvSpPr/>
          <p:nvPr/>
        </p:nvSpPr>
        <p:spPr>
          <a:xfrm>
            <a:off x="868680" y="3547872"/>
            <a:ext cx="1195251" cy="109728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algn="ctr" indent="0" marL="0">
              <a:lnSpc>
                <a:spcPts val="1250"/>
              </a:lnSpc>
              <a:buNone/>
            </a:pPr>
            <a:r>
              <a:rPr lang="en-US" sz="90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requisitos e arquitetura</a:t>
            </a:r>
            <a:endParaRPr lang="en-US" sz="900" dirty="0"/>
          </a:p>
        </p:txBody>
      </p:sp>
      <p:sp>
        <p:nvSpPr>
          <p:cNvPr id="12" name="Text 10"/>
          <p:cNvSpPr/>
          <p:nvPr/>
        </p:nvSpPr>
        <p:spPr>
          <a:xfrm>
            <a:off x="777240" y="4434840"/>
            <a:ext cx="1378131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b="1" spc="100" kern="0" dirty="0">
                <a:solidFill>
                  <a:srgbClr val="1E9E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ENTREGUE</a:t>
            </a:r>
            <a:endParaRPr lang="en-US" sz="800" dirty="0"/>
          </a:p>
        </p:txBody>
      </p:sp>
      <p:sp>
        <p:nvSpPr>
          <p:cNvPr id="13" name="Shape 11"/>
          <p:cNvSpPr/>
          <p:nvPr/>
        </p:nvSpPr>
        <p:spPr>
          <a:xfrm>
            <a:off x="2935877" y="2670048"/>
            <a:ext cx="146304" cy="146304"/>
          </a:xfrm>
          <a:prstGeom prst="ellipse">
            <a:avLst/>
          </a:prstGeom>
          <a:solidFill>
            <a:srgbClr val="1E9E5A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2319963" y="2148840"/>
            <a:ext cx="1378131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Mar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2319963" y="3063240"/>
            <a:ext cx="1378131" cy="1737360"/>
          </a:xfrm>
          <a:prstGeom prst="roundRect">
            <a:avLst>
              <a:gd name="adj" fmla="val 2654"/>
            </a:avLst>
          </a:prstGeom>
          <a:solidFill>
            <a:srgbClr val="F7F9FC"/>
          </a:solidFill>
          <a:ln/>
        </p:spPr>
      </p:sp>
      <p:sp>
        <p:nvSpPr>
          <p:cNvPr id="16" name="Text 14"/>
          <p:cNvSpPr/>
          <p:nvPr/>
        </p:nvSpPr>
        <p:spPr>
          <a:xfrm>
            <a:off x="2411403" y="3200400"/>
            <a:ext cx="1195251" cy="292608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0914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Desenvolvimento</a:t>
            </a:r>
            <a:endParaRPr lang="en-US" sz="1150" dirty="0"/>
          </a:p>
        </p:txBody>
      </p:sp>
      <p:sp>
        <p:nvSpPr>
          <p:cNvPr id="17" name="Text 15"/>
          <p:cNvSpPr/>
          <p:nvPr/>
        </p:nvSpPr>
        <p:spPr>
          <a:xfrm>
            <a:off x="2411403" y="3547872"/>
            <a:ext cx="1195251" cy="109728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algn="ctr" indent="0" marL="0">
              <a:lnSpc>
                <a:spcPts val="1250"/>
              </a:lnSpc>
              <a:buNone/>
            </a:pPr>
            <a:r>
              <a:rPr lang="en-US" sz="90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construção da plataforma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2319963" y="4434840"/>
            <a:ext cx="1378131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b="1" spc="100" kern="0" dirty="0">
                <a:solidFill>
                  <a:srgbClr val="1E9E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ENTREGUE</a:t>
            </a:r>
            <a:endParaRPr lang="en-US" sz="800" dirty="0"/>
          </a:p>
        </p:txBody>
      </p:sp>
      <p:sp>
        <p:nvSpPr>
          <p:cNvPr id="19" name="Shape 17"/>
          <p:cNvSpPr/>
          <p:nvPr/>
        </p:nvSpPr>
        <p:spPr>
          <a:xfrm>
            <a:off x="4478601" y="2670048"/>
            <a:ext cx="146304" cy="146304"/>
          </a:xfrm>
          <a:prstGeom prst="ellipse">
            <a:avLst/>
          </a:prstGeom>
          <a:solidFill>
            <a:srgbClr val="1E9E5A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3862687" y="2148840"/>
            <a:ext cx="1378131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Mar–Abr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3862687" y="3063240"/>
            <a:ext cx="1378131" cy="1737360"/>
          </a:xfrm>
          <a:prstGeom prst="roundRect">
            <a:avLst>
              <a:gd name="adj" fmla="val 2654"/>
            </a:avLst>
          </a:prstGeom>
          <a:solidFill>
            <a:srgbClr val="F7F9FC"/>
          </a:solidFill>
          <a:ln/>
        </p:spPr>
      </p:sp>
      <p:sp>
        <p:nvSpPr>
          <p:cNvPr id="22" name="Text 20"/>
          <p:cNvSpPr/>
          <p:nvPr/>
        </p:nvSpPr>
        <p:spPr>
          <a:xfrm>
            <a:off x="3954127" y="3200400"/>
            <a:ext cx="1195251" cy="292608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0914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Integrações</a:t>
            </a:r>
            <a:endParaRPr lang="en-US" sz="1150" dirty="0"/>
          </a:p>
        </p:txBody>
      </p:sp>
      <p:sp>
        <p:nvSpPr>
          <p:cNvPr id="23" name="Text 21"/>
          <p:cNvSpPr/>
          <p:nvPr/>
        </p:nvSpPr>
        <p:spPr>
          <a:xfrm>
            <a:off x="3954127" y="3547872"/>
            <a:ext cx="1195251" cy="109728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algn="ctr" indent="0" marL="0">
              <a:lnSpc>
                <a:spcPts val="1250"/>
              </a:lnSpc>
              <a:buNone/>
            </a:pPr>
            <a:r>
              <a:rPr lang="en-US" sz="90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conexões e testes</a:t>
            </a:r>
            <a:endParaRPr lang="en-US" sz="900" dirty="0"/>
          </a:p>
        </p:txBody>
      </p:sp>
      <p:sp>
        <p:nvSpPr>
          <p:cNvPr id="24" name="Text 22"/>
          <p:cNvSpPr/>
          <p:nvPr/>
        </p:nvSpPr>
        <p:spPr>
          <a:xfrm>
            <a:off x="3862687" y="4434840"/>
            <a:ext cx="1378131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b="1" spc="100" kern="0" dirty="0">
                <a:solidFill>
                  <a:srgbClr val="1E9E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ENTREGUE</a:t>
            </a:r>
            <a:endParaRPr lang="en-US" sz="800" dirty="0"/>
          </a:p>
        </p:txBody>
      </p:sp>
      <p:sp>
        <p:nvSpPr>
          <p:cNvPr id="25" name="Shape 23"/>
          <p:cNvSpPr/>
          <p:nvPr/>
        </p:nvSpPr>
        <p:spPr>
          <a:xfrm>
            <a:off x="6021324" y="2670048"/>
            <a:ext cx="146304" cy="146304"/>
          </a:xfrm>
          <a:prstGeom prst="ellipse">
            <a:avLst/>
          </a:prstGeom>
          <a:solidFill>
            <a:srgbClr val="1E9E5A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5405410" y="2148840"/>
            <a:ext cx="1378131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Abr</a:t>
            </a:r>
            <a:endParaRPr lang="en-US" sz="1000" dirty="0"/>
          </a:p>
        </p:txBody>
      </p:sp>
      <p:sp>
        <p:nvSpPr>
          <p:cNvPr id="27" name="Shape 25"/>
          <p:cNvSpPr/>
          <p:nvPr/>
        </p:nvSpPr>
        <p:spPr>
          <a:xfrm>
            <a:off x="5405410" y="3063240"/>
            <a:ext cx="1378131" cy="1737360"/>
          </a:xfrm>
          <a:prstGeom prst="roundRect">
            <a:avLst>
              <a:gd name="adj" fmla="val 2654"/>
            </a:avLst>
          </a:prstGeom>
          <a:solidFill>
            <a:srgbClr val="F7F9FC"/>
          </a:solidFill>
          <a:ln/>
        </p:spPr>
      </p:sp>
      <p:sp>
        <p:nvSpPr>
          <p:cNvPr id="28" name="Text 26"/>
          <p:cNvSpPr/>
          <p:nvPr/>
        </p:nvSpPr>
        <p:spPr>
          <a:xfrm>
            <a:off x="5496850" y="3200400"/>
            <a:ext cx="1195251" cy="292608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0914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Treinamento</a:t>
            </a:r>
            <a:endParaRPr lang="en-US" sz="1150" dirty="0"/>
          </a:p>
        </p:txBody>
      </p:sp>
      <p:sp>
        <p:nvSpPr>
          <p:cNvPr id="29" name="Text 27"/>
          <p:cNvSpPr/>
          <p:nvPr/>
        </p:nvSpPr>
        <p:spPr>
          <a:xfrm>
            <a:off x="5496850" y="3547872"/>
            <a:ext cx="1195251" cy="109728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algn="ctr" indent="0" marL="0">
              <a:lnSpc>
                <a:spcPts val="1250"/>
              </a:lnSpc>
              <a:buNone/>
            </a:pPr>
            <a:r>
              <a:rPr lang="en-US" sz="90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capacitação das equipes</a:t>
            </a:r>
            <a:endParaRPr lang="en-US" sz="900" dirty="0"/>
          </a:p>
        </p:txBody>
      </p:sp>
      <p:sp>
        <p:nvSpPr>
          <p:cNvPr id="30" name="Text 28"/>
          <p:cNvSpPr/>
          <p:nvPr/>
        </p:nvSpPr>
        <p:spPr>
          <a:xfrm>
            <a:off x="5405410" y="4434840"/>
            <a:ext cx="1378131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b="1" spc="100" kern="0" dirty="0">
                <a:solidFill>
                  <a:srgbClr val="1E9E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ENTREGUE</a:t>
            </a:r>
            <a:endParaRPr lang="en-US" sz="800" dirty="0"/>
          </a:p>
        </p:txBody>
      </p:sp>
      <p:sp>
        <p:nvSpPr>
          <p:cNvPr id="31" name="Shape 29"/>
          <p:cNvSpPr/>
          <p:nvPr/>
        </p:nvSpPr>
        <p:spPr>
          <a:xfrm>
            <a:off x="7564047" y="2670048"/>
            <a:ext cx="146304" cy="146304"/>
          </a:xfrm>
          <a:prstGeom prst="ellipse">
            <a:avLst/>
          </a:prstGeom>
          <a:solidFill>
            <a:srgbClr val="1E9E5A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6948134" y="2148840"/>
            <a:ext cx="1378131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Abr–Mai</a:t>
            </a:r>
            <a:endParaRPr lang="en-US" sz="1000" dirty="0"/>
          </a:p>
        </p:txBody>
      </p:sp>
      <p:sp>
        <p:nvSpPr>
          <p:cNvPr id="33" name="Shape 31"/>
          <p:cNvSpPr/>
          <p:nvPr/>
        </p:nvSpPr>
        <p:spPr>
          <a:xfrm>
            <a:off x="6948134" y="3063240"/>
            <a:ext cx="1378131" cy="1737360"/>
          </a:xfrm>
          <a:prstGeom prst="roundRect">
            <a:avLst>
              <a:gd name="adj" fmla="val 2654"/>
            </a:avLst>
          </a:prstGeom>
          <a:solidFill>
            <a:srgbClr val="F7F9FC"/>
          </a:solidFill>
          <a:ln/>
        </p:spPr>
      </p:sp>
      <p:sp>
        <p:nvSpPr>
          <p:cNvPr id="34" name="Text 32"/>
          <p:cNvSpPr/>
          <p:nvPr/>
        </p:nvSpPr>
        <p:spPr>
          <a:xfrm>
            <a:off x="7039574" y="3200400"/>
            <a:ext cx="1195251" cy="292608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0914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Piloto</a:t>
            </a:r>
            <a:endParaRPr lang="en-US" sz="1150" dirty="0"/>
          </a:p>
        </p:txBody>
      </p:sp>
      <p:sp>
        <p:nvSpPr>
          <p:cNvPr id="35" name="Text 33"/>
          <p:cNvSpPr/>
          <p:nvPr/>
        </p:nvSpPr>
        <p:spPr>
          <a:xfrm>
            <a:off x="7039574" y="3547872"/>
            <a:ext cx="1195251" cy="109728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algn="ctr" indent="0" marL="0">
              <a:lnSpc>
                <a:spcPts val="1250"/>
              </a:lnSpc>
              <a:buNone/>
            </a:pPr>
            <a:r>
              <a:rPr lang="en-US" sz="90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implantação Nippon Motos</a:t>
            </a:r>
            <a:endParaRPr lang="en-US" sz="900" dirty="0"/>
          </a:p>
        </p:txBody>
      </p:sp>
      <p:sp>
        <p:nvSpPr>
          <p:cNvPr id="36" name="Text 34"/>
          <p:cNvSpPr/>
          <p:nvPr/>
        </p:nvSpPr>
        <p:spPr>
          <a:xfrm>
            <a:off x="6948134" y="4434840"/>
            <a:ext cx="1378131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b="1" spc="100" kern="0" dirty="0">
                <a:solidFill>
                  <a:srgbClr val="1E9E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ENTREGUE</a:t>
            </a:r>
            <a:endParaRPr lang="en-US" sz="800" dirty="0"/>
          </a:p>
        </p:txBody>
      </p:sp>
      <p:sp>
        <p:nvSpPr>
          <p:cNvPr id="37" name="Shape 35"/>
          <p:cNvSpPr/>
          <p:nvPr/>
        </p:nvSpPr>
        <p:spPr>
          <a:xfrm>
            <a:off x="9106771" y="2670048"/>
            <a:ext cx="146304" cy="146304"/>
          </a:xfrm>
          <a:prstGeom prst="ellipse">
            <a:avLst/>
          </a:prstGeom>
          <a:solidFill>
            <a:srgbClr val="1E9E5A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8490857" y="2148840"/>
            <a:ext cx="1378131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Jul–Ago</a:t>
            </a:r>
            <a:endParaRPr lang="en-US" sz="1000" dirty="0"/>
          </a:p>
        </p:txBody>
      </p:sp>
      <p:sp>
        <p:nvSpPr>
          <p:cNvPr id="39" name="Shape 37"/>
          <p:cNvSpPr/>
          <p:nvPr/>
        </p:nvSpPr>
        <p:spPr>
          <a:xfrm>
            <a:off x="8490857" y="3063240"/>
            <a:ext cx="1378131" cy="1737360"/>
          </a:xfrm>
          <a:prstGeom prst="roundRect">
            <a:avLst>
              <a:gd name="adj" fmla="val 2654"/>
            </a:avLst>
          </a:prstGeom>
          <a:solidFill>
            <a:srgbClr val="F7F9FC"/>
          </a:solidFill>
          <a:ln/>
        </p:spPr>
      </p:sp>
      <p:sp>
        <p:nvSpPr>
          <p:cNvPr id="40" name="Text 38"/>
          <p:cNvSpPr/>
          <p:nvPr/>
        </p:nvSpPr>
        <p:spPr>
          <a:xfrm>
            <a:off x="8582297" y="3200400"/>
            <a:ext cx="1195251" cy="292608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0914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PDCA</a:t>
            </a:r>
            <a:endParaRPr lang="en-US" sz="1150" dirty="0"/>
          </a:p>
        </p:txBody>
      </p:sp>
      <p:sp>
        <p:nvSpPr>
          <p:cNvPr id="41" name="Text 39"/>
          <p:cNvSpPr/>
          <p:nvPr/>
        </p:nvSpPr>
        <p:spPr>
          <a:xfrm>
            <a:off x="8582297" y="3547872"/>
            <a:ext cx="1195251" cy="109728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algn="ctr" indent="0" marL="0">
              <a:lnSpc>
                <a:spcPts val="1250"/>
              </a:lnSpc>
              <a:buNone/>
            </a:pPr>
            <a:r>
              <a:rPr lang="en-US" sz="90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melhoria contínua + novas frentes</a:t>
            </a:r>
            <a:endParaRPr lang="en-US" sz="900" dirty="0"/>
          </a:p>
        </p:txBody>
      </p:sp>
      <p:sp>
        <p:nvSpPr>
          <p:cNvPr id="42" name="Text 40"/>
          <p:cNvSpPr/>
          <p:nvPr/>
        </p:nvSpPr>
        <p:spPr>
          <a:xfrm>
            <a:off x="8490857" y="4434840"/>
            <a:ext cx="1378131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b="1" spc="100" kern="0" dirty="0">
                <a:solidFill>
                  <a:srgbClr val="1E9E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ENTREGUE</a:t>
            </a:r>
            <a:endParaRPr lang="en-US" sz="800" dirty="0"/>
          </a:p>
        </p:txBody>
      </p:sp>
      <p:sp>
        <p:nvSpPr>
          <p:cNvPr id="43" name="Shape 41"/>
          <p:cNvSpPr/>
          <p:nvPr/>
        </p:nvSpPr>
        <p:spPr>
          <a:xfrm>
            <a:off x="10649494" y="2670048"/>
            <a:ext cx="146304" cy="146304"/>
          </a:xfrm>
          <a:prstGeom prst="ellipse">
            <a:avLst/>
          </a:prstGeom>
          <a:solidFill>
            <a:srgbClr val="0365FE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10033581" y="2148840"/>
            <a:ext cx="1378131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365F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Set–Dez</a:t>
            </a:r>
            <a:endParaRPr lang="en-US" sz="1000" dirty="0"/>
          </a:p>
        </p:txBody>
      </p:sp>
      <p:sp>
        <p:nvSpPr>
          <p:cNvPr id="45" name="Shape 43"/>
          <p:cNvSpPr/>
          <p:nvPr/>
        </p:nvSpPr>
        <p:spPr>
          <a:xfrm>
            <a:off x="10033581" y="3063240"/>
            <a:ext cx="1378131" cy="1737360"/>
          </a:xfrm>
          <a:prstGeom prst="roundRect">
            <a:avLst>
              <a:gd name="adj" fmla="val 2654"/>
            </a:avLst>
          </a:prstGeom>
          <a:solidFill>
            <a:srgbClr val="EEF4FF"/>
          </a:solidFill>
          <a:ln w="12700">
            <a:solidFill>
              <a:srgbClr val="0365FE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10125021" y="3200400"/>
            <a:ext cx="1195251" cy="292608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0914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Fase 2</a:t>
            </a:r>
            <a:endParaRPr lang="en-US" sz="1150" dirty="0"/>
          </a:p>
        </p:txBody>
      </p:sp>
      <p:sp>
        <p:nvSpPr>
          <p:cNvPr id="47" name="Text 45"/>
          <p:cNvSpPr/>
          <p:nvPr/>
        </p:nvSpPr>
        <p:spPr>
          <a:xfrm>
            <a:off x="10125021" y="3547872"/>
            <a:ext cx="1195251" cy="109728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algn="ctr" indent="0" marL="0">
              <a:lnSpc>
                <a:spcPts val="1250"/>
              </a:lnSpc>
              <a:buNone/>
            </a:pPr>
            <a:r>
              <a:rPr lang="en-US" sz="90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rollout regional — 9 grupos</a:t>
            </a:r>
            <a:endParaRPr lang="en-US" sz="900" dirty="0"/>
          </a:p>
        </p:txBody>
      </p:sp>
      <p:sp>
        <p:nvSpPr>
          <p:cNvPr id="48" name="Text 46"/>
          <p:cNvSpPr/>
          <p:nvPr/>
        </p:nvSpPr>
        <p:spPr>
          <a:xfrm>
            <a:off x="777240" y="5120640"/>
            <a:ext cx="10634472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50" i="1" dirty="0">
                <a:solidFill>
                  <a:srgbClr val="8A96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Tudo até aqui foi entregue no prazo — a Fase 2 é a decisão desta reunião.</a:t>
            </a:r>
            <a:endParaRPr lang="en-US" sz="125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77240" y="502920"/>
            <a:ext cx="10634472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150" kern="0" dirty="0">
                <a:solidFill>
                  <a:srgbClr val="0365F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PAYBACK &amp; VIABILIDADE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777240" y="777240"/>
            <a:ext cx="10634472" cy="566928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0914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Retorno mensurável para toda a cadeia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10954512" y="644652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C3D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16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777240" y="1828800"/>
            <a:ext cx="3410712" cy="1737360"/>
          </a:xfrm>
          <a:prstGeom prst="roundRect">
            <a:avLst>
              <a:gd name="adj" fmla="val 1579"/>
            </a:avLst>
          </a:prstGeom>
          <a:solidFill>
            <a:srgbClr val="F7F9FC"/>
          </a:solidFill>
          <a:ln/>
        </p:spPr>
      </p:sp>
      <p:sp>
        <p:nvSpPr>
          <p:cNvPr id="6" name="Text 4"/>
          <p:cNvSpPr/>
          <p:nvPr/>
        </p:nvSpPr>
        <p:spPr>
          <a:xfrm>
            <a:off x="996696" y="2029968"/>
            <a:ext cx="2971800" cy="201168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950" b="1" spc="50" kern="0" dirty="0">
                <a:solidFill>
                  <a:srgbClr val="0365F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INVESTIMENTO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996696" y="2286000"/>
            <a:ext cx="2971800" cy="310896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400" b="1" dirty="0">
                <a:solidFill>
                  <a:srgbClr val="0914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R$ 600/mês por CCY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996696" y="2651760"/>
            <a:ext cx="2971800" cy="749808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Plataforma, integrações, treinamento e suporte — SaaS sem instalação e sem hardware.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4389120" y="1828800"/>
            <a:ext cx="3410712" cy="1737360"/>
          </a:xfrm>
          <a:prstGeom prst="roundRect">
            <a:avLst>
              <a:gd name="adj" fmla="val 1579"/>
            </a:avLst>
          </a:prstGeom>
          <a:solidFill>
            <a:srgbClr val="F7F9FC"/>
          </a:solidFill>
          <a:ln/>
        </p:spPr>
      </p:sp>
      <p:sp>
        <p:nvSpPr>
          <p:cNvPr id="10" name="Text 8"/>
          <p:cNvSpPr/>
          <p:nvPr/>
        </p:nvSpPr>
        <p:spPr>
          <a:xfrm>
            <a:off x="4608576" y="2029968"/>
            <a:ext cx="2971800" cy="201168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950" b="1" spc="50" kern="0" dirty="0">
                <a:solidFill>
                  <a:srgbClr val="0365F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ECONOMIA GERADA</a:t>
            </a:r>
            <a:endParaRPr lang="en-US" sz="950" dirty="0"/>
          </a:p>
        </p:txBody>
      </p:sp>
      <p:sp>
        <p:nvSpPr>
          <p:cNvPr id="11" name="Text 9"/>
          <p:cNvSpPr/>
          <p:nvPr/>
        </p:nvSpPr>
        <p:spPr>
          <a:xfrm>
            <a:off x="4608576" y="2286000"/>
            <a:ext cx="2971800" cy="310896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400" b="1" dirty="0">
                <a:solidFill>
                  <a:srgbClr val="0914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Horas viram segundos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4608576" y="2651760"/>
            <a:ext cx="2971800" cy="749808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Menos retrabalho operacional, menor custo de captação, menos perda no funil de vendas.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8001000" y="1828800"/>
            <a:ext cx="3410712" cy="1737360"/>
          </a:xfrm>
          <a:prstGeom prst="roundRect">
            <a:avLst>
              <a:gd name="adj" fmla="val 1579"/>
            </a:avLst>
          </a:prstGeom>
          <a:solidFill>
            <a:srgbClr val="F7F9FC"/>
          </a:solidFill>
          <a:ln/>
        </p:spPr>
      </p:sp>
      <p:sp>
        <p:nvSpPr>
          <p:cNvPr id="14" name="Text 12"/>
          <p:cNvSpPr/>
          <p:nvPr/>
        </p:nvSpPr>
        <p:spPr>
          <a:xfrm>
            <a:off x="8220456" y="2029968"/>
            <a:ext cx="2971800" cy="201168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950" b="1" spc="50" kern="0" dirty="0">
                <a:solidFill>
                  <a:srgbClr val="0365F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GANHOS ESPERADOS</a:t>
            </a:r>
            <a:endParaRPr lang="en-US" sz="950" dirty="0"/>
          </a:p>
        </p:txBody>
      </p:sp>
      <p:sp>
        <p:nvSpPr>
          <p:cNvPr id="15" name="Text 13"/>
          <p:cNvSpPr/>
          <p:nvPr/>
        </p:nvSpPr>
        <p:spPr>
          <a:xfrm>
            <a:off x="8220456" y="2286000"/>
            <a:ext cx="2971800" cy="310896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400" b="1" dirty="0">
                <a:solidFill>
                  <a:srgbClr val="0914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+8% varejo · +15% leads</a:t>
            </a:r>
            <a:endParaRPr lang="en-US" sz="1400" dirty="0"/>
          </a:p>
        </p:txBody>
      </p:sp>
      <p:sp>
        <p:nvSpPr>
          <p:cNvPr id="16" name="Text 14"/>
          <p:cNvSpPr/>
          <p:nvPr/>
        </p:nvSpPr>
        <p:spPr>
          <a:xfrm>
            <a:off x="8220456" y="2651760"/>
            <a:ext cx="2971800" cy="749808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+10% aprovação financeira · +5 pts NPS e fidelização · escalabilidade nacional.</a:t>
            </a:r>
            <a:endParaRPr lang="en-US" sz="1100" dirty="0"/>
          </a:p>
        </p:txBody>
      </p:sp>
      <p:sp>
        <p:nvSpPr>
          <p:cNvPr id="17" name="Shape 15"/>
          <p:cNvSpPr/>
          <p:nvPr/>
        </p:nvSpPr>
        <p:spPr>
          <a:xfrm>
            <a:off x="777240" y="3977640"/>
            <a:ext cx="10634472" cy="1188720"/>
          </a:xfrm>
          <a:prstGeom prst="roundRect">
            <a:avLst>
              <a:gd name="adj" fmla="val 2308"/>
            </a:avLst>
          </a:prstGeom>
          <a:solidFill>
            <a:srgbClr val="E7F6EE"/>
          </a:solidFill>
          <a:ln/>
        </p:spPr>
      </p:sp>
      <p:sp>
        <p:nvSpPr>
          <p:cNvPr id="18" name="Text 16"/>
          <p:cNvSpPr/>
          <p:nvPr/>
        </p:nvSpPr>
        <p:spPr>
          <a:xfrm>
            <a:off x="1051560" y="4123944"/>
            <a:ext cx="10085832" cy="27432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350" b="1" dirty="0">
                <a:solidFill>
                  <a:srgbClr val="0914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piloto já quantificou: cerca de R$ 1,1 milhão por ano em uma única concessionária</a:t>
            </a:r>
            <a:endParaRPr lang="en-US" sz="1350" dirty="0"/>
          </a:p>
        </p:txBody>
      </p:sp>
      <p:sp>
        <p:nvSpPr>
          <p:cNvPr id="19" name="Text 17"/>
          <p:cNvSpPr/>
          <p:nvPr/>
        </p:nvSpPr>
        <p:spPr>
          <a:xfrm>
            <a:off x="1051560" y="4434840"/>
            <a:ext cx="10085832" cy="621792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lnSpc>
                <a:spcPts val="1600"/>
              </a:lnSpc>
              <a:buNone/>
            </a:pPr>
            <a:r>
              <a:rPr lang="en-US" sz="115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Prêmios de campanha (~R$ 400 mil) + gap de absorção do K2 (~R$ 490 mil) + Premya, Seguros e Consórcio (~R$ 200 mil). Um único prêmio de campanha capturado paga o ano inteiro de plataforma.</a:t>
            </a:r>
            <a:endParaRPr lang="en-US" sz="1150" dirty="0"/>
          </a:p>
        </p:txBody>
      </p:sp>
      <p:sp>
        <p:nvSpPr>
          <p:cNvPr id="20" name="Text 18"/>
          <p:cNvSpPr/>
          <p:nvPr/>
        </p:nvSpPr>
        <p:spPr>
          <a:xfrm>
            <a:off x="777240" y="5440680"/>
            <a:ext cx="1063447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i="1" dirty="0">
                <a:solidFill>
                  <a:srgbClr val="8A96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Modelo com retorno comprovável e escalável para toda a rede Yamaha.</a:t>
            </a:r>
            <a:endParaRPr lang="en-US" sz="12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09142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_NOVAS MELHORIAS/deck-assets/bg-fech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88952" cy="68580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777240" y="2148840"/>
            <a:ext cx="10634472" cy="164592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ctr" indent="0" marL="0">
              <a:lnSpc>
                <a:spcPts val="4400"/>
              </a:lnSpc>
              <a:buNone/>
            </a:pPr>
            <a:r>
              <a:rPr lang="en-US" sz="3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pedido desta reunião: aprovar a Fase 2 —</a:t>
            </a:r>
            <a:endParaRPr lang="en-US" sz="3200" dirty="0"/>
          </a:p>
          <a:p>
            <a:pPr algn="ctr" indent="0" marL="0">
              <a:lnSpc>
                <a:spcPts val="4400"/>
              </a:lnSpc>
              <a:buNone/>
            </a:pPr>
            <a:r>
              <a:rPr lang="en-US" sz="3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os 9 grupos da regional ainda em 2026.</a:t>
            </a:r>
            <a:endParaRPr lang="en-US" sz="3200" dirty="0"/>
          </a:p>
        </p:txBody>
      </p:sp>
      <p:sp>
        <p:nvSpPr>
          <p:cNvPr id="4" name="Text 1"/>
          <p:cNvSpPr/>
          <p:nvPr/>
        </p:nvSpPr>
        <p:spPr>
          <a:xfrm>
            <a:off x="1706453" y="3977640"/>
            <a:ext cx="8776045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ts val="2200"/>
              </a:lnSpc>
              <a:buNone/>
            </a:pPr>
            <a:r>
              <a:rPr lang="en-US" sz="1450" dirty="0">
                <a:solidFill>
                  <a:srgbClr val="B8CD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Operação inteligente · decisões melhores · experiências memoráveis · crescimento sustentável.</a:t>
            </a:r>
            <a:endParaRPr lang="en-US" sz="1450" dirty="0"/>
          </a:p>
        </p:txBody>
      </p:sp>
      <p:sp>
        <p:nvSpPr>
          <p:cNvPr id="5" name="Text 2"/>
          <p:cNvSpPr/>
          <p:nvPr/>
        </p:nvSpPr>
        <p:spPr>
          <a:xfrm>
            <a:off x="1706453" y="4892040"/>
            <a:ext cx="8776045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ts val="1900"/>
              </a:lnSpc>
              <a:buNone/>
            </a:pPr>
            <a:r>
              <a:rPr lang="en-US" sz="1300" i="1" dirty="0">
                <a:solidFill>
                  <a:srgbClr val="8A96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"O Smart Dealer é mais do que uma plataforma tecnológica. É um novo padrão de relacionamento</a:t>
            </a:r>
            <a:endParaRPr lang="en-US" sz="1300" dirty="0"/>
          </a:p>
          <a:p>
            <a:pPr algn="ctr" indent="0" marL="0">
              <a:lnSpc>
                <a:spcPts val="1900"/>
              </a:lnSpc>
              <a:buNone/>
            </a:pPr>
            <a:r>
              <a:rPr lang="en-US" sz="1300" i="1" dirty="0">
                <a:solidFill>
                  <a:srgbClr val="8A96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entre cliente, concessionária e Yamaha."</a:t>
            </a:r>
            <a:endParaRPr lang="en-US" sz="1300" dirty="0"/>
          </a:p>
        </p:txBody>
      </p:sp>
      <p:sp>
        <p:nvSpPr>
          <p:cNvPr id="6" name="Text 3"/>
          <p:cNvSpPr/>
          <p:nvPr/>
        </p:nvSpPr>
        <p:spPr>
          <a:xfrm>
            <a:off x="777240" y="6309360"/>
            <a:ext cx="1063447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50" spc="200" kern="0" dirty="0">
                <a:solidFill>
                  <a:srgbClr val="3D4F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YAMAHA WAY 2026 · GRUPO SHOGUN RIDERS · NIPPON MOTOS</a:t>
            </a:r>
            <a:endParaRPr lang="en-US" sz="9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19</Slides>
  <Notes>19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19</vt:i4>
      </vt:variant>
    </vt:vector>
  </HeadingPairs>
  <TitlesOfParts>
    <vt:vector size="22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Smart Dealer — Apresentação à Diretoria</dc:title>
  <dc:subject>PptxGenJS Presentation</dc:subject>
  <dc:creator>Caique Oliveira · Klenilson Paiva</dc:creator>
  <cp:lastModifiedBy>Caique Oliveira · Klenilson Paiva</cp:lastModifiedBy>
  <cp:revision>1</cp:revision>
  <dcterms:created xsi:type="dcterms:W3CDTF">2026-08-20T12:12:50Z</dcterms:created>
  <dcterms:modified xsi:type="dcterms:W3CDTF">2026-08-20T12:12:50Z</dcterms:modified>
</cp:coreProperties>
</file>