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cap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331720"/>
            <a:ext cx="659337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À DIRETORIA · AGOSTO 2026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777240" y="2651760"/>
            <a:ext cx="6593373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Dealer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777240" y="3749040"/>
            <a:ext cx="5955304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inteligente de gestão da experiência do cliente.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piloto na Nippon Motos ao padrão da rede Yamaha.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3840480" cy="0"/>
          </a:xfrm>
          <a:prstGeom prst="line">
            <a:avLst/>
          </a:prstGeom>
          <a:noFill/>
          <a:ln w="12700">
            <a:solidFill>
              <a:srgbClr val="3D4F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257800"/>
            <a:ext cx="63806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Caique Oliveira · Klenilson Paiva  ·  Yamaha Way 2026 · Grupo Shogun Riders · Nippon Motos</a:t>
            </a:r>
            <a:endParaRPr lang="en-US" sz="1150" dirty="0"/>
          </a:p>
        </p:txBody>
      </p:sp>
      <p:pic>
        <p:nvPicPr>
          <p:cNvPr id="8" name="Image 1" descr="_NOVAS MELHORIAS/deck-assets/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0000">
            <a:off x="7635240" y="1417320"/>
            <a:ext cx="5486400" cy="3257550"/>
          </a:xfrm>
          <a:prstGeom prst="rect">
            <a:avLst/>
          </a:prstGeom>
          <a:effectLst>
            <a:outerShdw sx="100000" sy="100000" kx="0" ky="0" algn="bl" rotWithShape="0" blurRad="279400" dist="101600" dir="5400000">
              <a:srgbClr val="05090F">
                <a:alpha val="6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48840"/>
            <a:ext cx="10634472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Yamaha conhece seus clientes tão bem</a:t>
            </a:r>
            <a:endParaRPr lang="en-US" sz="32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Amazon, Netflix ou Nubank?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706453" y="3977640"/>
            <a:ext cx="877604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de comparação do cliente não é outra concessionária.</a:t>
            </a:r>
            <a:endParaRPr lang="en-US" sz="145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melhor experiência digital que ele já teve.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de 2026 não aceita experiências de 2016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4951476" cy="2651760"/>
          </a:xfrm>
          <a:prstGeom prst="roundRect">
            <a:avLst>
              <a:gd name="adj" fmla="val 1379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286000"/>
            <a:ext cx="4402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51560" y="288036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246120"/>
            <a:ext cx="44028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na loja, esperar no telefone, esperar o retorno que não vem. O cliente se adapta ao processo da concessionária.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6732" y="3063240"/>
            <a:ext cx="475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60236" y="2011680"/>
            <a:ext cx="4951476" cy="2651760"/>
          </a:xfrm>
          <a:prstGeom prst="roundRect">
            <a:avLst>
              <a:gd name="adj" fmla="val 1379"/>
            </a:avLst>
          </a:prstGeom>
          <a:solidFill>
            <a:srgbClr val="EEF4FF"/>
          </a:solidFill>
          <a:ln/>
        </p:spPr>
      </p:sp>
      <p:sp>
        <p:nvSpPr>
          <p:cNvPr id="11" name="Text 9"/>
          <p:cNvSpPr/>
          <p:nvPr/>
        </p:nvSpPr>
        <p:spPr>
          <a:xfrm>
            <a:off x="6734556" y="2286000"/>
            <a:ext cx="4402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734556" y="2880360"/>
            <a:ext cx="44028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34556" y="3246120"/>
            <a:ext cx="440283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minutos, oferta certa, crédito transparente, a loja que lembra dele. O processo se adapta ao cliente.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02920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entrega experiência ganha o cliente — e o mantém pela vida útil da moto inteira.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existem. A inteligência, não.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perde todos os dias, em todas as concessionárias — porque nenhum sistema conversa com o outro.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410712" cy="1481328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671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recusado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6696" y="2532888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nunca mais é procurado — mesmo quando o Liberacred já o aprovou de novo.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10712" cy="1481328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4608576" y="21671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 não pago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2532888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 aprovada fica parada semanas. A venda já estava ganha; ninguém cobra o desfecho.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01000" y="1965960"/>
            <a:ext cx="3410712" cy="1481328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216712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quitando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0456" y="2532888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volta ao mercado em silêncio. Quem chama primeiro leva — hoje é o concorrente.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648456"/>
            <a:ext cx="3410712" cy="1481328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996696" y="3849624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sem seguro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6696" y="4215384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Milhares de motos vendidas rodando sem apólice. Renovação é receita que evapora.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3648456"/>
            <a:ext cx="3410712" cy="1481328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4608576" y="3849624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vencida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08576" y="4215384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esquece, a oficina não avisa — e a absorção do pós-vendas fica no papel.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01000" y="3648456"/>
            <a:ext cx="3410712" cy="1481328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0456" y="3849624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no e-mail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0456" y="4215384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condição de campanha mora na caixa de entrada de alguém. A loja responde errado ou não responde.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dados existiam. A oportunidade passou despercebida.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dispersos — ninguém enxerga o todo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informação vive num sistema. A visão completa não vive em lugar nenhum.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1543812" cy="64008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9525">
            <a:solidFill>
              <a:srgbClr val="E5EAF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15438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95372" y="1965960"/>
            <a:ext cx="1543812" cy="64008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9525">
            <a:solidFill>
              <a:srgbClr val="E5EAF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595372" y="1965960"/>
            <a:ext cx="15438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13504" y="1965960"/>
            <a:ext cx="1543812" cy="64008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9525">
            <a:solidFill>
              <a:srgbClr val="E5EAF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413504" y="1965960"/>
            <a:ext cx="15438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31636" y="1965960"/>
            <a:ext cx="1543812" cy="64008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9525">
            <a:solidFill>
              <a:srgbClr val="E5EAF2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31636" y="1965960"/>
            <a:ext cx="15438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9768" y="1965960"/>
            <a:ext cx="1543812" cy="64008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9525">
            <a:solidFill>
              <a:srgbClr val="E5EAF2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8049768" y="1965960"/>
            <a:ext cx="15438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867900" y="1965960"/>
            <a:ext cx="1543812" cy="64008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9525">
            <a:solidFill>
              <a:srgbClr val="E5EAF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867900" y="1965960"/>
            <a:ext cx="15438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2697480"/>
            <a:ext cx="10634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não conversam entre 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246120"/>
            <a:ext cx="5216652" cy="114300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</p:spPr>
      </p:sp>
      <p:sp>
        <p:nvSpPr>
          <p:cNvPr id="20" name="Text 18"/>
          <p:cNvSpPr/>
          <p:nvPr/>
        </p:nvSpPr>
        <p:spPr>
          <a:xfrm>
            <a:off x="996696" y="3447288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vendedor não tem a visão completa do cliente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96696" y="3813048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histórico, crédito e interesse em telas diferentes — quando existem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5060" y="3246120"/>
            <a:ext cx="5216652" cy="114300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6414516" y="3447288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gerente não tem a visão completa da operação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4516" y="3813048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 no feeling, descobre o problema no fechamento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4590288"/>
            <a:ext cx="5216652" cy="114300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" y="4791456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concessionário não tem a visão do negócio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6696" y="5157216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mercado, share e absorção chegam tarde e fatiados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5060" y="4590288"/>
            <a:ext cx="5216652" cy="1143000"/>
          </a:xfrm>
          <a:prstGeom prst="roundRect">
            <a:avLst>
              <a:gd name="adj" fmla="val 2400"/>
            </a:avLst>
          </a:prstGeom>
          <a:solidFill>
            <a:srgbClr val="F7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6414516" y="4791456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não recebe uma experiência integrada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14516" y="5157216"/>
            <a:ext cx="477774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 história a cada contato, espera a cada etapa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VIRADA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Yamaha já possui um patrimônio estratégico invisível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moto vendida, revisão feita e proposta analisada gera dado. A rede está sentada numa mina — sem escavadeira.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10312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86228" y="210312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9" name="Text 7"/>
          <p:cNvSpPr/>
          <p:nvPr/>
        </p:nvSpPr>
        <p:spPr>
          <a:xfrm>
            <a:off x="2586228" y="210312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95216" y="210312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11" name="Text 9"/>
          <p:cNvSpPr/>
          <p:nvPr/>
        </p:nvSpPr>
        <p:spPr>
          <a:xfrm>
            <a:off x="4395216" y="210312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04204" y="210312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04204" y="210312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3192" y="210312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8013192" y="210312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822180" y="210312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9822180" y="210312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288036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88036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586228" y="288036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2586228" y="288036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95216" y="288036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4395216" y="288036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04204" y="288036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6204204" y="288036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13192" y="288036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27" name="Text 25"/>
          <p:cNvSpPr/>
          <p:nvPr/>
        </p:nvSpPr>
        <p:spPr>
          <a:xfrm>
            <a:off x="8013192" y="288036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822180" y="288036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9822180" y="288036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77240" y="365760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65760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86228" y="365760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33" name="Text 31"/>
          <p:cNvSpPr/>
          <p:nvPr/>
        </p:nvSpPr>
        <p:spPr>
          <a:xfrm>
            <a:off x="2586228" y="365760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 CLUB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395216" y="365760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4395216" y="365760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EMPLACAMENTO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04204" y="365760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37" name="Text 35"/>
          <p:cNvSpPr/>
          <p:nvPr/>
        </p:nvSpPr>
        <p:spPr>
          <a:xfrm>
            <a:off x="6204204" y="365760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CIRCULARES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13192" y="3657600"/>
            <a:ext cx="1589532" cy="566928"/>
          </a:xfrm>
          <a:prstGeom prst="roundRect">
            <a:avLst>
              <a:gd name="adj" fmla="val 50000"/>
            </a:avLst>
          </a:prstGeom>
          <a:solidFill>
            <a:srgbClr val="F7F9FC"/>
          </a:solidFill>
          <a:ln/>
        </p:spPr>
      </p:sp>
      <p:sp>
        <p:nvSpPr>
          <p:cNvPr id="39" name="Text 37"/>
          <p:cNvSpPr/>
          <p:nvPr/>
        </p:nvSpPr>
        <p:spPr>
          <a:xfrm>
            <a:off x="8013192" y="3657600"/>
            <a:ext cx="158953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spc="5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77240" y="4709160"/>
            <a:ext cx="10634472" cy="1005840"/>
          </a:xfrm>
          <a:prstGeom prst="roundRect">
            <a:avLst>
              <a:gd name="adj" fmla="val 2727"/>
            </a:avLst>
          </a:prstGeom>
          <a:solidFill>
            <a:srgbClr val="EEF4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51560" y="485546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ativo não é o software — é este patrimônio de dados, que só a Yamaha tem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51560" y="5166360"/>
            <a:ext cx="10085832" cy="438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Smart Dealer é a escavadeira: transforma o que a rede já produz todos os dias em decisão, oferta e experiência.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Centro de Inteligência da Rede Yamaha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CCY inteligente gerencia experiências — não sistemas.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65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79776" y="1965960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2779776" y="196596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542032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420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Yamaha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79776" y="2542032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2779776" y="254203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3118104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181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79776" y="3118104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2779776" y="3118104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694176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941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79776" y="3694176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2779776" y="3694176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270248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70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79776" y="4270248"/>
            <a:ext cx="1874520" cy="4572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2779776" y="427024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Kaizen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486400" y="2788920"/>
            <a:ext cx="2514600" cy="2011680"/>
          </a:xfrm>
          <a:prstGeom prst="roundRect">
            <a:avLst>
              <a:gd name="adj" fmla="val 3636"/>
            </a:avLst>
          </a:prstGeom>
          <a:solidFill>
            <a:srgbClr val="091426"/>
          </a:solidFill>
          <a:ln/>
          <a:effectLst>
            <a:outerShdw sx="100000" sy="100000" kx="0" ky="0" algn="bl" rotWithShape="0" blurRad="203200" dist="50800" dir="5400000">
              <a:srgbClr val="B8CDEA">
                <a:alpha val="5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0" y="306324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21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5486400" y="4023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+ regras Yamaha</a:t>
            </a:r>
            <a:endParaRPr lang="en-US" sz="9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codificadas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3816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778240" y="1965960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32" name="Text 30"/>
          <p:cNvSpPr/>
          <p:nvPr/>
        </p:nvSpPr>
        <p:spPr>
          <a:xfrm>
            <a:off x="8961120" y="2075688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961120" y="236829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 sozinhas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778240" y="2898648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0" y="3008376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961120" y="330098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 na hora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778240" y="3831336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0" y="394106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961120" y="423367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do cliente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778240" y="4764024"/>
            <a:ext cx="2633472" cy="804672"/>
          </a:xfrm>
          <a:prstGeom prst="roundRect">
            <a:avLst>
              <a:gd name="adj" fmla="val 4545"/>
            </a:avLst>
          </a:prstGeom>
          <a:solidFill>
            <a:srgbClr val="EEF4FF"/>
          </a:solidFill>
          <a:ln/>
        </p:spPr>
      </p:sp>
      <p:sp>
        <p:nvSpPr>
          <p:cNvPr id="41" name="Text 39"/>
          <p:cNvSpPr/>
          <p:nvPr/>
        </p:nvSpPr>
        <p:spPr>
          <a:xfrm>
            <a:off x="8961120" y="4873752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8961120" y="5166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 com IA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produ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4CD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conceito: está rodando na Nippon Motos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77240" y="141732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lojas · 25 módulos em produção · pago pela própria concessionária (R$ 600/mês) · acompanhado pela regional.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1737360" y="1965960"/>
            <a:ext cx="8778240" cy="5486400"/>
          </a:xfrm>
          <a:prstGeom prst="roundRect">
            <a:avLst>
              <a:gd name="adj" fmla="val 1167"/>
            </a:avLst>
          </a:prstGeom>
          <a:solidFill>
            <a:srgbClr val="0E1D36"/>
          </a:solidFill>
          <a:ln w="9525">
            <a:solidFill>
              <a:srgbClr val="22304A"/>
            </a:solidFill>
            <a:prstDash val="solid"/>
          </a:ln>
          <a:effectLst>
            <a:outerShdw sx="100000" sy="100000" kx="0" ky="0" algn="bl" rotWithShape="0" blurRad="177800" dist="63500" dir="5400000">
              <a:srgbClr val="0A1220">
                <a:alpha val="5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883664" y="205740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8" name="Shape 5"/>
          <p:cNvSpPr/>
          <p:nvPr/>
        </p:nvSpPr>
        <p:spPr>
          <a:xfrm>
            <a:off x="2039112" y="20574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2194560" y="205740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19933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smart-dealer.vercel.app</a:t>
            </a:r>
            <a:endParaRPr lang="en-US" sz="800" dirty="0"/>
          </a:p>
        </p:txBody>
      </p:sp>
      <p:pic>
        <p:nvPicPr>
          <p:cNvPr id="11" name="Image 1" descr="_NOVAS MELHORIAS/deck-assets/perform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936" y="2240280"/>
            <a:ext cx="8705088" cy="51755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antes levava horas agora leva segundos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— 30 MINUTOS A 3 HORAS POR ANÁLISE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23317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44168" y="23408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CRM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941832" y="2880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44168" y="28895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Banco Yamaha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33756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13" name="Text 11"/>
          <p:cNvSpPr/>
          <p:nvPr/>
        </p:nvSpPr>
        <p:spPr>
          <a:xfrm>
            <a:off x="941832" y="34290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44168" y="343814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Consórcio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941832" y="3977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44168" y="39867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as planilhas internas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941832" y="45262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44168" y="45354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as informações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" y="4983480"/>
            <a:ext cx="4846320" cy="45720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941832" y="5074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44168" y="50840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manualmente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1874520"/>
            <a:ext cx="51937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SMART DEALER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240280"/>
            <a:ext cx="5193792" cy="3200400"/>
          </a:xfrm>
          <a:prstGeom prst="roundRect">
            <a:avLst>
              <a:gd name="adj" fmla="val 1143"/>
            </a:avLst>
          </a:prstGeom>
          <a:solidFill>
            <a:srgbClr val="E7F6E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606040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segundos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92240" y="3154680"/>
            <a:ext cx="4645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pergunta na tela — ou no chat — e a análise vem pronta, cruzada e com fonte. O tempo do gerente vai para a decisão, não para a coleta.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4297680"/>
            <a:ext cx="4645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real: o PDCA oficial da regional, que levava horas, sai em um clique.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do gerente: gestão baseada em dados, não em percepção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3410712" cy="123444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212140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por vendedor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696" y="24871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individual visível em tempo real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410712" cy="123444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/>
        </p:spPr>
      </p:sp>
      <p:sp>
        <p:nvSpPr>
          <p:cNvPr id="9" name="Text 7"/>
          <p:cNvSpPr/>
          <p:nvPr/>
        </p:nvSpPr>
        <p:spPr>
          <a:xfrm>
            <a:off x="4608576" y="212140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 equipe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08576" y="24871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Metas, resultados e ranking atualizados ao vivo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01000" y="1920240"/>
            <a:ext cx="3410712" cy="123444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0456" y="2121408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do funil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0456" y="2487168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onde os leads estão travando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355848"/>
            <a:ext cx="3410712" cy="123444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" y="3557016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em tempo real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6696" y="39227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 a satisfação e age imediatamente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89120" y="3355848"/>
            <a:ext cx="3410712" cy="123444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4608576" y="3557016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bancária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08576" y="39227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financiamento e motivos de recusa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01000" y="3355848"/>
            <a:ext cx="3410712" cy="1234440"/>
          </a:xfrm>
          <a:prstGeom prst="roundRect">
            <a:avLst>
              <a:gd name="adj" fmla="val 2222"/>
            </a:avLst>
          </a:prstGeom>
          <a:solidFill>
            <a:srgbClr val="F7F9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0456" y="3557016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operacional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0456" y="3922776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completo da operação da concessionária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709160"/>
            <a:ext cx="10634472" cy="1051560"/>
          </a:xfrm>
          <a:prstGeom prst="roundRect">
            <a:avLst>
              <a:gd name="adj" fmla="val 2609"/>
            </a:avLst>
          </a:prstGeom>
          <a:solidFill>
            <a:srgbClr val="E7F6EE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85546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previsibilidade operacional e comercial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51560" y="5166360"/>
            <a:ext cx="10085832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de CRM comprova: primeira resposta de 3h47 para 8 min · SLA de 10 minutos de 22% para 81% · conversão de 8,1% para 13,9% · leads sem resposta de 32% para 2% — mesma equipe, mesmos leads.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o cérebro do Smart Dealer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Anthropic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5088636" cy="3291840"/>
          </a:xfrm>
          <a:prstGeom prst="roundRect">
            <a:avLst>
              <a:gd name="adj" fmla="val 1111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48840"/>
            <a:ext cx="45399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Claude?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51560" y="2560320"/>
            <a:ext cx="45399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inteligência artificial da Anthropic — empresa avaliada em mais de US$ 61 bilhões, fundada por ex-pesquisadores da OpenAI. Considerado um dos modelos mais avançados do mundo.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3840480"/>
            <a:ext cx="453999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de um buscador, Claude raciocina: interpreta documentos inteiros, entende contexto e adapta cada resposta — um especialista disponível 24 horas por dia.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23076" y="1920240"/>
            <a:ext cx="5088636" cy="3291840"/>
          </a:xfrm>
          <a:prstGeom prst="roundRect">
            <a:avLst>
              <a:gd name="adj" fmla="val 1111"/>
            </a:avLst>
          </a:prstGeom>
          <a:solidFill>
            <a:srgbClr val="EEF4FF"/>
          </a:solidFill>
          <a:ln/>
        </p:spPr>
      </p:sp>
      <p:sp>
        <p:nvSpPr>
          <p:cNvPr id="11" name="Text 9"/>
          <p:cNvSpPr/>
          <p:nvPr/>
        </p:nvSpPr>
        <p:spPr>
          <a:xfrm>
            <a:off x="6597396" y="2148840"/>
            <a:ext cx="45399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ele faz no Smart Dealer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615684" y="2679192"/>
            <a:ext cx="128016" cy="128016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3" name="Text 11"/>
          <p:cNvSpPr/>
          <p:nvPr/>
        </p:nvSpPr>
        <p:spPr>
          <a:xfrm>
            <a:off x="6917436" y="2615184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os dados da operação e responde em linguagem de gente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15684" y="3300984"/>
            <a:ext cx="128016" cy="128016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5" name="Text 13"/>
          <p:cNvSpPr/>
          <p:nvPr/>
        </p:nvSpPr>
        <p:spPr>
          <a:xfrm>
            <a:off x="6917436" y="3236976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manual técnico e circulares oficiais, com citação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15684" y="3922776"/>
            <a:ext cx="128016" cy="128016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917436" y="3858768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 a próxima ação: lead, oferta, cobrança, campanha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15684" y="4544568"/>
            <a:ext cx="128016" cy="128016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917436" y="4480560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 texto pronto: WhatsApp, post, plano de ação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chat universal para toda a operação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interface inteligente que serve todas as áreas da concessionária — cada papel pergunta no seu idioma.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5216652" cy="141732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67128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VENDEDOR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42316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 o bônus da NMAX este mês?"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696" y="2788920"/>
            <a:ext cx="4777740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robô já leu as circulares CA-MTC028 a 033: responde valor, custeio e regra de acúmulo na hora.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5060" y="1965960"/>
            <a:ext cx="5216652" cy="141732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6414516" y="2167128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MECÂNICO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14516" y="2423160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"Procedimento de revisão dos 6.000 km da Fazer 250?"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14516" y="2788920"/>
            <a:ext cx="4777740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 manual técnico oficial e responde com a seção citada.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584448"/>
            <a:ext cx="5216652" cy="141732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996696" y="3785616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96696" y="4041648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"Quais clientes têm revisão vencida ou próxima?"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6696" y="4407408"/>
            <a:ext cx="4777740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R1–R4 com alertas proativos e mensagem pronta para o disparo.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95060" y="3584448"/>
            <a:ext cx="5216652" cy="1417320"/>
          </a:xfrm>
          <a:prstGeom prst="roundRect">
            <a:avLst>
              <a:gd name="adj" fmla="val 1935"/>
            </a:avLst>
          </a:prstGeom>
          <a:solidFill>
            <a:srgbClr val="F7F9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14516" y="3785616"/>
            <a:ext cx="47777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14516" y="4041648"/>
            <a:ext cx="47777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"Quais aprovados não foram pagos?"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14516" y="4407408"/>
            <a:ext cx="4777740" cy="4297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clientes, motivo e ação sugerida — direto da base do Banco.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166360"/>
            <a:ext cx="10634472" cy="868680"/>
          </a:xfrm>
          <a:prstGeom prst="roundRect">
            <a:avLst>
              <a:gd name="adj" fmla="val 3158"/>
            </a:avLst>
          </a:prstGeom>
          <a:solidFill>
            <a:srgbClr val="EEF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31266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 de agosto: a circular entra no robô no dia em que é publicada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51560" y="5623560"/>
            <a:ext cx="10085832" cy="3017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rede inteira responde igual, sem depender da memória de ninguém.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EM 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Yamaha: recusado não é fim de linha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cruza a base de recusados do CDC com o Liberacred e devolve ao vendedor um cliente já aprovado de novo.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20240"/>
            <a:ext cx="4892040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93392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0025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recusados no CDC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828800" y="225856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trimestre, no grupo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33272" y="246888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633472"/>
            <a:ext cx="4892040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2706624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0" y="2715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elegíveis Liberacred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828800" y="297180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automático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33272" y="318211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346704"/>
            <a:ext cx="4892040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3419856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828800" y="3429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contatados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828800" y="36850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trabalho do vendedor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033272" y="389534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4059936"/>
            <a:ext cx="4892040" cy="621792"/>
          </a:xfrm>
          <a:prstGeom prst="roundRect">
            <a:avLst>
              <a:gd name="adj" fmla="val 4412"/>
            </a:avLst>
          </a:prstGeom>
          <a:solidFill>
            <a:srgbClr val="F7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133088"/>
            <a:ext cx="777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0" y="41422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convertidos em venda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828800" y="43982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R$ 92.300 recuperados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4892040"/>
            <a:ext cx="4892040" cy="1371600"/>
          </a:xfrm>
          <a:prstGeom prst="roundRect">
            <a:avLst>
              <a:gd name="adj" fmla="val 2000"/>
            </a:avLst>
          </a:prstGeom>
          <a:solidFill>
            <a:srgbClr val="EEF4FF"/>
          </a:solidFill>
          <a:ln/>
        </p:spPr>
      </p:sp>
      <p:sp>
        <p:nvSpPr>
          <p:cNvPr id="26" name="Text 24"/>
          <p:cNvSpPr/>
          <p:nvPr/>
        </p:nvSpPr>
        <p:spPr>
          <a:xfrm>
            <a:off x="978408" y="502920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Liberacred como prêmio, nunca como recusa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78408" y="5303520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350"/>
              </a:lnSpc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"Parabéns! Você acaba de ser APROVADO no Liberacred do Banco Yamaha — condições especiais, sem nova análise." Disparada pelo vendedor em um clique.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1965960"/>
            <a:ext cx="5468112" cy="3521012"/>
          </a:xfrm>
          <a:prstGeom prst="roundRect">
            <a:avLst>
              <a:gd name="adj" fmla="val 1818"/>
            </a:avLst>
          </a:prstGeom>
          <a:solidFill>
            <a:srgbClr val="0E1D36"/>
          </a:solidFill>
          <a:ln w="9525">
            <a:solidFill>
              <a:srgbClr val="22304A"/>
            </a:solidFill>
            <a:prstDash val="solid"/>
          </a:ln>
          <a:effectLst>
            <a:outerShdw sx="100000" sy="100000" kx="0" ky="0" algn="bl" rotWithShape="0" blurRad="177800" dist="63500" dir="5400000">
              <a:srgbClr val="0A122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2057400"/>
            <a:ext cx="91440" cy="91440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30" name="Shape 28"/>
          <p:cNvSpPr/>
          <p:nvPr/>
        </p:nvSpPr>
        <p:spPr>
          <a:xfrm>
            <a:off x="6336792" y="2057400"/>
            <a:ext cx="91440" cy="9144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2057400"/>
            <a:ext cx="91440" cy="91440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32" name="Text 30"/>
          <p:cNvSpPr/>
          <p:nvPr/>
        </p:nvSpPr>
        <p:spPr>
          <a:xfrm>
            <a:off x="7397496" y="199339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smart-dealer.vercel.app</a:t>
            </a:r>
            <a:endParaRPr lang="en-US" sz="800" dirty="0"/>
          </a:p>
        </p:txBody>
      </p:sp>
      <p:pic>
        <p:nvPicPr>
          <p:cNvPr id="33" name="Image 0" descr="_NOVAS MELHORIAS/deck-assets/b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1616" y="2240280"/>
            <a:ext cx="5394960" cy="321011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035040" y="5577840"/>
            <a:ext cx="5468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Aprovados não pagos e contratos quitando na mesma tela — cada um com ação sugerida.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INTELIGÊNCIA EM 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Seguros, Consórcio e a voz do cliente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 que já é da casa — e a pesquisa que diz onde o cliente decide.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410712" cy="2103120"/>
          </a:xfrm>
          <a:prstGeom prst="roundRect">
            <a:avLst>
              <a:gd name="adj" fmla="val 1304"/>
            </a:avLst>
          </a:prstGeom>
          <a:solidFill>
            <a:srgbClr val="F7F9FC"/>
          </a:solidFill>
          <a:ln/>
        </p:spPr>
      </p:sp>
      <p:sp>
        <p:nvSpPr>
          <p:cNvPr id="7" name="Text 5"/>
          <p:cNvSpPr/>
          <p:nvPr/>
        </p:nvSpPr>
        <p:spPr>
          <a:xfrm>
            <a:off x="99669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YAMAHA SEGUROS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9669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circulante: 2.840 motos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96696" y="2788920"/>
            <a:ext cx="2971800" cy="1115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618 com apólice ativa · 141 renovações no radar · +R$ 39 mil/ano fechando o gap de penetração (33,6% → 45%).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410712" cy="2103120"/>
          </a:xfrm>
          <a:prstGeom prst="roundRect">
            <a:avLst>
              <a:gd name="adj" fmla="val 1304"/>
            </a:avLst>
          </a:prstGeom>
          <a:solidFill>
            <a:srgbClr val="F7F9FC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0857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Quality garantido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788920"/>
            <a:ext cx="2971800" cy="1115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486 cotas ativas (R$ 10,4 mi) · retenção 94,5% · adimplência 91,4% → R$ 11,8 mil no trimestre · contemplado avisado compra aqui (81%).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1965960"/>
            <a:ext cx="3410712" cy="2103120"/>
          </a:xfrm>
          <a:prstGeom prst="roundRect">
            <a:avLst>
              <a:gd name="adj" fmla="val 1304"/>
            </a:avLst>
          </a:prstGeom>
          <a:solidFill>
            <a:srgbClr val="F7F9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0456" y="21671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 DO CLIENTE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0456" y="242316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Pesquisa: 32 clientes reais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0456" y="2788920"/>
            <a:ext cx="2971800" cy="11155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compra: parcela 72% · rapidez 66% · crédito 56%. Satisfação 3,6 → 4,5 antes × depois do piloto. NPS 72.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434840"/>
            <a:ext cx="10634472" cy="1097280"/>
          </a:xfrm>
          <a:prstGeom prst="roundRect">
            <a:avLst>
              <a:gd name="adj" fmla="val 2500"/>
            </a:avLst>
          </a:prstGeom>
          <a:solidFill>
            <a:srgbClr val="EEF4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58114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"Meu crédito não passou e ninguém mais me procurou. Se tivessem uma segunda opção eu tinha fechado."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1560" y="4892040"/>
            <a:ext cx="10085832" cy="5303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Vitor, cliente que não comprou — 43% das vendas perdidas travaram no crédito. É exatamente o público que o Liberacred devolve à mesa.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pilares sustentam a plataforma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507742" cy="1828800"/>
          </a:xfrm>
          <a:prstGeom prst="roundRect">
            <a:avLst>
              <a:gd name="adj" fmla="val 1500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9669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Inteligente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6696" y="2743200"/>
            <a:ext cx="206883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unificado integrando todas as áreas da concessionária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86150" y="1920240"/>
            <a:ext cx="2507742" cy="1828800"/>
          </a:xfrm>
          <a:prstGeom prst="roundRect">
            <a:avLst>
              <a:gd name="adj" fmla="val 1500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370560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0560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Analítica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5606" y="2743200"/>
            <a:ext cx="206883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recomendações e predições automáticas em tempo real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5060" y="1920240"/>
            <a:ext cx="2507742" cy="1828800"/>
          </a:xfrm>
          <a:prstGeom prst="roundRect">
            <a:avLst>
              <a:gd name="adj" fmla="val 1500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641451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41451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Integrado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14516" y="2743200"/>
            <a:ext cx="206883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ao vivo para vendedor, gerente e concessionário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03970" y="1920240"/>
            <a:ext cx="2507742" cy="1828800"/>
          </a:xfrm>
          <a:prstGeom prst="roundRect">
            <a:avLst>
              <a:gd name="adj" fmla="val 1500"/>
            </a:avLst>
          </a:prstGeom>
          <a:solidFill>
            <a:srgbClr val="F7F9FC"/>
          </a:solidFill>
          <a:ln/>
        </p:spPr>
      </p:sp>
      <p:sp>
        <p:nvSpPr>
          <p:cNvPr id="18" name="Text 16"/>
          <p:cNvSpPr/>
          <p:nvPr/>
        </p:nvSpPr>
        <p:spPr>
          <a:xfrm>
            <a:off x="9123426" y="2121408"/>
            <a:ext cx="206883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23426" y="2377440"/>
            <a:ext cx="206883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da Experiência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23426" y="2743200"/>
            <a:ext cx="2068830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do cliente centralizada, fluida e sem repetições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1605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58975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25" name="Text 23"/>
          <p:cNvSpPr/>
          <p:nvPr/>
        </p:nvSpPr>
        <p:spPr>
          <a:xfrm>
            <a:off x="1804111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Yamaha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940710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27" name="Text 25"/>
          <p:cNvSpPr/>
          <p:nvPr/>
        </p:nvSpPr>
        <p:spPr>
          <a:xfrm>
            <a:off x="2885846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Consórcio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022446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29" name="Text 27"/>
          <p:cNvSpPr/>
          <p:nvPr/>
        </p:nvSpPr>
        <p:spPr>
          <a:xfrm>
            <a:off x="3967582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04181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31" name="Text 29"/>
          <p:cNvSpPr/>
          <p:nvPr/>
        </p:nvSpPr>
        <p:spPr>
          <a:xfrm>
            <a:off x="5049317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85916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33" name="Text 31"/>
          <p:cNvSpPr/>
          <p:nvPr/>
        </p:nvSpPr>
        <p:spPr>
          <a:xfrm>
            <a:off x="6131052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Pós-venda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267651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7212787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349386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37" name="Text 35"/>
          <p:cNvSpPr/>
          <p:nvPr/>
        </p:nvSpPr>
        <p:spPr>
          <a:xfrm>
            <a:off x="8294522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431122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39" name="Text 37"/>
          <p:cNvSpPr/>
          <p:nvPr/>
        </p:nvSpPr>
        <p:spPr>
          <a:xfrm>
            <a:off x="9376258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Emplacamento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10512857" y="4526280"/>
            <a:ext cx="898855" cy="502920"/>
          </a:xfrm>
          <a:prstGeom prst="roundRect">
            <a:avLst>
              <a:gd name="adj" fmla="val 49091"/>
            </a:avLst>
          </a:prstGeom>
          <a:solidFill>
            <a:srgbClr val="F7F9FC"/>
          </a:solidFill>
          <a:ln/>
        </p:spPr>
      </p:sp>
      <p:sp>
        <p:nvSpPr>
          <p:cNvPr id="41" name="Text 39"/>
          <p:cNvSpPr/>
          <p:nvPr/>
        </p:nvSpPr>
        <p:spPr>
          <a:xfrm>
            <a:off x="10457993" y="4526280"/>
            <a:ext cx="1008583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77240" y="5349240"/>
            <a:ext cx="10634472" cy="914400"/>
          </a:xfrm>
          <a:prstGeom prst="roundRect">
            <a:avLst>
              <a:gd name="adj" fmla="val 3000"/>
            </a:avLst>
          </a:prstGeom>
          <a:solidFill>
            <a:srgbClr val="EEF4FF"/>
          </a:solidFill>
          <a:ln/>
        </p:spPr>
      </p:sp>
      <p:sp>
        <p:nvSpPr>
          <p:cNvPr id="43" name="Text 41"/>
          <p:cNvSpPr/>
          <p:nvPr/>
        </p:nvSpPr>
        <p:spPr>
          <a:xfrm>
            <a:off x="1051560" y="549554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multi-grupo desde o dia 1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051560" y="5806440"/>
            <a:ext cx="10085832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instalação, sem hardware, sem projeto de TI local — replicar para outra concessionária é configurar, não reprogramar.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janeiro ao rollout: o projeto no prazo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444752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ágil com PDCA — as fases cumpridas em 2026 e a proposta para a rede.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10268712" cy="0"/>
          </a:xfrm>
          <a:prstGeom prst="line">
            <a:avLst/>
          </a:prstGeom>
          <a:noFill/>
          <a:ln w="19050">
            <a:solidFill>
              <a:srgbClr val="E5EA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93154" y="26700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48840"/>
            <a:ext cx="1378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3063240"/>
            <a:ext cx="1378131" cy="1737360"/>
          </a:xfrm>
          <a:prstGeom prst="roundRect">
            <a:avLst>
              <a:gd name="adj" fmla="val 2654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200400"/>
            <a:ext cx="1195251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19525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 arquitetura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13781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35877" y="26700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19963" y="2148840"/>
            <a:ext cx="1378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19963" y="3063240"/>
            <a:ext cx="1378131" cy="1737360"/>
          </a:xfrm>
          <a:prstGeom prst="roundRect">
            <a:avLst>
              <a:gd name="adj" fmla="val 2654"/>
            </a:avLst>
          </a:prstGeom>
          <a:solidFill>
            <a:srgbClr val="F7F9FC"/>
          </a:solidFill>
          <a:ln/>
        </p:spPr>
      </p:sp>
      <p:sp>
        <p:nvSpPr>
          <p:cNvPr id="16" name="Text 14"/>
          <p:cNvSpPr/>
          <p:nvPr/>
        </p:nvSpPr>
        <p:spPr>
          <a:xfrm>
            <a:off x="2411403" y="3200400"/>
            <a:ext cx="1195251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11403" y="3547872"/>
            <a:ext cx="119525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da plataforma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19963" y="4434840"/>
            <a:ext cx="13781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478601" y="26700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62687" y="2148840"/>
            <a:ext cx="1378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Mar–Abr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62687" y="3063240"/>
            <a:ext cx="1378131" cy="1737360"/>
          </a:xfrm>
          <a:prstGeom prst="roundRect">
            <a:avLst>
              <a:gd name="adj" fmla="val 2654"/>
            </a:avLst>
          </a:prstGeom>
          <a:solidFill>
            <a:srgbClr val="F7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3954127" y="3200400"/>
            <a:ext cx="1195251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54127" y="3547872"/>
            <a:ext cx="119525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e testes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62687" y="4434840"/>
            <a:ext cx="13781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21324" y="26700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05410" y="2148840"/>
            <a:ext cx="1378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05410" y="3063240"/>
            <a:ext cx="1378131" cy="1737360"/>
          </a:xfrm>
          <a:prstGeom prst="roundRect">
            <a:avLst>
              <a:gd name="adj" fmla="val 2654"/>
            </a:avLst>
          </a:prstGeom>
          <a:solidFill>
            <a:srgbClr val="F7F9FC"/>
          </a:solidFill>
          <a:ln/>
        </p:spPr>
      </p:sp>
      <p:sp>
        <p:nvSpPr>
          <p:cNvPr id="28" name="Text 26"/>
          <p:cNvSpPr/>
          <p:nvPr/>
        </p:nvSpPr>
        <p:spPr>
          <a:xfrm>
            <a:off x="5496850" y="3200400"/>
            <a:ext cx="1195251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96850" y="3547872"/>
            <a:ext cx="119525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capacitação das equipes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05410" y="4434840"/>
            <a:ext cx="13781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64047" y="26700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8134" y="2148840"/>
            <a:ext cx="1378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Abr–Mai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48134" y="3063240"/>
            <a:ext cx="1378131" cy="1737360"/>
          </a:xfrm>
          <a:prstGeom prst="roundRect">
            <a:avLst>
              <a:gd name="adj" fmla="val 2654"/>
            </a:avLst>
          </a:prstGeom>
          <a:solidFill>
            <a:srgbClr val="F7F9FC"/>
          </a:solidFill>
          <a:ln/>
        </p:spPr>
      </p:sp>
      <p:sp>
        <p:nvSpPr>
          <p:cNvPr id="34" name="Text 32"/>
          <p:cNvSpPr/>
          <p:nvPr/>
        </p:nvSpPr>
        <p:spPr>
          <a:xfrm>
            <a:off x="7039574" y="3200400"/>
            <a:ext cx="1195251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039574" y="3547872"/>
            <a:ext cx="119525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Nippon Motos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948134" y="4434840"/>
            <a:ext cx="13781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06771" y="2670048"/>
            <a:ext cx="146304" cy="146304"/>
          </a:xfrm>
          <a:prstGeom prst="ellipse">
            <a:avLst/>
          </a:prstGeom>
          <a:solidFill>
            <a:srgbClr val="1E9E5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90857" y="2148840"/>
            <a:ext cx="1378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Jul–Ago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490857" y="3063240"/>
            <a:ext cx="1378131" cy="1737360"/>
          </a:xfrm>
          <a:prstGeom prst="roundRect">
            <a:avLst>
              <a:gd name="adj" fmla="val 2654"/>
            </a:avLst>
          </a:prstGeom>
          <a:solidFill>
            <a:srgbClr val="F7F9FC"/>
          </a:solidFill>
          <a:ln/>
        </p:spPr>
      </p:sp>
      <p:sp>
        <p:nvSpPr>
          <p:cNvPr id="40" name="Text 38"/>
          <p:cNvSpPr/>
          <p:nvPr/>
        </p:nvSpPr>
        <p:spPr>
          <a:xfrm>
            <a:off x="8582297" y="3200400"/>
            <a:ext cx="1195251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PDCA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582297" y="3547872"/>
            <a:ext cx="119525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contínua + novas frentes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90857" y="4434840"/>
            <a:ext cx="1378131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1E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649494" y="2670048"/>
            <a:ext cx="146304" cy="146304"/>
          </a:xfrm>
          <a:prstGeom prst="ellipse">
            <a:avLst/>
          </a:prstGeom>
          <a:solidFill>
            <a:srgbClr val="0365F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33581" y="2148840"/>
            <a:ext cx="137813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Set–Dez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0033581" y="3063240"/>
            <a:ext cx="1378131" cy="1737360"/>
          </a:xfrm>
          <a:prstGeom prst="roundRect">
            <a:avLst>
              <a:gd name="adj" fmla="val 2654"/>
            </a:avLst>
          </a:prstGeom>
          <a:solidFill>
            <a:srgbClr val="EEF4FF"/>
          </a:solidFill>
          <a:ln w="12700">
            <a:solidFill>
              <a:srgbClr val="0365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125021" y="3200400"/>
            <a:ext cx="1195251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125021" y="3547872"/>
            <a:ext cx="119525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regional — 9 grupos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77240" y="5120640"/>
            <a:ext cx="10634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até aqui foi entregue no prazo — a Fase 2 é a decisão desta reunião.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44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&amp; VIABILIDADE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mensurável para toda a cadeia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95451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3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410712" cy="1737360"/>
          </a:xfrm>
          <a:prstGeom prst="roundRect">
            <a:avLst>
              <a:gd name="adj" fmla="val 1579"/>
            </a:avLst>
          </a:prstGeom>
          <a:solidFill>
            <a:srgbClr val="F7F9FC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202996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96696" y="228600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R$ 600/mês por CCY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96696" y="2651760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Plataforma, integrações, treinamento e suporte — SaaS sem instalação e sem hardware.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10712" cy="1737360"/>
          </a:xfrm>
          <a:prstGeom prst="roundRect">
            <a:avLst>
              <a:gd name="adj" fmla="val 1579"/>
            </a:avLst>
          </a:prstGeom>
          <a:solidFill>
            <a:srgbClr val="F7F9FC"/>
          </a:solidFill>
          <a:ln/>
        </p:spPr>
      </p:sp>
      <p:sp>
        <p:nvSpPr>
          <p:cNvPr id="10" name="Text 8"/>
          <p:cNvSpPr/>
          <p:nvPr/>
        </p:nvSpPr>
        <p:spPr>
          <a:xfrm>
            <a:off x="4608576" y="202996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GERADA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08576" y="228600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viram segundos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08576" y="2651760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retrabalho operacional, menor custo de captação, menos perda no funil de vendas.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01000" y="1828800"/>
            <a:ext cx="3410712" cy="1737360"/>
          </a:xfrm>
          <a:prstGeom prst="roundRect">
            <a:avLst>
              <a:gd name="adj" fmla="val 1579"/>
            </a:avLst>
          </a:prstGeom>
          <a:solidFill>
            <a:srgbClr val="F7F9F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0456" y="202996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365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ESPERADOS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0456" y="2286000"/>
            <a:ext cx="29718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+8% varejo · +15% leads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0456" y="2651760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aprovação financeira · +5 pts NPS e fidelização · escalabilidade nacional.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977640"/>
            <a:ext cx="10634472" cy="1188720"/>
          </a:xfrm>
          <a:prstGeom prst="roundRect">
            <a:avLst>
              <a:gd name="adj" fmla="val 2308"/>
            </a:avLst>
          </a:prstGeom>
          <a:solidFill>
            <a:srgbClr val="E7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123944"/>
            <a:ext cx="10085832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9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piloto já quantificou: cerca de R$ 940 mil por ano em uma única concessionária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51560" y="4434840"/>
            <a:ext cx="10085832" cy="6217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Prêmios de campanha (~R$ 400 mil) + gap de absorção do K2 (~R$ 490 mil) + Seguros e Consórcio (~R$ 50 mil). Um único prêmio de campanha capturado paga o ano inteiro de plataforma.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544068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com retorno comprovável e escalável para toda a rede Yamaha.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_NOVAS MELHORIAS/deck-assets/bg-fec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48840"/>
            <a:ext cx="10634472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desta reunião: aprovar a Fase 2 —</a:t>
            </a:r>
            <a:endParaRPr lang="en-US" sz="32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9 grupos da regional ainda em 2026.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706453" y="3977640"/>
            <a:ext cx="877604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B8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inteligente · decisões melhores · experiências memoráveis · crescimento sustentável.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706453" y="4892040"/>
            <a:ext cx="877604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Smart Dealer é mais do que uma plataforma tecnológica. É um novo padrão de relacionamento</a:t>
            </a:r>
            <a:endParaRPr lang="en-US" sz="13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8A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cliente, concessionária e Yamaha."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6309360"/>
            <a:ext cx="10634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00" kern="0" dirty="0">
                <a:solidFill>
                  <a:srgbClr val="3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YAMAHA WAY 2026 · GRUPO SHOGUN RIDERS · NIPPON MOTOS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Dealer — Apresentação à Diretoria</dc:title>
  <dc:subject>PptxGenJS Presentation</dc:subject>
  <dc:creator>Caique Oliveira · Klenilson Paiva</dc:creator>
  <cp:lastModifiedBy>Caique Oliveira · Klenilson Paiva</cp:lastModifiedBy>
  <cp:revision>1</cp:revision>
  <dcterms:created xsi:type="dcterms:W3CDTF">2026-08-25T19:02:42Z</dcterms:created>
  <dcterms:modified xsi:type="dcterms:W3CDTF">2026-08-25T19:02:42Z</dcterms:modified>
</cp:coreProperties>
</file>