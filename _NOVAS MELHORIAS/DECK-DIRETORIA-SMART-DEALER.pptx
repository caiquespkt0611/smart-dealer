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1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852160"/>
            <a:ext cx="12188952" cy="1005840"/>
          </a:xfrm>
          <a:prstGeom prst="rect">
            <a:avLst/>
          </a:prstGeom>
          <a:solidFill>
            <a:srgbClr val="00206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815584"/>
            <a:ext cx="12188952" cy="36576"/>
          </a:xfrm>
          <a:prstGeom prst="rect">
            <a:avLst/>
          </a:prstGeom>
          <a:solidFill>
            <a:srgbClr val="00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37160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À DIRETORIA · AGOSTO 2026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1090879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</a:t>
            </a:r>
            <a:pPr indent="0" marL="0">
              <a:buNone/>
            </a:pPr>
            <a:r>
              <a:rPr lang="en-US" sz="6600" b="1" dirty="0">
                <a:solidFill>
                  <a:srgbClr val="61A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DEALER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640080" y="292608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Inteligente de Gestão da Experiência do Cliente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40080" y="3383280"/>
            <a:ext cx="109087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piloto na Nippon Motos ao padrão da rede Yamaha — nacional e além.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608076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Caique Oliveira  ·  Klenilson Paiva          YAMAHA WAY 2026 · GRUPO SHOGUN RIDERS · NIPPON MOTOS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8E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92024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Yamaha conhece seus clientes tão bem quanto
</a:t>
            </a:r>
            <a:pPr algn="ctr" indent="0" marL="0">
              <a:buNone/>
            </a:pPr>
            <a:r>
              <a:rPr lang="en-US" sz="3600" b="1" dirty="0">
                <a:solidFill>
                  <a:srgbClr val="61A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Amazon, Netflix ou Nubank?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3840480"/>
            <a:ext cx="109087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padrão de comparação do cliente não é outra concessionária.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melhor experiência digital que ele já teve.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6492240"/>
            <a:ext cx="10360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Dealer · Diretoria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1091672" y="649224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8E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10896"/>
            <a:ext cx="763615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530352"/>
            <a:ext cx="8508858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dados existem. A inteligência, não.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3538728" cy="1024128"/>
          </a:xfrm>
          <a:prstGeom prst="roundRect">
            <a:avLst>
              <a:gd name="adj" fmla="val 7143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463040"/>
            <a:ext cx="3264408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ISOLADOS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77240" y="1664208"/>
            <a:ext cx="3264408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9+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77240" y="2103120"/>
            <a:ext cx="3264408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CRM, Banco, Consórcio, Seguros, NPS, DMS, planilhas...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4325112" y="1371600"/>
            <a:ext cx="3538728" cy="1024128"/>
          </a:xfrm>
          <a:prstGeom prst="roundRect">
            <a:avLst>
              <a:gd name="adj" fmla="val 7143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62272" y="1463040"/>
            <a:ext cx="3264408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POR ANÁLISE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462272" y="1664208"/>
            <a:ext cx="3264408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30min–3h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462272" y="2103120"/>
            <a:ext cx="3264408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abrir, cruzar e analisar manualmente</a:t>
            </a:r>
            <a:endParaRPr lang="en-US" sz="820" dirty="0"/>
          </a:p>
        </p:txBody>
      </p:sp>
      <p:sp>
        <p:nvSpPr>
          <p:cNvPr id="13" name="Shape 11"/>
          <p:cNvSpPr/>
          <p:nvPr/>
        </p:nvSpPr>
        <p:spPr>
          <a:xfrm>
            <a:off x="8010144" y="1371600"/>
            <a:ext cx="3538728" cy="1024128"/>
          </a:xfrm>
          <a:prstGeom prst="roundRect">
            <a:avLst>
              <a:gd name="adj" fmla="val 7143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47304" y="1463040"/>
            <a:ext cx="3264408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OPORTUNIDADES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8147304" y="1664208"/>
            <a:ext cx="3264408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invisíveis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147304" y="2103120"/>
            <a:ext cx="3264408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 + estoque + campanha ativa = ninguém viu</a:t>
            </a:r>
            <a:endParaRPr lang="en-US" sz="820" dirty="0"/>
          </a:p>
        </p:txBody>
      </p:sp>
      <p:sp>
        <p:nvSpPr>
          <p:cNvPr id="17" name="Shape 15"/>
          <p:cNvSpPr/>
          <p:nvPr/>
        </p:nvSpPr>
        <p:spPr>
          <a:xfrm>
            <a:off x="640080" y="2624328"/>
            <a:ext cx="10908792" cy="3017520"/>
          </a:xfrm>
          <a:prstGeom prst="roundRect">
            <a:avLst>
              <a:gd name="adj" fmla="val 2424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" y="2734056"/>
            <a:ext cx="10579608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SE PERDE TODOS OS DIAS, EM TODAS AS CONCESSIONÁRIAS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68680" y="2990088"/>
            <a:ext cx="10451592" cy="2560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com crédito RECUSADO nunca mais é procurado</a:t>
            </a:r>
            <a:pPr lvl="1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sendo que o Liberacred já o aprovou de novo — a segunda chance morre no relatório</a:t>
            </a:r>
            <a:endParaRPr lang="en-US" sz="115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APROVADA que não vira venda fica parada semanas</a:t>
            </a:r>
            <a:pPr lvl="1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venda já estava ganha; ninguém cobra o desfecho</a:t>
            </a:r>
            <a:endParaRPr lang="en-US" sz="115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QUITANDO = cliente voltando ao mercado</a:t>
            </a:r>
            <a:pPr lvl="1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chama primeiro leva — hoje, quase sempre, é o concorrente</a:t>
            </a:r>
            <a:endParaRPr lang="en-US" sz="115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Frota vendida rodando SEM seguro, revisão vencida sem aviso</a:t>
            </a:r>
            <a:pPr lvl="1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 recorrente evaporando no pós-venda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6492240"/>
            <a:ext cx="10360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Dealer · Diretoria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091672" y="649224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8E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10896"/>
            <a:ext cx="763615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PROVA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530352"/>
            <a:ext cx="8508858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conceito: está rodando na Nippon Motos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7891272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lojas · piloto pago pela CCY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371600"/>
            <a:ext cx="2617470" cy="1097280"/>
          </a:xfrm>
          <a:prstGeom prst="roundRect">
            <a:avLst>
              <a:gd name="adj" fmla="val 6667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463040"/>
            <a:ext cx="234315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CARTA DE JULHO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77240" y="1664208"/>
            <a:ext cx="234315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90,0%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77240" y="2176272"/>
            <a:ext cx="234315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144/160 motos → R$ 7.500 garantidos na campanha</a:t>
            </a:r>
            <a:endParaRPr lang="en-US" sz="820" dirty="0"/>
          </a:p>
        </p:txBody>
      </p:sp>
      <p:sp>
        <p:nvSpPr>
          <p:cNvPr id="10" name="Shape 8"/>
          <p:cNvSpPr/>
          <p:nvPr/>
        </p:nvSpPr>
        <p:spPr>
          <a:xfrm>
            <a:off x="3403854" y="1371600"/>
            <a:ext cx="2617470" cy="1097280"/>
          </a:xfrm>
          <a:prstGeom prst="roundRect">
            <a:avLst>
              <a:gd name="adj" fmla="val 6667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1014" y="1463040"/>
            <a:ext cx="234315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ABSORÇÃO PÓS-VENDAS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541014" y="1664208"/>
            <a:ext cx="234315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→ 49%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541014" y="2176272"/>
            <a:ext cx="234315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rumo à meta de 65% (K2 lido do DRE)</a:t>
            </a:r>
            <a:endParaRPr lang="en-US" sz="820" dirty="0"/>
          </a:p>
        </p:txBody>
      </p:sp>
      <p:sp>
        <p:nvSpPr>
          <p:cNvPr id="14" name="Shape 12"/>
          <p:cNvSpPr/>
          <p:nvPr/>
        </p:nvSpPr>
        <p:spPr>
          <a:xfrm>
            <a:off x="6167628" y="1371600"/>
            <a:ext cx="2617470" cy="1097280"/>
          </a:xfrm>
          <a:prstGeom prst="roundRect">
            <a:avLst>
              <a:gd name="adj" fmla="val 6667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4788" y="1463040"/>
            <a:ext cx="234315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RESPOSTA AO LEAD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6304788" y="1664208"/>
            <a:ext cx="234315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3h47 → 8min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304788" y="2176272"/>
            <a:ext cx="234315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81% atendidos em ≤10 minutos</a:t>
            </a:r>
            <a:endParaRPr lang="en-US" sz="820" dirty="0"/>
          </a:p>
        </p:txBody>
      </p:sp>
      <p:sp>
        <p:nvSpPr>
          <p:cNvPr id="18" name="Shape 16"/>
          <p:cNvSpPr/>
          <p:nvPr/>
        </p:nvSpPr>
        <p:spPr>
          <a:xfrm>
            <a:off x="8931402" y="1371600"/>
            <a:ext cx="2617470" cy="1097280"/>
          </a:xfrm>
          <a:prstGeom prst="roundRect">
            <a:avLst>
              <a:gd name="adj" fmla="val 6667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68562" y="1463040"/>
            <a:ext cx="234315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SATISFAÇÃO (PESQUISA)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9068562" y="1664208"/>
            <a:ext cx="234315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 → 4,5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068562" y="2176272"/>
            <a:ext cx="234315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antes × depois do piloto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640080" y="2697480"/>
            <a:ext cx="5362956" cy="2880360"/>
          </a:xfrm>
          <a:prstGeom prst="roundRect">
            <a:avLst>
              <a:gd name="adj" fmla="val 2540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672" y="2807208"/>
            <a:ext cx="50337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PLATAFORMA JÁ ENTREGA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41248" y="3063240"/>
            <a:ext cx="4997196" cy="23774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módulos em produção</a:t>
            </a:r>
            <a:pPr lvl="1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varejo, performance, market share, K2, crédito, campanhas, CRM, pós-vendas, NPS...</a:t>
            </a:r>
            <a:endParaRPr lang="en-US" sz="105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PDCA oficial Yamaha em 1 clique</a:t>
            </a:r>
            <a:pPr lvl="1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horas de análise para segundos — formato da regional</a:t>
            </a:r>
            <a:endParaRPr lang="en-US" sz="105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Atualização mensal sem redigitação</a:t>
            </a:r>
            <a:pPr lvl="1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planilha de emplacamento publicada uma vez, telas atualizam sozinhas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185916" y="2697480"/>
            <a:ext cx="5362956" cy="2880360"/>
          </a:xfrm>
          <a:prstGeom prst="roundRect">
            <a:avLst>
              <a:gd name="adj" fmla="val 2540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50508" y="2807208"/>
            <a:ext cx="503377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VALIDA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387084" y="3063240"/>
            <a:ext cx="4997196" cy="23774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Nippon paga o piloto (R$ 600/mês)</a:t>
            </a:r>
            <a:pPr lvl="1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no dia a dia — os dados são da operação real</a:t>
            </a:r>
            <a:endParaRPr lang="en-US" sz="105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 da regional acompanha</a:t>
            </a:r>
            <a:pPr lvl="1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método já aplicado em PDCAs de outro grupo (NOBRE Motos)</a:t>
            </a:r>
            <a:endParaRPr lang="en-US" sz="105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9 grupos da regional já estão na base</a:t>
            </a:r>
            <a:pPr lvl="1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multi-grupo pronta desde o dia 1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40080" y="6492240"/>
            <a:ext cx="10360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Dealer · Diretoria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1091672" y="649224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8E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10896"/>
            <a:ext cx="763615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PLATAFORMA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530352"/>
            <a:ext cx="8508858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Centro de Inteligência da Rede Yamaha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2011680" cy="475488"/>
          </a:xfrm>
          <a:prstGeom prst="roundRect">
            <a:avLst>
              <a:gd name="adj" fmla="val 15385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554480"/>
            <a:ext cx="2011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Vendas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788920" y="1554480"/>
            <a:ext cx="2011680" cy="475488"/>
          </a:xfrm>
          <a:prstGeom prst="roundRect">
            <a:avLst>
              <a:gd name="adj" fmla="val 15385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88920" y="1554480"/>
            <a:ext cx="2011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2157984"/>
            <a:ext cx="2011680" cy="475488"/>
          </a:xfrm>
          <a:prstGeom prst="roundRect">
            <a:avLst>
              <a:gd name="adj" fmla="val 15385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157984"/>
            <a:ext cx="2011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Yamaha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88920" y="2157984"/>
            <a:ext cx="2011680" cy="475488"/>
          </a:xfrm>
          <a:prstGeom prst="roundRect">
            <a:avLst>
              <a:gd name="adj" fmla="val 15385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88920" y="2157984"/>
            <a:ext cx="2011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Consórcio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761488"/>
            <a:ext cx="2011680" cy="475488"/>
          </a:xfrm>
          <a:prstGeom prst="roundRect">
            <a:avLst>
              <a:gd name="adj" fmla="val 15385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761488"/>
            <a:ext cx="2011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788920" y="2761488"/>
            <a:ext cx="2011680" cy="475488"/>
          </a:xfrm>
          <a:prstGeom prst="roundRect">
            <a:avLst>
              <a:gd name="adj" fmla="val 15385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88920" y="2761488"/>
            <a:ext cx="2011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Pós-venda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364992"/>
            <a:ext cx="2011680" cy="475488"/>
          </a:xfrm>
          <a:prstGeom prst="roundRect">
            <a:avLst>
              <a:gd name="adj" fmla="val 15385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64992"/>
            <a:ext cx="2011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88920" y="3364992"/>
            <a:ext cx="2011680" cy="475488"/>
          </a:xfrm>
          <a:prstGeom prst="roundRect">
            <a:avLst>
              <a:gd name="adj" fmla="val 15385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88920" y="3364992"/>
            <a:ext cx="2011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968496"/>
            <a:ext cx="2011680" cy="475488"/>
          </a:xfrm>
          <a:prstGeom prst="roundRect">
            <a:avLst>
              <a:gd name="adj" fmla="val 15385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968496"/>
            <a:ext cx="2011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788920" y="3968496"/>
            <a:ext cx="2011680" cy="475488"/>
          </a:xfrm>
          <a:prstGeom prst="roundRect">
            <a:avLst>
              <a:gd name="adj" fmla="val 15385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88920" y="3968496"/>
            <a:ext cx="2011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Kaizen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983480" y="2834640"/>
            <a:ext cx="914400" cy="594360"/>
          </a:xfrm>
          <a:prstGeom prst="rightArrow">
            <a:avLst/>
          </a:prstGeom>
          <a:solidFill>
            <a:srgbClr val="0070C0"/>
          </a:solidFill>
          <a:ln/>
        </p:spPr>
      </p:sp>
      <p:sp>
        <p:nvSpPr>
          <p:cNvPr id="26" name="Shape 24"/>
          <p:cNvSpPr/>
          <p:nvPr/>
        </p:nvSpPr>
        <p:spPr>
          <a:xfrm>
            <a:off x="6126480" y="2148840"/>
            <a:ext cx="2743200" cy="2011680"/>
          </a:xfrm>
          <a:prstGeom prst="roundRect">
            <a:avLst>
              <a:gd name="adj" fmla="val 4545"/>
            </a:avLst>
          </a:prstGeom>
          <a:solidFill>
            <a:srgbClr val="002060"/>
          </a:solidFill>
          <a:ln w="19050">
            <a:solidFill>
              <a:srgbClr val="00C8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26480" y="233172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DEALER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6126480" y="329184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1A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analítica + regras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1A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Yamaha codificadas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9098280" y="2834640"/>
            <a:ext cx="914400" cy="594360"/>
          </a:xfrm>
          <a:prstGeom prst="rightArrow">
            <a:avLst/>
          </a:prstGeom>
          <a:solidFill>
            <a:srgbClr val="0070C0"/>
          </a:solidFill>
          <a:ln/>
        </p:spPr>
      </p:sp>
      <p:sp>
        <p:nvSpPr>
          <p:cNvPr id="30" name="Shape 28"/>
          <p:cNvSpPr/>
          <p:nvPr/>
        </p:nvSpPr>
        <p:spPr>
          <a:xfrm>
            <a:off x="10195560" y="1600200"/>
            <a:ext cx="1353312" cy="749808"/>
          </a:xfrm>
          <a:prstGeom prst="roundRect">
            <a:avLst>
              <a:gd name="adj" fmla="val 9756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332720" y="1655064"/>
            <a:ext cx="10789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Oportunidades
</a:t>
            </a:r>
            <a:pPr indent="0" marL="0">
              <a:buNone/>
            </a:pPr>
            <a:r>
              <a:rPr lang="en-US" sz="85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identificadas sozinhas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0195560" y="2468880"/>
            <a:ext cx="1353312" cy="749808"/>
          </a:xfrm>
          <a:prstGeom prst="roundRect">
            <a:avLst>
              <a:gd name="adj" fmla="val 9756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332720" y="2523744"/>
            <a:ext cx="10789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
</a:t>
            </a:r>
            <a:pPr indent="0" marL="0">
              <a:buNone/>
            </a:pPr>
            <a:r>
              <a:rPr lang="en-US" sz="85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operacionais na hora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0195560" y="3337560"/>
            <a:ext cx="1353312" cy="749808"/>
          </a:xfrm>
          <a:prstGeom prst="roundRect">
            <a:avLst>
              <a:gd name="adj" fmla="val 9756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332720" y="3392424"/>
            <a:ext cx="10789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Jornada
</a:t>
            </a:r>
            <a:pPr indent="0" marL="0">
              <a:buNone/>
            </a:pPr>
            <a:r>
              <a:rPr lang="en-US" sz="85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 do cliente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0195560" y="4206240"/>
            <a:ext cx="1353312" cy="749808"/>
          </a:xfrm>
          <a:prstGeom prst="roundRect">
            <a:avLst>
              <a:gd name="adj" fmla="val 9756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332720" y="4261104"/>
            <a:ext cx="10789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
</a:t>
            </a:r>
            <a:pPr indent="0" marL="0">
              <a:buNone/>
            </a:pPr>
            <a:r>
              <a:rPr lang="en-US" sz="85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recomendada com IA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40080" y="5806440"/>
            <a:ext cx="109087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plataforma. Todas as áreas. A CCY inteligente gerencia experiências — não sistemas.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640080" y="6492240"/>
            <a:ext cx="10360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Dealer · Diretoria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1091672" y="649224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8E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10896"/>
            <a:ext cx="763615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NOVIDADE · BANCO YAMAHA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530352"/>
            <a:ext cx="8508858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Recusado não é fim de linha — é a próxima venda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7891272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em produção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371600"/>
            <a:ext cx="10908792" cy="1737360"/>
          </a:xfrm>
          <a:prstGeom prst="roundRect">
            <a:avLst>
              <a:gd name="adj" fmla="val 4211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481328"/>
            <a:ext cx="10579608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FUNIL LIBERACRED (TRIMESTRE · NIPPON)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68680" y="1828800"/>
            <a:ext cx="23042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868680" y="2423160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recusados no CDC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18688" y="2029968"/>
            <a:ext cx="292608" cy="256032"/>
          </a:xfrm>
          <a:prstGeom prst="rightArrow">
            <a:avLst/>
          </a:prstGeom>
          <a:solidFill>
            <a:srgbClr val="1A72D4"/>
          </a:solidFill>
          <a:ln/>
        </p:spPr>
      </p:sp>
      <p:sp>
        <p:nvSpPr>
          <p:cNvPr id="11" name="Text 9"/>
          <p:cNvSpPr/>
          <p:nvPr/>
        </p:nvSpPr>
        <p:spPr>
          <a:xfrm>
            <a:off x="3584448" y="1828800"/>
            <a:ext cx="23042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584448" y="2423160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elegíveis Liberacred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34456" y="2029968"/>
            <a:ext cx="292608" cy="256032"/>
          </a:xfrm>
          <a:prstGeom prst="rightArrow">
            <a:avLst/>
          </a:prstGeom>
          <a:solidFill>
            <a:srgbClr val="1A72D4"/>
          </a:solidFill>
          <a:ln/>
        </p:spPr>
      </p:sp>
      <p:sp>
        <p:nvSpPr>
          <p:cNvPr id="14" name="Text 12"/>
          <p:cNvSpPr/>
          <p:nvPr/>
        </p:nvSpPr>
        <p:spPr>
          <a:xfrm>
            <a:off x="6300216" y="1828800"/>
            <a:ext cx="23042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300216" y="2423160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contatados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650224" y="2029968"/>
            <a:ext cx="292608" cy="256032"/>
          </a:xfrm>
          <a:prstGeom prst="rightArrow">
            <a:avLst/>
          </a:prstGeom>
          <a:solidFill>
            <a:srgbClr val="1A72D4"/>
          </a:solidFill>
          <a:ln/>
        </p:spPr>
      </p:sp>
      <p:sp>
        <p:nvSpPr>
          <p:cNvPr id="17" name="Text 15"/>
          <p:cNvSpPr/>
          <p:nvPr/>
        </p:nvSpPr>
        <p:spPr>
          <a:xfrm>
            <a:off x="9015984" y="1828800"/>
            <a:ext cx="23042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015984" y="2423160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convertidos em venda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" y="3337560"/>
            <a:ext cx="6108924" cy="2651760"/>
          </a:xfrm>
          <a:prstGeom prst="roundRect">
            <a:avLst>
              <a:gd name="adj" fmla="val 2759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4672" y="3447288"/>
            <a:ext cx="577974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VIRADA DE CHAVE: LIBERACRED COMO PRÊMIO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22960" y="3794760"/>
            <a:ext cx="5743164" cy="1417320"/>
          </a:xfrm>
          <a:prstGeom prst="roundRect">
            <a:avLst>
              <a:gd name="adj" fmla="val 5161"/>
            </a:avLst>
          </a:prstGeom>
          <a:solidFill>
            <a:srgbClr val="0E2A1E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0120" y="3886200"/>
            <a:ext cx="5468844" cy="1234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"Parabéns! Você acaba de ser APROVADO no Liberacred do Banco Yamaha. Sua NMAX está garantida com condições especiais — sem nova análise. Posso te mandar a simulação agora?"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22960" y="5349240"/>
            <a:ext cx="5743164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Mensagem disparada pelo vendedor em 1 clique — comunicada como conquista, nunca como recusa.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886164" y="3337560"/>
            <a:ext cx="4662708" cy="2651760"/>
          </a:xfrm>
          <a:prstGeom prst="roundRect">
            <a:avLst>
              <a:gd name="adj" fmla="val 2759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50756" y="3447288"/>
            <a:ext cx="4333524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MAIS DUAS FRENTES NO MESMO MÓDULO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069044" y="3749040"/>
            <a:ext cx="4296948" cy="21488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Aprovados e não pagos</a:t>
            </a:r>
            <a:pPr lvl="1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R$ 91 mil em vendas já ganhas paradas — motivo mapeado + ação sugerida por cliente</a:t>
            </a:r>
            <a:endParaRPr lang="en-US" sz="105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Contratos quitando</a:t>
            </a:r>
            <a:pPr lvl="1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voltando ao mercado com score de recompra e sugestão de upgrade — chame antes do concorrente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0080" y="6492240"/>
            <a:ext cx="10360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Dealer · Diretoria · cenário demonstrativo com estrutura dos painéis oficiais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1091672" y="649224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8E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10896"/>
            <a:ext cx="763615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NOVIDADE · FIDELIZAÇÃO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530352"/>
            <a:ext cx="8508858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Premya, Seguros e Consórcio — dinheiro deixado na mesa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7891272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em produção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371600"/>
            <a:ext cx="3514344" cy="4206240"/>
          </a:xfrm>
          <a:prstGeom prst="roundRect">
            <a:avLst>
              <a:gd name="adj" fmla="val 2082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481328"/>
            <a:ext cx="318516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PREMYA · BANCO YAMAHA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22960" y="1783080"/>
            <a:ext cx="3148584" cy="3657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Folder oficial codificado</a:t>
            </a:r>
            <a:pPr lvl="1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de Fidelidade calculado EM CURSO, não só na apuração mensal</a:t>
            </a:r>
            <a:endParaRPr lang="en-US" sz="105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05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Hoje: BRONZE (71,6%)</a:t>
            </a:r>
            <a:pPr lvl="1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proposta paga em outro banco derruba o índice</a:t>
            </a:r>
            <a:endParaRPr lang="en-US" sz="105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05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Subir p/ OURO vale +R$ 148 mil/ano</a:t>
            </a:r>
            <a:pPr lvl="1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incentivo 1,5% sobre o liberado + floor plan −0,20 p.p. Simulador na tela.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37304" y="1371600"/>
            <a:ext cx="3514344" cy="4206240"/>
          </a:xfrm>
          <a:prstGeom prst="roundRect">
            <a:avLst>
              <a:gd name="adj" fmla="val 2082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1896" y="1481328"/>
            <a:ext cx="318516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1A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YAMAHA SEGUROS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520184" y="1783080"/>
            <a:ext cx="3148584" cy="3657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Penetração 33,6% · meta 45%</a:t>
            </a:r>
            <a:pPr lvl="1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 motos × 37 seguros em julho (painel oficial)</a:t>
            </a:r>
            <a:endParaRPr lang="en-US" sz="105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Frota circulante: 2.840 motos</a:t>
            </a:r>
            <a:pPr lvl="1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618 com apólice ativa — 141 renovações no radar agora</a:t>
            </a:r>
            <a:endParaRPr lang="en-US" sz="105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05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+R$ 39 mil/ano fechando o gap</a:t>
            </a:r>
            <a:pPr lvl="1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comissão adicional sem vender uma moto a mais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34528" y="1371600"/>
            <a:ext cx="3514344" cy="4206240"/>
          </a:xfrm>
          <a:prstGeom prst="roundRect">
            <a:avLst>
              <a:gd name="adj" fmla="val 2082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99120" y="1481328"/>
            <a:ext cx="318516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CONSÓRCIO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217408" y="1783080"/>
            <a:ext cx="3148584" cy="36576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Carteira: 486 cotas ativas</a:t>
            </a:r>
            <a:pPr lvl="1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R$ 10,4 mi em crédito · retenção 94,5%</a:t>
            </a:r>
            <a:endParaRPr lang="en-US" sz="105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05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Bônus Quality garantido</a:t>
            </a:r>
            <a:pPr lvl="1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adimplência 91,4% + cancelamento 8,7% → R$ 11,8 mil no trimestre</a:t>
            </a:r>
            <a:endParaRPr lang="en-US" sz="105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Contemplado compra AQUI</a:t>
            </a:r>
            <a:pPr lvl="1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81% de conversão — alerta ao vendedor na semana da assembleia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0080" y="6492240"/>
            <a:ext cx="10360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Dealer · Diretoria · cenários demonstrativos sobre regras oficiais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1091672" y="649224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8E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10896"/>
            <a:ext cx="763615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NOVIDADE · GOVERNANÇA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530352"/>
            <a:ext cx="8508858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com cobrança configurada — não com boa vontade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10908792" cy="1417320"/>
          </a:xfrm>
          <a:prstGeom prst="roundRect">
            <a:avLst>
              <a:gd name="adj" fmla="val 5161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481328"/>
            <a:ext cx="10579608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MESMA EQUIPE, MESMOS LEADS — ANTES × DEPOIS DA GOVERNANÇA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68680" y="1828800"/>
            <a:ext cx="1953158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RESPOSTA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868680" y="2011680"/>
            <a:ext cx="1953158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strike="sngStrike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3h 47min</a:t>
            </a:r>
            <a:pPr indent="0" marL="0">
              <a:buNone/>
            </a:pPr>
            <a:r>
              <a:rPr lang="en-US" sz="12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indent="0" marL="0">
              <a:buNone/>
            </a:pPr>
            <a:r>
              <a:rPr lang="en-US" sz="17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958998" y="1828800"/>
            <a:ext cx="1953158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≤10 MIN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958998" y="2011680"/>
            <a:ext cx="1953158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strike="sngStrike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</a:t>
            </a:r>
            <a:pPr indent="0" marL="0">
              <a:buNone/>
            </a:pPr>
            <a:r>
              <a:rPr lang="en-US" sz="12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indent="0" marL="0">
              <a:buNone/>
            </a:pPr>
            <a:r>
              <a:rPr lang="en-US" sz="17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81%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49317" y="1828800"/>
            <a:ext cx="1953158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CONVERSÃO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049317" y="2011680"/>
            <a:ext cx="1953158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strike="sngStrike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8,1%</a:t>
            </a:r>
            <a:pPr indent="0" marL="0">
              <a:buNone/>
            </a:pPr>
            <a:r>
              <a:rPr lang="en-US" sz="12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indent="0" marL="0">
              <a:buNone/>
            </a:pPr>
            <a:r>
              <a:rPr lang="en-US" sz="17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13,9%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139635" y="1828800"/>
            <a:ext cx="1953158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RESPOSTA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139635" y="2011680"/>
            <a:ext cx="1953158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strike="sngStrike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32%</a:t>
            </a:r>
            <a:pPr indent="0" marL="0">
              <a:buNone/>
            </a:pPr>
            <a:r>
              <a:rPr lang="en-US" sz="12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indent="0" marL="0">
              <a:buNone/>
            </a:pPr>
            <a:r>
              <a:rPr lang="en-US" sz="17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2%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229954" y="1828800"/>
            <a:ext cx="1953158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FEITO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9229954" y="2011680"/>
            <a:ext cx="1953158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strike="sngStrike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41%</a:t>
            </a:r>
            <a:pPr indent="0" marL="0">
              <a:buNone/>
            </a:pPr>
            <a:r>
              <a:rPr lang="en-US" sz="12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indent="0" marL="0">
              <a:buNone/>
            </a:pPr>
            <a:r>
              <a:rPr lang="en-US" sz="17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017520"/>
            <a:ext cx="5672572" cy="2743200"/>
          </a:xfrm>
          <a:prstGeom prst="roundRect">
            <a:avLst>
              <a:gd name="adj" fmla="val 2667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" y="3127248"/>
            <a:ext cx="5343388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RÉGUA DE COBRANÇA (RESUMO)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22960" y="3429000"/>
            <a:ext cx="5306812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 → SLA estourado fica vermelho no painel</a:t>
            </a:r>
            <a:endParaRPr lang="en-US" sz="105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 → o lead sobe para o WhatsApp do GERENTE</a:t>
            </a:r>
            <a:endParaRPr lang="en-US" sz="105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 → redistribuição automática no rodízio</a:t>
            </a:r>
            <a:endParaRPr lang="en-US" sz="105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D+1 · D+3 · D+7 → follow-ups obrigatórios com roteiro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49812" y="3017520"/>
            <a:ext cx="5099060" cy="2743200"/>
          </a:xfrm>
          <a:prstGeom prst="roundRect">
            <a:avLst>
              <a:gd name="adj" fmla="val 2667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14404" y="3127248"/>
            <a:ext cx="4769876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REGIONALIZAÇÃO + PERDAS QUE VIRAM FRENTE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632692" y="3429000"/>
            <a:ext cx="4733300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lojas, cada lead cai na loja certa</a:t>
            </a:r>
            <a:pPr lvl="1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rodízio ponderado por conversão do vendedor</a:t>
            </a:r>
            <a:endParaRPr lang="en-US" sz="105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"Crédito recusado" → vira oportunidade Liberacred</a:t>
            </a:r>
            <a:pPr lvl="1" indent="0" marL="0">
              <a:spcBef>
                <a:spcPts val="200"/>
              </a:spcBef>
              <a:buNone/>
            </a:pPr>
            <a:r>
              <a:rPr lang="en-US" sz="9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motivo de perda alimenta o módulo do Banco automaticamente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40080" y="6492240"/>
            <a:ext cx="10360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Dealer · Diretoria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091672" y="649224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8E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10896"/>
            <a:ext cx="763615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INTELIGÊNCIA ARTIFICIAL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530352"/>
            <a:ext cx="8508858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Claude: um cérebro, um chat universal para toda a operação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7891272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Anthropic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371600"/>
            <a:ext cx="5385816" cy="1463040"/>
          </a:xfrm>
          <a:prstGeom prst="roundRect">
            <a:avLst>
              <a:gd name="adj" fmla="val 5000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481328"/>
            <a:ext cx="505663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1A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VENDEDOR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22960" y="1755648"/>
            <a:ext cx="5020056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"Qual o bônus da NMAX este mês?"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057400"/>
            <a:ext cx="502005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robô já leu as circulares CA-MTC028–033: responde valor, custeio e regra de acúmulo na hora.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163056" y="1371600"/>
            <a:ext cx="5385816" cy="1463040"/>
          </a:xfrm>
          <a:prstGeom prst="roundRect">
            <a:avLst>
              <a:gd name="adj" fmla="val 5000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27648" y="1481328"/>
            <a:ext cx="505663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1A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MECÂNICO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45936" y="1755648"/>
            <a:ext cx="5020056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"Procedimento de revisão dos 6.000 km da Fazer 250?"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45936" y="2057400"/>
            <a:ext cx="502005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o manual técnico oficial e responde com a seção citada.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40080" y="2971800"/>
            <a:ext cx="5385816" cy="1463040"/>
          </a:xfrm>
          <a:prstGeom prst="roundRect">
            <a:avLst>
              <a:gd name="adj" fmla="val 5000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" y="3081528"/>
            <a:ext cx="505663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1A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960" y="3355848"/>
            <a:ext cx="5020056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"Onde estou perdendo share?"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22960" y="3657600"/>
            <a:ext cx="502005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 emplacamento, segmentos e concorrentes — resposta com números e fonte.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163056" y="2971800"/>
            <a:ext cx="5385816" cy="1463040"/>
          </a:xfrm>
          <a:prstGeom prst="roundRect">
            <a:avLst>
              <a:gd name="adj" fmla="val 5000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27648" y="3081528"/>
            <a:ext cx="505663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1A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FINANCEIRO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345936" y="3355848"/>
            <a:ext cx="5020056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"Quais aprovados não foram pagos?"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45936" y="3657600"/>
            <a:ext cx="502005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clientes, motivo e ação sugerida — direto da base do Banco.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40080" y="4663440"/>
            <a:ext cx="10908792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Novidade de agosto: as circulares da montadora entram no robô no dia em que são publicadas — a rede inteira responde igual, sem depender de memória.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0080" y="6492240"/>
            <a:ext cx="10360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Dealer · Diretoria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091672" y="649224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8E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10896"/>
            <a:ext cx="763615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NOVIDADE · VOZ DO CLIENTE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530352"/>
            <a:ext cx="8508858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Fatores de compra medidos, não achados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7891272" y="3840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 28/07–14/08 · 32 respostas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371600"/>
            <a:ext cx="2617470" cy="1024128"/>
          </a:xfrm>
          <a:prstGeom prst="roundRect">
            <a:avLst>
              <a:gd name="adj" fmla="val 7143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463040"/>
            <a:ext cx="234315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SATISFAÇÃO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77240" y="1664208"/>
            <a:ext cx="234315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4,5/5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77240" y="2103120"/>
            <a:ext cx="234315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foi ser atendido?</a:t>
            </a:r>
            <a:endParaRPr lang="en-US" sz="820" dirty="0"/>
          </a:p>
        </p:txBody>
      </p:sp>
      <p:sp>
        <p:nvSpPr>
          <p:cNvPr id="10" name="Shape 8"/>
          <p:cNvSpPr/>
          <p:nvPr/>
        </p:nvSpPr>
        <p:spPr>
          <a:xfrm>
            <a:off x="3403854" y="1371600"/>
            <a:ext cx="2617470" cy="1024128"/>
          </a:xfrm>
          <a:prstGeom prst="roundRect">
            <a:avLst>
              <a:gd name="adj" fmla="val 7143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1014" y="1463040"/>
            <a:ext cx="234315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 DA PESQUISA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541014" y="1664208"/>
            <a:ext cx="234315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541014" y="2103120"/>
            <a:ext cx="234315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promotores − detratores</a:t>
            </a:r>
            <a:endParaRPr lang="en-US" sz="820" dirty="0"/>
          </a:p>
        </p:txBody>
      </p:sp>
      <p:sp>
        <p:nvSpPr>
          <p:cNvPr id="14" name="Shape 12"/>
          <p:cNvSpPr/>
          <p:nvPr/>
        </p:nvSpPr>
        <p:spPr>
          <a:xfrm>
            <a:off x="6167628" y="1371600"/>
            <a:ext cx="2617470" cy="1024128"/>
          </a:xfrm>
          <a:prstGeom prst="roundRect">
            <a:avLst>
              <a:gd name="adj" fmla="val 7143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4788" y="1463040"/>
            <a:ext cx="234315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A COMPRA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6304788" y="1664208"/>
            <a:ext cx="234315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parcela 72%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304788" y="2103120"/>
            <a:ext cx="234315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depois: rapidez 66% · crédito 56%</a:t>
            </a:r>
            <a:endParaRPr lang="en-US" sz="820" dirty="0"/>
          </a:p>
        </p:txBody>
      </p:sp>
      <p:sp>
        <p:nvSpPr>
          <p:cNvPr id="18" name="Shape 16"/>
          <p:cNvSpPr/>
          <p:nvPr/>
        </p:nvSpPr>
        <p:spPr>
          <a:xfrm>
            <a:off x="8931402" y="1371600"/>
            <a:ext cx="2617470" cy="1024128"/>
          </a:xfrm>
          <a:prstGeom prst="roundRect">
            <a:avLst>
              <a:gd name="adj" fmla="val 7143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68562" y="1463040"/>
            <a:ext cx="2343150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COMPROU POR QUÊ?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9068562" y="1664208"/>
            <a:ext cx="234315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 43%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068562" y="2103120"/>
            <a:ext cx="2343150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exatamente o público do Liberacred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640080" y="2624328"/>
            <a:ext cx="10908792" cy="2651760"/>
          </a:xfrm>
          <a:prstGeom prst="roundRect">
            <a:avLst>
              <a:gd name="adj" fmla="val 2759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672" y="2734056"/>
            <a:ext cx="10579608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VOZ DO CLIENTE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22960" y="3081528"/>
            <a:ext cx="3422904" cy="1691640"/>
          </a:xfrm>
          <a:prstGeom prst="roundRect">
            <a:avLst>
              <a:gd name="adj" fmla="val 4324"/>
            </a:avLst>
          </a:prstGeom>
          <a:solidFill>
            <a:srgbClr val="111B2E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0120" y="3191256"/>
            <a:ext cx="3148584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"Me responderam em uns cinco minutos. Na outra loja eu esperei dois dias e desisti."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960120" y="4434840"/>
            <a:ext cx="3148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1A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Eduardo · comprou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383024" y="3081528"/>
            <a:ext cx="3422904" cy="1691640"/>
          </a:xfrm>
          <a:prstGeom prst="roundRect">
            <a:avLst>
              <a:gd name="adj" fmla="val 4324"/>
            </a:avLst>
          </a:prstGeom>
          <a:solidFill>
            <a:srgbClr val="111B2E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20184" y="3191256"/>
            <a:ext cx="3148584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"Meu crédito não passou e ninguém mais me procurou. Se tivessem uma segunda opção eu tinha fechado."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20184" y="4434840"/>
            <a:ext cx="3148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1A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 Vitor · não comprou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7943088" y="3081528"/>
            <a:ext cx="3422904" cy="1691640"/>
          </a:xfrm>
          <a:prstGeom prst="roundRect">
            <a:avLst>
              <a:gd name="adj" fmla="val 4324"/>
            </a:avLst>
          </a:prstGeom>
          <a:solidFill>
            <a:srgbClr val="111B2E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080248" y="3191256"/>
            <a:ext cx="3148584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"Voltar eu volto se vocês me avisarem da revisão. Da última vez passou do prazo e eu nem vi."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080248" y="4434840"/>
            <a:ext cx="3148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1A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Paulo · comprou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40080" y="5367528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dor citada tem um módulo respondendo: rapidez → SLA 10 min · crédito → Liberacred · revisão → régua automática.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6492240"/>
            <a:ext cx="10360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Dealer · Diretoria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1091672" y="649224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8E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10896"/>
            <a:ext cx="763615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530352"/>
            <a:ext cx="8508858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moto a vida inteira: o ciclo que nunca devolve o cliente ao mercado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1323267" cy="1554480"/>
          </a:xfrm>
          <a:prstGeom prst="roundRect">
            <a:avLst>
              <a:gd name="adj" fmla="val 6910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743200"/>
            <a:ext cx="1323267" cy="1554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≤10 min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981635" y="3383280"/>
            <a:ext cx="237744" cy="274320"/>
          </a:xfrm>
          <a:prstGeom prst="rightArrow">
            <a:avLst/>
          </a:prstGeom>
          <a:solidFill>
            <a:srgbClr val="1A72D4"/>
          </a:solidFill>
          <a:ln/>
        </p:spPr>
      </p:sp>
      <p:sp>
        <p:nvSpPr>
          <p:cNvPr id="8" name="Shape 6"/>
          <p:cNvSpPr/>
          <p:nvPr/>
        </p:nvSpPr>
        <p:spPr>
          <a:xfrm>
            <a:off x="2237667" y="2743200"/>
            <a:ext cx="1323267" cy="1554480"/>
          </a:xfrm>
          <a:prstGeom prst="roundRect">
            <a:avLst>
              <a:gd name="adj" fmla="val 6910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37667" y="2743200"/>
            <a:ext cx="1323267" cy="1554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campanha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circular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579223" y="3383280"/>
            <a:ext cx="237744" cy="274320"/>
          </a:xfrm>
          <a:prstGeom prst="rightArrow">
            <a:avLst/>
          </a:prstGeom>
          <a:solidFill>
            <a:srgbClr val="1A72D4"/>
          </a:solidFill>
          <a:ln/>
        </p:spPr>
      </p:sp>
      <p:sp>
        <p:nvSpPr>
          <p:cNvPr id="11" name="Shape 9"/>
          <p:cNvSpPr/>
          <p:nvPr/>
        </p:nvSpPr>
        <p:spPr>
          <a:xfrm>
            <a:off x="3835255" y="2743200"/>
            <a:ext cx="1323267" cy="1554480"/>
          </a:xfrm>
          <a:prstGeom prst="roundRect">
            <a:avLst>
              <a:gd name="adj" fmla="val 6910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35255" y="2743200"/>
            <a:ext cx="1323267" cy="1554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Financiamento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BYMD 1º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(Premya)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6810" y="3383280"/>
            <a:ext cx="237744" cy="274320"/>
          </a:xfrm>
          <a:prstGeom prst="rightArrow">
            <a:avLst/>
          </a:prstGeom>
          <a:solidFill>
            <a:srgbClr val="1A72D4"/>
          </a:solidFill>
          <a:ln/>
        </p:spPr>
      </p:sp>
      <p:sp>
        <p:nvSpPr>
          <p:cNvPr id="14" name="Shape 12"/>
          <p:cNvSpPr/>
          <p:nvPr/>
        </p:nvSpPr>
        <p:spPr>
          <a:xfrm>
            <a:off x="5432842" y="2743200"/>
            <a:ext cx="1323267" cy="1554480"/>
          </a:xfrm>
          <a:prstGeom prst="roundRect">
            <a:avLst>
              <a:gd name="adj" fmla="val 6910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32842" y="2743200"/>
            <a:ext cx="1323267" cy="1554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entrega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774398" y="3383280"/>
            <a:ext cx="237744" cy="274320"/>
          </a:xfrm>
          <a:prstGeom prst="rightArrow">
            <a:avLst/>
          </a:prstGeom>
          <a:solidFill>
            <a:srgbClr val="1A72D4"/>
          </a:solidFill>
          <a:ln/>
        </p:spPr>
      </p:sp>
      <p:sp>
        <p:nvSpPr>
          <p:cNvPr id="17" name="Shape 15"/>
          <p:cNvSpPr/>
          <p:nvPr/>
        </p:nvSpPr>
        <p:spPr>
          <a:xfrm>
            <a:off x="7030430" y="2743200"/>
            <a:ext cx="1323267" cy="1554480"/>
          </a:xfrm>
          <a:prstGeom prst="roundRect">
            <a:avLst>
              <a:gd name="adj" fmla="val 6910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30430" y="2743200"/>
            <a:ext cx="1323267" cy="1554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Revisões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R1→R4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régua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371985" y="3383280"/>
            <a:ext cx="237744" cy="274320"/>
          </a:xfrm>
          <a:prstGeom prst="rightArrow">
            <a:avLst/>
          </a:prstGeom>
          <a:solidFill>
            <a:srgbClr val="1A72D4"/>
          </a:solidFill>
          <a:ln/>
        </p:spPr>
      </p:sp>
      <p:sp>
        <p:nvSpPr>
          <p:cNvPr id="20" name="Shape 18"/>
          <p:cNvSpPr/>
          <p:nvPr/>
        </p:nvSpPr>
        <p:spPr>
          <a:xfrm>
            <a:off x="8628017" y="2743200"/>
            <a:ext cx="1323267" cy="1554480"/>
          </a:xfrm>
          <a:prstGeom prst="roundRect">
            <a:avLst>
              <a:gd name="adj" fmla="val 6910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28017" y="2743200"/>
            <a:ext cx="1323267" cy="1554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Quitação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recompra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969573" y="3383280"/>
            <a:ext cx="237744" cy="274320"/>
          </a:xfrm>
          <a:prstGeom prst="rightArrow">
            <a:avLst/>
          </a:prstGeom>
          <a:solidFill>
            <a:srgbClr val="1A72D4"/>
          </a:solidFill>
          <a:ln/>
        </p:spPr>
      </p:sp>
      <p:sp>
        <p:nvSpPr>
          <p:cNvPr id="23" name="Shape 21"/>
          <p:cNvSpPr/>
          <p:nvPr/>
        </p:nvSpPr>
        <p:spPr>
          <a:xfrm>
            <a:off x="10225605" y="2743200"/>
            <a:ext cx="1323267" cy="1554480"/>
          </a:xfrm>
          <a:prstGeom prst="roundRect">
            <a:avLst>
              <a:gd name="adj" fmla="val 6910"/>
            </a:avLst>
          </a:prstGeom>
          <a:solidFill>
            <a:srgbClr val="002060"/>
          </a:solidFill>
          <a:ln w="19050">
            <a:solidFill>
              <a:srgbClr val="00C8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25605" y="2743200"/>
            <a:ext cx="1323267" cy="1554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venda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0887238" y="4297680"/>
            <a:ext cx="0" cy="457200"/>
          </a:xfrm>
          <a:prstGeom prst="line">
            <a:avLst/>
          </a:prstGeom>
          <a:noFill/>
          <a:ln w="19050">
            <a:solidFill>
              <a:srgbClr val="00C8E8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640080" y="4846320"/>
            <a:ext cx="109087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1A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o ciclo recomeça — dentro da rede Yamaha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" y="530352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etapa alimenta a seguinte com dados. É isso que nenhum sistema isolado consegue fazer.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0080" y="6492240"/>
            <a:ext cx="10360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Dealer · Diretoria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1091672" y="649224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8E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10896"/>
            <a:ext cx="763615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&amp; VIABILIDADE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530352"/>
            <a:ext cx="8508858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mensurável — números do piloto, anualizados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3538728" cy="1143000"/>
          </a:xfrm>
          <a:prstGeom prst="roundRect">
            <a:avLst>
              <a:gd name="adj" fmla="val 6400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463040"/>
            <a:ext cx="3264408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CAMPANHAS DA MONTADORA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77240" y="1664208"/>
            <a:ext cx="3264408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~R$ 400 mil/ano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77240" y="2221992"/>
            <a:ext cx="3264408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prêmios + vouchers capturados por disciplina de carta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4325112" y="1371600"/>
            <a:ext cx="3538728" cy="1143000"/>
          </a:xfrm>
          <a:prstGeom prst="roundRect">
            <a:avLst>
              <a:gd name="adj" fmla="val 6400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62272" y="1463040"/>
            <a:ext cx="3264408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DE ABSORÇÃO (K2)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462272" y="1664208"/>
            <a:ext cx="3264408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~R$ 490 mil/ano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462272" y="2221992"/>
            <a:ext cx="3264408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 de pós-vendas para chegar aos 65%</a:t>
            </a:r>
            <a:endParaRPr lang="en-US" sz="820" dirty="0"/>
          </a:p>
        </p:txBody>
      </p:sp>
      <p:sp>
        <p:nvSpPr>
          <p:cNvPr id="13" name="Shape 11"/>
          <p:cNvSpPr/>
          <p:nvPr/>
        </p:nvSpPr>
        <p:spPr>
          <a:xfrm>
            <a:off x="8010144" y="1371600"/>
            <a:ext cx="3538728" cy="1143000"/>
          </a:xfrm>
          <a:prstGeom prst="roundRect">
            <a:avLst>
              <a:gd name="adj" fmla="val 6400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47304" y="1463040"/>
            <a:ext cx="3264408" cy="21945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spc="50" kern="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PREMYA + SEGUROS + CONSÓRCIO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8147304" y="1664208"/>
            <a:ext cx="3264408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~R$ 200 mil/ano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147304" y="2221992"/>
            <a:ext cx="3264408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 Ouro + gap de penetração + Bônus Quality</a:t>
            </a:r>
            <a:endParaRPr lang="en-US" sz="820" dirty="0"/>
          </a:p>
        </p:txBody>
      </p:sp>
      <p:sp>
        <p:nvSpPr>
          <p:cNvPr id="17" name="Shape 15"/>
          <p:cNvSpPr/>
          <p:nvPr/>
        </p:nvSpPr>
        <p:spPr>
          <a:xfrm>
            <a:off x="640080" y="2788920"/>
            <a:ext cx="5999836" cy="2651760"/>
          </a:xfrm>
          <a:prstGeom prst="roundRect">
            <a:avLst>
              <a:gd name="adj" fmla="val 2759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" y="2898648"/>
            <a:ext cx="567065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GANHOS ESPERADOS NO ROLLOUT (POR CCY)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22960" y="3200400"/>
            <a:ext cx="5634076" cy="2194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+8% varejo · +15% conversão de leads</a:t>
            </a:r>
            <a:pPr lvl="1" indent="0" marL="0">
              <a:spcBef>
                <a:spcPts val="200"/>
              </a:spcBef>
              <a:buNone/>
            </a:pPr>
            <a:r>
              <a:rPr lang="en-US" sz="95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+ governança de CRM + campanhas aplicadas na proposta</a:t>
            </a:r>
            <a:endParaRPr lang="en-US" sz="110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+10% aprovação financeira</a:t>
            </a:r>
            <a:pPr lvl="1" indent="0" marL="0">
              <a:spcBef>
                <a:spcPts val="200"/>
              </a:spcBef>
              <a:buNone/>
            </a:pPr>
            <a:r>
              <a:rPr lang="en-US" sz="95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submissão disciplinada ao BYMD + resgate Liberacred</a:t>
            </a:r>
            <a:endParaRPr lang="en-US" sz="110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 pts NPS e fidelização</a:t>
            </a:r>
            <a:pPr lvl="1" indent="0" marL="0">
              <a:spcBef>
                <a:spcPts val="200"/>
              </a:spcBef>
              <a:buNone/>
            </a:pPr>
            <a:r>
              <a:rPr lang="en-US" sz="95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régua de revisão + recompra na quitação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777076" y="2788920"/>
            <a:ext cx="4771796" cy="2651760"/>
          </a:xfrm>
          <a:prstGeom prst="roundRect">
            <a:avLst>
              <a:gd name="adj" fmla="val 2759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41668" y="2898648"/>
            <a:ext cx="4442612" cy="23774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DE OPERAÇÃO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959956" y="3200400"/>
            <a:ext cx="4406036" cy="2194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SaaS: R$ 600/mês por CCY no piloto</a:t>
            </a:r>
            <a:pPr lvl="1" indent="0" marL="0">
              <a:spcBef>
                <a:spcPts val="200"/>
              </a:spcBef>
              <a:buNone/>
            </a:pPr>
            <a:r>
              <a:rPr lang="en-US" sz="95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instalação, sem hardware, sem projeto de TI local</a:t>
            </a:r>
            <a:endParaRPr lang="en-US" sz="1100" dirty="0"/>
          </a:p>
          <a:p>
            <a:pPr marL="342900" indent="-342900">
              <a:spcBef>
                <a:spcPts val="600"/>
              </a:spcBef>
              <a:buSzPct val="100000"/>
              <a:buChar char="•"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&lt; 1 mês</a:t>
            </a:r>
            <a:pPr lvl="1" indent="0" marL="0">
              <a:spcBef>
                <a:spcPts val="200"/>
              </a:spcBef>
              <a:buNone/>
            </a:pPr>
            <a:r>
              <a:rPr lang="en-US" sz="95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único prêmio de campanha capturado paga o ano inteiro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6492240"/>
            <a:ext cx="10360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Dealer · Diretoria · estimativas sobre o piloto Nippon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091672" y="649224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8E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10896"/>
            <a:ext cx="763615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530352"/>
            <a:ext cx="8508858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 concessionária ao padrão mundial — a arquitetura já nasceu pronta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2590038" cy="3108960"/>
          </a:xfrm>
          <a:prstGeom prst="roundRect">
            <a:avLst>
              <a:gd name="adj" fmla="val 3530"/>
            </a:avLst>
          </a:prstGeom>
          <a:solidFill>
            <a:srgbClr val="13213A"/>
          </a:solidFill>
          <a:ln w="25400">
            <a:solidFill>
              <a:srgbClr val="2ECC7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920240"/>
            <a:ext cx="2315718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77240" y="2240280"/>
            <a:ext cx="2315718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Nippon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2788920"/>
            <a:ext cx="2315718" cy="1828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lojas · 19 módulos em produção · pago pela CCY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30118" y="3063240"/>
            <a:ext cx="201168" cy="292608"/>
          </a:xfrm>
          <a:prstGeom prst="rightArrow">
            <a:avLst/>
          </a:prstGeom>
          <a:solidFill>
            <a:srgbClr val="1A72D4"/>
          </a:solidFill>
          <a:ln/>
        </p:spPr>
      </p:sp>
      <p:sp>
        <p:nvSpPr>
          <p:cNvPr id="10" name="Shape 8"/>
          <p:cNvSpPr/>
          <p:nvPr/>
        </p:nvSpPr>
        <p:spPr>
          <a:xfrm>
            <a:off x="3412998" y="1737360"/>
            <a:ext cx="2590038" cy="3108960"/>
          </a:xfrm>
          <a:prstGeom prst="roundRect">
            <a:avLst>
              <a:gd name="adj" fmla="val 3530"/>
            </a:avLst>
          </a:prstGeom>
          <a:solidFill>
            <a:srgbClr val="13213A"/>
          </a:solidFill>
          <a:ln w="12700">
            <a:solidFill>
              <a:srgbClr val="00C8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50158" y="1920240"/>
            <a:ext cx="2315718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· SET–DEZ/26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50158" y="2240280"/>
            <a:ext cx="2315718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550158" y="2788920"/>
            <a:ext cx="2315718" cy="1828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grupos já cadastrados na base — falta só criar os acessos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03036" y="3063240"/>
            <a:ext cx="201168" cy="292608"/>
          </a:xfrm>
          <a:prstGeom prst="rightArrow">
            <a:avLst/>
          </a:prstGeom>
          <a:solidFill>
            <a:srgbClr val="1A72D4"/>
          </a:solidFill>
          <a:ln/>
        </p:spPr>
      </p:sp>
      <p:sp>
        <p:nvSpPr>
          <p:cNvPr id="15" name="Shape 13"/>
          <p:cNvSpPr/>
          <p:nvPr/>
        </p:nvSpPr>
        <p:spPr>
          <a:xfrm>
            <a:off x="6185916" y="1737360"/>
            <a:ext cx="2590038" cy="3108960"/>
          </a:xfrm>
          <a:prstGeom prst="roundRect">
            <a:avLst>
              <a:gd name="adj" fmla="val 3530"/>
            </a:avLst>
          </a:prstGeom>
          <a:solidFill>
            <a:srgbClr val="13213A"/>
          </a:solidFill>
          <a:ln w="12700">
            <a:solidFill>
              <a:srgbClr val="1A72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23076" y="1920240"/>
            <a:ext cx="2315718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A72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 · 2027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323076" y="2240280"/>
            <a:ext cx="2315718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Nacional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323076" y="2788920"/>
            <a:ext cx="2315718" cy="1828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multi-grupo: replicar = configurar, não reprogramar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775954" y="3063240"/>
            <a:ext cx="201168" cy="292608"/>
          </a:xfrm>
          <a:prstGeom prst="rightArrow">
            <a:avLst/>
          </a:prstGeom>
          <a:solidFill>
            <a:srgbClr val="1A72D4"/>
          </a:solidFill>
          <a:ln/>
        </p:spPr>
      </p:sp>
      <p:sp>
        <p:nvSpPr>
          <p:cNvPr id="20" name="Shape 18"/>
          <p:cNvSpPr/>
          <p:nvPr/>
        </p:nvSpPr>
        <p:spPr>
          <a:xfrm>
            <a:off x="8958834" y="1737360"/>
            <a:ext cx="2590038" cy="3108960"/>
          </a:xfrm>
          <a:prstGeom prst="roundRect">
            <a:avLst>
              <a:gd name="adj" fmla="val 3530"/>
            </a:avLst>
          </a:prstGeom>
          <a:solidFill>
            <a:srgbClr val="13213A"/>
          </a:solidFill>
          <a:ln w="12700">
            <a:solidFill>
              <a:srgbClr val="FFC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095994" y="1920240"/>
            <a:ext cx="2315718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095994" y="2240280"/>
            <a:ext cx="2315718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Yamaha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095994" y="2788920"/>
            <a:ext cx="2315718" cy="1828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know-how (dois relógios, K2, PDCA, circulares) vira padrão exportável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40080" y="521208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i="1" dirty="0">
                <a:solidFill>
                  <a:srgbClr val="61A6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vantagem competitiva não é o software — é o método Yamaha codificado dentro dele.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40080" y="6492240"/>
            <a:ext cx="103601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Dealer · Diretoria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091672" y="649224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1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C8E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554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00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PEDIDO DESTA REUNIÃO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90879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Aprovar a Fase 2: levar o Smart Dealer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aos 9 grupos da regional ainda em 2026.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3657600"/>
            <a:ext cx="3566160" cy="868680"/>
          </a:xfrm>
          <a:prstGeom prst="roundRect">
            <a:avLst>
              <a:gd name="adj" fmla="val 8421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3657600"/>
            <a:ext cx="329184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Piloto validado e pago pela própria CCY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52544" y="3657600"/>
            <a:ext cx="3566160" cy="868680"/>
          </a:xfrm>
          <a:prstGeom prst="roundRect">
            <a:avLst>
              <a:gd name="adj" fmla="val 8421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9704" y="3657600"/>
            <a:ext cx="329184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Estrutura multi-grupo pronta — 9 grupos já na base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065008" y="3657600"/>
            <a:ext cx="3566160" cy="868680"/>
          </a:xfrm>
          <a:prstGeom prst="roundRect">
            <a:avLst>
              <a:gd name="adj" fmla="val 8421"/>
            </a:avLst>
          </a:prstGeom>
          <a:solidFill>
            <a:srgbClr val="13213A"/>
          </a:solidFill>
          <a:ln w="9525">
            <a:solidFill>
              <a:srgbClr val="2230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02168" y="3657600"/>
            <a:ext cx="329184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Payback &lt; 1 mês por concessionária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937760"/>
            <a:ext cx="109087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Smart Dealer é mais do que uma plataforma tecnológica.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D9E6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 novo padrão de relacionamento entre cliente, concessionária e Yamaha."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63550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6B7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YAMAHA WAY 2026 · GRUPO SHOGUN RIDERS · NIPPON MOTOS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Dealer — Apresentação à Diretoria</dc:title>
  <dc:subject>PptxGenJS Presentation</dc:subject>
  <dc:creator>Caique Oliveira · Klenilson Paiva</dc:creator>
  <cp:lastModifiedBy>Caique Oliveira · Klenilson Paiva</cp:lastModifiedBy>
  <cp:revision>1</cp:revision>
  <dcterms:created xsi:type="dcterms:W3CDTF">2026-08-20T10:33:10Z</dcterms:created>
  <dcterms:modified xsi:type="dcterms:W3CDTF">2026-08-20T10:33:10Z</dcterms:modified>
</cp:coreProperties>
</file>