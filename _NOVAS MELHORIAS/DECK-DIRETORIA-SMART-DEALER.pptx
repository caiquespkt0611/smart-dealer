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 DIRETORIA · AGOSTO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 de gestão da experiência do cliente.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na Nippon Motos ao padrão da rede Yamaha.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 · Klenilson Paiva  ·  Yamaha Way 2026 · Grupo Shogun Riders · Nippon Motos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conhece seus clientes tão bem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Amazon, Netflix ou Nubank?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de comparação do cliente não é outra concessionária.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melhor experiência digital que ele já teve.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de 2026 não aceita experiências de 2016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na loja, esperar no telefone, esperar o retorno que não vem. O cliente se adapta ao processo da concessionária.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6732" y="306324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60236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734556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734556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4556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minutos, oferta certa, crédito transparente, a loja que lembra dele. O processo se adapta ao cliente.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502920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entrega experiência ganha o cliente — e o mantém pela vida útil da moto inteira.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existem. A inteligência, não.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 todos os dias, em todas as concessionárias — porque nenhum sistema conversa com o outro.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recusado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nunca mais é procurado — mesmo quando o Liberacred já o aprovou de novo.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não pago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aprovada fica parada semanas. A venda já estava ganha; ninguém cobra o desfecho.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045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volta ao mercado em silêncio. Quem chama primeiro leva — hoje é o concorrente.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sem seguro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Milhares de motos vendidas rodando sem apólice. Renovação é receita que evapora.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vencida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0857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esquece, a oficina não avisa — e a absorção do pós-vendas fica no papel.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no e-mail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045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condição de campanha mora na caixa de entrada de alguém. A loja responde errado ou não responde.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existiam. A oportunidade passou despercebida.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dispersos — ninguém enxerga o todo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informação vive num sistema. A visão completa não vive em lugar nenhum.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95372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595372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13504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413504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231636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9768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049768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86790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86790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2697480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que não conversam entre si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vendedor não tem a visão completa do cliente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crédito e interesse em telas diferentes — quando existem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506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641451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gerente não tem a visão completa da operação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1451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no feeling, descobre o problema no fechamento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99669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concessionário não tem a visão do negócio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669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mercado, share e absorção chegam tarde e fatiados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506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641451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recebe uma experiência integrada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1451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a história a cada contato, espera a cada etapa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já possui um patrimônio estratégico invisível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moto vendida, revisão feita e proposta analisada gera dado. A rede está sentada numa mina — sem escavadeira.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6228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9" name="Text 7"/>
          <p:cNvSpPr/>
          <p:nvPr/>
        </p:nvSpPr>
        <p:spPr>
          <a:xfrm>
            <a:off x="2586228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5216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4395216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04204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4204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3192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013192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2218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218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86228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586228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95216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395216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04204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6204204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13192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013192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82218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982218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586228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2586228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 CLUB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95216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4395216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04204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6204204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13192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8013192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82218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982218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709160"/>
            <a:ext cx="10634472" cy="100584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ativo não é o software — é este patrimônio de dados, que só a Yamaha tem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166360"/>
            <a:ext cx="10085832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a escavadeira: transforma o que a rede já produz todos os dias em decisão, oferta e experiência.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de Inteligência da Rede Yamaha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CCY inteligente gerencia experiências — não sistemas.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79776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2779776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9776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79776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2779776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79776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779776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79776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2779776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0" y="278892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091426"/>
          </a:solidFill>
          <a:ln/>
          <a:effectLst>
            <a:outerShdw sx="100000" sy="100000" kx="0" ky="0" algn="bl" rotWithShape="0" blurRad="203200" dist="50800" dir="5400000">
              <a:srgbClr val="B8CDEA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0" y="30632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21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486400" y="402336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regras Yamaha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codificadas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3816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778240" y="1965960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0" y="2075688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961120" y="236829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sozinhas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898648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00837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961120" y="330098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 na hora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78240" y="3831336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8" name="Text 36"/>
          <p:cNvSpPr/>
          <p:nvPr/>
        </p:nvSpPr>
        <p:spPr>
          <a:xfrm>
            <a:off x="8961120" y="394106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961120" y="423367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do cliente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778240" y="4764024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87375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961120" y="5166360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com IA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conceito: está rodando na Nippon Motos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25 módulos em produção · pago pela própria concessionária (R$ 600/mês) · acompanhado pela regional.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737360" y="1965960"/>
            <a:ext cx="8778240" cy="5486400"/>
          </a:xfrm>
          <a:prstGeom prst="roundRect">
            <a:avLst>
              <a:gd name="adj" fmla="val 1167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8366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203911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219456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2240280"/>
            <a:ext cx="8705088" cy="5175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antes levava horas agora leva segundos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— 30 MINUTOS A 3 HORAS POR ANÁLISE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331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44168" y="23408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CRM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78892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41832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4168" y="28895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Banco Yamaha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3429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44168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Consórcio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3977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44168" y="398678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as planilhas internas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" y="4526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4168" y="45354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as informações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49834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44168" y="50840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manualmente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17920" y="1874520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SMART DEALER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240280"/>
            <a:ext cx="5193792" cy="3200400"/>
          </a:xfrm>
          <a:prstGeom prst="roundRect">
            <a:avLst>
              <a:gd name="adj" fmla="val 1143"/>
            </a:avLst>
          </a:prstGeom>
          <a:solidFill>
            <a:srgbClr val="E7F6EE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606040"/>
            <a:ext cx="4645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segundos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92240" y="3154680"/>
            <a:ext cx="4645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na tela — ou no chat — e a análise vem pronta, cruzada e com fonte. O tempo do gerente vai para a decisão, não para a coleta.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297680"/>
            <a:ext cx="4645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real: o PDCA oficial da regional, que levava horas, sai em um clique.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do gerente: gestão baseada em dados, não em percepção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por vendedor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669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individual visível em tempo real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460857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equipe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857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Metas, resultados e ranking atualizados ao vivo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0100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045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Gargalos do funil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045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onde os leads estão travando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em tempo real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9669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 a satisfação e age imediatamente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460857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bancária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0857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financiamento e motivos de recusa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100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045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operacional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045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completo da operação da concessionária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4709160"/>
            <a:ext cx="10634472" cy="1051560"/>
          </a:xfrm>
          <a:prstGeom prst="roundRect">
            <a:avLst>
              <a:gd name="adj" fmla="val 2609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previsibilidade operacional e comercial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51560" y="5166360"/>
            <a:ext cx="10085832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CRM comprova: primeira resposta de 3h47 para 8 min · SLA de 10 minutos de 22% para 81% · conversão de 8,1% para 13,9% · leads sem resposta de 32% para 2% — mesma equipe, mesmos leads.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— o cérebro do Smart Dealer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Anthropic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Claude?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45399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inteligência artificial da Anthropic — empresa avaliada em mais de US$ 61 bilhões, fundada por ex-pesquisadores da OpenAI. Considerado um dos modelos mais avançados do mundo.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45399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de um buscador, Claude raciocina: interpreta documentos inteiros, entende contexto e adapta cada resposta — um especialista disponível 24 horas por dia.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23076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597396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faz no Smart Dealer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15684" y="2679192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3" name="Text 11"/>
          <p:cNvSpPr/>
          <p:nvPr/>
        </p:nvSpPr>
        <p:spPr>
          <a:xfrm>
            <a:off x="6917436" y="2615184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os dados da operação e responde em linguagem de gente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15684" y="3300984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5" name="Text 13"/>
          <p:cNvSpPr/>
          <p:nvPr/>
        </p:nvSpPr>
        <p:spPr>
          <a:xfrm>
            <a:off x="6917436" y="3236976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manual técnico e circulares oficiais, com citação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15684" y="3922776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7" name="Text 15"/>
          <p:cNvSpPr/>
          <p:nvPr/>
        </p:nvSpPr>
        <p:spPr>
          <a:xfrm>
            <a:off x="6917436" y="3858768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 a próxima ação: lead, oferta, cobrança, campanha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15684" y="4544568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9" name="Text 17"/>
          <p:cNvSpPr/>
          <p:nvPr/>
        </p:nvSpPr>
        <p:spPr>
          <a:xfrm>
            <a:off x="6917436" y="4480560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o texto pronto: WhatsApp, post, plano de ação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chat universal para toda a operação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interface inteligente que serve todas as áreas da concessionária — cada papel pergunta no seu idioma.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o bônus da NMAX este mês?"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robô já leu as circulares CA-MTC028 a 033: responde valor, custeio e regra de acúmulo na hora.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"Procedimento de revisão dos 6.000 km da Fazer 250?"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manual técnico oficial e responde com a seção citada.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clientes têm revisão vencida ou próxima?"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 com alertas proativos e mensagem pronta para o disparo.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aprovados não foram pagos?"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clientes, motivo e ação sugerida — direto da base do Banco.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166360"/>
            <a:ext cx="10634472" cy="868680"/>
          </a:xfrm>
          <a:prstGeom prst="roundRect">
            <a:avLst>
              <a:gd name="adj" fmla="val 315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3126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de agosto: a circular entra no robô no dia em que é publicada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5623560"/>
            <a:ext cx="10085832" cy="3017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inteira responde igual, sem depender da memória de ninguém.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Yamaha: recusado não é fim de linha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cruza a base de recusados do CDC com o Liberacred e devolve ao vendedor um cliente já aprovado de novo.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9339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recusados no CDC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28800" y="22585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trimestre, no grupo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33272" y="246888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633472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06624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27157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elegíveis Liberacred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automático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33272" y="31821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346704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419856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3429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contatados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36850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trabalho do vendedor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33272" y="3895344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059936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13308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28800" y="41422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convertidos em venda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828800" y="439826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R$ 92.300 recuperados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892040"/>
            <a:ext cx="4892040" cy="1371600"/>
          </a:xfrm>
          <a:prstGeom prst="roundRect">
            <a:avLst>
              <a:gd name="adj" fmla="val 2000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" y="50292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 como prêmio, nunca como recusa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8408" y="530352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"Parabéns! Você acaba de ser APROVADO no Liberacred do Banco Yamaha — condições especiais, sem nova análise." Disparada pelo vendedor em um clique.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2" name="Text 30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3" name="Image 0" descr="_NOVAS MELHORIAS/deck-assets/b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Aprovados não pagos e contratos quitando na mesma tela — cada um com ação sugerida.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Premya: quanto vale a fidelidade, em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folder oficial do Banco Yamaha codificado no sistema — o índice acompanhado em curso, não descoberto na apuração.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2996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40280" y="203911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203911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2,00% do liberado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487168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9689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40280" y="26060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85–94,9%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26060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1,50% do liberado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054096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16382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75–84,9%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1,00% do liberado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21024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CF3E3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730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240280" y="373989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60–74,9%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37398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do liberado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73989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Nippon hoje (71,6%)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77240" y="4343400"/>
            <a:ext cx="4892040" cy="1554480"/>
          </a:xfrm>
          <a:prstGeom prst="roundRect">
            <a:avLst>
              <a:gd name="adj" fmla="val 1765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988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para Ouro vale ~R$ 148 mil/ano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78408" y="4791456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vender uma moto a mais: toda venda financiada submetida primeiro ao BYMD e nenhuma proposta aprovada fugindo para outro banco. O sistema alerta cada fuga e simula o ganho.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8" name="Shape 26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0" name="Text 28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1" name="Image 0" descr="_NOVAS MELHORIAS/deck-assets/prem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interativo: mexa nos números e veja a categoria — e os reais — mudarem na hora.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Seguros, Consórcio e a voz do cliente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 que já é da casa — e a pesquisa que diz onde o cliente decide.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SEGUROS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circulante: 2.840 motos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618 com apólice ativa · 141 renovações no radar · +R$ 39 mil/ano fechando o gap de penetração (33,6% → 45%).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Quality garantido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 cotas ativas (R$ 10,4 mi) · retenção 94,5% · adimplência 91,4% → R$ 11,8 mil no trimestre · contemplado avisado compra aqui (81%).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Pesquisa: 32 clientes reais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compra: parcela 72% · rapidez 66% · crédito 56%. Satisfação 3,6 → 4,5 antes × depois do piloto. NPS 72.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10634472" cy="1097280"/>
          </a:xfrm>
          <a:prstGeom prst="roundRect">
            <a:avLst>
              <a:gd name="adj" fmla="val 25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5811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4892040"/>
            <a:ext cx="10085832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Vitor, cliente que não comprou — 43% das vendas perdidas travaram no crédito. É exatamente o público que o Liberacred devolve à mesa.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unificado integrando todas as áreas da concessionária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615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70560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560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Analítica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0560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recomendações e predições automáticas em tempo real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506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1451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1451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Integrado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451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ao vivo para vendedor, gerente e concessionário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0397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12342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2342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Experiência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2342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 centralizada, fluida e sem repetições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58975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1804111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94071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288584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2244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396758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10418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504931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591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613105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6765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721278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34938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452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431122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9376258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512857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10457993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534924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4955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multi-grupo desde o dia 1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80644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 — replicar para outra concessionária é configurar, não reprogramar.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janeiro ao rollout: o projeto no prazo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ágil com PDCA — as fases cumpridas em 2026 e a proposta para a rede.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" y="2743200"/>
            <a:ext cx="10268712" cy="0"/>
          </a:xfrm>
          <a:prstGeom prst="line">
            <a:avLst/>
          </a:prstGeom>
          <a:noFill/>
          <a:ln w="19050">
            <a:solidFill>
              <a:srgbClr val="E5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315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Jan–Fev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 arquitetura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3587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19963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19963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2411403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11403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da plataforma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19963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47860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6268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Mar–Abr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6268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395412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5412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e testes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6268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2132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541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0541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9685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9685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das equipes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0541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56404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8134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Abr–Mai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48134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34" name="Text 32"/>
          <p:cNvSpPr/>
          <p:nvPr/>
        </p:nvSpPr>
        <p:spPr>
          <a:xfrm>
            <a:off x="7039574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9574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Nippon Motos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48134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10677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9085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Jul–Ago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49085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858229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58229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contínua + novas frentes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9085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649494" y="2670048"/>
            <a:ext cx="146304" cy="146304"/>
          </a:xfrm>
          <a:prstGeom prst="ellipse">
            <a:avLst/>
          </a:prstGeom>
          <a:solidFill>
            <a:srgbClr val="0365F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33581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Set–Dez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33581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EEF4FF"/>
          </a:solidFill>
          <a:ln w="12700">
            <a:solidFill>
              <a:srgbClr val="0365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125021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0125021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regional — 9 grupos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7240" y="5120640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até aqui foi entregue no prazo — a Fase 2 é a decisão desta reunião.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&amp;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mensurável para toda a cadeia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R$ 600/mês por CCY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Plataforma, integrações, treinamento e suporte — SaaS sem instalação e sem hardware.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GERADA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viram segundos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retrabalho operacional, menor custo de captação, menos perda no funil de vendas.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0100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varejo · +15% leads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aprovação financeira · +5 pts NPS e fidelização · escalabilidade nacional.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97764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7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1239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 já quantificou: cerca de R$ 1,1 milhão por ano em uma única concessionária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51560" y="443484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mil). Um único prêmio de campanha capturado paga o ano inteiro de plataforma.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4406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com retorno comprovável e escalável para toda a rede Yamaha.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desta reunião: aprovar a Fase 2 —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ainda em 2026.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inteligente · decisões melhores · experiências memoráveis · crescimento sustentável.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8920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Smart Dealer é mais do que uma plataforma tecnológica. É um novo padrão de relacionamento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cliente, concessionária e Yamaha."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Apresentação à Diretoria</dc:title>
  <dc:subject>PptxGenJS Presentation</dc:subject>
  <dc:creator>Caique Oliveira · Klenilson Paiva</dc:creator>
  <cp:lastModifiedBy>Caique Oliveira · Klenilson Paiva</cp:lastModifiedBy>
  <cp:revision>1</cp:revision>
  <dcterms:created xsi:type="dcterms:W3CDTF">2026-08-20T11:59:38Z</dcterms:created>
  <dcterms:modified xsi:type="dcterms:W3CDTF">2026-08-20T11:59:38Z</dcterms:modified>
</cp:coreProperties>
</file>