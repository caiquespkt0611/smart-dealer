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tags/tag24.xml" ContentType="application/vnd.openxmlformats-officedocument.presentationml.tags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notesSlides/notesSlide23.xml" ContentType="application/vnd.openxmlformats-officedocument.presentationml.notesSlide+xml"/>
  <Override PartName="/ppt/tags/tag26.xml" ContentType="application/vnd.openxmlformats-officedocument.presentationml.tags+xml"/>
  <Override PartName="/ppt/notesSlides/notesSlide24.xml" ContentType="application/vnd.openxmlformats-officedocument.presentationml.notesSlide+xml"/>
  <Override PartName="/ppt/tags/tag27.xml" ContentType="application/vnd.openxmlformats-officedocument.presentationml.tags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  <p:sldMasterId id="2147483661" r:id="rId6"/>
  </p:sldMasterIdLst>
  <p:notesMasterIdLst>
    <p:notesMasterId r:id="rId32"/>
  </p:notesMasterIdLst>
  <p:handoutMasterIdLst>
    <p:handoutMasterId r:id="rId33"/>
  </p:handoutMasterIdLst>
  <p:sldIdLst>
    <p:sldId id="2798" r:id="rId7"/>
    <p:sldId id="415" r:id="rId8"/>
    <p:sldId id="2799" r:id="rId9"/>
    <p:sldId id="2800" r:id="rId10"/>
    <p:sldId id="2801" r:id="rId11"/>
    <p:sldId id="2802" r:id="rId12"/>
    <p:sldId id="2803" r:id="rId13"/>
    <p:sldId id="2804" r:id="rId14"/>
    <p:sldId id="2805" r:id="rId15"/>
    <p:sldId id="2806" r:id="rId16"/>
    <p:sldId id="2807" r:id="rId17"/>
    <p:sldId id="2808" r:id="rId18"/>
    <p:sldId id="2809" r:id="rId19"/>
    <p:sldId id="2810" r:id="rId20"/>
    <p:sldId id="2811" r:id="rId21"/>
    <p:sldId id="2812" r:id="rId22"/>
    <p:sldId id="2813" r:id="rId23"/>
    <p:sldId id="2814" r:id="rId24"/>
    <p:sldId id="2815" r:id="rId25"/>
    <p:sldId id="2816" r:id="rId26"/>
    <p:sldId id="2817" r:id="rId27"/>
    <p:sldId id="2818" r:id="rId28"/>
    <p:sldId id="2819" r:id="rId29"/>
    <p:sldId id="2820" r:id="rId30"/>
    <p:sldId id="2797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57" userDrawn="1">
          <p15:clr>
            <a:srgbClr val="A4A3A4"/>
          </p15:clr>
        </p15:guide>
        <p15:guide id="3" pos="1307" userDrawn="1">
          <p15:clr>
            <a:srgbClr val="A4A3A4"/>
          </p15:clr>
        </p15:guide>
        <p15:guide id="5" orient="horz" pos="7495" userDrawn="1">
          <p15:clr>
            <a:srgbClr val="A4A3A4"/>
          </p15:clr>
        </p15:guide>
        <p15:guide id="6" orient="horz" pos="1145" userDrawn="1">
          <p15:clr>
            <a:srgbClr val="A4A3A4"/>
          </p15:clr>
        </p15:guide>
        <p15:guide id="7" pos="1403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D08A79-A064-F145-024B-6B27AF9AE981}" name="Jonas Dos Santos Quintanilha" initials="DJ" userId="S::ZR00541@globalymc.com::2f41dde7-62fd-4094-bcc8-9be088928e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43D0"/>
    <a:srgbClr val="838383"/>
    <a:srgbClr val="152B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6247" autoAdjust="0"/>
  </p:normalViewPr>
  <p:slideViewPr>
    <p:cSldViewPr snapToGrid="0">
      <p:cViewPr varScale="1">
        <p:scale>
          <a:sx n="56" d="100"/>
          <a:sy n="56" d="100"/>
        </p:scale>
        <p:origin x="720" y="84"/>
      </p:cViewPr>
      <p:guideLst>
        <p:guide orient="horz" pos="4320"/>
        <p:guide pos="7657"/>
        <p:guide pos="1307"/>
        <p:guide orient="horz" pos="7495"/>
        <p:guide orient="horz" pos="1145"/>
        <p:guide pos="1403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69F1C8A-0A48-49CE-B3AD-9B01DFE47F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407D5A-5BE5-4FFC-B30D-463AA9C48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0CD63-9252-436D-995D-F9EC24A8DDD8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82F98D-D1DB-4051-99C1-4B839C174A57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0C2BDB-425B-4046-A638-A94EA0FEBE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FFEE2-32A1-4170-BBBD-B4B978BD8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4513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9DF7-156A-0B36-9188-EC0F1FD8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2A4582-7661-8BB6-13CE-31D6CE822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31621C-FBFA-ED97-5C13-8F28901F7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E4E1E1-99BF-A889-907D-61C6A1572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277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1C12-D401-083E-2AA3-EE2CC3B0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5BA957-CD01-1B46-E159-169BF04F0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ED7A83-CFF0-1921-E797-9CB43506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C0B08C-A3F6-4A0A-FC77-28676796E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088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D9875-DCC9-4022-B237-A07C3F50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F1D5A6-9511-4C08-51AC-23B92350A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C99920-CD32-BA6D-E7A7-9E36B9D27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1FECEC-C88E-FA5D-A476-8F93A4489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085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2580-6F2B-4B6F-6E5D-2790E4B2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20F8C2-250B-2D6D-7838-2774DA23B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FCCA1A-CDE6-FC4A-79A2-35A4EC40D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C0D1C6-A9F7-12A4-05B2-3C5459BF9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23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2124-7F01-50D5-40BA-DE1B42D8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6AE78D-9FD9-147A-B7F0-59425579E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A85FD9-6249-198D-A35D-295F63DCF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5BF81-CA58-D780-3009-1F7FFF54D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281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A2EF-D2DF-F7AD-BDC1-BE4D44CB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998C80-4109-3CAE-48FF-D4CA6C361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643FF60-1D42-4E02-0F4E-DA7FCB337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3C5F6F-195E-5695-09CF-1F361452E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846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C882-7FD0-9E2B-6E18-5732FD35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0F8536-3C0A-8E1F-0099-EB9A00ACC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527F80-9020-A8A9-7FA9-1FF55706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67D80F-4B65-9C53-80DD-2B4E7EED2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830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E3EE-FCAA-F90D-D6C3-7ED07C89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CFE316-0201-0E73-4DCB-45AE6E141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A5B221-CFEC-AD5B-DBBE-D05568315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8FBD25-0B53-7A6C-6F95-FB532BDB1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291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3308-6CA3-B827-637A-C1527C82D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44CA2F-EB8B-D7FE-6E99-0A1DDB9AD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A611CA-0A4F-3ED6-69E4-B7386B79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85368F-508C-FFBA-9B47-424A816E0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985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C18E3-6049-75F5-7485-E56C4C446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86EB882-93FA-B16F-6061-C5A5D324E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CE9EA3-C934-0DF2-AEDA-33FE7F6F1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9A4565-9C94-85E0-C528-6C0E29867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44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7602-3B7D-320A-4F0B-3F4B266E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32E677-2BBA-C481-899E-1869B0E8A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086CB5-EF81-13A2-F27E-4EBCCEBE3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4D3FFC-9A18-715D-2F5E-80EFA3B3B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495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FD51E-68AD-0D60-65F3-4243AFAB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B031B1-6B18-833A-0EDA-F62278A68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8EF39A-F9FF-75EC-9671-540C16F55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5DF950-36A7-7D27-30A3-859927A4E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864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D4B5-2E70-7F32-5B06-FED75F15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919B8F-5D81-B3FF-8C99-7341507A5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9B6EA7-7F2E-7FA2-5851-F32930D45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E13068-BE15-06FB-9259-F49DF3B45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2201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23CE8-915C-936D-E373-371998DC1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C52CC3-1DCE-42C8-13B4-45CE2B692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D8069D-CF10-D9BB-9B0B-4182C859D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27DA24-AF5F-E5B0-678A-84ECAE9C5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6147-A2E4-8935-0386-392B2374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86CCCB-4754-EAFB-0657-29F11991F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6C4871-E474-1EAE-8DD7-EF71FB548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CDC4E1-ADCA-7F8D-3F82-839D7B520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282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0CF3-E1A8-5DDC-0343-A0CFF135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FC3C3D-64CB-DBA3-E4CC-0BF7034D3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F8FE42F-039C-D927-CB17-95AE8802B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2134FC-B9E3-784D-94F5-ED54B3C50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8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9544-72A4-D269-CB1E-DE325DED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260AE3-0418-E0F7-C6F3-3A9A17F60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40C7A6-3E2F-A428-BA72-611604111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3341FE-6B4B-3FDF-D406-7DD1C1327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28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FE03-FF7F-D215-575A-1A0298E2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A13D2DD-76EF-596E-592B-2BC1A775D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2D602BC-5EBB-DF15-BB32-24986753D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3E85DA-D43E-7BE8-9B6F-EB10F3CFC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1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FA2E-6255-F165-4868-BD741ABBA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A81559-B4F8-C464-70A3-C1B7FC324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586E95B-BA2F-54EE-5A04-0E0004993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DE8EDC-6508-6F60-CA29-25D3694E5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467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A2C7-1F81-B358-3149-DF9000CC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597D3F-7E97-4360-14C5-2BE5257DD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D6A6B8-A4D1-5468-AD25-3D58F0DF5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DB7993-1C42-8B3C-7038-318B5F6BA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249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E4AC-E834-C920-C1D6-2172C49A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E82297-AF8F-70F2-53F7-FD9E71613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9F0AE3-5F83-C6BB-E7CB-9E372FAEC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ACD28B-2F39-D63B-4DFE-CC106293A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68044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BE8F-2244-41EE-17A0-E3A45C59D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FB446C-B5A2-EBCE-5236-84C0EF9AF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9A522D-1B29-07DA-12C2-F308D41AD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15CF3D-55CE-3B4C-D3E1-580C921E2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4340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E0FD-1AEE-AA13-12E5-FE332787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E0F1AAB-6210-D741-12A0-315EFA62F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C33F06-782D-3557-AC4B-BB8A2BB14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260F73-90C8-333C-FE11-73DFEEC96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6408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732B-8633-CC67-2E4E-7CB22BA2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8258FC-7311-8B16-59D6-3F820F2AA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6DA9071-CD5B-63F8-44AB-8CA92F249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911AD9-5C25-9F47-D4C5-D76E009BC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2DDE-883C-434B-8797-806F9583CCC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1227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9C63-A4D5-E1CF-3814-E84F6C3D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C1A921-DB4D-B845-B7AA-85E32E77B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DA6F2E-5846-365E-DBAD-643F38390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7CD632-CDB9-9BDA-A6A0-74F5E7FDC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82DDE-883C-434B-8797-806F9583CCCD}" type="slidenum">
              <a:rPr kumimoji="0" lang="pt-BR" sz="3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pt-BR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0298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aime Silveira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–Jaime Silveira</a:t>
            </a:r>
          </a:p>
        </p:txBody>
      </p:sp>
      <p:sp>
        <p:nvSpPr>
          <p:cNvPr id="94" name="“Digite uma citação aqui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“Digite uma citação aqui.”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688" y="1000125"/>
            <a:ext cx="21031200" cy="2651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0"/>
            <a:ext cx="24384000" cy="0"/>
          </a:xfrm>
        </p:spPr>
        <p:txBody>
          <a:bodyPr/>
          <a:lstStyle>
            <a:lvl1pPr algn="r">
              <a:defRPr lang="pt-BR"/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86690" y="13081000"/>
            <a:ext cx="597921" cy="471924"/>
          </a:xfrm>
        </p:spPr>
        <p:txBody>
          <a:bodyPr/>
          <a:lstStyle/>
          <a:p>
            <a:fld id="{1F56E01A-1004-4A05-871E-DC069AFB46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1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AC5649CC-C024-0441-ECD1-9379D13F2281}"/>
              </a:ext>
            </a:extLst>
          </p:cNvPr>
          <p:cNvSpPr/>
          <p:nvPr userDrawn="1"/>
        </p:nvSpPr>
        <p:spPr>
          <a:xfrm>
            <a:off x="-11279" y="-41019"/>
            <a:ext cx="191834" cy="13798038"/>
          </a:xfrm>
          <a:prstGeom prst="rect">
            <a:avLst/>
          </a:prstGeom>
          <a:solidFill>
            <a:srgbClr val="152B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543D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AF1DF83A-6BD1-F829-4245-79ACF8068A94}"/>
              </a:ext>
            </a:extLst>
          </p:cNvPr>
          <p:cNvSpPr/>
          <p:nvPr userDrawn="1"/>
        </p:nvSpPr>
        <p:spPr>
          <a:xfrm>
            <a:off x="170441" y="-41019"/>
            <a:ext cx="191834" cy="13798038"/>
          </a:xfrm>
          <a:prstGeom prst="rect">
            <a:avLst/>
          </a:prstGeom>
          <a:solidFill>
            <a:srgbClr val="2543D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543D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35D5E61-D0B9-87ED-24BB-60A3276EA1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260" b="-29759"/>
          <a:stretch/>
        </p:blipFill>
        <p:spPr>
          <a:xfrm>
            <a:off x="21785407" y="382480"/>
            <a:ext cx="2072120" cy="107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5971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3B0C8C75-4398-A456-4ADE-5765F5D7D094}"/>
              </a:ext>
            </a:extLst>
          </p:cNvPr>
          <p:cNvSpPr/>
          <p:nvPr userDrawn="1"/>
        </p:nvSpPr>
        <p:spPr>
          <a:xfrm rot="5400000">
            <a:off x="5333998" y="-5333998"/>
            <a:ext cx="13716001" cy="24384000"/>
          </a:xfrm>
          <a:prstGeom prst="rect">
            <a:avLst/>
          </a:prstGeom>
          <a:solidFill>
            <a:srgbClr val="2244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543D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1689100" y="717916"/>
            <a:ext cx="21005800" cy="15613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6600" b="1"/>
            </a:lvl1pPr>
          </a:lstStyle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013D5A91-24CA-88EF-17F9-FB081C4844D7}"/>
              </a:ext>
            </a:extLst>
          </p:cNvPr>
          <p:cNvSpPr/>
          <p:nvPr userDrawn="1"/>
        </p:nvSpPr>
        <p:spPr>
          <a:xfrm>
            <a:off x="-11279" y="-41019"/>
            <a:ext cx="191834" cy="13798038"/>
          </a:xfrm>
          <a:prstGeom prst="rect">
            <a:avLst/>
          </a:prstGeom>
          <a:solidFill>
            <a:srgbClr val="152B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543D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4D91D80F-1B6F-A873-EA72-805D3F2C0BE9}"/>
              </a:ext>
            </a:extLst>
          </p:cNvPr>
          <p:cNvSpPr/>
          <p:nvPr userDrawn="1"/>
        </p:nvSpPr>
        <p:spPr>
          <a:xfrm>
            <a:off x="170441" y="-41019"/>
            <a:ext cx="191834" cy="13798038"/>
          </a:xfrm>
          <a:prstGeom prst="rect">
            <a:avLst/>
          </a:prstGeom>
          <a:solidFill>
            <a:srgbClr val="2543D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543D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E86C875-5E36-DCB5-C42E-02A013B88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260" b="-29759"/>
          <a:stretch/>
        </p:blipFill>
        <p:spPr>
          <a:xfrm>
            <a:off x="21785407" y="382480"/>
            <a:ext cx="2072120" cy="1071931"/>
          </a:xfrm>
          <a:prstGeom prst="rect">
            <a:avLst/>
          </a:prstGeom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8CE77670-FC07-ED8D-F593-FDC5DCC5F5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3304"/>
          <a:stretch/>
        </p:blipFill>
        <p:spPr>
          <a:xfrm>
            <a:off x="21793600" y="377672"/>
            <a:ext cx="2072120" cy="81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8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E86C875-5E36-DCB5-C42E-02A013B88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260" b="-29759"/>
          <a:stretch/>
        </p:blipFill>
        <p:spPr>
          <a:xfrm>
            <a:off x="21785407" y="382480"/>
            <a:ext cx="2072120" cy="1071931"/>
          </a:xfrm>
          <a:prstGeom prst="rect">
            <a:avLst/>
          </a:prstGeom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94F9209-E5B4-83E4-B539-3BE2BAA5288F}"/>
              </a:ext>
            </a:extLst>
          </p:cNvPr>
          <p:cNvSpPr/>
          <p:nvPr userDrawn="1"/>
        </p:nvSpPr>
        <p:spPr>
          <a:xfrm rot="5400000">
            <a:off x="-138394" y="138395"/>
            <a:ext cx="13716001" cy="13439213"/>
          </a:xfrm>
          <a:prstGeom prst="rect">
            <a:avLst/>
          </a:prstGeom>
          <a:solidFill>
            <a:srgbClr val="2244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543D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1900382" y="10776316"/>
            <a:ext cx="19885025" cy="15613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6600" b="1">
                <a:solidFill>
                  <a:schemeClr val="bg1"/>
                </a:solidFill>
              </a:defRPr>
            </a:lvl1pPr>
          </a:lstStyle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1689378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365910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064980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969555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aime Silveira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–Jaime Silveira</a:t>
            </a:r>
          </a:p>
        </p:txBody>
      </p:sp>
      <p:sp>
        <p:nvSpPr>
          <p:cNvPr id="94" name="“Digite uma citação aqui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“Digite uma citação aqui.”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778453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102821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891784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71" r:id="rId9"/>
  </p:sldLayoutIdLst>
  <p:transition spd="med"/>
  <p:hf sldNum="0" hdr="0" dt="0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434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ransition spd="med"/>
  <p:hf sldNum="0" hdr="0" dt="0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6" Type="http://schemas.openxmlformats.org/officeDocument/2006/relationships/image" Target="../media/image2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file:///C:\YAMAHA%20-%20teste\NIPPON\Analisador_DEF_v9.xlsm!PPT_1Tri_TX_Absorcao!%5bAnalisador_DEF_v9.xlsm%5dPPT_1Tri_TX_Absorcao%20Gr&#225;fico%2015" TargetMode="External"/><Relationship Id="rId18" Type="http://schemas.openxmlformats.org/officeDocument/2006/relationships/image" Target="../media/image13.emf"/><Relationship Id="rId26" Type="http://schemas.openxmlformats.org/officeDocument/2006/relationships/image" Target="../media/image17.emf"/><Relationship Id="rId39" Type="http://schemas.openxmlformats.org/officeDocument/2006/relationships/oleObject" Target="file:///C:\YAMAHA%20-%20teste\NIPPON\Analisador_DEF_v9.xlsm!PPT!L30C8" TargetMode="External"/><Relationship Id="rId21" Type="http://schemas.openxmlformats.org/officeDocument/2006/relationships/oleObject" Target="file:///C:\YAMAHA%20-%20teste\NIPPON\Analisador_DEF_v9.xlsm!PPT_1Tri_TX_Absorcao!%5bAnalisador_DEF_v9.xlsm%5dPPT_1Tri_TX_Absorcao%20Gr&#225;fico%206" TargetMode="External"/><Relationship Id="rId34" Type="http://schemas.openxmlformats.org/officeDocument/2006/relationships/image" Target="../media/image21.emf"/><Relationship Id="rId42" Type="http://schemas.openxmlformats.org/officeDocument/2006/relationships/image" Target="../media/image25.emf"/><Relationship Id="rId47" Type="http://schemas.openxmlformats.org/officeDocument/2006/relationships/oleObject" Target="file:///C:\YAMAHA%20-%20teste\NIPPON\Analisador_DEF_v9.xlsm!PPT!L39C12" TargetMode="External"/><Relationship Id="rId50" Type="http://schemas.openxmlformats.org/officeDocument/2006/relationships/image" Target="../media/image29.emf"/><Relationship Id="rId7" Type="http://schemas.openxmlformats.org/officeDocument/2006/relationships/oleObject" Target="file:///C:\YAMAHA%20-%20teste\NIPPON\Analisador_DEF_v9.xlsm!PPT_1Tri_TX_Absorcao!%5bAnalisador_DEF_v9.xlsm%5dPPT_1Tri_TX_Absorcao%20Gr&#225;fico%208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2.emf"/><Relationship Id="rId29" Type="http://schemas.openxmlformats.org/officeDocument/2006/relationships/oleObject" Target="file:///C:\YAMAHA%20-%20teste\NIPPON\Analisador_DEF_v9.xlsm!PPT_1Tri_TX_Absorcao!%5bAnalisador_DEF_v9.xlsm%5dPPT_1Tri_TX_Absorcao%20Gr&#225;fico%2020" TargetMode="External"/><Relationship Id="rId11" Type="http://schemas.openxmlformats.org/officeDocument/2006/relationships/oleObject" Target="file:///C:\YAMAHA%20-%20teste\NIPPON\Analisador_DEF_v9.xlsm!PPT_1Tri_TX_Absorcao!%5bAnalisador_DEF_v9.xlsm%5dPPT_1Tri_TX_Absorcao%20Gr&#225;fico%2014" TargetMode="External"/><Relationship Id="rId24" Type="http://schemas.openxmlformats.org/officeDocument/2006/relationships/image" Target="../media/image16.emf"/><Relationship Id="rId32" Type="http://schemas.openxmlformats.org/officeDocument/2006/relationships/image" Target="../media/image20.emf"/><Relationship Id="rId37" Type="http://schemas.openxmlformats.org/officeDocument/2006/relationships/oleObject" Target="file:///C:\YAMAHA%20-%20teste\NIPPON\Analisador_DEF_v9.xlsm!PPT!L26C8" TargetMode="External"/><Relationship Id="rId40" Type="http://schemas.openxmlformats.org/officeDocument/2006/relationships/image" Target="../media/image24.emf"/><Relationship Id="rId45" Type="http://schemas.openxmlformats.org/officeDocument/2006/relationships/oleObject" Target="file:///C:\YAMAHA%20-%20teste\NIPPON\Analisador_DEF_v9.xlsm!PPT!L37C12" TargetMode="External"/><Relationship Id="rId5" Type="http://schemas.openxmlformats.org/officeDocument/2006/relationships/oleObject" Target="file:///C:\YAMAHA%20-%20teste\NIPPON\Analisador_DEF_v9.xlsm!PPT_1Tri_TX_Absorcao!%5bAnalisador_DEF_v9.xlsm%5dPPT_1Tri_TX_Absorcao%20Gr&#225;fico%207" TargetMode="External"/><Relationship Id="rId15" Type="http://schemas.openxmlformats.org/officeDocument/2006/relationships/oleObject" Target="file:///C:\YAMAHA%20-%20teste\NIPPON\Analisador_DEF_v9.xlsm!PPT!L11C2:L13C6" TargetMode="External"/><Relationship Id="rId23" Type="http://schemas.openxmlformats.org/officeDocument/2006/relationships/oleObject" Target="file:///C:\YAMAHA%20-%20teste\NIPPON\Analisador_DEF_v9.xlsm!PPT_1Tri_TX_Absorcao!%5bAnalisador_DEF_v9.xlsm%5dPPT_1Tri_TX_Absorcao%20Gr&#225;fico%2012" TargetMode="External"/><Relationship Id="rId28" Type="http://schemas.openxmlformats.org/officeDocument/2006/relationships/image" Target="../media/image18.emf"/><Relationship Id="rId36" Type="http://schemas.openxmlformats.org/officeDocument/2006/relationships/image" Target="../media/image22.emf"/><Relationship Id="rId49" Type="http://schemas.openxmlformats.org/officeDocument/2006/relationships/oleObject" Target="file:///C:\YAMAHA%20-%20teste\NIPPON\Analisador_DEF_v9.xlsm!Acoes1TRI!L4C2:L8C9" TargetMode="External"/><Relationship Id="rId10" Type="http://schemas.openxmlformats.org/officeDocument/2006/relationships/image" Target="../media/image9.emf"/><Relationship Id="rId19" Type="http://schemas.openxmlformats.org/officeDocument/2006/relationships/oleObject" Target="file:///C:\YAMAHA%20-%20teste\NIPPON\Analisador_DEF_v9.xlsm!PPT_1Tri_TX_Absorcao!%5bAnalisador_DEF_v9.xlsm%5dPPT_1Tri_TX_Absorcao%20Gr&#225;fico%203" TargetMode="External"/><Relationship Id="rId31" Type="http://schemas.openxmlformats.org/officeDocument/2006/relationships/oleObject" Target="file:///C:\YAMAHA%20-%20teste\NIPPON\Analisador_DEF_v9.xlsm!PPT_1Tri_TX_Absorcao!%5bAnalisador_DEF_v9.xlsm%5dPPT_1Tri_TX_Absorcao%20Gr&#225;fico%2024" TargetMode="External"/><Relationship Id="rId44" Type="http://schemas.openxmlformats.org/officeDocument/2006/relationships/image" Target="../media/image26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2C2:L9C6" TargetMode="External"/><Relationship Id="rId14" Type="http://schemas.openxmlformats.org/officeDocument/2006/relationships/image" Target="../media/image11.emf"/><Relationship Id="rId22" Type="http://schemas.openxmlformats.org/officeDocument/2006/relationships/image" Target="../media/image15.emf"/><Relationship Id="rId27" Type="http://schemas.openxmlformats.org/officeDocument/2006/relationships/oleObject" Target="file:///C:\YAMAHA%20-%20teste\NIPPON\Analisador_DEF_v9.xlsm!PPT_1Tri_TX_Absorcao!%5bAnalisador_DEF_v9.xlsm%5dPPT_1Tri_TX_Absorcao%20Gr&#225;fico%2019" TargetMode="External"/><Relationship Id="rId30" Type="http://schemas.openxmlformats.org/officeDocument/2006/relationships/image" Target="../media/image19.emf"/><Relationship Id="rId35" Type="http://schemas.openxmlformats.org/officeDocument/2006/relationships/oleObject" Target="file:///C:\YAMAHA%20-%20teste\NIPPON\Analisador_DEF_v9.xlsm!PPT!L19C2:L21C6" TargetMode="External"/><Relationship Id="rId43" Type="http://schemas.openxmlformats.org/officeDocument/2006/relationships/oleObject" Target="file:///C:\YAMAHA%20-%20teste\NIPPON\Analisador_DEF_v9.xlsm!PPT!L35C12" TargetMode="External"/><Relationship Id="rId48" Type="http://schemas.openxmlformats.org/officeDocument/2006/relationships/image" Target="../media/image28.emf"/><Relationship Id="rId8" Type="http://schemas.openxmlformats.org/officeDocument/2006/relationships/image" Target="../media/image8.emf"/><Relationship Id="rId3" Type="http://schemas.openxmlformats.org/officeDocument/2006/relationships/notesSlide" Target="../notesSlides/notesSlide2.xml"/><Relationship Id="rId12" Type="http://schemas.openxmlformats.org/officeDocument/2006/relationships/image" Target="../media/image10.emf"/><Relationship Id="rId17" Type="http://schemas.openxmlformats.org/officeDocument/2006/relationships/oleObject" Target="file:///C:\YAMAHA%20-%20teste\NIPPON\Analisador_DEF_v9.xlsm!PPT_1Tri_TX_Absorcao!%5bAnalisador_DEF_v9.xlsm%5dPPT_1Tri_TX_Absorcao%20Gr&#225;fico%202" TargetMode="External"/><Relationship Id="rId25" Type="http://schemas.openxmlformats.org/officeDocument/2006/relationships/oleObject" Target="file:///C:\YAMAHA%20-%20teste\NIPPON\Analisador_DEF_v9.xlsm!PPT!L15C2:L17C6" TargetMode="External"/><Relationship Id="rId33" Type="http://schemas.openxmlformats.org/officeDocument/2006/relationships/oleObject" Target="file:///C:\YAMAHA%20-%20teste\NIPPON\Analisador_DEF_v9.xlsm!PPT_1Tri_TX_Absorcao!%5bAnalisador_DEF_v9.xlsm%5dPPT_1Tri_TX_Absorcao%20Gr&#225;fico%2025" TargetMode="External"/><Relationship Id="rId38" Type="http://schemas.openxmlformats.org/officeDocument/2006/relationships/image" Target="../media/image23.emf"/><Relationship Id="rId46" Type="http://schemas.openxmlformats.org/officeDocument/2006/relationships/image" Target="../media/image27.emf"/><Relationship Id="rId20" Type="http://schemas.openxmlformats.org/officeDocument/2006/relationships/image" Target="../media/image14.emf"/><Relationship Id="rId41" Type="http://schemas.openxmlformats.org/officeDocument/2006/relationships/oleObject" Target="file:///C:\YAMAHA%20-%20teste\NIPPON\Analisador_DEF_v9.xlsm!PPT!L33C12" TargetMode="External"/><Relationship Id="rId1" Type="http://schemas.openxmlformats.org/officeDocument/2006/relationships/tags" Target="../tags/tag4.xml"/><Relationship Id="rId6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notesSlide" Target="../notesSlides/notesSlide3.xml"/><Relationship Id="rId7" Type="http://schemas.openxmlformats.org/officeDocument/2006/relationships/oleObject" Target="file:///C:\YAMAHA%20-%20teste\NIPPON\Analisador_DEF_v9.xlsm!PPT_1Tri_TX_Absorcao!%5bAnalisador_DEF_v9.xlsm%5dPPT_1Tri_TX_Absorcao%20Gr&#225;fico%208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6" Type="http://schemas.openxmlformats.org/officeDocument/2006/relationships/image" Target="../media/image30.emf"/><Relationship Id="rId5" Type="http://schemas.openxmlformats.org/officeDocument/2006/relationships/oleObject" Target="file:///C:\YAMAHA%20-%20teste\NIPPON\Analisador_DEF_v9.xlsm!PPT_1Tri_TX_Absorcao!%5bAnalisador_DEF_v9.xlsm%5dPPT_1Tri_TX_Absorcao%20Gr&#225;fico%207" TargetMode="External"/><Relationship Id="rId10" Type="http://schemas.openxmlformats.org/officeDocument/2006/relationships/image" Target="../media/image32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2C2:L9C6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file:///C:\YAMAHA%20-%20teste\NIPPON\Analisador_DEF_v9.xlsm!PPT_1Tri_TX_Absorcao!%5bAnalisador_DEF_v9.xlsm%5dPPT_1Tri_TX_Absorcao%20Gr&#225;fico%2020" TargetMode="External"/><Relationship Id="rId18" Type="http://schemas.openxmlformats.org/officeDocument/2006/relationships/image" Target="../media/image38.emf"/><Relationship Id="rId3" Type="http://schemas.openxmlformats.org/officeDocument/2006/relationships/notesSlide" Target="../notesSlides/notesSlide4.xml"/><Relationship Id="rId7" Type="http://schemas.openxmlformats.org/officeDocument/2006/relationships/oleObject" Target="file:///C:\YAMAHA%20-%20teste\NIPPON\Analisador_DEF_v9.xlsm!PPT_1Tri_TX_Absorcao!%5bAnalisador_DEF_v9.xlsm%5dPPT_1Tri_TX_Absorcao%20Gr&#225;fico%2015" TargetMode="External"/><Relationship Id="rId12" Type="http://schemas.openxmlformats.org/officeDocument/2006/relationships/image" Target="../media/image35.emf"/><Relationship Id="rId17" Type="http://schemas.openxmlformats.org/officeDocument/2006/relationships/oleObject" Target="file:///C:\YAMAHA%20-%20teste\NIPPON\Analisador_DEF_v9.xlsm!PPT_1Tri_TX_Absorcao!%5bAnalisador_DEF_v9.xlsm%5dPPT_1Tri_TX_Absorcao%20Gr&#225;fico%2025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37.emf"/><Relationship Id="rId20" Type="http://schemas.openxmlformats.org/officeDocument/2006/relationships/image" Target="../media/image39.emf"/><Relationship Id="rId1" Type="http://schemas.openxmlformats.org/officeDocument/2006/relationships/tags" Target="../tags/tag6.xml"/><Relationship Id="rId6" Type="http://schemas.openxmlformats.org/officeDocument/2006/relationships/image" Target="../media/image33.emf"/><Relationship Id="rId11" Type="http://schemas.openxmlformats.org/officeDocument/2006/relationships/oleObject" Target="file:///C:\YAMAHA%20-%20teste\NIPPON\Analisador_DEF_v9.xlsm!PPT_1Tri_TX_Absorcao!%5bAnalisador_DEF_v9.xlsm%5dPPT_1Tri_TX_Absorcao%20Gr&#225;fico%2019" TargetMode="External"/><Relationship Id="rId5" Type="http://schemas.openxmlformats.org/officeDocument/2006/relationships/oleObject" Target="file:///C:\YAMAHA%20-%20teste\NIPPON\Analisador_DEF_v9.xlsm!PPT_1Tri_TX_Absorcao!%5bAnalisador_DEF_v9.xlsm%5dPPT_1Tri_TX_Absorcao%20Gr&#225;fico%2014" TargetMode="External"/><Relationship Id="rId15" Type="http://schemas.openxmlformats.org/officeDocument/2006/relationships/oleObject" Target="file:///C:\YAMAHA%20-%20teste\NIPPON\Analisador_DEF_v9.xlsm!PPT_1Tri_TX_Absorcao!%5bAnalisador_DEF_v9.xlsm%5dPPT_1Tri_TX_Absorcao%20Gr&#225;fico%2024" TargetMode="External"/><Relationship Id="rId10" Type="http://schemas.openxmlformats.org/officeDocument/2006/relationships/image" Target="../media/image12.emf"/><Relationship Id="rId19" Type="http://schemas.openxmlformats.org/officeDocument/2006/relationships/oleObject" Target="file:///C:\YAMAHA%20-%20teste\NIPPON\Analisador_DEF_v9.xlsm!PPT!L19C2:L21C6" TargetMode="External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11C2:L13C6" TargetMode="External"/><Relationship Id="rId14" Type="http://schemas.openxmlformats.org/officeDocument/2006/relationships/image" Target="../media/image3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oleObject" Target="file:///C:\YAMAHA%20-%20teste\NIPPON\Analisador_DEF_v9.xlsm!PPT!L15C2:L17C6" TargetMode="External"/><Relationship Id="rId3" Type="http://schemas.openxmlformats.org/officeDocument/2006/relationships/notesSlide" Target="../notesSlides/notesSlide5.xml"/><Relationship Id="rId7" Type="http://schemas.openxmlformats.org/officeDocument/2006/relationships/oleObject" Target="file:///C:\YAMAHA%20-%20teste\NIPPON\Analisador_DEF_v9.xlsm!PPT_1Tri_TX_Absorcao!%5bAnalisador_DEF_v9.xlsm%5dPPT_1Tri_TX_Absorcao%20Gr&#225;fico%203" TargetMode="External"/><Relationship Id="rId12" Type="http://schemas.openxmlformats.org/officeDocument/2006/relationships/image" Target="../media/image43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6" Type="http://schemas.openxmlformats.org/officeDocument/2006/relationships/image" Target="../media/image40.emf"/><Relationship Id="rId11" Type="http://schemas.openxmlformats.org/officeDocument/2006/relationships/oleObject" Target="file:///C:\YAMAHA%20-%20teste\NIPPON\Analisador_DEF_v9.xlsm!PPT_1Tri_TX_Absorcao!%5bAnalisador_DEF_v9.xlsm%5dPPT_1Tri_TX_Absorcao%20Gr&#225;fico%2012" TargetMode="External"/><Relationship Id="rId5" Type="http://schemas.openxmlformats.org/officeDocument/2006/relationships/oleObject" Target="file:///C:\YAMAHA%20-%20teste\NIPPON\Analisador_DEF_v9.xlsm!PPT_1Tri_TX_Absorcao!%5bAnalisador_DEF_v9.xlsm%5dPPT_1Tri_TX_Absorcao%20Gr&#225;fico%202" TargetMode="External"/><Relationship Id="rId10" Type="http://schemas.openxmlformats.org/officeDocument/2006/relationships/image" Target="../media/image42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_1Tri_TX_Absorcao!%5bAnalisador_DEF_v9.xlsm%5dPPT_1Tri_TX_Absorcao%20Gr&#225;fico%206" TargetMode="External"/><Relationship Id="rId14" Type="http://schemas.openxmlformats.org/officeDocument/2006/relationships/image" Target="../media/image4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oleObject" Target="file:///C:\YAMAHA%20-%20teste\NIPPON\Analisador_DEF_v9.xlsm!PPT!L37C12" TargetMode="External"/><Relationship Id="rId18" Type="http://schemas.openxmlformats.org/officeDocument/2006/relationships/image" Target="../media/image45.emf"/><Relationship Id="rId3" Type="http://schemas.openxmlformats.org/officeDocument/2006/relationships/notesSlide" Target="../notesSlides/notesSlide6.xml"/><Relationship Id="rId7" Type="http://schemas.openxmlformats.org/officeDocument/2006/relationships/oleObject" Target="file:///C:\YAMAHA%20-%20teste\NIPPON\Analisador_DEF_v9.xlsm!PPT!L30C8" TargetMode="External"/><Relationship Id="rId12" Type="http://schemas.openxmlformats.org/officeDocument/2006/relationships/image" Target="../media/image26.emf"/><Relationship Id="rId17" Type="http://schemas.openxmlformats.org/officeDocument/2006/relationships/oleObject" Target="file:///C:\YAMAHA%20-%20teste\NIPPON\Analisador_DEF_v9.xlsm!Acoes1TRI!L4C2:L8C9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8.emf"/><Relationship Id="rId1" Type="http://schemas.openxmlformats.org/officeDocument/2006/relationships/tags" Target="../tags/tag8.xml"/><Relationship Id="rId6" Type="http://schemas.openxmlformats.org/officeDocument/2006/relationships/image" Target="../media/image23.emf"/><Relationship Id="rId11" Type="http://schemas.openxmlformats.org/officeDocument/2006/relationships/oleObject" Target="file:///C:\YAMAHA%20-%20teste\NIPPON\Analisador_DEF_v9.xlsm!PPT!L35C12" TargetMode="External"/><Relationship Id="rId5" Type="http://schemas.openxmlformats.org/officeDocument/2006/relationships/oleObject" Target="file:///C:\YAMAHA%20-%20teste\NIPPON\Analisador_DEF_v9.xlsm!PPT!L26C8" TargetMode="External"/><Relationship Id="rId15" Type="http://schemas.openxmlformats.org/officeDocument/2006/relationships/oleObject" Target="file:///C:\YAMAHA%20-%20teste\NIPPON\Analisador_DEF_v9.xlsm!PPT!L39C12" TargetMode="External"/><Relationship Id="rId10" Type="http://schemas.openxmlformats.org/officeDocument/2006/relationships/image" Target="../media/image25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33C12" TargetMode="External"/><Relationship Id="rId14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6" Type="http://schemas.openxmlformats.org/officeDocument/2006/relationships/image" Target="../media/image2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file:///C:\YAMAHA%20-%20teste\NIPPON\Analisador_DEF_v9.xlsm!PPT!L35C13" TargetMode="External"/><Relationship Id="rId18" Type="http://schemas.openxmlformats.org/officeDocument/2006/relationships/image" Target="../media/image52.emf"/><Relationship Id="rId26" Type="http://schemas.openxmlformats.org/officeDocument/2006/relationships/image" Target="../media/image56.emf"/><Relationship Id="rId39" Type="http://schemas.openxmlformats.org/officeDocument/2006/relationships/oleObject" Target="file:///C:\YAMAHA%20-%20teste\NIPPON\Analisador_DEF_v9.xlsm!PPT!L59C2:L61C6" TargetMode="External"/><Relationship Id="rId21" Type="http://schemas.openxmlformats.org/officeDocument/2006/relationships/oleObject" Target="file:///C:\YAMAHA%20-%20teste\NIPPON\Analisador_DEF_v9.xlsm!PPT_2Tri_TX_Absorcao!%5bAnalisador_DEF_v9.xlsm%5dPPT_2Tri_TX_Absorcao%20Gr&#225;fico%204" TargetMode="External"/><Relationship Id="rId34" Type="http://schemas.openxmlformats.org/officeDocument/2006/relationships/image" Target="../media/image60.emf"/><Relationship Id="rId42" Type="http://schemas.openxmlformats.org/officeDocument/2006/relationships/image" Target="../media/image64.emf"/><Relationship Id="rId47" Type="http://schemas.openxmlformats.org/officeDocument/2006/relationships/oleObject" Target="file:///C:\YAMAHA%20-%20teste\NIPPON\Analisador_DEF_v9.xlsm!PPT_2Tri_TX_Absorcao!%5bAnalisador_DEF_v9.xlsm%5dPPT_2Tri_TX_Absorcao%20Gr&#225;fico%2026" TargetMode="External"/><Relationship Id="rId50" Type="http://schemas.openxmlformats.org/officeDocument/2006/relationships/image" Target="../media/image68.emf"/><Relationship Id="rId7" Type="http://schemas.openxmlformats.org/officeDocument/2006/relationships/oleObject" Target="file:///C:\YAMAHA%20-%20teste\NIPPON\Analisador_DEF_v9.xlsm!PPT!L26C9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51.emf"/><Relationship Id="rId29" Type="http://schemas.openxmlformats.org/officeDocument/2006/relationships/oleObject" Target="file:///C:\YAMAHA%20-%20teste\NIPPON\Analisador_DEF_v9.xlsm!PPT!L51C2:L53C6" TargetMode="External"/><Relationship Id="rId11" Type="http://schemas.openxmlformats.org/officeDocument/2006/relationships/oleObject" Target="file:///C:\YAMAHA%20-%20teste\NIPPON\Analisador_DEF_v9.xlsm!PPT!L33C13" TargetMode="External"/><Relationship Id="rId24" Type="http://schemas.openxmlformats.org/officeDocument/2006/relationships/image" Target="../media/image55.emf"/><Relationship Id="rId32" Type="http://schemas.openxmlformats.org/officeDocument/2006/relationships/image" Target="../media/image59.emf"/><Relationship Id="rId37" Type="http://schemas.openxmlformats.org/officeDocument/2006/relationships/oleObject" Target="file:///C:\YAMAHA%20-%20teste\NIPPON\Analisador_DEF_v9.xlsm!PPT_2Tri_TX_Absorcao!%5bAnalisador_DEF_v9.xlsm%5dPPT_2Tri_TX_Absorcao%20Gr&#225;fico%2018" TargetMode="External"/><Relationship Id="rId40" Type="http://schemas.openxmlformats.org/officeDocument/2006/relationships/image" Target="../media/image63.emf"/><Relationship Id="rId45" Type="http://schemas.openxmlformats.org/officeDocument/2006/relationships/oleObject" Target="file:///C:\YAMAHA%20-%20teste\NIPPON\Analisador_DEF_v9.xlsm!PPT_2Tri_TX_Absorcao!%5bAnalisador_DEF_v9.xlsm%5dPPT_2Tri_TX_Absorcao%20Gr&#225;fico%2025" TargetMode="External"/><Relationship Id="rId5" Type="http://schemas.openxmlformats.org/officeDocument/2006/relationships/oleObject" Target="file:///C:\YAMAHA%20-%20teste\NIPPON\Analisador_DEF_v9.xlsm!Acoes2TRI!L4C2:L8C9" TargetMode="External"/><Relationship Id="rId15" Type="http://schemas.openxmlformats.org/officeDocument/2006/relationships/oleObject" Target="file:///C:\YAMAHA%20-%20teste\NIPPON\Analisador_DEF_v9.xlsm!PPT!L37C13" TargetMode="External"/><Relationship Id="rId23" Type="http://schemas.openxmlformats.org/officeDocument/2006/relationships/oleObject" Target="file:///C:\YAMAHA%20-%20teste\NIPPON\Analisador_DEF_v9.xlsm!PPT!L42C2:L49C6" TargetMode="External"/><Relationship Id="rId28" Type="http://schemas.openxmlformats.org/officeDocument/2006/relationships/image" Target="../media/image57.emf"/><Relationship Id="rId36" Type="http://schemas.openxmlformats.org/officeDocument/2006/relationships/image" Target="../media/image61.emf"/><Relationship Id="rId49" Type="http://schemas.openxmlformats.org/officeDocument/2006/relationships/oleObject" Target="file:///C:\YAMAHA%20-%20teste\NIPPON\Analisador_DEF_v9.xlsm!PPT!L55C2:L57C6" TargetMode="External"/><Relationship Id="rId10" Type="http://schemas.openxmlformats.org/officeDocument/2006/relationships/image" Target="../media/image48.emf"/><Relationship Id="rId19" Type="http://schemas.openxmlformats.org/officeDocument/2006/relationships/oleObject" Target="file:///C:\YAMAHA%20-%20teste\NIPPON\Analisador_DEF_v9.xlsm!PPT_2Tri_TX_Absorcao!%5bAnalisador_DEF_v9.xlsm%5dPPT_2Tri_TX_Absorcao%20Gr&#225;fico%203" TargetMode="External"/><Relationship Id="rId31" Type="http://schemas.openxmlformats.org/officeDocument/2006/relationships/oleObject" Target="file:///C:\YAMAHA%20-%20teste\NIPPON\Analisador_DEF_v9.xlsm!PPT_2Tri_TX_Absorcao!%5bAnalisador_DEF_v9.xlsm%5dPPT_2Tri_TX_Absorcao%20Gr&#225;fico%2012" TargetMode="External"/><Relationship Id="rId44" Type="http://schemas.openxmlformats.org/officeDocument/2006/relationships/image" Target="../media/image65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30C9" TargetMode="External"/><Relationship Id="rId14" Type="http://schemas.openxmlformats.org/officeDocument/2006/relationships/image" Target="../media/image50.emf"/><Relationship Id="rId22" Type="http://schemas.openxmlformats.org/officeDocument/2006/relationships/image" Target="../media/image54.emf"/><Relationship Id="rId27" Type="http://schemas.openxmlformats.org/officeDocument/2006/relationships/oleObject" Target="file:///C:\YAMAHA%20-%20teste\NIPPON\Analisador_DEF_v9.xlsm!PPT_2Tri_TX_Absorcao!%5bAnalisador_DEF_v9.xlsm%5dPPT_2Tri_TX_Absorcao%20Gr&#225;fico%209" TargetMode="External"/><Relationship Id="rId30" Type="http://schemas.openxmlformats.org/officeDocument/2006/relationships/image" Target="../media/image58.emf"/><Relationship Id="rId35" Type="http://schemas.openxmlformats.org/officeDocument/2006/relationships/oleObject" Target="file:///C:\YAMAHA%20-%20teste\NIPPON\Analisador_DEF_v9.xlsm!PPT_2Tri_TX_Absorcao!%5bAnalisador_DEF_v9.xlsm%5dPPT_2Tri_TX_Absorcao%20Gr&#225;fico%2017" TargetMode="External"/><Relationship Id="rId43" Type="http://schemas.openxmlformats.org/officeDocument/2006/relationships/oleObject" Target="file:///C:\YAMAHA%20-%20teste\NIPPON\Analisador_DEF_v9.xlsm!PPT_2Tri_TX_Absorcao!%5bAnalisador_DEF_v9.xlsm%5dPPT_2Tri_TX_Absorcao%20Gr&#225;fico%2022" TargetMode="External"/><Relationship Id="rId48" Type="http://schemas.openxmlformats.org/officeDocument/2006/relationships/image" Target="../media/image67.emf"/><Relationship Id="rId8" Type="http://schemas.openxmlformats.org/officeDocument/2006/relationships/image" Target="../media/image47.emf"/><Relationship Id="rId3" Type="http://schemas.openxmlformats.org/officeDocument/2006/relationships/notesSlide" Target="../notesSlides/notesSlide8.xml"/><Relationship Id="rId12" Type="http://schemas.openxmlformats.org/officeDocument/2006/relationships/image" Target="../media/image49.emf"/><Relationship Id="rId17" Type="http://schemas.openxmlformats.org/officeDocument/2006/relationships/oleObject" Target="file:///C:\YAMAHA%20-%20teste\NIPPON\Analisador_DEF_v9.xlsm!PPT!L39C13" TargetMode="External"/><Relationship Id="rId25" Type="http://schemas.openxmlformats.org/officeDocument/2006/relationships/oleObject" Target="file:///C:\YAMAHA%20-%20teste\NIPPON\Analisador_DEF_v9.xlsm!PPT_2Tri_TX_Absorcao!%5bAnalisador_DEF_v9.xlsm%5dPPT_2Tri_TX_Absorcao%20Gr&#225;fico%208" TargetMode="External"/><Relationship Id="rId33" Type="http://schemas.openxmlformats.org/officeDocument/2006/relationships/oleObject" Target="file:///C:\YAMAHA%20-%20teste\NIPPON\Analisador_DEF_v9.xlsm!PPT_2Tri_TX_Absorcao!%5bAnalisador_DEF_v9.xlsm%5dPPT_2Tri_TX_Absorcao%20Gr&#225;fico%2013" TargetMode="External"/><Relationship Id="rId38" Type="http://schemas.openxmlformats.org/officeDocument/2006/relationships/image" Target="../media/image62.emf"/><Relationship Id="rId46" Type="http://schemas.openxmlformats.org/officeDocument/2006/relationships/image" Target="../media/image66.emf"/><Relationship Id="rId20" Type="http://schemas.openxmlformats.org/officeDocument/2006/relationships/image" Target="../media/image53.emf"/><Relationship Id="rId41" Type="http://schemas.openxmlformats.org/officeDocument/2006/relationships/oleObject" Target="file:///C:\YAMAHA%20-%20teste\NIPPON\Analisador_DEF_v9.xlsm!PPT_2Tri_TX_Absorcao!%5bAnalisador_DEF_v9.xlsm%5dPPT_2Tri_TX_Absorcao%20Gr&#225;fico%2021" TargetMode="External"/><Relationship Id="rId1" Type="http://schemas.openxmlformats.org/officeDocument/2006/relationships/tags" Target="../tags/tag10.xml"/><Relationship Id="rId6" Type="http://schemas.openxmlformats.org/officeDocument/2006/relationships/image" Target="../media/image4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notesSlide" Target="../notesSlides/notesSlide9.xml"/><Relationship Id="rId7" Type="http://schemas.openxmlformats.org/officeDocument/2006/relationships/oleObject" Target="file:///C:\YAMAHA%20-%20teste\NIPPON\Analisador_DEF_v9.xlsm!PPT_2Tri_TX_Absorcao!%5bAnalisador_DEF_v9.xlsm%5dPPT_2Tri_TX_Absorcao%20Gr&#225;fico%204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Relationship Id="rId6" Type="http://schemas.openxmlformats.org/officeDocument/2006/relationships/image" Target="../media/image69.emf"/><Relationship Id="rId5" Type="http://schemas.openxmlformats.org/officeDocument/2006/relationships/oleObject" Target="file:///C:\YAMAHA%20-%20teste\NIPPON\Analisador_DEF_v9.xlsm!PPT_2Tri_TX_Absorcao!%5bAnalisador_DEF_v9.xlsm%5dPPT_2Tri_TX_Absorcao%20Gr&#225;fico%203" TargetMode="External"/><Relationship Id="rId10" Type="http://schemas.openxmlformats.org/officeDocument/2006/relationships/image" Target="../media/image71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42C2:L49C6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oleObject" Target="file:///C:\YAMAHA%20-%20teste\NIPPON\Analisador_DEF_v9.xlsm!PPT_2Tri_TX_Absorcao!%5bAnalisador_DEF_v9.xlsm%5dPPT_2Tri_TX_Absorcao%20Gr&#225;fico%2017" TargetMode="External"/><Relationship Id="rId18" Type="http://schemas.openxmlformats.org/officeDocument/2006/relationships/image" Target="../media/image76.emf"/><Relationship Id="rId3" Type="http://schemas.openxmlformats.org/officeDocument/2006/relationships/notesSlide" Target="../notesSlides/notesSlide10.xml"/><Relationship Id="rId7" Type="http://schemas.openxmlformats.org/officeDocument/2006/relationships/oleObject" Target="file:///C:\YAMAHA%20-%20teste\NIPPON\Analisador_DEF_v9.xlsm!PPT_2Tri_TX_Absorcao!%5bAnalisador_DEF_v9.xlsm%5dPPT_2Tri_TX_Absorcao%20Gr&#225;fico%209" TargetMode="External"/><Relationship Id="rId12" Type="http://schemas.openxmlformats.org/officeDocument/2006/relationships/image" Target="../media/image62.emf"/><Relationship Id="rId17" Type="http://schemas.openxmlformats.org/officeDocument/2006/relationships/oleObject" Target="file:///C:\YAMAHA%20-%20teste\NIPPON\Analisador_DEF_v9.xlsm!PPT_2Tri_TX_Absorcao!%5bAnalisador_DEF_v9.xlsm%5dPPT_2Tri_TX_Absorcao%20Gr&#225;fico%2012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63.emf"/><Relationship Id="rId20" Type="http://schemas.openxmlformats.org/officeDocument/2006/relationships/image" Target="../media/image77.emf"/><Relationship Id="rId1" Type="http://schemas.openxmlformats.org/officeDocument/2006/relationships/tags" Target="../tags/tag12.xml"/><Relationship Id="rId6" Type="http://schemas.openxmlformats.org/officeDocument/2006/relationships/image" Target="../media/image72.emf"/><Relationship Id="rId11" Type="http://schemas.openxmlformats.org/officeDocument/2006/relationships/oleObject" Target="file:///C:\YAMAHA%20-%20teste\NIPPON\Analisador_DEF_v9.xlsm!PPT_2Tri_TX_Absorcao!%5bAnalisador_DEF_v9.xlsm%5dPPT_2Tri_TX_Absorcao%20Gr&#225;fico%2018" TargetMode="External"/><Relationship Id="rId5" Type="http://schemas.openxmlformats.org/officeDocument/2006/relationships/oleObject" Target="file:///C:\YAMAHA%20-%20teste\NIPPON\Analisador_DEF_v9.xlsm!PPT_2Tri_TX_Absorcao!%5bAnalisador_DEF_v9.xlsm%5dPPT_2Tri_TX_Absorcao%20Gr&#225;fico%208" TargetMode="External"/><Relationship Id="rId15" Type="http://schemas.openxmlformats.org/officeDocument/2006/relationships/oleObject" Target="file:///C:\YAMAHA%20-%20teste\NIPPON\Analisador_DEF_v9.xlsm!PPT!L59C2:L61C6" TargetMode="External"/><Relationship Id="rId10" Type="http://schemas.openxmlformats.org/officeDocument/2006/relationships/image" Target="../media/image74.emf"/><Relationship Id="rId19" Type="http://schemas.openxmlformats.org/officeDocument/2006/relationships/oleObject" Target="file:///C:\YAMAHA%20-%20teste\NIPPON\Analisador_DEF_v9.xlsm!PPT_2Tri_TX_Absorcao!%5bAnalisador_DEF_v9.xlsm%5dPPT_2Tri_TX_Absorcao%20Gr&#225;fico%2013" TargetMode="External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51C2:L53C6" TargetMode="External"/><Relationship Id="rId14" Type="http://schemas.openxmlformats.org/officeDocument/2006/relationships/image" Target="../media/image7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13" Type="http://schemas.openxmlformats.org/officeDocument/2006/relationships/oleObject" Target="file:///C:\YAMAHA%20-%20teste\NIPPON\Analisador_DEF_v9.xlsm!PPT!L55C2:L57C6" TargetMode="External"/><Relationship Id="rId3" Type="http://schemas.openxmlformats.org/officeDocument/2006/relationships/notesSlide" Target="../notesSlides/notesSlide11.xml"/><Relationship Id="rId7" Type="http://schemas.openxmlformats.org/officeDocument/2006/relationships/oleObject" Target="file:///C:\YAMAHA%20-%20teste\NIPPON\Analisador_DEF_v9.xlsm!PPT_2Tri_TX_Absorcao!%5bAnalisador_DEF_v9.xlsm%5dPPT_2Tri_TX_Absorcao%20Gr&#225;fico%2022" TargetMode="External"/><Relationship Id="rId12" Type="http://schemas.openxmlformats.org/officeDocument/2006/relationships/image" Target="../media/image80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Relationship Id="rId6" Type="http://schemas.openxmlformats.org/officeDocument/2006/relationships/image" Target="../media/image64.emf"/><Relationship Id="rId11" Type="http://schemas.openxmlformats.org/officeDocument/2006/relationships/oleObject" Target="file:///C:\YAMAHA%20-%20teste\NIPPON\Analisador_DEF_v9.xlsm!PPT_2Tri_TX_Absorcao!%5bAnalisador_DEF_v9.xlsm%5dPPT_2Tri_TX_Absorcao%20Gr&#225;fico%2026" TargetMode="External"/><Relationship Id="rId5" Type="http://schemas.openxmlformats.org/officeDocument/2006/relationships/oleObject" Target="file:///C:\YAMAHA%20-%20teste\NIPPON\Analisador_DEF_v9.xlsm!PPT_2Tri_TX_Absorcao!%5bAnalisador_DEF_v9.xlsm%5dPPT_2Tri_TX_Absorcao%20Gr&#225;fico%2021" TargetMode="External"/><Relationship Id="rId10" Type="http://schemas.openxmlformats.org/officeDocument/2006/relationships/image" Target="../media/image79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_2Tri_TX_Absorcao!%5bAnalisador_DEF_v9.xlsm%5dPPT_2Tri_TX_Absorcao%20Gr&#225;fico%2025" TargetMode="External"/><Relationship Id="rId14" Type="http://schemas.openxmlformats.org/officeDocument/2006/relationships/image" Target="../media/image8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oleObject" Target="file:///C:\YAMAHA%20-%20teste\NIPPON\Analisador_DEF_v9.xlsm!PPT!L35C13" TargetMode="External"/><Relationship Id="rId18" Type="http://schemas.openxmlformats.org/officeDocument/2006/relationships/image" Target="../media/image52.emf"/><Relationship Id="rId3" Type="http://schemas.openxmlformats.org/officeDocument/2006/relationships/notesSlide" Target="../notesSlides/notesSlide12.xml"/><Relationship Id="rId7" Type="http://schemas.openxmlformats.org/officeDocument/2006/relationships/oleObject" Target="file:///C:\YAMAHA%20-%20teste\NIPPON\Analisador_DEF_v9.xlsm!PPT!L26C9" TargetMode="External"/><Relationship Id="rId12" Type="http://schemas.openxmlformats.org/officeDocument/2006/relationships/image" Target="../media/image49.emf"/><Relationship Id="rId17" Type="http://schemas.openxmlformats.org/officeDocument/2006/relationships/oleObject" Target="file:///C:\YAMAHA%20-%20teste\NIPPON\Analisador_DEF_v9.xlsm!PPT!L39C13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85.emf"/><Relationship Id="rId1" Type="http://schemas.openxmlformats.org/officeDocument/2006/relationships/tags" Target="../tags/tag14.xml"/><Relationship Id="rId6" Type="http://schemas.openxmlformats.org/officeDocument/2006/relationships/image" Target="../media/image82.emf"/><Relationship Id="rId11" Type="http://schemas.openxmlformats.org/officeDocument/2006/relationships/oleObject" Target="file:///C:\YAMAHA%20-%20teste\NIPPON\Analisador_DEF_v9.xlsm!PPT!L33C13" TargetMode="External"/><Relationship Id="rId5" Type="http://schemas.openxmlformats.org/officeDocument/2006/relationships/oleObject" Target="file:///C:\YAMAHA%20-%20teste\NIPPON\Analisador_DEF_v9.xlsm!Acoes2TRI!L4C2:L8C9" TargetMode="External"/><Relationship Id="rId15" Type="http://schemas.openxmlformats.org/officeDocument/2006/relationships/oleObject" Target="file:///C:\YAMAHA%20-%20teste\NIPPON\Analisador_DEF_v9.xlsm!PPT!L37C13" TargetMode="External"/><Relationship Id="rId10" Type="http://schemas.openxmlformats.org/officeDocument/2006/relationships/image" Target="../media/image84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30C9" TargetMode="External"/><Relationship Id="rId14" Type="http://schemas.openxmlformats.org/officeDocument/2006/relationships/image" Target="../media/image5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Relationship Id="rId6" Type="http://schemas.openxmlformats.org/officeDocument/2006/relationships/image" Target="../media/image2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file:///C:\YAMAHA%20-%20teste\NIPPON\Analisador_DEF_v9.xlsm!PPT_3Tri_TX_Absorcao!%5bAnalisador_DEF_v9.xlsm%5dPPT_3Tri_TX_Absorcao%20Gr&#225;fico%2022" TargetMode="External"/><Relationship Id="rId18" Type="http://schemas.openxmlformats.org/officeDocument/2006/relationships/image" Target="../media/image92.emf"/><Relationship Id="rId26" Type="http://schemas.openxmlformats.org/officeDocument/2006/relationships/image" Target="../media/image96.emf"/><Relationship Id="rId39" Type="http://schemas.openxmlformats.org/officeDocument/2006/relationships/oleObject" Target="file:///C:\YAMAHA%20-%20teste\NIPPON\Analisador_DEF_v9.xlsm!PPT!L30C10" TargetMode="External"/><Relationship Id="rId21" Type="http://schemas.openxmlformats.org/officeDocument/2006/relationships/oleObject" Target="file:///C:\YAMAHA%20-%20teste\NIPPON\Analisador_DEF_v9.xlsm!PPT_3Tri_TX_Absorcao!%5bAnalisador_DEF_v9.xlsm%5dPPT_3Tri_TX_Absorcao%20Gr&#225;fico%208" TargetMode="External"/><Relationship Id="rId34" Type="http://schemas.openxmlformats.org/officeDocument/2006/relationships/image" Target="../media/image100.emf"/><Relationship Id="rId42" Type="http://schemas.openxmlformats.org/officeDocument/2006/relationships/image" Target="../media/image104.emf"/><Relationship Id="rId47" Type="http://schemas.openxmlformats.org/officeDocument/2006/relationships/oleObject" Target="file:///C:\YAMAHA%20-%20teste\NIPPON\Analisador_DEF_v9.xlsm!Acoes3TRI!L4C2:L8C9" TargetMode="External"/><Relationship Id="rId7" Type="http://schemas.openxmlformats.org/officeDocument/2006/relationships/oleObject" Target="file:///C:\YAMAHA%20-%20teste\NIPPON\Analisador_DEF_v9.xlsm!PPT_3Tri_TX_Absorcao!%5bAnalisador_DEF_v9.xlsm%5dPPT_3Tri_TX_Absorcao%20Gr&#225;fico%204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91.emf"/><Relationship Id="rId29" Type="http://schemas.openxmlformats.org/officeDocument/2006/relationships/oleObject" Target="file:///C:\YAMAHA%20-%20teste\NIPPON\Analisador_DEF_v9.xlsm!PPT_3Tri_TX_Absorcao!%5bAnalisador_DEF_v9.xlsm%5dPPT_3Tri_TX_Absorcao%20Gr&#225;fico%2013" TargetMode="External"/><Relationship Id="rId1" Type="http://schemas.openxmlformats.org/officeDocument/2006/relationships/tags" Target="../tags/tag16.xml"/><Relationship Id="rId6" Type="http://schemas.openxmlformats.org/officeDocument/2006/relationships/image" Target="../media/image86.emf"/><Relationship Id="rId11" Type="http://schemas.openxmlformats.org/officeDocument/2006/relationships/oleObject" Target="file:///C:\YAMAHA%20-%20teste\NIPPON\Analisador_DEF_v9.xlsm!PPT_3Tri_TX_Absorcao!%5bAnalisador_DEF_v9.xlsm%5dPPT_3Tri_TX_Absorcao%20Gr&#225;fico%2021" TargetMode="External"/><Relationship Id="rId24" Type="http://schemas.openxmlformats.org/officeDocument/2006/relationships/image" Target="../media/image95.emf"/><Relationship Id="rId32" Type="http://schemas.openxmlformats.org/officeDocument/2006/relationships/image" Target="../media/image99.emf"/><Relationship Id="rId37" Type="http://schemas.openxmlformats.org/officeDocument/2006/relationships/oleObject" Target="file:///C:\YAMAHA%20-%20teste\NIPPON\Analisador_DEF_v9.xlsm!PPT!L26C10" TargetMode="External"/><Relationship Id="rId40" Type="http://schemas.openxmlformats.org/officeDocument/2006/relationships/image" Target="../media/image103.emf"/><Relationship Id="rId45" Type="http://schemas.openxmlformats.org/officeDocument/2006/relationships/oleObject" Target="file:///C:\YAMAHA%20-%20teste\NIPPON\Analisador_DEF_v9.xlsm!PPT!L37C14" TargetMode="External"/><Relationship Id="rId5" Type="http://schemas.openxmlformats.org/officeDocument/2006/relationships/oleObject" Target="file:///C:\YAMAHA%20-%20teste\NIPPON\Analisador_DEF_v9.xlsm!PPT_3Tri_TX_Absorcao!%5bAnalisador_DEF_v9.xlsm%5dPPT_3Tri_TX_Absorcao%20Gr&#225;fico%203" TargetMode="External"/><Relationship Id="rId15" Type="http://schemas.openxmlformats.org/officeDocument/2006/relationships/oleObject" Target="file:///C:\YAMAHA%20-%20teste\NIPPON\Analisador_DEF_v9.xlsm!PPT_3Tri_TX_Absorcao!%5bAnalisador_DEF_v9.xlsm%5dPPT_3Tri_TX_Absorcao%20Gr&#225;fico%2025" TargetMode="External"/><Relationship Id="rId23" Type="http://schemas.openxmlformats.org/officeDocument/2006/relationships/oleObject" Target="file:///C:\YAMAHA%20-%20teste\NIPPON\Analisador_DEF_v9.xlsm!PPT_3Tri_TX_Absorcao!%5bAnalisador_DEF_v9.xlsm%5dPPT_3Tri_TX_Absorcao%20Gr&#225;fico%209" TargetMode="External"/><Relationship Id="rId28" Type="http://schemas.openxmlformats.org/officeDocument/2006/relationships/image" Target="../media/image97.emf"/><Relationship Id="rId36" Type="http://schemas.openxmlformats.org/officeDocument/2006/relationships/image" Target="../media/image101.emf"/><Relationship Id="rId10" Type="http://schemas.openxmlformats.org/officeDocument/2006/relationships/image" Target="../media/image88.emf"/><Relationship Id="rId19" Type="http://schemas.openxmlformats.org/officeDocument/2006/relationships/oleObject" Target="file:///C:\YAMAHA%20-%20teste\NIPPON\Analisador_DEF_v9.xlsm!PPT!L73C2:L75C6" TargetMode="External"/><Relationship Id="rId31" Type="http://schemas.openxmlformats.org/officeDocument/2006/relationships/oleObject" Target="file:///C:\YAMAHA%20-%20teste\NIPPON\Analisador_DEF_v9.xlsm!PPT_3Tri_TX_Absorcao!%5bAnalisador_DEF_v9.xlsm%5dPPT_3Tri_TX_Absorcao%20Gr&#225;fico%2017" TargetMode="External"/><Relationship Id="rId44" Type="http://schemas.openxmlformats.org/officeDocument/2006/relationships/image" Target="../media/image105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64C2:L71C6" TargetMode="External"/><Relationship Id="rId14" Type="http://schemas.openxmlformats.org/officeDocument/2006/relationships/image" Target="../media/image90.emf"/><Relationship Id="rId22" Type="http://schemas.openxmlformats.org/officeDocument/2006/relationships/image" Target="../media/image94.emf"/><Relationship Id="rId27" Type="http://schemas.openxmlformats.org/officeDocument/2006/relationships/oleObject" Target="file:///C:\YAMAHA%20-%20teste\NIPPON\Analisador_DEF_v9.xlsm!PPT_3Tri_TX_Absorcao!%5bAnalisador_DEF_v9.xlsm%5dPPT_3Tri_TX_Absorcao%20Gr&#225;fico%2012" TargetMode="External"/><Relationship Id="rId30" Type="http://schemas.openxmlformats.org/officeDocument/2006/relationships/image" Target="../media/image98.emf"/><Relationship Id="rId35" Type="http://schemas.openxmlformats.org/officeDocument/2006/relationships/oleObject" Target="file:///C:\YAMAHA%20-%20teste\NIPPON\Analisador_DEF_v9.xlsm!PPT!L81C2:L83C6" TargetMode="External"/><Relationship Id="rId43" Type="http://schemas.openxmlformats.org/officeDocument/2006/relationships/oleObject" Target="file:///C:\YAMAHA%20-%20teste\NIPPON\Analisador_DEF_v9.xlsm!PPT!L35C14" TargetMode="External"/><Relationship Id="rId48" Type="http://schemas.openxmlformats.org/officeDocument/2006/relationships/image" Target="../media/image106.emf"/><Relationship Id="rId8" Type="http://schemas.openxmlformats.org/officeDocument/2006/relationships/image" Target="../media/image87.emf"/><Relationship Id="rId3" Type="http://schemas.openxmlformats.org/officeDocument/2006/relationships/notesSlide" Target="../notesSlides/notesSlide14.xml"/><Relationship Id="rId12" Type="http://schemas.openxmlformats.org/officeDocument/2006/relationships/image" Target="../media/image89.emf"/><Relationship Id="rId17" Type="http://schemas.openxmlformats.org/officeDocument/2006/relationships/oleObject" Target="file:///C:\YAMAHA%20-%20teste\NIPPON\Analisador_DEF_v9.xlsm!PPT_3Tri_TX_Absorcao!%5bAnalisador_DEF_v9.xlsm%5dPPT_3Tri_TX_Absorcao%20Gr&#225;fico%2026" TargetMode="External"/><Relationship Id="rId25" Type="http://schemas.openxmlformats.org/officeDocument/2006/relationships/oleObject" Target="file:///C:\YAMAHA%20-%20teste\NIPPON\Analisador_DEF_v9.xlsm!PPT!L77C2:L79C6" TargetMode="External"/><Relationship Id="rId33" Type="http://schemas.openxmlformats.org/officeDocument/2006/relationships/oleObject" Target="file:///C:\YAMAHA%20-%20teste\NIPPON\Analisador_DEF_v9.xlsm!PPT_3Tri_TX_Absorcao!%5bAnalisador_DEF_v9.xlsm%5dPPT_3Tri_TX_Absorcao%20Gr&#225;fico%2018" TargetMode="External"/><Relationship Id="rId38" Type="http://schemas.openxmlformats.org/officeDocument/2006/relationships/image" Target="../media/image102.emf"/><Relationship Id="rId46" Type="http://schemas.openxmlformats.org/officeDocument/2006/relationships/oleObject" Target="file:///C:\YAMAHA%20-%20teste\NIPPON\Analisador_DEF_v9.xlsm!PPT!L39C14" TargetMode="External"/><Relationship Id="rId20" Type="http://schemas.openxmlformats.org/officeDocument/2006/relationships/image" Target="../media/image93.emf"/><Relationship Id="rId41" Type="http://schemas.openxmlformats.org/officeDocument/2006/relationships/oleObject" Target="file:///C:\YAMAHA%20-%20teste\NIPPON\Analisador_DEF_v9.xlsm!PPT!L33C14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3" Type="http://schemas.openxmlformats.org/officeDocument/2006/relationships/notesSlide" Target="../notesSlides/notesSlide15.xml"/><Relationship Id="rId7" Type="http://schemas.openxmlformats.org/officeDocument/2006/relationships/oleObject" Target="file:///C:\YAMAHA%20-%20teste\NIPPON\Analisador_DEF_v9.xlsm!PPT_3Tri_TX_Absorcao!%5bAnalisador_DEF_v9.xlsm%5dPPT_3Tri_TX_Absorcao%20Gr&#225;fico%204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Relationship Id="rId6" Type="http://schemas.openxmlformats.org/officeDocument/2006/relationships/image" Target="../media/image107.emf"/><Relationship Id="rId5" Type="http://schemas.openxmlformats.org/officeDocument/2006/relationships/oleObject" Target="file:///C:\YAMAHA%20-%20teste\NIPPON\Analisador_DEF_v9.xlsm!PPT_3Tri_TX_Absorcao!%5bAnalisador_DEF_v9.xlsm%5dPPT_3Tri_TX_Absorcao%20Gr&#225;fico%203" TargetMode="External"/><Relationship Id="rId10" Type="http://schemas.openxmlformats.org/officeDocument/2006/relationships/image" Target="../media/image109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64C2:L71C6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oleObject" Target="file:///C:\YAMAHA%20-%20teste\NIPPON\Analisador_DEF_v9.xlsm!PPT_3Tri_TX_Absorcao!%5bAnalisador_DEF_v9.xlsm%5dPPT_3Tri_TX_Absorcao%20Gr&#225;fico%2018" TargetMode="External"/><Relationship Id="rId18" Type="http://schemas.openxmlformats.org/officeDocument/2006/relationships/image" Target="../media/image116.emf"/><Relationship Id="rId3" Type="http://schemas.openxmlformats.org/officeDocument/2006/relationships/notesSlide" Target="../notesSlides/notesSlide16.xml"/><Relationship Id="rId7" Type="http://schemas.openxmlformats.org/officeDocument/2006/relationships/oleObject" Target="file:///C:\YAMAHA%20-%20teste\NIPPON\Analisador_DEF_v9.xlsm!PPT_3Tri_TX_Absorcao!%5bAnalisador_DEF_v9.xlsm%5dPPT_3Tri_TX_Absorcao%20Gr&#225;fico%209" TargetMode="External"/><Relationship Id="rId12" Type="http://schemas.openxmlformats.org/officeDocument/2006/relationships/image" Target="../media/image113.emf"/><Relationship Id="rId17" Type="http://schemas.openxmlformats.org/officeDocument/2006/relationships/oleObject" Target="file:///C:\YAMAHA%20-%20teste\NIPPON\Analisador_DEF_v9.xlsm!PPT_3Tri_TX_Absorcao!%5bAnalisador_DEF_v9.xlsm%5dPPT_3Tri_TX_Absorcao%20Gr&#225;fico%2012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15.emf"/><Relationship Id="rId20" Type="http://schemas.openxmlformats.org/officeDocument/2006/relationships/image" Target="../media/image117.emf"/><Relationship Id="rId1" Type="http://schemas.openxmlformats.org/officeDocument/2006/relationships/tags" Target="../tags/tag18.xml"/><Relationship Id="rId6" Type="http://schemas.openxmlformats.org/officeDocument/2006/relationships/image" Target="../media/image110.emf"/><Relationship Id="rId11" Type="http://schemas.openxmlformats.org/officeDocument/2006/relationships/oleObject" Target="file:///C:\YAMAHA%20-%20teste\NIPPON\Analisador_DEF_v9.xlsm!PPT_3Tri_TX_Absorcao!%5bAnalisador_DEF_v9.xlsm%5dPPT_3Tri_TX_Absorcao%20Gr&#225;fico%2017" TargetMode="External"/><Relationship Id="rId5" Type="http://schemas.openxmlformats.org/officeDocument/2006/relationships/oleObject" Target="file:///C:\YAMAHA%20-%20teste\NIPPON\Analisador_DEF_v9.xlsm!PPT_3Tri_TX_Absorcao!%5bAnalisador_DEF_v9.xlsm%5dPPT_3Tri_TX_Absorcao%20Gr&#225;fico%208" TargetMode="External"/><Relationship Id="rId15" Type="http://schemas.openxmlformats.org/officeDocument/2006/relationships/oleObject" Target="file:///C:\YAMAHA%20-%20teste\NIPPON\Analisador_DEF_v9.xlsm!PPT!L81C2:L83C6" TargetMode="External"/><Relationship Id="rId10" Type="http://schemas.openxmlformats.org/officeDocument/2006/relationships/image" Target="../media/image112.emf"/><Relationship Id="rId19" Type="http://schemas.openxmlformats.org/officeDocument/2006/relationships/oleObject" Target="file:///C:\YAMAHA%20-%20teste\NIPPON\Analisador_DEF_v9.xlsm!PPT_3Tri_TX_Absorcao!%5bAnalisador_DEF_v9.xlsm%5dPPT_3Tri_TX_Absorcao%20Gr&#225;fico%2013" TargetMode="External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73C2:L75C6" TargetMode="External"/><Relationship Id="rId14" Type="http://schemas.openxmlformats.org/officeDocument/2006/relationships/image" Target="../media/image114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13" Type="http://schemas.openxmlformats.org/officeDocument/2006/relationships/oleObject" Target="file:///C:\YAMAHA%20-%20teste\NIPPON\Analisador_DEF_v9.xlsm!PPT!L77C2:L79C6" TargetMode="External"/><Relationship Id="rId3" Type="http://schemas.openxmlformats.org/officeDocument/2006/relationships/notesSlide" Target="../notesSlides/notesSlide17.xml"/><Relationship Id="rId7" Type="http://schemas.openxmlformats.org/officeDocument/2006/relationships/oleObject" Target="file:///C:\YAMAHA%20-%20teste\NIPPON\Analisador_DEF_v9.xlsm!PPT_3Tri_TX_Absorcao!%5bAnalisador_DEF_v9.xlsm%5dPPT_3Tri_TX_Absorcao%20Gr&#225;fico%2022" TargetMode="External"/><Relationship Id="rId12" Type="http://schemas.openxmlformats.org/officeDocument/2006/relationships/image" Target="../media/image120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Relationship Id="rId6" Type="http://schemas.openxmlformats.org/officeDocument/2006/relationships/image" Target="../media/image118.emf"/><Relationship Id="rId11" Type="http://schemas.openxmlformats.org/officeDocument/2006/relationships/oleObject" Target="file:///C:\YAMAHA%20-%20teste\NIPPON\Analisador_DEF_v9.xlsm!PPT_3Tri_TX_Absorcao!%5bAnalisador_DEF_v9.xlsm%5dPPT_3Tri_TX_Absorcao%20Gr&#225;fico%2026" TargetMode="External"/><Relationship Id="rId5" Type="http://schemas.openxmlformats.org/officeDocument/2006/relationships/oleObject" Target="file:///C:\YAMAHA%20-%20teste\NIPPON\Analisador_DEF_v9.xlsm!PPT_3Tri_TX_Absorcao!%5bAnalisador_DEF_v9.xlsm%5dPPT_3Tri_TX_Absorcao%20Gr&#225;fico%2021" TargetMode="External"/><Relationship Id="rId10" Type="http://schemas.openxmlformats.org/officeDocument/2006/relationships/image" Target="../media/image91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_3Tri_TX_Absorcao!%5bAnalisador_DEF_v9.xlsm%5dPPT_3Tri_TX_Absorcao%20Gr&#225;fico%2025" TargetMode="External"/><Relationship Id="rId14" Type="http://schemas.openxmlformats.org/officeDocument/2006/relationships/image" Target="../media/image96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13" Type="http://schemas.openxmlformats.org/officeDocument/2006/relationships/oleObject" Target="file:///C:\YAMAHA%20-%20teste\NIPPON\Analisador_DEF_v9.xlsm!PPT!L35C14" TargetMode="External"/><Relationship Id="rId3" Type="http://schemas.openxmlformats.org/officeDocument/2006/relationships/notesSlide" Target="../notesSlides/notesSlide18.xml"/><Relationship Id="rId7" Type="http://schemas.openxmlformats.org/officeDocument/2006/relationships/oleObject" Target="file:///C:\YAMAHA%20-%20teste\NIPPON\Analisador_DEF_v9.xlsm!PPT!L26C10" TargetMode="External"/><Relationship Id="rId12" Type="http://schemas.openxmlformats.org/officeDocument/2006/relationships/image" Target="../media/image122.emf"/><Relationship Id="rId2" Type="http://schemas.openxmlformats.org/officeDocument/2006/relationships/slideLayout" Target="../slideLayouts/slideLayout9.xml"/><Relationship Id="rId16" Type="http://schemas.openxmlformats.org/officeDocument/2006/relationships/oleObject" Target="file:///C:\YAMAHA%20-%20teste\NIPPON\Analisador_DEF_v9.xlsm!PPT!L39C14" TargetMode="External"/><Relationship Id="rId1" Type="http://schemas.openxmlformats.org/officeDocument/2006/relationships/tags" Target="../tags/tag20.xml"/><Relationship Id="rId6" Type="http://schemas.openxmlformats.org/officeDocument/2006/relationships/image" Target="../media/image121.emf"/><Relationship Id="rId11" Type="http://schemas.openxmlformats.org/officeDocument/2006/relationships/oleObject" Target="file:///C:\YAMAHA%20-%20teste\NIPPON\Analisador_DEF_v9.xlsm!PPT!L33C14" TargetMode="External"/><Relationship Id="rId5" Type="http://schemas.openxmlformats.org/officeDocument/2006/relationships/oleObject" Target="file:///C:\YAMAHA%20-%20teste\NIPPON\Analisador_DEF_v9.xlsm!Acoes3TRI!L4C2:L8C9" TargetMode="External"/><Relationship Id="rId15" Type="http://schemas.openxmlformats.org/officeDocument/2006/relationships/oleObject" Target="file:///C:\YAMAHA%20-%20teste\NIPPON\Analisador_DEF_v9.xlsm!PPT!L37C14" TargetMode="External"/><Relationship Id="rId10" Type="http://schemas.openxmlformats.org/officeDocument/2006/relationships/image" Target="../media/image103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30C10" TargetMode="External"/><Relationship Id="rId14" Type="http://schemas.openxmlformats.org/officeDocument/2006/relationships/image" Target="../media/image10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6" Type="http://schemas.openxmlformats.org/officeDocument/2006/relationships/image" Target="../media/image2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file:///C:\YAMAHA%20-%20teste\NIPPON\Analisador_DEF_v9.xlsm!PPT_4Tri_TX_Absorcao!%5bAnalisador_DEF_v9.xlsm%5dPPT_4Tri_TX_Absorcao%20Gr&#225;fico%2022" TargetMode="External"/><Relationship Id="rId18" Type="http://schemas.openxmlformats.org/officeDocument/2006/relationships/image" Target="../media/image129.emf"/><Relationship Id="rId26" Type="http://schemas.openxmlformats.org/officeDocument/2006/relationships/image" Target="../media/image133.emf"/><Relationship Id="rId39" Type="http://schemas.openxmlformats.org/officeDocument/2006/relationships/oleObject" Target="file:///C:\YAMAHA%20-%20teste\NIPPON\Analisador_DEF_v9.xlsm!PPT!L30C11" TargetMode="External"/><Relationship Id="rId21" Type="http://schemas.openxmlformats.org/officeDocument/2006/relationships/oleObject" Target="file:///C:\YAMAHA%20-%20teste\NIPPON\Analisador_DEF_v9.xlsm!PPT_4Tri_TX_Absorcao!%5bAnalisador_DEF_v9.xlsm%5dPPT_4Tri_TX_Absorcao%20Gr&#225;fico%208" TargetMode="External"/><Relationship Id="rId34" Type="http://schemas.openxmlformats.org/officeDocument/2006/relationships/image" Target="../media/image137.emf"/><Relationship Id="rId42" Type="http://schemas.openxmlformats.org/officeDocument/2006/relationships/oleObject" Target="file:///C:\YAMAHA%20-%20teste\NIPPON\Analisador_DEF_v9.xlsm!PPT!L35C15" TargetMode="External"/><Relationship Id="rId7" Type="http://schemas.openxmlformats.org/officeDocument/2006/relationships/oleObject" Target="file:///C:\YAMAHA%20-%20teste\NIPPON\Analisador_DEF_v9.xlsm!PPT_4Tri_TX_Absorcao!%5bAnalisador_DEF_v9.xlsm%5dPPT_4Tri_TX_Absorcao%20Gr&#225;fico%204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28.emf"/><Relationship Id="rId29" Type="http://schemas.openxmlformats.org/officeDocument/2006/relationships/oleObject" Target="file:///C:\YAMAHA%20-%20teste\NIPPON\Analisador_DEF_v9.xlsm!PPT_4Tri_TX_Absorcao!%5bAnalisador_DEF_v9.xlsm%5dPPT_4Tri_TX_Absorcao%20Gr&#225;fico%2013" TargetMode="External"/><Relationship Id="rId1" Type="http://schemas.openxmlformats.org/officeDocument/2006/relationships/tags" Target="../tags/tag22.xml"/><Relationship Id="rId6" Type="http://schemas.openxmlformats.org/officeDocument/2006/relationships/image" Target="../media/image123.emf"/><Relationship Id="rId11" Type="http://schemas.openxmlformats.org/officeDocument/2006/relationships/oleObject" Target="file:///C:\YAMAHA%20-%20teste\NIPPON\Analisador_DEF_v9.xlsm!PPT_4Tri_TX_Absorcao!%5bAnalisador_DEF_v9.xlsm%5dPPT_4Tri_TX_Absorcao%20Gr&#225;fico%2021" TargetMode="External"/><Relationship Id="rId24" Type="http://schemas.openxmlformats.org/officeDocument/2006/relationships/image" Target="../media/image132.emf"/><Relationship Id="rId32" Type="http://schemas.openxmlformats.org/officeDocument/2006/relationships/image" Target="../media/image136.emf"/><Relationship Id="rId37" Type="http://schemas.openxmlformats.org/officeDocument/2006/relationships/oleObject" Target="file:///C:\YAMAHA%20-%20teste\NIPPON\Analisador_DEF_v9.xlsm!PPT!L26C11" TargetMode="External"/><Relationship Id="rId40" Type="http://schemas.openxmlformats.org/officeDocument/2006/relationships/oleObject" Target="file:///C:\YAMAHA%20-%20teste\NIPPON\Analisador_DEF_v9.xlsm!PPT!L33C15" TargetMode="External"/><Relationship Id="rId45" Type="http://schemas.openxmlformats.org/officeDocument/2006/relationships/oleObject" Target="file:///C:\YAMAHA%20-%20teste\NIPPON\Analisador_DEF_v9.xlsm!Acoes4TRI!L4C2:L8C9" TargetMode="External"/><Relationship Id="rId5" Type="http://schemas.openxmlformats.org/officeDocument/2006/relationships/oleObject" Target="file:///C:\YAMAHA%20-%20teste\NIPPON\Analisador_DEF_v9.xlsm!PPT_4Tri_TX_Absorcao!%5bAnalisador_DEF_v9.xlsm%5dPPT_4Tri_TX_Absorcao%20Gr&#225;fico%203" TargetMode="External"/><Relationship Id="rId15" Type="http://schemas.openxmlformats.org/officeDocument/2006/relationships/oleObject" Target="file:///C:\YAMAHA%20-%20teste\NIPPON\Analisador_DEF_v9.xlsm!PPT_4Tri_TX_Absorcao!%5bAnalisador_DEF_v9.xlsm%5dPPT_4Tri_TX_Absorcao%20Gr&#225;fico%2025" TargetMode="External"/><Relationship Id="rId23" Type="http://schemas.openxmlformats.org/officeDocument/2006/relationships/oleObject" Target="file:///C:\YAMAHA%20-%20teste\NIPPON\Analisador_DEF_v9.xlsm!PPT_4Tri_TX_Absorcao!%5bAnalisador_DEF_v9.xlsm%5dPPT_4Tri_TX_Absorcao%20Gr&#225;fico%209" TargetMode="External"/><Relationship Id="rId28" Type="http://schemas.openxmlformats.org/officeDocument/2006/relationships/image" Target="../media/image134.emf"/><Relationship Id="rId36" Type="http://schemas.openxmlformats.org/officeDocument/2006/relationships/image" Target="../media/image138.emf"/><Relationship Id="rId10" Type="http://schemas.openxmlformats.org/officeDocument/2006/relationships/image" Target="../media/image125.emf"/><Relationship Id="rId19" Type="http://schemas.openxmlformats.org/officeDocument/2006/relationships/oleObject" Target="file:///C:\YAMAHA%20-%20teste\NIPPON\Analisador_DEF_v9.xlsm!PPT!L99C2:L101C6" TargetMode="External"/><Relationship Id="rId31" Type="http://schemas.openxmlformats.org/officeDocument/2006/relationships/oleObject" Target="file:///C:\YAMAHA%20-%20teste\NIPPON\Analisador_DEF_v9.xlsm!PPT_4Tri_TX_Absorcao!%5bAnalisador_DEF_v9.xlsm%5dPPT_4Tri_TX_Absorcao%20Gr&#225;fico%2017" TargetMode="External"/><Relationship Id="rId44" Type="http://schemas.openxmlformats.org/officeDocument/2006/relationships/oleObject" Target="file:///C:\YAMAHA%20-%20teste\NIPPON\Analisador_DEF_v9.xlsm!PPT!L39C15" TargetMode="External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86C2:L93C6" TargetMode="External"/><Relationship Id="rId14" Type="http://schemas.openxmlformats.org/officeDocument/2006/relationships/image" Target="../media/image127.emf"/><Relationship Id="rId22" Type="http://schemas.openxmlformats.org/officeDocument/2006/relationships/image" Target="../media/image131.emf"/><Relationship Id="rId27" Type="http://schemas.openxmlformats.org/officeDocument/2006/relationships/oleObject" Target="file:///C:\YAMAHA%20-%20teste\NIPPON\Analisador_DEF_v9.xlsm!PPT_4Tri_TX_Absorcao!%5bAnalisador_DEF_v9.xlsm%5dPPT_4Tri_TX_Absorcao%20Gr&#225;fico%2012" TargetMode="External"/><Relationship Id="rId30" Type="http://schemas.openxmlformats.org/officeDocument/2006/relationships/image" Target="../media/image135.emf"/><Relationship Id="rId35" Type="http://schemas.openxmlformats.org/officeDocument/2006/relationships/oleObject" Target="file:///C:\YAMAHA%20-%20teste\NIPPON\Analisador_DEF_v9.xlsm!PPT!L103C2:L105C6" TargetMode="External"/><Relationship Id="rId43" Type="http://schemas.openxmlformats.org/officeDocument/2006/relationships/oleObject" Target="file:///C:\YAMAHA%20-%20teste\NIPPON\Analisador_DEF_v9.xlsm!PPT!L37C15" TargetMode="External"/><Relationship Id="rId8" Type="http://schemas.openxmlformats.org/officeDocument/2006/relationships/image" Target="../media/image124.emf"/><Relationship Id="rId3" Type="http://schemas.openxmlformats.org/officeDocument/2006/relationships/notesSlide" Target="../notesSlides/notesSlide20.xml"/><Relationship Id="rId12" Type="http://schemas.openxmlformats.org/officeDocument/2006/relationships/image" Target="../media/image126.emf"/><Relationship Id="rId17" Type="http://schemas.openxmlformats.org/officeDocument/2006/relationships/oleObject" Target="file:///C:\YAMAHA%20-%20teste\NIPPON\Analisador_DEF_v9.xlsm!PPT_4Tri_TX_Absorcao!%5bAnalisador_DEF_v9.xlsm%5dPPT_4Tri_TX_Absorcao%20Gr&#225;fico%2026" TargetMode="External"/><Relationship Id="rId25" Type="http://schemas.openxmlformats.org/officeDocument/2006/relationships/oleObject" Target="file:///C:\YAMAHA%20-%20teste\NIPPON\Analisador_DEF_v9.xlsm!PPT!L95C2:L97C6" TargetMode="External"/><Relationship Id="rId33" Type="http://schemas.openxmlformats.org/officeDocument/2006/relationships/oleObject" Target="file:///C:\YAMAHA%20-%20teste\NIPPON\Analisador_DEF_v9.xlsm!PPT_4Tri_TX_Absorcao!%5bAnalisador_DEF_v9.xlsm%5dPPT_4Tri_TX_Absorcao%20Gr&#225;fico%2018" TargetMode="External"/><Relationship Id="rId38" Type="http://schemas.openxmlformats.org/officeDocument/2006/relationships/image" Target="../media/image103.emf"/><Relationship Id="rId46" Type="http://schemas.openxmlformats.org/officeDocument/2006/relationships/image" Target="../media/image139.emf"/><Relationship Id="rId20" Type="http://schemas.openxmlformats.org/officeDocument/2006/relationships/image" Target="../media/image130.emf"/><Relationship Id="rId41" Type="http://schemas.openxmlformats.org/officeDocument/2006/relationships/image" Target="../media/image105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notesSlide" Target="../notesSlides/notesSlide21.xml"/><Relationship Id="rId7" Type="http://schemas.openxmlformats.org/officeDocument/2006/relationships/oleObject" Target="file:///C:\YAMAHA%20-%20teste\NIPPON\Analisador_DEF_v9.xlsm!PPT_4Tri_TX_Absorcao!%5bAnalisador_DEF_v9.xlsm%5dPPT_4Tri_TX_Absorcao%20Gr&#225;fico%204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6" Type="http://schemas.openxmlformats.org/officeDocument/2006/relationships/image" Target="../media/image140.emf"/><Relationship Id="rId5" Type="http://schemas.openxmlformats.org/officeDocument/2006/relationships/oleObject" Target="file:///C:\YAMAHA%20-%20teste\NIPPON\Analisador_DEF_v9.xlsm!PPT_4Tri_TX_Absorcao!%5bAnalisador_DEF_v9.xlsm%5dPPT_4Tri_TX_Absorcao%20Gr&#225;fico%203" TargetMode="External"/><Relationship Id="rId10" Type="http://schemas.openxmlformats.org/officeDocument/2006/relationships/image" Target="../media/image142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86C2:L93C6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13" Type="http://schemas.openxmlformats.org/officeDocument/2006/relationships/oleObject" Target="file:///C:\YAMAHA%20-%20teste\NIPPON\Analisador_DEF_v9.xlsm!PPT_4Tri_TX_Absorcao!%5bAnalisador_DEF_v9.xlsm%5dPPT_4Tri_TX_Absorcao%20Gr&#225;fico%2018" TargetMode="External"/><Relationship Id="rId18" Type="http://schemas.openxmlformats.org/officeDocument/2006/relationships/image" Target="../media/image149.emf"/><Relationship Id="rId3" Type="http://schemas.openxmlformats.org/officeDocument/2006/relationships/notesSlide" Target="../notesSlides/notesSlide22.xml"/><Relationship Id="rId7" Type="http://schemas.openxmlformats.org/officeDocument/2006/relationships/oleObject" Target="file:///C:\YAMAHA%20-%20teste\NIPPON\Analisador_DEF_v9.xlsm!PPT_4Tri_TX_Absorcao!%5bAnalisador_DEF_v9.xlsm%5dPPT_4Tri_TX_Absorcao%20Gr&#225;fico%209" TargetMode="External"/><Relationship Id="rId12" Type="http://schemas.openxmlformats.org/officeDocument/2006/relationships/image" Target="../media/image146.emf"/><Relationship Id="rId17" Type="http://schemas.openxmlformats.org/officeDocument/2006/relationships/oleObject" Target="file:///C:\YAMAHA%20-%20teste\NIPPON\Analisador_DEF_v9.xlsm!PPT_4Tri_TX_Absorcao!%5bAnalisador_DEF_v9.xlsm%5dPPT_4Tri_TX_Absorcao%20Gr&#225;fico%2012" TargetMode="Externa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48.emf"/><Relationship Id="rId20" Type="http://schemas.openxmlformats.org/officeDocument/2006/relationships/image" Target="../media/image150.emf"/><Relationship Id="rId1" Type="http://schemas.openxmlformats.org/officeDocument/2006/relationships/tags" Target="../tags/tag24.xml"/><Relationship Id="rId6" Type="http://schemas.openxmlformats.org/officeDocument/2006/relationships/image" Target="../media/image143.emf"/><Relationship Id="rId11" Type="http://schemas.openxmlformats.org/officeDocument/2006/relationships/oleObject" Target="file:///C:\YAMAHA%20-%20teste\NIPPON\Analisador_DEF_v9.xlsm!PPT_4Tri_TX_Absorcao!%5bAnalisador_DEF_v9.xlsm%5dPPT_4Tri_TX_Absorcao%20Gr&#225;fico%2017" TargetMode="External"/><Relationship Id="rId5" Type="http://schemas.openxmlformats.org/officeDocument/2006/relationships/oleObject" Target="file:///C:\YAMAHA%20-%20teste\NIPPON\Analisador_DEF_v9.xlsm!PPT_4Tri_TX_Absorcao!%5bAnalisador_DEF_v9.xlsm%5dPPT_4Tri_TX_Absorcao%20Gr&#225;fico%208" TargetMode="External"/><Relationship Id="rId15" Type="http://schemas.openxmlformats.org/officeDocument/2006/relationships/oleObject" Target="file:///C:\YAMAHA%20-%20teste\NIPPON\Analisador_DEF_v9.xlsm!PPT!L103C2:L105C6" TargetMode="External"/><Relationship Id="rId10" Type="http://schemas.openxmlformats.org/officeDocument/2006/relationships/image" Target="../media/image145.emf"/><Relationship Id="rId19" Type="http://schemas.openxmlformats.org/officeDocument/2006/relationships/oleObject" Target="file:///C:\YAMAHA%20-%20teste\NIPPON\Analisador_DEF_v9.xlsm!PPT_4Tri_TX_Absorcao!%5bAnalisador_DEF_v9.xlsm%5dPPT_4Tri_TX_Absorcao%20Gr&#225;fico%2013" TargetMode="External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95C2:L97C6" TargetMode="External"/><Relationship Id="rId14" Type="http://schemas.openxmlformats.org/officeDocument/2006/relationships/image" Target="../media/image14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emf"/><Relationship Id="rId13" Type="http://schemas.openxmlformats.org/officeDocument/2006/relationships/oleObject" Target="file:///C:\YAMAHA%20-%20teste\NIPPON\Analisador_DEF_v9.xlsm!PPT!L99C2:L101C6" TargetMode="External"/><Relationship Id="rId3" Type="http://schemas.openxmlformats.org/officeDocument/2006/relationships/notesSlide" Target="../notesSlides/notesSlide23.xml"/><Relationship Id="rId7" Type="http://schemas.openxmlformats.org/officeDocument/2006/relationships/oleObject" Target="file:///C:\YAMAHA%20-%20teste\NIPPON\Analisador_DEF_v9.xlsm!PPT_4Tri_TX_Absorcao!%5bAnalisador_DEF_v9.xlsm%5dPPT_4Tri_TX_Absorcao%20Gr&#225;fico%2022" TargetMode="External"/><Relationship Id="rId12" Type="http://schemas.openxmlformats.org/officeDocument/2006/relationships/image" Target="../media/image154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6" Type="http://schemas.openxmlformats.org/officeDocument/2006/relationships/image" Target="../media/image151.emf"/><Relationship Id="rId11" Type="http://schemas.openxmlformats.org/officeDocument/2006/relationships/oleObject" Target="file:///C:\YAMAHA%20-%20teste\NIPPON\Analisador_DEF_v9.xlsm!PPT_4Tri_TX_Absorcao!%5bAnalisador_DEF_v9.xlsm%5dPPT_4Tri_TX_Absorcao%20Gr&#225;fico%2026" TargetMode="External"/><Relationship Id="rId5" Type="http://schemas.openxmlformats.org/officeDocument/2006/relationships/oleObject" Target="file:///C:\YAMAHA%20-%20teste\NIPPON\Analisador_DEF_v9.xlsm!PPT_4Tri_TX_Absorcao!%5bAnalisador_DEF_v9.xlsm%5dPPT_4Tri_TX_Absorcao%20Gr&#225;fico%2021" TargetMode="External"/><Relationship Id="rId10" Type="http://schemas.openxmlformats.org/officeDocument/2006/relationships/image" Target="../media/image153.emf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_4Tri_TX_Absorcao!%5bAnalisador_DEF_v9.xlsm%5dPPT_4Tri_TX_Absorcao%20Gr&#225;fico%2025" TargetMode="External"/><Relationship Id="rId14" Type="http://schemas.openxmlformats.org/officeDocument/2006/relationships/image" Target="../media/image15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13" Type="http://schemas.openxmlformats.org/officeDocument/2006/relationships/oleObject" Target="file:///C:\YAMAHA%20-%20teste\NIPPON\Analisador_DEF_v9.xlsm!PPT!L37C15" TargetMode="External"/><Relationship Id="rId3" Type="http://schemas.openxmlformats.org/officeDocument/2006/relationships/notesSlide" Target="../notesSlides/notesSlide24.xml"/><Relationship Id="rId7" Type="http://schemas.openxmlformats.org/officeDocument/2006/relationships/oleObject" Target="file:///C:\YAMAHA%20-%20teste\NIPPON\Analisador_DEF_v9.xlsm!PPT!L26C11" TargetMode="External"/><Relationship Id="rId12" Type="http://schemas.openxmlformats.org/officeDocument/2006/relationships/oleObject" Target="file:///C:\YAMAHA%20-%20teste\NIPPON\Analisador_DEF_v9.xlsm!PPT!L35C15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6" Type="http://schemas.openxmlformats.org/officeDocument/2006/relationships/image" Target="../media/image156.emf"/><Relationship Id="rId11" Type="http://schemas.openxmlformats.org/officeDocument/2006/relationships/image" Target="../media/image104.emf"/><Relationship Id="rId5" Type="http://schemas.openxmlformats.org/officeDocument/2006/relationships/oleObject" Target="file:///C:\YAMAHA%20-%20teste\NIPPON\Analisador_DEF_v9.xlsm!Acoes4TRI!L4C2:L8C9" TargetMode="External"/><Relationship Id="rId15" Type="http://schemas.openxmlformats.org/officeDocument/2006/relationships/oleObject" Target="file:///C:\YAMAHA%20-%20teste\NIPPON\Analisador_DEF_v9.xlsm!PPT!L39C15" TargetMode="External"/><Relationship Id="rId10" Type="http://schemas.openxmlformats.org/officeDocument/2006/relationships/oleObject" Target="file:///C:\YAMAHA%20-%20teste\NIPPON\Analisador_DEF_v9.xlsm!PPT!L33C15" TargetMode="External"/><Relationship Id="rId4" Type="http://schemas.openxmlformats.org/officeDocument/2006/relationships/image" Target="../media/image6.png"/><Relationship Id="rId9" Type="http://schemas.openxmlformats.org/officeDocument/2006/relationships/oleObject" Target="file:///C:\YAMAHA%20-%20teste\NIPPON\Analisador_DEF_v9.xlsm!PPT!L30C11" TargetMode="External"/><Relationship Id="rId14" Type="http://schemas.openxmlformats.org/officeDocument/2006/relationships/image" Target="../media/image10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6" Type="http://schemas.openxmlformats.org/officeDocument/2006/relationships/image" Target="../media/image2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76E5-4510-FBFB-490C-01CD374B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16573307-5673-1E75-79F5-1E76964EB5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962" y="899910"/>
            <a:ext cx="2515896" cy="17778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EF5B721-0E3B-EBDA-3172-7E524E98A1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61" y="25900"/>
            <a:ext cx="24384000" cy="13716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E3466AB-1DA2-790C-4064-79BA1753BE7C}"/>
              </a:ext>
            </a:extLst>
          </p:cNvPr>
          <p:cNvSpPr txBox="1"/>
          <p:nvPr/>
        </p:nvSpPr>
        <p:spPr>
          <a:xfrm>
            <a:off x="1519962" y="4976638"/>
            <a:ext cx="94073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5600" kern="1200" dirty="0">
                <a:solidFill>
                  <a:schemeClr val="bg1"/>
                </a:solidFill>
                <a:latin typeface="Aptos Black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Tema : K2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4E3B8A2F-2F30-214D-E491-B09651637933}"/>
              </a:ext>
            </a:extLst>
          </p:cNvPr>
          <p:cNvSpPr txBox="1"/>
          <p:nvPr/>
        </p:nvSpPr>
        <p:spPr>
          <a:xfrm>
            <a:off x="323633" y="6860007"/>
            <a:ext cx="11302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Consultor(a):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8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 err="1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Região</a:t>
            </a: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: 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Grupo:</a:t>
            </a: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217C4D3D-053B-9CBB-6548-35C2E19AE8F2}"/>
              </a:ext>
            </a:extLst>
          </p:cNvPr>
          <p:cNvSpPr txBox="1"/>
          <p:nvPr/>
        </p:nvSpPr>
        <p:spPr>
          <a:xfrm>
            <a:off x="8583561" y="12308825"/>
            <a:ext cx="155096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0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000" kern="1200" dirty="0" err="1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Primerio</a:t>
            </a: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4000" kern="1200" dirty="0" err="1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Trimestre</a:t>
            </a: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 - Data:</a:t>
            </a:r>
            <a:endParaRPr lang="en-US" altLang="ja-JP" sz="32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3200" kern="1200" dirty="0">
              <a:solidFill>
                <a:schemeClr val="bg1"/>
              </a:solidFill>
              <a:latin typeface="Grandview Display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0A83C89C-8C98-5945-3105-ADD1ABA6ABF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3304"/>
          <a:stretch/>
        </p:blipFill>
        <p:spPr>
          <a:xfrm>
            <a:off x="19629999" y="692210"/>
            <a:ext cx="3670887" cy="143879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51D6E61-D8F7-B050-5820-024470E697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2678" y="25900"/>
            <a:ext cx="1542661" cy="552527"/>
          </a:xfrm>
          <a:prstGeom prst="rect">
            <a:avLst/>
          </a:prstGeom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A389CC6A-1B72-8844-F75A-821715B4A37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7666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59A9B-4C89-E48B-F339-C6BCB91D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D251403B-44C0-5E07-2361-EE9A546A4328}"/>
              </a:ext>
            </a:extLst>
          </p:cNvPr>
          <p:cNvGrpSpPr/>
          <p:nvPr/>
        </p:nvGrpSpPr>
        <p:grpSpPr>
          <a:xfrm>
            <a:off x="73077" y="-99019"/>
            <a:ext cx="21198754" cy="718145"/>
            <a:chOff x="0" y="-135951"/>
            <a:chExt cx="13062857" cy="1203966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6A94FA5-025A-5D07-52A5-4F57CCFEFFB9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28B0F7A0-9B87-5FCE-DE5B-41951510DC07}"/>
                </a:ext>
              </a:extLst>
            </p:cNvPr>
            <p:cNvSpPr txBox="1"/>
            <p:nvPr/>
          </p:nvSpPr>
          <p:spPr>
            <a:xfrm>
              <a:off x="163175" y="-135951"/>
              <a:ext cx="11501689" cy="12039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1Tri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20" name="Retângulo 19">
            <a:extLst>
              <a:ext uri="{FF2B5EF4-FFF2-40B4-BE49-F238E27FC236}">
                <a16:creationId xmlns:a16="http://schemas.microsoft.com/office/drawing/2014/main" id="{51CA2473-85EF-331B-3175-522A314D7629}"/>
              </a:ext>
            </a:extLst>
          </p:cNvPr>
          <p:cNvSpPr/>
          <p:nvPr/>
        </p:nvSpPr>
        <p:spPr>
          <a:xfrm>
            <a:off x="13050416" y="13051995"/>
            <a:ext cx="11321143" cy="650480"/>
          </a:xfrm>
          <a:custGeom>
            <a:avLst/>
            <a:gdLst>
              <a:gd name="connsiteX0" fmla="*/ 0 w 11321143"/>
              <a:gd name="connsiteY0" fmla="*/ 0 h 631819"/>
              <a:gd name="connsiteX1" fmla="*/ 11321143 w 11321143"/>
              <a:gd name="connsiteY1" fmla="*/ 0 h 631819"/>
              <a:gd name="connsiteX2" fmla="*/ 11321143 w 11321143"/>
              <a:gd name="connsiteY2" fmla="*/ 631819 h 631819"/>
              <a:gd name="connsiteX3" fmla="*/ 0 w 11321143"/>
              <a:gd name="connsiteY3" fmla="*/ 631819 h 631819"/>
              <a:gd name="connsiteX4" fmla="*/ 0 w 11321143"/>
              <a:gd name="connsiteY4" fmla="*/ 0 h 631819"/>
              <a:gd name="connsiteX0" fmla="*/ 0 w 11321143"/>
              <a:gd name="connsiteY0" fmla="*/ 0 h 650480"/>
              <a:gd name="connsiteX1" fmla="*/ 11321143 w 11321143"/>
              <a:gd name="connsiteY1" fmla="*/ 0 h 650480"/>
              <a:gd name="connsiteX2" fmla="*/ 11321143 w 11321143"/>
              <a:gd name="connsiteY2" fmla="*/ 631819 h 650480"/>
              <a:gd name="connsiteX3" fmla="*/ 391885 w 11321143"/>
              <a:gd name="connsiteY3" fmla="*/ 650480 h 650480"/>
              <a:gd name="connsiteX4" fmla="*/ 0 w 11321143"/>
              <a:gd name="connsiteY4" fmla="*/ 0 h 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143" h="650480">
                <a:moveTo>
                  <a:pt x="0" y="0"/>
                </a:moveTo>
                <a:lnTo>
                  <a:pt x="11321143" y="0"/>
                </a:lnTo>
                <a:lnTo>
                  <a:pt x="11321143" y="631819"/>
                </a:lnTo>
                <a:lnTo>
                  <a:pt x="391885" y="6504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91611649-1707-CC69-0979-39FDB2088A67}"/>
              </a:ext>
            </a:extLst>
          </p:cNvPr>
          <p:cNvSpPr txBox="1"/>
          <p:nvPr/>
        </p:nvSpPr>
        <p:spPr>
          <a:xfrm>
            <a:off x="13546384" y="13126101"/>
            <a:ext cx="1150168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stricta Bold"/>
                <a:sym typeface="Estricta Bold"/>
              </a:rPr>
              <a:t>Tema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: Taxa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Absorção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Ações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Projeção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Comentarios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sym typeface="Helvetica Neue"/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40BEFCB-061E-4D08-38F4-8389A8BB777D}"/>
              </a:ext>
            </a:extLst>
          </p:cNvPr>
          <p:cNvSpPr/>
          <p:nvPr/>
        </p:nvSpPr>
        <p:spPr>
          <a:xfrm>
            <a:off x="125075" y="8221266"/>
            <a:ext cx="8591140" cy="4688178"/>
          </a:xfrm>
          <a:prstGeom prst="roundRect">
            <a:avLst>
              <a:gd name="adj" fmla="val 10287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REFERÊNCIAS: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Taxa de Absorção &gt; 65%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Ponto de Equilíbrio &lt; 50% das vendas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9CB0D98-35D7-0CD4-FD38-FC4D70D37C7B}"/>
              </a:ext>
            </a:extLst>
          </p:cNvPr>
          <p:cNvSpPr/>
          <p:nvPr/>
        </p:nvSpPr>
        <p:spPr>
          <a:xfrm>
            <a:off x="8889157" y="7269064"/>
            <a:ext cx="15033880" cy="5640379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COMENTÁRIOS ADICIONAIS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5FE4B446-7EE7-E024-21D6-78E67B908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3326" y="43413"/>
            <a:ext cx="1762013" cy="55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1963F083-CE0C-F8B6-1D1B-689F8F21A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903732"/>
              </p:ext>
            </p:extLst>
          </p:nvPr>
        </p:nvGraphicFramePr>
        <p:xfrm>
          <a:off x="300038" y="1112838"/>
          <a:ext cx="248443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13136" progId="Excel.SheetMacroEnabled.12">
                  <p:link updateAutomatic="1"/>
                </p:oleObj>
              </mc:Choice>
              <mc:Fallback>
                <p:oleObj name="Macro-Enabled Worksheet" r:id="rId5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038" y="1112838"/>
                        <a:ext cx="2484437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3DEA386E-4249-3A91-BBF6-DBF95944D47F}"/>
              </a:ext>
            </a:extLst>
          </p:cNvPr>
          <p:cNvSpPr txBox="1"/>
          <p:nvPr/>
        </p:nvSpPr>
        <p:spPr>
          <a:xfrm>
            <a:off x="18661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6AE90DB5-D383-FA44-CEB4-ACFD4C3D6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286415"/>
              </p:ext>
            </p:extLst>
          </p:nvPr>
        </p:nvGraphicFramePr>
        <p:xfrm>
          <a:off x="3149600" y="1106488"/>
          <a:ext cx="108108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081778" imgH="1005840" progId="Excel.SheetMacroEnabled.12">
                  <p:link updateAutomatic="1"/>
                </p:oleObj>
              </mc:Choice>
              <mc:Fallback>
                <p:oleObj name="Macro-Enabled Worksheet" r:id="rId7" imgW="1081778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9600" y="1106488"/>
                        <a:ext cx="1081088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12B63475-D26A-5911-88A9-DBC8BF1D07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250397"/>
              </p:ext>
            </p:extLst>
          </p:nvPr>
        </p:nvGraphicFramePr>
        <p:xfrm>
          <a:off x="514350" y="2438400"/>
          <a:ext cx="34671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1470822" progId="Excel.SheetMacroEnabled.12">
                  <p:link updateAutomatic="1"/>
                </p:oleObj>
              </mc:Choice>
              <mc:Fallback>
                <p:oleObj name="Macro-Enabled Worksheet" r:id="rId9" imgW="3467211" imgH="14708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4350" y="2438400"/>
                        <a:ext cx="3467100" cy="147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B021483-17E5-4AD2-95F8-1AD246510B04}"/>
              </a:ext>
            </a:extLst>
          </p:cNvPr>
          <p:cNvSpPr/>
          <p:nvPr/>
        </p:nvSpPr>
        <p:spPr>
          <a:xfrm>
            <a:off x="44000" y="674157"/>
            <a:ext cx="4297752" cy="334369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24FCFA86-D88D-2B26-4C1A-EEE68811C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263291"/>
              </p:ext>
            </p:extLst>
          </p:nvPr>
        </p:nvGraphicFramePr>
        <p:xfrm>
          <a:off x="4679950" y="1116013"/>
          <a:ext cx="24844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2483777" imgH="1005840" progId="Excel.SheetMacroEnabled.12">
                  <p:link updateAutomatic="1"/>
                </p:oleObj>
              </mc:Choice>
              <mc:Fallback>
                <p:oleObj name="Macro-Enabled Worksheet" r:id="rId11" imgW="248377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79950" y="1116013"/>
                        <a:ext cx="2484438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aixaDeTexto 17">
            <a:extLst>
              <a:ext uri="{FF2B5EF4-FFF2-40B4-BE49-F238E27FC236}">
                <a16:creationId xmlns:a16="http://schemas.microsoft.com/office/drawing/2014/main" id="{1401BE18-A1FD-98F0-1AD2-655E9275BC50}"/>
              </a:ext>
            </a:extLst>
          </p:cNvPr>
          <p:cNvSpPr txBox="1"/>
          <p:nvPr/>
        </p:nvSpPr>
        <p:spPr>
          <a:xfrm>
            <a:off x="4408330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F4F7BF21-FB42-5F54-F537-12AF33CB9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574418"/>
              </p:ext>
            </p:extLst>
          </p:nvPr>
        </p:nvGraphicFramePr>
        <p:xfrm>
          <a:off x="7453313" y="1116013"/>
          <a:ext cx="11350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135067" imgH="1005840" progId="Excel.SheetMacroEnabled.12">
                  <p:link updateAutomatic="1"/>
                </p:oleObj>
              </mc:Choice>
              <mc:Fallback>
                <p:oleObj name="Macro-Enabled Worksheet" r:id="rId13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53313" y="1116013"/>
                        <a:ext cx="1135062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C55FBE7-C367-4323-9056-64B4BCFFB451}"/>
              </a:ext>
            </a:extLst>
          </p:cNvPr>
          <p:cNvSpPr/>
          <p:nvPr/>
        </p:nvSpPr>
        <p:spPr>
          <a:xfrm>
            <a:off x="4418463" y="674406"/>
            <a:ext cx="4297752" cy="238311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EA97558E-7518-D535-9F3F-90D198808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089612"/>
              </p:ext>
            </p:extLst>
          </p:nvPr>
        </p:nvGraphicFramePr>
        <p:xfrm>
          <a:off x="4833938" y="2419350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3467211" imgH="556422" progId="Excel.SheetMacroEnabled.12">
                  <p:link updateAutomatic="1"/>
                </p:oleObj>
              </mc:Choice>
              <mc:Fallback>
                <p:oleObj name="Macro-Enabled Worksheet" r:id="rId1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33938" y="2419350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0ED7634-E3A8-4C61-36F5-E4D9B7827891}"/>
              </a:ext>
            </a:extLst>
          </p:cNvPr>
          <p:cNvSpPr/>
          <p:nvPr/>
        </p:nvSpPr>
        <p:spPr>
          <a:xfrm>
            <a:off x="53781" y="4095750"/>
            <a:ext cx="4297752" cy="387867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E8E3AAF-749B-8636-EBE6-0E844FB0777C}"/>
              </a:ext>
            </a:extLst>
          </p:cNvPr>
          <p:cNvSpPr txBox="1"/>
          <p:nvPr/>
        </p:nvSpPr>
        <p:spPr>
          <a:xfrm>
            <a:off x="53781" y="4101179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C4BFDA60-C689-06AA-0C8B-DBCE73717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401350"/>
              </p:ext>
            </p:extLst>
          </p:nvPr>
        </p:nvGraphicFramePr>
        <p:xfrm>
          <a:off x="322263" y="4594225"/>
          <a:ext cx="248443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2483777" imgH="898836" progId="Excel.SheetMacroEnabled.12">
                  <p:link updateAutomatic="1"/>
                </p:oleObj>
              </mc:Choice>
              <mc:Fallback>
                <p:oleObj name="Macro-Enabled Worksheet" r:id="rId17" imgW="2483777" imgH="8988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2263" y="4594225"/>
                        <a:ext cx="2484437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860F1F6F-7987-9767-A152-2124EB4E60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329762"/>
              </p:ext>
            </p:extLst>
          </p:nvPr>
        </p:nvGraphicFramePr>
        <p:xfrm>
          <a:off x="3098800" y="4627563"/>
          <a:ext cx="11350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1135067" imgH="875976" progId="Excel.SheetMacroEnabled.12">
                  <p:link updateAutomatic="1"/>
                </p:oleObj>
              </mc:Choice>
              <mc:Fallback>
                <p:oleObj name="Macro-Enabled Worksheet" r:id="rId19" imgW="113506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98800" y="4627563"/>
                        <a:ext cx="1135063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CaixaDeTexto 28">
            <a:extLst>
              <a:ext uri="{FF2B5EF4-FFF2-40B4-BE49-F238E27FC236}">
                <a16:creationId xmlns:a16="http://schemas.microsoft.com/office/drawing/2014/main" id="{80189E74-5FA4-DA7F-E82D-6DC84B54B029}"/>
              </a:ext>
            </a:extLst>
          </p:cNvPr>
          <p:cNvSpPr txBox="1"/>
          <p:nvPr/>
        </p:nvSpPr>
        <p:spPr>
          <a:xfrm>
            <a:off x="60529" y="567103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graphicFrame>
        <p:nvGraphicFramePr>
          <p:cNvPr id="30" name="Objeto 29">
            <a:extLst>
              <a:ext uri="{FF2B5EF4-FFF2-40B4-BE49-F238E27FC236}">
                <a16:creationId xmlns:a16="http://schemas.microsoft.com/office/drawing/2014/main" id="{2DCBFCFB-09C0-1698-3E1A-E0C6D3904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618816"/>
              </p:ext>
            </p:extLst>
          </p:nvPr>
        </p:nvGraphicFramePr>
        <p:xfrm>
          <a:off x="309563" y="6113463"/>
          <a:ext cx="24844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1" imgW="2483777" imgH="875976" progId="Excel.SheetMacroEnabled.12">
                  <p:link updateAutomatic="1"/>
                </p:oleObj>
              </mc:Choice>
              <mc:Fallback>
                <p:oleObj name="Macro-Enabled Worksheet" r:id="rId21" imgW="248377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9563" y="6113463"/>
                        <a:ext cx="2484437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>
            <a:extLst>
              <a:ext uri="{FF2B5EF4-FFF2-40B4-BE49-F238E27FC236}">
                <a16:creationId xmlns:a16="http://schemas.microsoft.com/office/drawing/2014/main" id="{5E3E2741-12F9-86F6-2810-62096CCF9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730823"/>
              </p:ext>
            </p:extLst>
          </p:nvPr>
        </p:nvGraphicFramePr>
        <p:xfrm>
          <a:off x="3100388" y="6105525"/>
          <a:ext cx="11350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3" imgW="1135067" imgH="891540" progId="Excel.SheetMacroEnabled.12">
                  <p:link updateAutomatic="1"/>
                </p:oleObj>
              </mc:Choice>
              <mc:Fallback>
                <p:oleObj name="Macro-Enabled Worksheet" r:id="rId23" imgW="1135067" imgH="8915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00388" y="6105525"/>
                        <a:ext cx="1135062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o 32">
            <a:extLst>
              <a:ext uri="{FF2B5EF4-FFF2-40B4-BE49-F238E27FC236}">
                <a16:creationId xmlns:a16="http://schemas.microsoft.com/office/drawing/2014/main" id="{EF165E6C-C106-92C0-C08F-B0311F588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003385"/>
              </p:ext>
            </p:extLst>
          </p:nvPr>
        </p:nvGraphicFramePr>
        <p:xfrm>
          <a:off x="458788" y="7280275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5" imgW="3467211" imgH="556422" progId="Excel.SheetMacroEnabled.12">
                  <p:link updateAutomatic="1"/>
                </p:oleObj>
              </mc:Choice>
              <mc:Fallback>
                <p:oleObj name="Macro-Enabled Worksheet" r:id="rId2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58788" y="7280275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CaixaDeTexto 33">
            <a:extLst>
              <a:ext uri="{FF2B5EF4-FFF2-40B4-BE49-F238E27FC236}">
                <a16:creationId xmlns:a16="http://schemas.microsoft.com/office/drawing/2014/main" id="{0780BC9B-BAF5-0B86-2F63-6B6BE27C14BD}"/>
              </a:ext>
            </a:extLst>
          </p:cNvPr>
          <p:cNvSpPr txBox="1"/>
          <p:nvPr/>
        </p:nvSpPr>
        <p:spPr>
          <a:xfrm>
            <a:off x="4398197" y="3131784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C009D3A-0DEC-1584-D33C-157508B49080}"/>
              </a:ext>
            </a:extLst>
          </p:cNvPr>
          <p:cNvSpPr/>
          <p:nvPr/>
        </p:nvSpPr>
        <p:spPr>
          <a:xfrm>
            <a:off x="4408330" y="3133580"/>
            <a:ext cx="4297752" cy="196138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36" name="Objeto 35">
            <a:extLst>
              <a:ext uri="{FF2B5EF4-FFF2-40B4-BE49-F238E27FC236}">
                <a16:creationId xmlns:a16="http://schemas.microsoft.com/office/drawing/2014/main" id="{A8C8FB10-9695-045E-1F6E-7D738E40F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553398"/>
              </p:ext>
            </p:extLst>
          </p:nvPr>
        </p:nvGraphicFramePr>
        <p:xfrm>
          <a:off x="4681538" y="3614738"/>
          <a:ext cx="248443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7" imgW="2483777" imgH="1180938" progId="Excel.SheetMacroEnabled.12">
                  <p:link updateAutomatic="1"/>
                </p:oleObj>
              </mc:Choice>
              <mc:Fallback>
                <p:oleObj name="Macro-Enabled Worksheet" r:id="rId27" imgW="2483777" imgH="118093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81538" y="3614738"/>
                        <a:ext cx="2484437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to 36">
            <a:extLst>
              <a:ext uri="{FF2B5EF4-FFF2-40B4-BE49-F238E27FC236}">
                <a16:creationId xmlns:a16="http://schemas.microsoft.com/office/drawing/2014/main" id="{3BA1F376-2BDE-C04D-AA83-474AAC10E3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231931"/>
              </p:ext>
            </p:extLst>
          </p:nvPr>
        </p:nvGraphicFramePr>
        <p:xfrm>
          <a:off x="7454900" y="3617913"/>
          <a:ext cx="1135063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9" imgW="1135067" imgH="1173156" progId="Excel.SheetMacroEnabled.12">
                  <p:link updateAutomatic="1"/>
                </p:oleObj>
              </mc:Choice>
              <mc:Fallback>
                <p:oleObj name="Macro-Enabled Worksheet" r:id="rId29" imgW="1135067" imgH="117315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454900" y="3617913"/>
                        <a:ext cx="1135063" cy="1173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CaixaDeTexto 37">
            <a:extLst>
              <a:ext uri="{FF2B5EF4-FFF2-40B4-BE49-F238E27FC236}">
                <a16:creationId xmlns:a16="http://schemas.microsoft.com/office/drawing/2014/main" id="{B2960033-9546-041B-35E1-E2C1F93898F4}"/>
              </a:ext>
            </a:extLst>
          </p:cNvPr>
          <p:cNvSpPr txBox="1"/>
          <p:nvPr/>
        </p:nvSpPr>
        <p:spPr>
          <a:xfrm>
            <a:off x="4388064" y="52580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A9C31525-F699-97A6-E8F4-BDAB00062506}"/>
              </a:ext>
            </a:extLst>
          </p:cNvPr>
          <p:cNvSpPr/>
          <p:nvPr/>
        </p:nvSpPr>
        <p:spPr>
          <a:xfrm>
            <a:off x="4398197" y="5164110"/>
            <a:ext cx="4297752" cy="281031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40" name="Objeto 39">
            <a:extLst>
              <a:ext uri="{FF2B5EF4-FFF2-40B4-BE49-F238E27FC236}">
                <a16:creationId xmlns:a16="http://schemas.microsoft.com/office/drawing/2014/main" id="{65DBF9C7-679B-4DA3-1ECD-0F760BA9C0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749846"/>
              </p:ext>
            </p:extLst>
          </p:nvPr>
        </p:nvGraphicFramePr>
        <p:xfrm>
          <a:off x="4667250" y="5853113"/>
          <a:ext cx="24844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1" imgW="2483777" imgH="1013136" progId="Excel.SheetMacroEnabled.12">
                  <p:link updateAutomatic="1"/>
                </p:oleObj>
              </mc:Choice>
              <mc:Fallback>
                <p:oleObj name="Macro-Enabled Worksheet" r:id="rId31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67250" y="5853113"/>
                        <a:ext cx="2484438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o 40">
            <a:extLst>
              <a:ext uri="{FF2B5EF4-FFF2-40B4-BE49-F238E27FC236}">
                <a16:creationId xmlns:a16="http://schemas.microsoft.com/office/drawing/2014/main" id="{645DB670-A35C-ABBE-6366-F1350FD770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07508"/>
              </p:ext>
            </p:extLst>
          </p:nvPr>
        </p:nvGraphicFramePr>
        <p:xfrm>
          <a:off x="7443788" y="5856288"/>
          <a:ext cx="11350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3" imgW="1135067" imgH="1005840" progId="Excel.SheetMacroEnabled.12">
                  <p:link updateAutomatic="1"/>
                </p:oleObj>
              </mc:Choice>
              <mc:Fallback>
                <p:oleObj name="Macro-Enabled Worksheet" r:id="rId33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443788" y="5856288"/>
                        <a:ext cx="1135062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to 41">
            <a:extLst>
              <a:ext uri="{FF2B5EF4-FFF2-40B4-BE49-F238E27FC236}">
                <a16:creationId xmlns:a16="http://schemas.microsoft.com/office/drawing/2014/main" id="{C9A27E2D-E1D5-1D84-4AAC-914ADA67A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095777"/>
              </p:ext>
            </p:extLst>
          </p:nvPr>
        </p:nvGraphicFramePr>
        <p:xfrm>
          <a:off x="4891088" y="7280275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5" imgW="3467211" imgH="556422" progId="Excel.SheetMacroEnabled.12">
                  <p:link updateAutomatic="1"/>
                </p:oleObj>
              </mc:Choice>
              <mc:Fallback>
                <p:oleObj name="Macro-Enabled Worksheet" r:id="rId3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891088" y="7280275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25995577-A0BD-4CAB-98F4-0FFDA8FC2640}"/>
              </a:ext>
            </a:extLst>
          </p:cNvPr>
          <p:cNvSpPr/>
          <p:nvPr/>
        </p:nvSpPr>
        <p:spPr>
          <a:xfrm>
            <a:off x="9341942" y="927876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2EB1E9E9-30BD-4D6D-A9D3-3357F448DF5C}"/>
              </a:ext>
            </a:extLst>
          </p:cNvPr>
          <p:cNvSpPr/>
          <p:nvPr/>
        </p:nvSpPr>
        <p:spPr>
          <a:xfrm>
            <a:off x="13546384" y="927876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3283173-8EF4-4548-AF17-60807E9D323E}"/>
              </a:ext>
            </a:extLst>
          </p:cNvPr>
          <p:cNvSpPr/>
          <p:nvPr/>
        </p:nvSpPr>
        <p:spPr>
          <a:xfrm>
            <a:off x="18769350" y="927876"/>
            <a:ext cx="443113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8ACC5B14-AD2A-4480-AA7D-1A592FF53635}"/>
              </a:ext>
            </a:extLst>
          </p:cNvPr>
          <p:cNvSpPr/>
          <p:nvPr/>
        </p:nvSpPr>
        <p:spPr>
          <a:xfrm>
            <a:off x="9341942" y="1547001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749A655F-A482-4274-8F8D-23A1FCBF6BA7}"/>
              </a:ext>
            </a:extLst>
          </p:cNvPr>
          <p:cNvSpPr/>
          <p:nvPr/>
        </p:nvSpPr>
        <p:spPr>
          <a:xfrm>
            <a:off x="13546384" y="1547001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DA3FCE94-6951-4657-90D5-FF34FA4E208B}"/>
              </a:ext>
            </a:extLst>
          </p:cNvPr>
          <p:cNvSpPr/>
          <p:nvPr/>
        </p:nvSpPr>
        <p:spPr>
          <a:xfrm>
            <a:off x="18769350" y="1547001"/>
            <a:ext cx="443113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3" name="Objeto 52">
            <a:extLst>
              <a:ext uri="{FF2B5EF4-FFF2-40B4-BE49-F238E27FC236}">
                <a16:creationId xmlns:a16="http://schemas.microsoft.com/office/drawing/2014/main" id="{B727B098-72A4-C347-FC88-27C5F37E9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969861"/>
              </p:ext>
            </p:extLst>
          </p:nvPr>
        </p:nvGraphicFramePr>
        <p:xfrm>
          <a:off x="12542838" y="995363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7" imgW="891389" imgH="403698" progId="Excel.SheetMacroEnabled.12">
                  <p:link updateAutomatic="1"/>
                </p:oleObj>
              </mc:Choice>
              <mc:Fallback>
                <p:oleObj name="Macro-Enabled Worksheet" r:id="rId37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542838" y="995363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to 53">
            <a:extLst>
              <a:ext uri="{FF2B5EF4-FFF2-40B4-BE49-F238E27FC236}">
                <a16:creationId xmlns:a16="http://schemas.microsoft.com/office/drawing/2014/main" id="{AF0EE76E-5A99-56AC-525C-C4FAEEE59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712530"/>
              </p:ext>
            </p:extLst>
          </p:nvPr>
        </p:nvGraphicFramePr>
        <p:xfrm>
          <a:off x="12542838" y="1603375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9" imgW="891389" imgH="403698" progId="Excel.SheetMacroEnabled.12">
                  <p:link updateAutomatic="1"/>
                </p:oleObj>
              </mc:Choice>
              <mc:Fallback>
                <p:oleObj name="Macro-Enabled Worksheet" r:id="rId39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2542838" y="1603375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to 54">
            <a:extLst>
              <a:ext uri="{FF2B5EF4-FFF2-40B4-BE49-F238E27FC236}">
                <a16:creationId xmlns:a16="http://schemas.microsoft.com/office/drawing/2014/main" id="{4CA7A358-479F-42B8-C97C-46180AD97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533307"/>
              </p:ext>
            </p:extLst>
          </p:nvPr>
        </p:nvGraphicFramePr>
        <p:xfrm>
          <a:off x="17476788" y="995363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1" imgW="1082262" imgH="403698" progId="Excel.SheetMacroEnabled.12">
                  <p:link updateAutomatic="1"/>
                </p:oleObj>
              </mc:Choice>
              <mc:Fallback>
                <p:oleObj name="Macro-Enabled Worksheet" r:id="rId41" imgW="1082262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7476788" y="995363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to 55">
            <a:extLst>
              <a:ext uri="{FF2B5EF4-FFF2-40B4-BE49-F238E27FC236}">
                <a16:creationId xmlns:a16="http://schemas.microsoft.com/office/drawing/2014/main" id="{C16B04FA-AB80-18BE-6A6F-F2F48C34A7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328846"/>
              </p:ext>
            </p:extLst>
          </p:nvPr>
        </p:nvGraphicFramePr>
        <p:xfrm>
          <a:off x="17476788" y="1603375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3" imgW="1082262" imgH="403698" progId="Excel.SheetMacroEnabled.12">
                  <p:link updateAutomatic="1"/>
                </p:oleObj>
              </mc:Choice>
              <mc:Fallback>
                <p:oleObj name="Macro-Enabled Worksheet" r:id="rId43" imgW="1082262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7476788" y="1603375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to 56">
            <a:extLst>
              <a:ext uri="{FF2B5EF4-FFF2-40B4-BE49-F238E27FC236}">
                <a16:creationId xmlns:a16="http://schemas.microsoft.com/office/drawing/2014/main" id="{D2A895DC-EDA8-4838-7A24-6E4C029C1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368132"/>
              </p:ext>
            </p:extLst>
          </p:nvPr>
        </p:nvGraphicFramePr>
        <p:xfrm>
          <a:off x="21972588" y="979488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5" imgW="1082262" imgH="403698" progId="Excel.SheetMacroEnabled.12">
                  <p:link updateAutomatic="1"/>
                </p:oleObj>
              </mc:Choice>
              <mc:Fallback>
                <p:oleObj name="Macro-Enabled Worksheet" r:id="rId45" imgW="1082262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1972588" y="979488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to 57">
            <a:extLst>
              <a:ext uri="{FF2B5EF4-FFF2-40B4-BE49-F238E27FC236}">
                <a16:creationId xmlns:a16="http://schemas.microsoft.com/office/drawing/2014/main" id="{08E36F76-53FF-09AB-4642-0DE178F2D7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804222"/>
              </p:ext>
            </p:extLst>
          </p:nvPr>
        </p:nvGraphicFramePr>
        <p:xfrm>
          <a:off x="21972588" y="1587500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7" imgW="1082262" imgH="403698" progId="Excel.SheetMacroEnabled.12">
                  <p:link updateAutomatic="1"/>
                </p:oleObj>
              </mc:Choice>
              <mc:Fallback>
                <p:oleObj name="Macro-Enabled Worksheet" r:id="rId47" imgW="1082262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1972588" y="1587500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to 58">
            <a:extLst>
              <a:ext uri="{FF2B5EF4-FFF2-40B4-BE49-F238E27FC236}">
                <a16:creationId xmlns:a16="http://schemas.microsoft.com/office/drawing/2014/main" id="{B12BE88B-A5FB-C940-AAB3-BC5A0CA0FB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814343"/>
              </p:ext>
            </p:extLst>
          </p:nvPr>
        </p:nvGraphicFramePr>
        <p:xfrm>
          <a:off x="8675688" y="2251075"/>
          <a:ext cx="15462250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9" imgW="18051588" imgH="4914900" progId="Excel.SheetMacroEnabled.12">
                  <p:link updateAutomatic="1"/>
                </p:oleObj>
              </mc:Choice>
              <mc:Fallback>
                <p:oleObj name="Macro-Enabled Worksheet" r:id="rId49" imgW="18051588" imgH="491490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8675688" y="2251075"/>
                        <a:ext cx="15462250" cy="491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7DD15C17-F067-ED6A-BF82-8C977A8CEBA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82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B7B59-D7AB-3B73-A6F7-DF0BAB27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6A9F0693-9DB7-048A-116A-BF73D29E3E61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A2FA5E8-3F6F-844C-F3B8-6E6F6FF65E77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947F4F2A-493B-92B1-AE14-45D3077C7C8D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1Tri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709866FC-624B-D015-EFB2-0726CF856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C27B4C82-1314-97EB-9B75-6C1E807B6D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847187"/>
              </p:ext>
            </p:extLst>
          </p:nvPr>
        </p:nvGraphicFramePr>
        <p:xfrm>
          <a:off x="5954713" y="3136900"/>
          <a:ext cx="6889750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13136" progId="Excel.SheetMacroEnabled.12">
                  <p:link updateAutomatic="1"/>
                </p:oleObj>
              </mc:Choice>
              <mc:Fallback>
                <p:oleObj name="Macro-Enabled Worksheet" r:id="rId5" imgW="2483777" imgH="1013136" progId="Excel.SheetMacroEnabled.12">
                  <p:link updateAutomatic="1"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1963F083-CE0C-F8B6-1D1B-689F8F21AA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54713" y="3136900"/>
                        <a:ext cx="6889750" cy="280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FD94C26-9749-15D8-9A87-5DDAC7607126}"/>
              </a:ext>
            </a:extLst>
          </p:cNvPr>
          <p:cNvSpPr txBox="1"/>
          <p:nvPr/>
        </p:nvSpPr>
        <p:spPr>
          <a:xfrm>
            <a:off x="6273070" y="1158849"/>
            <a:ext cx="1015404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A567DCBE-9A4F-C13B-1B08-8B9D6D99E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008043"/>
              </p:ext>
            </p:extLst>
          </p:nvPr>
        </p:nvGraphicFramePr>
        <p:xfrm>
          <a:off x="13923963" y="3098800"/>
          <a:ext cx="2998787" cy="279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081778" imgH="1005840" progId="Excel.SheetMacroEnabled.12">
                  <p:link updateAutomatic="1"/>
                </p:oleObj>
              </mc:Choice>
              <mc:Fallback>
                <p:oleObj name="Macro-Enabled Worksheet" r:id="rId7" imgW="1081778" imgH="1005840" progId="Excel.SheetMacroEnabled.12">
                  <p:link updateAutomatic="1"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6AE90DB5-D383-FA44-CEB4-ACFD4C3D6C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23963" y="3098800"/>
                        <a:ext cx="2998787" cy="2792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3739BD09-0E4E-CA52-05FA-E59982F80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349314"/>
              </p:ext>
            </p:extLst>
          </p:nvPr>
        </p:nvGraphicFramePr>
        <p:xfrm>
          <a:off x="6230938" y="6950075"/>
          <a:ext cx="10399712" cy="441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1470822" progId="Excel.SheetMacroEnabled.12">
                  <p:link updateAutomatic="1"/>
                </p:oleObj>
              </mc:Choice>
              <mc:Fallback>
                <p:oleObj name="Macro-Enabled Worksheet" r:id="rId9" imgW="3467211" imgH="1470822" progId="Excel.SheetMacroEnabled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12B63475-D26A-5911-88A9-DBC8BF1D07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30938" y="6950075"/>
                        <a:ext cx="10399712" cy="441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F60FC81B-18CC-3EB4-F543-5D9125EBF7D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733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84706-3807-4C4E-EB0E-47210A31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37E79685-FF2F-C193-9747-AE0228E34134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844A0FD-AC00-305E-00A2-A010CBCD6E78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0C51383B-FF2E-AE6E-A9C5-F69970548170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1Tri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08FB480E-E62A-38B1-4828-57B8D305C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8316" y="43412"/>
            <a:ext cx="2147023" cy="6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275AE516-615C-CCF7-0668-A6ED90D476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997729"/>
              </p:ext>
            </p:extLst>
          </p:nvPr>
        </p:nvGraphicFramePr>
        <p:xfrm>
          <a:off x="1127125" y="2492375"/>
          <a:ext cx="6823075" cy="276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05840" progId="Excel.SheetMacroEnabled.12">
                  <p:link updateAutomatic="1"/>
                </p:oleObj>
              </mc:Choice>
              <mc:Fallback>
                <p:oleObj name="Macro-Enabled Worksheet" r:id="rId5" imgW="2483777" imgH="1005840" progId="Excel.SheetMacroEnabled.12">
                  <p:link updateAutomatic="1"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24FCFA86-D88D-2B26-4C1A-EEE68811C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7125" y="2492375"/>
                        <a:ext cx="6823075" cy="2763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E94B33DB-B120-D7C1-6C7F-EB58B6ADE19B}"/>
              </a:ext>
            </a:extLst>
          </p:cNvPr>
          <p:cNvSpPr txBox="1"/>
          <p:nvPr/>
        </p:nvSpPr>
        <p:spPr>
          <a:xfrm>
            <a:off x="43747" y="1068179"/>
            <a:ext cx="12388886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6C60A7A1-B2E0-3FF2-E60B-170494B076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058917"/>
              </p:ext>
            </p:extLst>
          </p:nvPr>
        </p:nvGraphicFramePr>
        <p:xfrm>
          <a:off x="8710613" y="2579688"/>
          <a:ext cx="2994025" cy="265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1005840" progId="Excel.SheetMacroEnabled.12">
                  <p:link updateAutomatic="1"/>
                </p:oleObj>
              </mc:Choice>
              <mc:Fallback>
                <p:oleObj name="Macro-Enabled Worksheet" r:id="rId7" imgW="1135067" imgH="1005840" progId="Excel.SheetMacroEnabled.12">
                  <p:link updateAutomatic="1"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F4F7BF21-FB42-5F54-F537-12AF33CB9D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10613" y="2579688"/>
                        <a:ext cx="2994025" cy="2655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FE638C75-0F74-F619-4C77-F860506D2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376300"/>
              </p:ext>
            </p:extLst>
          </p:nvPr>
        </p:nvGraphicFramePr>
        <p:xfrm>
          <a:off x="1941513" y="6026150"/>
          <a:ext cx="8820150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556422" progId="Excel.SheetMacroEnabled.12">
                  <p:link updateAutomatic="1"/>
                </p:oleObj>
              </mc:Choice>
              <mc:Fallback>
                <p:oleObj name="Macro-Enabled Worksheet" r:id="rId9" imgW="3467211" imgH="556422" progId="Excel.SheetMacroEnabled.12">
                  <p:link updateAutomatic="1"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EA97558E-7518-D535-9F3F-90D198808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41513" y="6026150"/>
                        <a:ext cx="8820150" cy="141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80671622-6FF2-27F1-A214-CA755B5DE4B0}"/>
              </a:ext>
            </a:extLst>
          </p:cNvPr>
          <p:cNvSpPr txBox="1"/>
          <p:nvPr/>
        </p:nvSpPr>
        <p:spPr>
          <a:xfrm>
            <a:off x="188126" y="8142238"/>
            <a:ext cx="1215050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7CC66EA1-FD5B-7B3A-1CDE-43AE2FC60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279928"/>
              </p:ext>
            </p:extLst>
          </p:nvPr>
        </p:nvGraphicFramePr>
        <p:xfrm>
          <a:off x="1206500" y="9215438"/>
          <a:ext cx="6359525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2483777" imgH="1180938" progId="Excel.SheetMacroEnabled.12">
                  <p:link updateAutomatic="1"/>
                </p:oleObj>
              </mc:Choice>
              <mc:Fallback>
                <p:oleObj name="Macro-Enabled Worksheet" r:id="rId11" imgW="2483777" imgH="1180938" progId="Excel.SheetMacroEnabled.12">
                  <p:link updateAutomatic="1"/>
                  <p:pic>
                    <p:nvPicPr>
                      <p:cNvPr id="36" name="Objeto 35">
                        <a:extLst>
                          <a:ext uri="{FF2B5EF4-FFF2-40B4-BE49-F238E27FC236}">
                            <a16:creationId xmlns:a16="http://schemas.microsoft.com/office/drawing/2014/main" id="{A8C8FB10-9695-045E-1F6E-7D738E40F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06500" y="9215438"/>
                        <a:ext cx="6359525" cy="302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B9EE58EF-5BBF-A02C-56CD-EA83F8B83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385647"/>
              </p:ext>
            </p:extLst>
          </p:nvPr>
        </p:nvGraphicFramePr>
        <p:xfrm>
          <a:off x="8550275" y="9164638"/>
          <a:ext cx="2979738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135067" imgH="1173156" progId="Excel.SheetMacroEnabled.12">
                  <p:link updateAutomatic="1"/>
                </p:oleObj>
              </mc:Choice>
              <mc:Fallback>
                <p:oleObj name="Macro-Enabled Worksheet" r:id="rId13" imgW="1135067" imgH="1173156" progId="Excel.SheetMacroEnabled.12">
                  <p:link updateAutomatic="1"/>
                  <p:pic>
                    <p:nvPicPr>
                      <p:cNvPr id="37" name="Objeto 36">
                        <a:extLst>
                          <a:ext uri="{FF2B5EF4-FFF2-40B4-BE49-F238E27FC236}">
                            <a16:creationId xmlns:a16="http://schemas.microsoft.com/office/drawing/2014/main" id="{3BA1F376-2BDE-C04D-AA83-474AAC10E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50275" y="9164638"/>
                        <a:ext cx="2979738" cy="307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487CEC2-D769-6900-BEC3-152DF40BE8B8}"/>
              </a:ext>
            </a:extLst>
          </p:cNvPr>
          <p:cNvSpPr/>
          <p:nvPr/>
        </p:nvSpPr>
        <p:spPr>
          <a:xfrm>
            <a:off x="172336" y="866660"/>
            <a:ext cx="12180086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91CDF22-4732-CA5A-620B-8FFC26C3D58A}"/>
              </a:ext>
            </a:extLst>
          </p:cNvPr>
          <p:cNvSpPr/>
          <p:nvPr/>
        </p:nvSpPr>
        <p:spPr>
          <a:xfrm>
            <a:off x="158544" y="7816034"/>
            <a:ext cx="12180086" cy="4826159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E15C4111-4E94-390F-9CD6-AF81148CAB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547216"/>
              </p:ext>
            </p:extLst>
          </p:nvPr>
        </p:nvGraphicFramePr>
        <p:xfrm>
          <a:off x="13271500" y="2516188"/>
          <a:ext cx="6754813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2483777" imgH="1013136" progId="Excel.SheetMacroEnabled.12">
                  <p:link updateAutomatic="1"/>
                </p:oleObj>
              </mc:Choice>
              <mc:Fallback>
                <p:oleObj name="Macro-Enabled Worksheet" r:id="rId15" imgW="2483777" imgH="1013136" progId="Excel.SheetMacroEnabled.12">
                  <p:link updateAutomatic="1"/>
                  <p:pic>
                    <p:nvPicPr>
                      <p:cNvPr id="40" name="Objeto 39">
                        <a:extLst>
                          <a:ext uri="{FF2B5EF4-FFF2-40B4-BE49-F238E27FC236}">
                            <a16:creationId xmlns:a16="http://schemas.microsoft.com/office/drawing/2014/main" id="{65DBF9C7-679B-4DA3-1ECD-0F760BA9C0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271500" y="2516188"/>
                        <a:ext cx="6754813" cy="275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CD46544F-CE2E-5C11-C21E-3DA0AF2FFB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117599"/>
              </p:ext>
            </p:extLst>
          </p:nvPr>
        </p:nvGraphicFramePr>
        <p:xfrm>
          <a:off x="20753388" y="2519363"/>
          <a:ext cx="3086100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1135067" imgH="1005840" progId="Excel.SheetMacroEnabled.12">
                  <p:link updateAutomatic="1"/>
                </p:oleObj>
              </mc:Choice>
              <mc:Fallback>
                <p:oleObj name="Macro-Enabled Worksheet" r:id="rId17" imgW="1135067" imgH="1005840" progId="Excel.SheetMacroEnabled.12">
                  <p:link updateAutomatic="1"/>
                  <p:pic>
                    <p:nvPicPr>
                      <p:cNvPr id="41" name="Objeto 40">
                        <a:extLst>
                          <a:ext uri="{FF2B5EF4-FFF2-40B4-BE49-F238E27FC236}">
                            <a16:creationId xmlns:a16="http://schemas.microsoft.com/office/drawing/2014/main" id="{645DB670-A35C-ABBE-6366-F1350FD770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753388" y="2519363"/>
                        <a:ext cx="3086100" cy="2738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>
            <a:extLst>
              <a:ext uri="{FF2B5EF4-FFF2-40B4-BE49-F238E27FC236}">
                <a16:creationId xmlns:a16="http://schemas.microsoft.com/office/drawing/2014/main" id="{23778D6B-06B5-14E9-9A0A-1D988DD05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773723"/>
              </p:ext>
            </p:extLst>
          </p:nvPr>
        </p:nvGraphicFramePr>
        <p:xfrm>
          <a:off x="14089063" y="6027738"/>
          <a:ext cx="880745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3467211" imgH="556422" progId="Excel.SheetMacroEnabled.12">
                  <p:link updateAutomatic="1"/>
                </p:oleObj>
              </mc:Choice>
              <mc:Fallback>
                <p:oleObj name="Macro-Enabled Worksheet" r:id="rId19" imgW="3467211" imgH="556422" progId="Excel.SheetMacroEnabled.12">
                  <p:link updateAutomatic="1"/>
                  <p:pic>
                    <p:nvPicPr>
                      <p:cNvPr id="42" name="Objeto 41">
                        <a:extLst>
                          <a:ext uri="{FF2B5EF4-FFF2-40B4-BE49-F238E27FC236}">
                            <a16:creationId xmlns:a16="http://schemas.microsoft.com/office/drawing/2014/main" id="{C9A27E2D-E1D5-1D84-4AAC-914ADA67A3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089063" y="6027738"/>
                        <a:ext cx="8807450" cy="1416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8B91C3F-4B57-89BF-D17F-138A7702E1B1}"/>
              </a:ext>
            </a:extLst>
          </p:cNvPr>
          <p:cNvSpPr/>
          <p:nvPr/>
        </p:nvSpPr>
        <p:spPr>
          <a:xfrm>
            <a:off x="12530671" y="865572"/>
            <a:ext cx="11649979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ED820D5-83F1-8C47-7BF9-E4F954E88B73}"/>
              </a:ext>
            </a:extLst>
          </p:cNvPr>
          <p:cNvSpPr txBox="1"/>
          <p:nvPr/>
        </p:nvSpPr>
        <p:spPr>
          <a:xfrm>
            <a:off x="12594840" y="1078754"/>
            <a:ext cx="11551301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DE3CEEE-DB4E-0B77-3E88-7AFB93B75C29}"/>
              </a:ext>
            </a:extLst>
          </p:cNvPr>
          <p:cNvSpPr/>
          <p:nvPr/>
        </p:nvSpPr>
        <p:spPr>
          <a:xfrm>
            <a:off x="12530670" y="7808014"/>
            <a:ext cx="11631513" cy="4826159"/>
          </a:xfrm>
          <a:prstGeom prst="roundRect">
            <a:avLst>
              <a:gd name="adj" fmla="val 447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AÇÕES REALIZADAS</a:t>
            </a:r>
            <a:endParaRPr lang="pt-BR" sz="3600" b="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ADEB52-6926-3F9C-516C-DEA9EEA312F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082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B3A58-29EF-BF32-D9D4-02C20658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AFE7A6D1-8751-76B5-E00B-C1A130010B5B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FC4659D-3971-4E66-BAB6-C153805FB4DE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564E6A55-265B-6C0B-9954-2D885EEF5D61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1Tri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AD42B6D1-9CDA-A8EE-FA16-0023FE18C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C07F2E3-CAB5-2556-5D6E-88BB06688B62}"/>
              </a:ext>
            </a:extLst>
          </p:cNvPr>
          <p:cNvSpPr txBox="1"/>
          <p:nvPr/>
        </p:nvSpPr>
        <p:spPr>
          <a:xfrm>
            <a:off x="4362450" y="109934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EFB1C5F-5293-4C74-9D3E-591488F94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998443"/>
              </p:ext>
            </p:extLst>
          </p:nvPr>
        </p:nvGraphicFramePr>
        <p:xfrm>
          <a:off x="6110288" y="2374900"/>
          <a:ext cx="7696200" cy="278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898836" progId="Excel.SheetMacroEnabled.12">
                  <p:link updateAutomatic="1"/>
                </p:oleObj>
              </mc:Choice>
              <mc:Fallback>
                <p:oleObj name="Macro-Enabled Worksheet" r:id="rId5" imgW="2483777" imgH="898836" progId="Excel.SheetMacroEnabled.12">
                  <p:link updateAutomatic="1"/>
                  <p:pic>
                    <p:nvPicPr>
                      <p:cNvPr id="26" name="Objeto 25">
                        <a:extLst>
                          <a:ext uri="{FF2B5EF4-FFF2-40B4-BE49-F238E27FC236}">
                            <a16:creationId xmlns:a16="http://schemas.microsoft.com/office/drawing/2014/main" id="{C4BFDA60-C689-06AA-0C8B-DBCE737173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0288" y="2374900"/>
                        <a:ext cx="7696200" cy="278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F95E8510-9329-47E4-8CF4-123D8E2B2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887670"/>
              </p:ext>
            </p:extLst>
          </p:nvPr>
        </p:nvGraphicFramePr>
        <p:xfrm>
          <a:off x="14906625" y="2384425"/>
          <a:ext cx="3605213" cy="278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875976" progId="Excel.SheetMacroEnabled.12">
                  <p:link updateAutomatic="1"/>
                </p:oleObj>
              </mc:Choice>
              <mc:Fallback>
                <p:oleObj name="Macro-Enabled Worksheet" r:id="rId7" imgW="1135067" imgH="875976" progId="Excel.SheetMacroEnabled.12">
                  <p:link updateAutomatic="1"/>
                  <p:pic>
                    <p:nvPicPr>
                      <p:cNvPr id="27" name="Objeto 26">
                        <a:extLst>
                          <a:ext uri="{FF2B5EF4-FFF2-40B4-BE49-F238E27FC236}">
                            <a16:creationId xmlns:a16="http://schemas.microsoft.com/office/drawing/2014/main" id="{860F1F6F-7987-9767-A152-2124EB4E60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906625" y="2384425"/>
                        <a:ext cx="3605213" cy="278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995019E1-0C26-2AFB-C2FC-DC87ED2B3382}"/>
              </a:ext>
            </a:extLst>
          </p:cNvPr>
          <p:cNvSpPr txBox="1"/>
          <p:nvPr/>
        </p:nvSpPr>
        <p:spPr>
          <a:xfrm>
            <a:off x="4367834" y="627648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BA8642B6-FF69-76F0-6F57-88EA624466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053049"/>
              </p:ext>
            </p:extLst>
          </p:nvPr>
        </p:nvGraphicFramePr>
        <p:xfrm>
          <a:off x="6116638" y="7442200"/>
          <a:ext cx="77597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2483777" imgH="875976" progId="Excel.SheetMacroEnabled.12">
                  <p:link updateAutomatic="1"/>
                </p:oleObj>
              </mc:Choice>
              <mc:Fallback>
                <p:oleObj name="Macro-Enabled Worksheet" r:id="rId9" imgW="2483777" imgH="875976" progId="Excel.SheetMacroEnabled.12">
                  <p:link updateAutomatic="1"/>
                  <p:pic>
                    <p:nvPicPr>
                      <p:cNvPr id="30" name="Objeto 29">
                        <a:extLst>
                          <a:ext uri="{FF2B5EF4-FFF2-40B4-BE49-F238E27FC236}">
                            <a16:creationId xmlns:a16="http://schemas.microsoft.com/office/drawing/2014/main" id="{2DCBFCFB-09C0-1698-3E1A-E0C6D39046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16638" y="7442200"/>
                        <a:ext cx="77597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658712F0-A0F0-08AC-0A5A-2BF2117A0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82578"/>
              </p:ext>
            </p:extLst>
          </p:nvPr>
        </p:nvGraphicFramePr>
        <p:xfrm>
          <a:off x="15038388" y="7461250"/>
          <a:ext cx="3486150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135067" imgH="891540" progId="Excel.SheetMacroEnabled.12">
                  <p:link updateAutomatic="1"/>
                </p:oleObj>
              </mc:Choice>
              <mc:Fallback>
                <p:oleObj name="Macro-Enabled Worksheet" r:id="rId11" imgW="1135067" imgH="891540" progId="Excel.SheetMacroEnabled.12">
                  <p:link updateAutomatic="1"/>
                  <p:pic>
                    <p:nvPicPr>
                      <p:cNvPr id="32" name="Objeto 31">
                        <a:extLst>
                          <a:ext uri="{FF2B5EF4-FFF2-40B4-BE49-F238E27FC236}">
                            <a16:creationId xmlns:a16="http://schemas.microsoft.com/office/drawing/2014/main" id="{5E3E2741-12F9-86F6-2810-62096CCF95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038388" y="7461250"/>
                        <a:ext cx="3486150" cy="274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DAEBC725-C28E-A4E1-DDC6-31C5CB027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395457"/>
              </p:ext>
            </p:extLst>
          </p:nvPr>
        </p:nvGraphicFramePr>
        <p:xfrm>
          <a:off x="7745413" y="10941050"/>
          <a:ext cx="8805862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3467211" imgH="556422" progId="Excel.SheetMacroEnabled.12">
                  <p:link updateAutomatic="1"/>
                </p:oleObj>
              </mc:Choice>
              <mc:Fallback>
                <p:oleObj name="Macro-Enabled Worksheet" r:id="rId13" imgW="3467211" imgH="556422" progId="Excel.SheetMacroEnabled.12">
                  <p:link updateAutomatic="1"/>
                  <p:pic>
                    <p:nvPicPr>
                      <p:cNvPr id="33" name="Objeto 32">
                        <a:extLst>
                          <a:ext uri="{FF2B5EF4-FFF2-40B4-BE49-F238E27FC236}">
                            <a16:creationId xmlns:a16="http://schemas.microsoft.com/office/drawing/2014/main" id="{EF165E6C-C106-92C0-C08F-B0311F588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45413" y="10941050"/>
                        <a:ext cx="8805862" cy="1416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9CEC039-CC78-8C89-F6FD-16786BF68C57}"/>
              </a:ext>
            </a:extLst>
          </p:cNvPr>
          <p:cNvSpPr/>
          <p:nvPr/>
        </p:nvSpPr>
        <p:spPr>
          <a:xfrm>
            <a:off x="4325236" y="866661"/>
            <a:ext cx="15690930" cy="470968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5A17C9F-5A50-7D91-2B9C-60ECBB140373}"/>
              </a:ext>
            </a:extLst>
          </p:cNvPr>
          <p:cNvSpPr/>
          <p:nvPr/>
        </p:nvSpPr>
        <p:spPr>
          <a:xfrm>
            <a:off x="4325236" y="6238761"/>
            <a:ext cx="15690930" cy="633979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267394-C6C0-ECDF-EB15-AA2339DD042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169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D251A-7397-BBCD-7B3E-3BE2A658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97E3116F-8A85-52F3-1B65-BAE2AD4BD435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D2B6F33-8727-00B0-E4CC-2919A84E0EE2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36A69487-3518-8D09-5B22-2D1B93EA4AE6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1Tri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AC44FEB-74D5-2F23-6BF2-17D7EBE9DE56}"/>
              </a:ext>
            </a:extLst>
          </p:cNvPr>
          <p:cNvSpPr/>
          <p:nvPr/>
        </p:nvSpPr>
        <p:spPr>
          <a:xfrm>
            <a:off x="225448" y="8845013"/>
            <a:ext cx="23922176" cy="4614550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4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  <a:sym typeface="Helvetica Neue Medium"/>
              </a:rPr>
              <a:t>COMENTÁRIOS ADICIONAIS</a:t>
            </a:r>
            <a:endParaRPr kumimoji="0" lang="pt-BR" sz="280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2E0F282A-8643-A86E-2A69-47902C6F7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F9B3F09-78DE-E67D-C563-1BC00248F8FF}"/>
              </a:ext>
            </a:extLst>
          </p:cNvPr>
          <p:cNvSpPr/>
          <p:nvPr/>
        </p:nvSpPr>
        <p:spPr>
          <a:xfrm>
            <a:off x="4802026" y="1344968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46C3994-DCB9-1ED5-A484-612628F1AEA1}"/>
              </a:ext>
            </a:extLst>
          </p:cNvPr>
          <p:cNvSpPr/>
          <p:nvPr/>
        </p:nvSpPr>
        <p:spPr>
          <a:xfrm>
            <a:off x="9006468" y="1344968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1372BC4-F8BC-47A9-83DD-7E3F5FEDB3E1}"/>
              </a:ext>
            </a:extLst>
          </p:cNvPr>
          <p:cNvSpPr/>
          <p:nvPr/>
        </p:nvSpPr>
        <p:spPr>
          <a:xfrm>
            <a:off x="14229434" y="1344968"/>
            <a:ext cx="443113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97046BA-DC2C-474E-6088-FEC00F25E194}"/>
              </a:ext>
            </a:extLst>
          </p:cNvPr>
          <p:cNvSpPr/>
          <p:nvPr/>
        </p:nvSpPr>
        <p:spPr>
          <a:xfrm>
            <a:off x="4802026" y="1964093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C64D078-E031-7E87-4D49-97140B2B6395}"/>
              </a:ext>
            </a:extLst>
          </p:cNvPr>
          <p:cNvSpPr/>
          <p:nvPr/>
        </p:nvSpPr>
        <p:spPr>
          <a:xfrm>
            <a:off x="9006468" y="1964093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C9ACF81-C0B3-090E-C6B8-21C5FC35D57E}"/>
              </a:ext>
            </a:extLst>
          </p:cNvPr>
          <p:cNvSpPr/>
          <p:nvPr/>
        </p:nvSpPr>
        <p:spPr>
          <a:xfrm>
            <a:off x="14229434" y="1964093"/>
            <a:ext cx="443113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9E798E99-C826-6B50-FB49-B94312BE8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311626"/>
              </p:ext>
            </p:extLst>
          </p:nvPr>
        </p:nvGraphicFramePr>
        <p:xfrm>
          <a:off x="8002588" y="1412875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891389" imgH="403698" progId="Excel.SheetMacroEnabled.12">
                  <p:link updateAutomatic="1"/>
                </p:oleObj>
              </mc:Choice>
              <mc:Fallback>
                <p:oleObj name="Macro-Enabled Worksheet" r:id="rId5" imgW="891389" imgH="403698" progId="Excel.SheetMacroEnabled.12">
                  <p:link updateAutomatic="1"/>
                  <p:pic>
                    <p:nvPicPr>
                      <p:cNvPr id="53" name="Objeto 52">
                        <a:extLst>
                          <a:ext uri="{FF2B5EF4-FFF2-40B4-BE49-F238E27FC236}">
                            <a16:creationId xmlns:a16="http://schemas.microsoft.com/office/drawing/2014/main" id="{B727B098-72A4-C347-FC88-27C5F37E9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02588" y="1412875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38C22810-2DAF-EB00-CE69-BFEFD7DD8E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163040"/>
              </p:ext>
            </p:extLst>
          </p:nvPr>
        </p:nvGraphicFramePr>
        <p:xfrm>
          <a:off x="8002588" y="2020888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891389" imgH="403698" progId="Excel.SheetMacroEnabled.12">
                  <p:link updateAutomatic="1"/>
                </p:oleObj>
              </mc:Choice>
              <mc:Fallback>
                <p:oleObj name="Macro-Enabled Worksheet" r:id="rId7" imgW="891389" imgH="403698" progId="Excel.SheetMacroEnabled.12">
                  <p:link updateAutomatic="1"/>
                  <p:pic>
                    <p:nvPicPr>
                      <p:cNvPr id="54" name="Objeto 53">
                        <a:extLst>
                          <a:ext uri="{FF2B5EF4-FFF2-40B4-BE49-F238E27FC236}">
                            <a16:creationId xmlns:a16="http://schemas.microsoft.com/office/drawing/2014/main" id="{AF0EE76E-5A99-56AC-525C-C4FAEEE59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02588" y="2020888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F57B498D-3B86-3058-5E8C-C122B93CC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428421"/>
              </p:ext>
            </p:extLst>
          </p:nvPr>
        </p:nvGraphicFramePr>
        <p:xfrm>
          <a:off x="12938125" y="1412875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1082262" imgH="403698" progId="Excel.SheetMacroEnabled.12">
                  <p:link updateAutomatic="1"/>
                </p:oleObj>
              </mc:Choice>
              <mc:Fallback>
                <p:oleObj name="Macro-Enabled Worksheet" r:id="rId9" imgW="1082262" imgH="403698" progId="Excel.SheetMacroEnabled.12">
                  <p:link updateAutomatic="1"/>
                  <p:pic>
                    <p:nvPicPr>
                      <p:cNvPr id="55" name="Objeto 54">
                        <a:extLst>
                          <a:ext uri="{FF2B5EF4-FFF2-40B4-BE49-F238E27FC236}">
                            <a16:creationId xmlns:a16="http://schemas.microsoft.com/office/drawing/2014/main" id="{4CA7A358-479F-42B8-C97C-46180AD970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38125" y="1412875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5E1D4BCB-5AEA-BA81-3634-9002D091F4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186224"/>
              </p:ext>
            </p:extLst>
          </p:nvPr>
        </p:nvGraphicFramePr>
        <p:xfrm>
          <a:off x="12938125" y="2020888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082262" imgH="403698" progId="Excel.SheetMacroEnabled.12">
                  <p:link updateAutomatic="1"/>
                </p:oleObj>
              </mc:Choice>
              <mc:Fallback>
                <p:oleObj name="Macro-Enabled Worksheet" r:id="rId11" imgW="1082262" imgH="403698" progId="Excel.SheetMacroEnabled.12">
                  <p:link updateAutomatic="1"/>
                  <p:pic>
                    <p:nvPicPr>
                      <p:cNvPr id="56" name="Objeto 55">
                        <a:extLst>
                          <a:ext uri="{FF2B5EF4-FFF2-40B4-BE49-F238E27FC236}">
                            <a16:creationId xmlns:a16="http://schemas.microsoft.com/office/drawing/2014/main" id="{C16B04FA-AB80-18BE-6A6F-F2F48C34A7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938125" y="2020888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787087BC-E611-782D-A62F-BE436821E8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965282"/>
              </p:ext>
            </p:extLst>
          </p:nvPr>
        </p:nvGraphicFramePr>
        <p:xfrm>
          <a:off x="17432338" y="1397000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082262" imgH="403698" progId="Excel.SheetMacroEnabled.12">
                  <p:link updateAutomatic="1"/>
                </p:oleObj>
              </mc:Choice>
              <mc:Fallback>
                <p:oleObj name="Macro-Enabled Worksheet" r:id="rId13" imgW="1082262" imgH="403698" progId="Excel.SheetMacroEnabled.12">
                  <p:link updateAutomatic="1"/>
                  <p:pic>
                    <p:nvPicPr>
                      <p:cNvPr id="57" name="Objeto 56">
                        <a:extLst>
                          <a:ext uri="{FF2B5EF4-FFF2-40B4-BE49-F238E27FC236}">
                            <a16:creationId xmlns:a16="http://schemas.microsoft.com/office/drawing/2014/main" id="{D2A895DC-EDA8-4838-7A24-6E4C029C10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432338" y="1397000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347C9369-6B43-30BE-EB8B-24627EF96A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179836"/>
              </p:ext>
            </p:extLst>
          </p:nvPr>
        </p:nvGraphicFramePr>
        <p:xfrm>
          <a:off x="17432338" y="2005013"/>
          <a:ext cx="1082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1082262" imgH="403698" progId="Excel.SheetMacroEnabled.12">
                  <p:link updateAutomatic="1"/>
                </p:oleObj>
              </mc:Choice>
              <mc:Fallback>
                <p:oleObj name="Macro-Enabled Worksheet" r:id="rId15" imgW="1082262" imgH="403698" progId="Excel.SheetMacroEnabled.12">
                  <p:link updateAutomatic="1"/>
                  <p:pic>
                    <p:nvPicPr>
                      <p:cNvPr id="58" name="Objeto 57">
                        <a:extLst>
                          <a:ext uri="{FF2B5EF4-FFF2-40B4-BE49-F238E27FC236}">
                            <a16:creationId xmlns:a16="http://schemas.microsoft.com/office/drawing/2014/main" id="{08E36F76-53FF-09AB-4642-0DE178F2D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432338" y="2005013"/>
                        <a:ext cx="10826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to 33">
            <a:extLst>
              <a:ext uri="{FF2B5EF4-FFF2-40B4-BE49-F238E27FC236}">
                <a16:creationId xmlns:a16="http://schemas.microsoft.com/office/drawing/2014/main" id="{7041FDBB-B1C9-A045-DFAF-96E830821E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692740"/>
              </p:ext>
            </p:extLst>
          </p:nvPr>
        </p:nvGraphicFramePr>
        <p:xfrm>
          <a:off x="3167063" y="2779713"/>
          <a:ext cx="18051462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18051588" imgH="4914900" progId="Excel.SheetMacroEnabled.12">
                  <p:link updateAutomatic="1"/>
                </p:oleObj>
              </mc:Choice>
              <mc:Fallback>
                <p:oleObj name="Macro-Enabled Worksheet" r:id="rId17" imgW="18051588" imgH="491490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67063" y="2779713"/>
                        <a:ext cx="18051462" cy="491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47E00D75-6AE6-441E-6A02-FF7C0DF7C1E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304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D51A-4127-04CC-E7D2-3BAB7CD05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14EA0611-C7F2-C56C-109B-6CF3B458DF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962" y="899910"/>
            <a:ext cx="2515896" cy="17778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D0BCBC7-E5A7-8082-41D9-8D5180E8D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61" y="25900"/>
            <a:ext cx="24384000" cy="13716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BFE8D13-2410-719D-BF22-D612536E6A0E}"/>
              </a:ext>
            </a:extLst>
          </p:cNvPr>
          <p:cNvSpPr txBox="1"/>
          <p:nvPr/>
        </p:nvSpPr>
        <p:spPr>
          <a:xfrm>
            <a:off x="1519962" y="4976638"/>
            <a:ext cx="94073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5600" kern="1200" dirty="0">
                <a:solidFill>
                  <a:schemeClr val="bg1"/>
                </a:solidFill>
                <a:latin typeface="Aptos Black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Tema : K2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A58F0393-04FF-740B-08DA-085411E11B03}"/>
              </a:ext>
            </a:extLst>
          </p:cNvPr>
          <p:cNvSpPr txBox="1"/>
          <p:nvPr/>
        </p:nvSpPr>
        <p:spPr>
          <a:xfrm>
            <a:off x="323633" y="6860007"/>
            <a:ext cx="11302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Consultor(a):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8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 err="1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Região</a:t>
            </a: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: 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Grupo:</a:t>
            </a: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F1222B40-A039-E6E8-DF1B-08C01D2C9F6C}"/>
              </a:ext>
            </a:extLst>
          </p:cNvPr>
          <p:cNvSpPr txBox="1"/>
          <p:nvPr/>
        </p:nvSpPr>
        <p:spPr>
          <a:xfrm>
            <a:off x="8583561" y="12308825"/>
            <a:ext cx="155096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0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Segundo </a:t>
            </a:r>
            <a:r>
              <a:rPr lang="en-US" altLang="ja-JP" sz="4000" kern="1200" dirty="0" err="1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Trimestre</a:t>
            </a: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 - Data:</a:t>
            </a:r>
            <a:endParaRPr lang="en-US" altLang="ja-JP" sz="32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3200" kern="1200" dirty="0">
              <a:solidFill>
                <a:schemeClr val="bg1"/>
              </a:solidFill>
              <a:latin typeface="Grandview Display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B2F69102-16FE-6E0E-D7ED-2D85884DC5F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3304"/>
          <a:stretch/>
        </p:blipFill>
        <p:spPr>
          <a:xfrm>
            <a:off x="19629999" y="692210"/>
            <a:ext cx="3670887" cy="143879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95493B6-429B-9B26-CEE1-434B3FE938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2678" y="25900"/>
            <a:ext cx="1542661" cy="552527"/>
          </a:xfrm>
          <a:prstGeom prst="rect">
            <a:avLst/>
          </a:prstGeom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38CC4B60-CE21-AD6C-20B6-8183FFABC1F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5180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2781-8765-8E2C-FE26-8F8CC13C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2D61AF97-D4B0-CC34-ACA0-30A3B0FD3171}"/>
              </a:ext>
            </a:extLst>
          </p:cNvPr>
          <p:cNvGrpSpPr/>
          <p:nvPr/>
        </p:nvGrpSpPr>
        <p:grpSpPr>
          <a:xfrm>
            <a:off x="73077" y="-99019"/>
            <a:ext cx="21198754" cy="718145"/>
            <a:chOff x="0" y="-135951"/>
            <a:chExt cx="13062857" cy="1203966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D01B8C5-6B1F-28F4-E594-6E00A0E137BC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20CD7B48-8783-9B3A-C072-9FB232EF5FB2}"/>
                </a:ext>
              </a:extLst>
            </p:cNvPr>
            <p:cNvSpPr txBox="1"/>
            <p:nvPr/>
          </p:nvSpPr>
          <p:spPr>
            <a:xfrm>
              <a:off x="163175" y="-135951"/>
              <a:ext cx="11501689" cy="12039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2Tri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20" name="Retângulo 19">
            <a:extLst>
              <a:ext uri="{FF2B5EF4-FFF2-40B4-BE49-F238E27FC236}">
                <a16:creationId xmlns:a16="http://schemas.microsoft.com/office/drawing/2014/main" id="{6C7AC9B9-F836-1AA4-B5D6-1FC4972E80E6}"/>
              </a:ext>
            </a:extLst>
          </p:cNvPr>
          <p:cNvSpPr/>
          <p:nvPr/>
        </p:nvSpPr>
        <p:spPr>
          <a:xfrm>
            <a:off x="13050416" y="13051995"/>
            <a:ext cx="11321143" cy="650480"/>
          </a:xfrm>
          <a:custGeom>
            <a:avLst/>
            <a:gdLst>
              <a:gd name="connsiteX0" fmla="*/ 0 w 11321143"/>
              <a:gd name="connsiteY0" fmla="*/ 0 h 631819"/>
              <a:gd name="connsiteX1" fmla="*/ 11321143 w 11321143"/>
              <a:gd name="connsiteY1" fmla="*/ 0 h 631819"/>
              <a:gd name="connsiteX2" fmla="*/ 11321143 w 11321143"/>
              <a:gd name="connsiteY2" fmla="*/ 631819 h 631819"/>
              <a:gd name="connsiteX3" fmla="*/ 0 w 11321143"/>
              <a:gd name="connsiteY3" fmla="*/ 631819 h 631819"/>
              <a:gd name="connsiteX4" fmla="*/ 0 w 11321143"/>
              <a:gd name="connsiteY4" fmla="*/ 0 h 631819"/>
              <a:gd name="connsiteX0" fmla="*/ 0 w 11321143"/>
              <a:gd name="connsiteY0" fmla="*/ 0 h 650480"/>
              <a:gd name="connsiteX1" fmla="*/ 11321143 w 11321143"/>
              <a:gd name="connsiteY1" fmla="*/ 0 h 650480"/>
              <a:gd name="connsiteX2" fmla="*/ 11321143 w 11321143"/>
              <a:gd name="connsiteY2" fmla="*/ 631819 h 650480"/>
              <a:gd name="connsiteX3" fmla="*/ 391885 w 11321143"/>
              <a:gd name="connsiteY3" fmla="*/ 650480 h 650480"/>
              <a:gd name="connsiteX4" fmla="*/ 0 w 11321143"/>
              <a:gd name="connsiteY4" fmla="*/ 0 h 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143" h="650480">
                <a:moveTo>
                  <a:pt x="0" y="0"/>
                </a:moveTo>
                <a:lnTo>
                  <a:pt x="11321143" y="0"/>
                </a:lnTo>
                <a:lnTo>
                  <a:pt x="11321143" y="631819"/>
                </a:lnTo>
                <a:lnTo>
                  <a:pt x="391885" y="6504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4EF8FD6C-EF36-ED62-B451-EEB95D918D28}"/>
              </a:ext>
            </a:extLst>
          </p:cNvPr>
          <p:cNvSpPr txBox="1"/>
          <p:nvPr/>
        </p:nvSpPr>
        <p:spPr>
          <a:xfrm>
            <a:off x="13546384" y="13126101"/>
            <a:ext cx="1150168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stricta Bold"/>
                <a:sym typeface="Estricta Bold"/>
              </a:rPr>
              <a:t>Tema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: Taxa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Absorção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Ações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Projeção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Comentarios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sym typeface="Helvetica Neue"/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B7F31ED-11DF-6318-2445-82BAC735A1A6}"/>
              </a:ext>
            </a:extLst>
          </p:cNvPr>
          <p:cNvSpPr/>
          <p:nvPr/>
        </p:nvSpPr>
        <p:spPr>
          <a:xfrm>
            <a:off x="125075" y="8221266"/>
            <a:ext cx="8591140" cy="4688178"/>
          </a:xfrm>
          <a:prstGeom prst="roundRect">
            <a:avLst>
              <a:gd name="adj" fmla="val 10287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REFERÊNCIAS: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Taxa de Absorção &gt; 65%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Ponto de Equilíbrio &lt; 50% das vendas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E72C546-B7B3-495F-880B-7E6D9EEEA8EB}"/>
              </a:ext>
            </a:extLst>
          </p:cNvPr>
          <p:cNvSpPr/>
          <p:nvPr/>
        </p:nvSpPr>
        <p:spPr>
          <a:xfrm>
            <a:off x="8889157" y="6238974"/>
            <a:ext cx="15033880" cy="6670469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COMENTÁRIOS ADICIONAIS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7670A1A0-63DC-F058-2416-0C4D05F38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3326" y="43413"/>
            <a:ext cx="1762013" cy="55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AD4F0DA-4812-314D-5141-4790D7EA6C77}"/>
              </a:ext>
            </a:extLst>
          </p:cNvPr>
          <p:cNvSpPr txBox="1"/>
          <p:nvPr/>
        </p:nvSpPr>
        <p:spPr>
          <a:xfrm>
            <a:off x="18661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14EFC13-8533-A5DA-C99B-8392981AA0F3}"/>
              </a:ext>
            </a:extLst>
          </p:cNvPr>
          <p:cNvSpPr/>
          <p:nvPr/>
        </p:nvSpPr>
        <p:spPr>
          <a:xfrm>
            <a:off x="44000" y="674157"/>
            <a:ext cx="4297752" cy="334369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B42CCE4-837B-ED14-B35A-26FB2A47CCFA}"/>
              </a:ext>
            </a:extLst>
          </p:cNvPr>
          <p:cNvSpPr txBox="1"/>
          <p:nvPr/>
        </p:nvSpPr>
        <p:spPr>
          <a:xfrm>
            <a:off x="4408330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5EEE4F3-812C-93B6-2CAA-F023CB916BCD}"/>
              </a:ext>
            </a:extLst>
          </p:cNvPr>
          <p:cNvSpPr/>
          <p:nvPr/>
        </p:nvSpPr>
        <p:spPr>
          <a:xfrm>
            <a:off x="4418463" y="674406"/>
            <a:ext cx="4297752" cy="238311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FD21FA2-019B-5983-70D1-205DAC051D19}"/>
              </a:ext>
            </a:extLst>
          </p:cNvPr>
          <p:cNvSpPr/>
          <p:nvPr/>
        </p:nvSpPr>
        <p:spPr>
          <a:xfrm>
            <a:off x="53781" y="4095750"/>
            <a:ext cx="4297752" cy="387867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A4FA055-7F1D-FB63-639B-7D3F515FA3FA}"/>
              </a:ext>
            </a:extLst>
          </p:cNvPr>
          <p:cNvSpPr txBox="1"/>
          <p:nvPr/>
        </p:nvSpPr>
        <p:spPr>
          <a:xfrm>
            <a:off x="53781" y="4101179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4063937-DE20-0D5A-5DFD-239E9C5488B4}"/>
              </a:ext>
            </a:extLst>
          </p:cNvPr>
          <p:cNvSpPr txBox="1"/>
          <p:nvPr/>
        </p:nvSpPr>
        <p:spPr>
          <a:xfrm>
            <a:off x="60529" y="567103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CD1EA17-1F22-E6A2-F6DC-82DCE54ECD84}"/>
              </a:ext>
            </a:extLst>
          </p:cNvPr>
          <p:cNvSpPr txBox="1"/>
          <p:nvPr/>
        </p:nvSpPr>
        <p:spPr>
          <a:xfrm>
            <a:off x="4398197" y="3131784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9F2E9EE-1256-25C7-1707-CBE997649AFF}"/>
              </a:ext>
            </a:extLst>
          </p:cNvPr>
          <p:cNvSpPr/>
          <p:nvPr/>
        </p:nvSpPr>
        <p:spPr>
          <a:xfrm>
            <a:off x="4408330" y="3133580"/>
            <a:ext cx="4297752" cy="196138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746B3F2-5F06-1D69-FA34-E05C954E5301}"/>
              </a:ext>
            </a:extLst>
          </p:cNvPr>
          <p:cNvSpPr txBox="1"/>
          <p:nvPr/>
        </p:nvSpPr>
        <p:spPr>
          <a:xfrm>
            <a:off x="4388064" y="52580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299911B-0198-31E9-8BC6-0D51A1B3311F}"/>
              </a:ext>
            </a:extLst>
          </p:cNvPr>
          <p:cNvSpPr/>
          <p:nvPr/>
        </p:nvSpPr>
        <p:spPr>
          <a:xfrm>
            <a:off x="4398197" y="5164110"/>
            <a:ext cx="4297752" cy="281031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A36F9293-886F-CFAE-B1E7-8FD681E1B800}"/>
              </a:ext>
            </a:extLst>
          </p:cNvPr>
          <p:cNvSpPr/>
          <p:nvPr/>
        </p:nvSpPr>
        <p:spPr>
          <a:xfrm>
            <a:off x="9341942" y="927876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3AE92729-B347-5696-E653-6A2F0E9D9268}"/>
              </a:ext>
            </a:extLst>
          </p:cNvPr>
          <p:cNvSpPr/>
          <p:nvPr/>
        </p:nvSpPr>
        <p:spPr>
          <a:xfrm>
            <a:off x="13546384" y="927876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BBB9CDB-E7B2-14F1-BDF2-FE64A7738D5B}"/>
              </a:ext>
            </a:extLst>
          </p:cNvPr>
          <p:cNvSpPr/>
          <p:nvPr/>
        </p:nvSpPr>
        <p:spPr>
          <a:xfrm>
            <a:off x="18769350" y="927876"/>
            <a:ext cx="4644103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663762B9-F366-E1A1-EB17-B8402073A791}"/>
              </a:ext>
            </a:extLst>
          </p:cNvPr>
          <p:cNvSpPr/>
          <p:nvPr/>
        </p:nvSpPr>
        <p:spPr>
          <a:xfrm>
            <a:off x="9341942" y="1547001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B43823A-72DD-5680-0520-FF3B4B1B4C6C}"/>
              </a:ext>
            </a:extLst>
          </p:cNvPr>
          <p:cNvSpPr/>
          <p:nvPr/>
        </p:nvSpPr>
        <p:spPr>
          <a:xfrm>
            <a:off x="13546384" y="1547001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8375673A-589B-8287-FF71-ED37B44BC760}"/>
              </a:ext>
            </a:extLst>
          </p:cNvPr>
          <p:cNvSpPr/>
          <p:nvPr/>
        </p:nvSpPr>
        <p:spPr>
          <a:xfrm>
            <a:off x="18769350" y="1547001"/>
            <a:ext cx="4644103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617381D2-B0CB-C46B-8625-67EB6F192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205168"/>
              </p:ext>
            </p:extLst>
          </p:nvPr>
        </p:nvGraphicFramePr>
        <p:xfrm>
          <a:off x="9596438" y="2319338"/>
          <a:ext cx="13620750" cy="370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18051588" imgH="4914900" progId="Excel.SheetMacroEnabled.12">
                  <p:link updateAutomatic="1"/>
                </p:oleObj>
              </mc:Choice>
              <mc:Fallback>
                <p:oleObj name="Macro-Enabled Worksheet" r:id="rId5" imgW="18051588" imgH="491490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96438" y="2319338"/>
                        <a:ext cx="13620750" cy="370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DDFF1F73-C21D-F9A7-5FC5-A24A18F7D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138292"/>
              </p:ext>
            </p:extLst>
          </p:nvPr>
        </p:nvGraphicFramePr>
        <p:xfrm>
          <a:off x="12525375" y="1006475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891389" imgH="403698" progId="Excel.SheetMacroEnabled.12">
                  <p:link updateAutomatic="1"/>
                </p:oleObj>
              </mc:Choice>
              <mc:Fallback>
                <p:oleObj name="Macro-Enabled Worksheet" r:id="rId7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25375" y="1006475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F0B95EAB-96C5-FFC9-2F70-C896201D4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951531"/>
              </p:ext>
            </p:extLst>
          </p:nvPr>
        </p:nvGraphicFramePr>
        <p:xfrm>
          <a:off x="12525375" y="1625600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891389" imgH="403698" progId="Excel.SheetMacroEnabled.12">
                  <p:link updateAutomatic="1"/>
                </p:oleObj>
              </mc:Choice>
              <mc:Fallback>
                <p:oleObj name="Macro-Enabled Worksheet" r:id="rId9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25375" y="1625600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A7557D57-F919-F500-E6F9-ADADC77C71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002481"/>
              </p:ext>
            </p:extLst>
          </p:nvPr>
        </p:nvGraphicFramePr>
        <p:xfrm>
          <a:off x="17127538" y="100647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485809" imgH="403698" progId="Excel.SheetMacroEnabled.12">
                  <p:link updateAutomatic="1"/>
                </p:oleObj>
              </mc:Choice>
              <mc:Fallback>
                <p:oleObj name="Macro-Enabled Worksheet" r:id="rId11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127538" y="1006475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E71F2F7E-FBC8-84F2-6202-A611CFEE90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972573"/>
              </p:ext>
            </p:extLst>
          </p:nvPr>
        </p:nvGraphicFramePr>
        <p:xfrm>
          <a:off x="17127538" y="162401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485809" imgH="403698" progId="Excel.SheetMacroEnabled.12">
                  <p:link updateAutomatic="1"/>
                </p:oleObj>
              </mc:Choice>
              <mc:Fallback>
                <p:oleObj name="Macro-Enabled Worksheet" r:id="rId13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127538" y="162401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to 48">
            <a:extLst>
              <a:ext uri="{FF2B5EF4-FFF2-40B4-BE49-F238E27FC236}">
                <a16:creationId xmlns:a16="http://schemas.microsoft.com/office/drawing/2014/main" id="{8C1B6BF4-9412-AFC0-6A29-10E2CA774D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556449"/>
              </p:ext>
            </p:extLst>
          </p:nvPr>
        </p:nvGraphicFramePr>
        <p:xfrm>
          <a:off x="21853525" y="998538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1485809" imgH="403698" progId="Excel.SheetMacroEnabled.12">
                  <p:link updateAutomatic="1"/>
                </p:oleObj>
              </mc:Choice>
              <mc:Fallback>
                <p:oleObj name="Macro-Enabled Worksheet" r:id="rId15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853525" y="998538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to 49">
            <a:extLst>
              <a:ext uri="{FF2B5EF4-FFF2-40B4-BE49-F238E27FC236}">
                <a16:creationId xmlns:a16="http://schemas.microsoft.com/office/drawing/2014/main" id="{54F99AE9-5DDF-E6A8-CFBF-B31993E17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114154"/>
              </p:ext>
            </p:extLst>
          </p:nvPr>
        </p:nvGraphicFramePr>
        <p:xfrm>
          <a:off x="21853525" y="1612900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1485809" imgH="403698" progId="Excel.SheetMacroEnabled.12">
                  <p:link updateAutomatic="1"/>
                </p:oleObj>
              </mc:Choice>
              <mc:Fallback>
                <p:oleObj name="Macro-Enabled Worksheet" r:id="rId17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853525" y="1612900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45254AB4-D375-2300-21D4-98A9C8C4F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663289"/>
              </p:ext>
            </p:extLst>
          </p:nvPr>
        </p:nvGraphicFramePr>
        <p:xfrm>
          <a:off x="307975" y="1085850"/>
          <a:ext cx="24844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2483777" imgH="1013136" progId="Excel.SheetMacroEnabled.12">
                  <p:link updateAutomatic="1"/>
                </p:oleObj>
              </mc:Choice>
              <mc:Fallback>
                <p:oleObj name="Macro-Enabled Worksheet" r:id="rId19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7975" y="1085850"/>
                        <a:ext cx="2484438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9F4AF7EA-8541-F799-2CA7-EC32EE5D0A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004654"/>
              </p:ext>
            </p:extLst>
          </p:nvPr>
        </p:nvGraphicFramePr>
        <p:xfrm>
          <a:off x="3152775" y="1076325"/>
          <a:ext cx="108108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1" imgW="1081778" imgH="1005840" progId="Excel.SheetMacroEnabled.12">
                  <p:link updateAutomatic="1"/>
                </p:oleObj>
              </mc:Choice>
              <mc:Fallback>
                <p:oleObj name="Macro-Enabled Worksheet" r:id="rId21" imgW="1081778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52775" y="1076325"/>
                        <a:ext cx="1081088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C66F783A-6E74-4A4C-8CB6-2BDA99A57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826505"/>
              </p:ext>
            </p:extLst>
          </p:nvPr>
        </p:nvGraphicFramePr>
        <p:xfrm>
          <a:off x="469900" y="2408238"/>
          <a:ext cx="3467100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3" imgW="3467211" imgH="1470822" progId="Excel.SheetMacroEnabled.12">
                  <p:link updateAutomatic="1"/>
                </p:oleObj>
              </mc:Choice>
              <mc:Fallback>
                <p:oleObj name="Macro-Enabled Worksheet" r:id="rId23" imgW="3467211" imgH="14708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9900" y="2408238"/>
                        <a:ext cx="3467100" cy="1471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DEE8C7FB-C5A6-3E1F-C563-880642AE45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209184"/>
              </p:ext>
            </p:extLst>
          </p:nvPr>
        </p:nvGraphicFramePr>
        <p:xfrm>
          <a:off x="4676775" y="1060450"/>
          <a:ext cx="24844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5" imgW="2483777" imgH="1005840" progId="Excel.SheetMacroEnabled.12">
                  <p:link updateAutomatic="1"/>
                </p:oleObj>
              </mc:Choice>
              <mc:Fallback>
                <p:oleObj name="Macro-Enabled Worksheet" r:id="rId25" imgW="248377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76775" y="1060450"/>
                        <a:ext cx="2484438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07FCC65C-E5DB-B34C-D4F6-B8FD2796E6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173346"/>
              </p:ext>
            </p:extLst>
          </p:nvPr>
        </p:nvGraphicFramePr>
        <p:xfrm>
          <a:off x="7462838" y="1066800"/>
          <a:ext cx="11350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7" imgW="1135067" imgH="1005840" progId="Excel.SheetMacroEnabled.12">
                  <p:link updateAutomatic="1"/>
                </p:oleObj>
              </mc:Choice>
              <mc:Fallback>
                <p:oleObj name="Macro-Enabled Worksheet" r:id="rId27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62838" y="1066800"/>
                        <a:ext cx="1135062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32CC5187-525B-20D4-E615-0921B2E2F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675843"/>
              </p:ext>
            </p:extLst>
          </p:nvPr>
        </p:nvGraphicFramePr>
        <p:xfrm>
          <a:off x="4833938" y="2339975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9" imgW="3467211" imgH="556422" progId="Excel.SheetMacroEnabled.12">
                  <p:link updateAutomatic="1"/>
                </p:oleObj>
              </mc:Choice>
              <mc:Fallback>
                <p:oleObj name="Macro-Enabled Worksheet" r:id="rId29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833938" y="2339975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67266186-BD38-E763-4C16-E2D8956ED9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12134"/>
              </p:ext>
            </p:extLst>
          </p:nvPr>
        </p:nvGraphicFramePr>
        <p:xfrm>
          <a:off x="4667250" y="3600450"/>
          <a:ext cx="248443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1" imgW="2483777" imgH="1180938" progId="Excel.SheetMacroEnabled.12">
                  <p:link updateAutomatic="1"/>
                </p:oleObj>
              </mc:Choice>
              <mc:Fallback>
                <p:oleObj name="Macro-Enabled Worksheet" r:id="rId31" imgW="2483777" imgH="118093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67250" y="3600450"/>
                        <a:ext cx="2484438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>
            <a:extLst>
              <a:ext uri="{FF2B5EF4-FFF2-40B4-BE49-F238E27FC236}">
                <a16:creationId xmlns:a16="http://schemas.microsoft.com/office/drawing/2014/main" id="{5C23A178-F01E-3239-48DC-E0BE6680FB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927874"/>
              </p:ext>
            </p:extLst>
          </p:nvPr>
        </p:nvGraphicFramePr>
        <p:xfrm>
          <a:off x="7459663" y="3616325"/>
          <a:ext cx="1135062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3" imgW="1135067" imgH="1173156" progId="Excel.SheetMacroEnabled.12">
                  <p:link updateAutomatic="1"/>
                </p:oleObj>
              </mc:Choice>
              <mc:Fallback>
                <p:oleObj name="Macro-Enabled Worksheet" r:id="rId33" imgW="1135067" imgH="117315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459663" y="3616325"/>
                        <a:ext cx="1135062" cy="1173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>
            <a:extLst>
              <a:ext uri="{FF2B5EF4-FFF2-40B4-BE49-F238E27FC236}">
                <a16:creationId xmlns:a16="http://schemas.microsoft.com/office/drawing/2014/main" id="{F0EC19CD-9FB4-9EF9-CD90-19D82B66CC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269384"/>
              </p:ext>
            </p:extLst>
          </p:nvPr>
        </p:nvGraphicFramePr>
        <p:xfrm>
          <a:off x="4654550" y="5743575"/>
          <a:ext cx="24844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5" imgW="2483777" imgH="1013136" progId="Excel.SheetMacroEnabled.12">
                  <p:link updateAutomatic="1"/>
                </p:oleObj>
              </mc:Choice>
              <mc:Fallback>
                <p:oleObj name="Macro-Enabled Worksheet" r:id="rId35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654550" y="5743575"/>
                        <a:ext cx="2484438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o 32">
            <a:extLst>
              <a:ext uri="{FF2B5EF4-FFF2-40B4-BE49-F238E27FC236}">
                <a16:creationId xmlns:a16="http://schemas.microsoft.com/office/drawing/2014/main" id="{13F6E39F-B2FF-5832-427F-5C61157E6F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51390"/>
              </p:ext>
            </p:extLst>
          </p:nvPr>
        </p:nvGraphicFramePr>
        <p:xfrm>
          <a:off x="7451725" y="5748338"/>
          <a:ext cx="11350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7" imgW="1135067" imgH="1005840" progId="Excel.SheetMacroEnabled.12">
                  <p:link updateAutomatic="1"/>
                </p:oleObj>
              </mc:Choice>
              <mc:Fallback>
                <p:oleObj name="Macro-Enabled Worksheet" r:id="rId37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451725" y="5748338"/>
                        <a:ext cx="1135063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to 35">
            <a:extLst>
              <a:ext uri="{FF2B5EF4-FFF2-40B4-BE49-F238E27FC236}">
                <a16:creationId xmlns:a16="http://schemas.microsoft.com/office/drawing/2014/main" id="{4B16E723-67EF-27F0-7EA4-3E634CE03D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814626"/>
              </p:ext>
            </p:extLst>
          </p:nvPr>
        </p:nvGraphicFramePr>
        <p:xfrm>
          <a:off x="4833938" y="7135813"/>
          <a:ext cx="34671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9" imgW="3467211" imgH="556422" progId="Excel.SheetMacroEnabled.12">
                  <p:link updateAutomatic="1"/>
                </p:oleObj>
              </mc:Choice>
              <mc:Fallback>
                <p:oleObj name="Macro-Enabled Worksheet" r:id="rId39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833938" y="7135813"/>
                        <a:ext cx="3467100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to 36">
            <a:extLst>
              <a:ext uri="{FF2B5EF4-FFF2-40B4-BE49-F238E27FC236}">
                <a16:creationId xmlns:a16="http://schemas.microsoft.com/office/drawing/2014/main" id="{3FFA2DA6-FCDF-44DB-034A-34806407B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178880"/>
              </p:ext>
            </p:extLst>
          </p:nvPr>
        </p:nvGraphicFramePr>
        <p:xfrm>
          <a:off x="319088" y="4513263"/>
          <a:ext cx="248443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1" imgW="2483777" imgH="898836" progId="Excel.SheetMacroEnabled.12">
                  <p:link updateAutomatic="1"/>
                </p:oleObj>
              </mc:Choice>
              <mc:Fallback>
                <p:oleObj name="Macro-Enabled Worksheet" r:id="rId41" imgW="2483777" imgH="8988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19088" y="4513263"/>
                        <a:ext cx="2484437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to 39">
            <a:extLst>
              <a:ext uri="{FF2B5EF4-FFF2-40B4-BE49-F238E27FC236}">
                <a16:creationId xmlns:a16="http://schemas.microsoft.com/office/drawing/2014/main" id="{A56CCE11-5496-48C0-59FA-CADD871DA1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854854"/>
              </p:ext>
            </p:extLst>
          </p:nvPr>
        </p:nvGraphicFramePr>
        <p:xfrm>
          <a:off x="3106738" y="4540250"/>
          <a:ext cx="11350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3" imgW="1135067" imgH="875976" progId="Excel.SheetMacroEnabled.12">
                  <p:link updateAutomatic="1"/>
                </p:oleObj>
              </mc:Choice>
              <mc:Fallback>
                <p:oleObj name="Macro-Enabled Worksheet" r:id="rId43" imgW="113506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106738" y="4540250"/>
                        <a:ext cx="1135062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o 40">
            <a:extLst>
              <a:ext uri="{FF2B5EF4-FFF2-40B4-BE49-F238E27FC236}">
                <a16:creationId xmlns:a16="http://schemas.microsoft.com/office/drawing/2014/main" id="{1F3CD758-AB37-BD19-5EF0-47E3F95ED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713903"/>
              </p:ext>
            </p:extLst>
          </p:nvPr>
        </p:nvGraphicFramePr>
        <p:xfrm>
          <a:off x="314325" y="6156325"/>
          <a:ext cx="248443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5" imgW="2483777" imgH="875976" progId="Excel.SheetMacroEnabled.12">
                  <p:link updateAutomatic="1"/>
                </p:oleObj>
              </mc:Choice>
              <mc:Fallback>
                <p:oleObj name="Macro-Enabled Worksheet" r:id="rId45" imgW="248377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14325" y="6156325"/>
                        <a:ext cx="2484438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to 41">
            <a:extLst>
              <a:ext uri="{FF2B5EF4-FFF2-40B4-BE49-F238E27FC236}">
                <a16:creationId xmlns:a16="http://schemas.microsoft.com/office/drawing/2014/main" id="{3E22B563-05AF-1516-BBCF-B7FFCA50E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815154"/>
              </p:ext>
            </p:extLst>
          </p:nvPr>
        </p:nvGraphicFramePr>
        <p:xfrm>
          <a:off x="3098800" y="6146800"/>
          <a:ext cx="11350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7" imgW="1135067" imgH="891540" progId="Excel.SheetMacroEnabled.12">
                  <p:link updateAutomatic="1"/>
                </p:oleObj>
              </mc:Choice>
              <mc:Fallback>
                <p:oleObj name="Macro-Enabled Worksheet" r:id="rId47" imgW="1135067" imgH="8915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098800" y="6146800"/>
                        <a:ext cx="1135063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to 50">
            <a:extLst>
              <a:ext uri="{FF2B5EF4-FFF2-40B4-BE49-F238E27FC236}">
                <a16:creationId xmlns:a16="http://schemas.microsoft.com/office/drawing/2014/main" id="{AF5F4176-09D3-B82D-2FE5-D25E868E6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872657"/>
              </p:ext>
            </p:extLst>
          </p:nvPr>
        </p:nvGraphicFramePr>
        <p:xfrm>
          <a:off x="439738" y="7292975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9" imgW="3467211" imgH="556422" progId="Excel.SheetMacroEnabled.12">
                  <p:link updateAutomatic="1"/>
                </p:oleObj>
              </mc:Choice>
              <mc:Fallback>
                <p:oleObj name="Macro-Enabled Worksheet" r:id="rId49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39738" y="7292975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BC6356C2-DB54-8F5D-34A6-5D537C8D701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915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FAE5-161E-909E-5E75-9DBF0B58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315385F4-1935-3B6A-4151-017B7B0A6763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8EC220A-5055-D99C-A50D-BF8D8E67C2C6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7D8B3D3A-24BE-73A9-197C-CFD00E636060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2Tri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DEC816E9-11D8-BD3A-A402-6326DB9A1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B39E1CC-2CCF-1C55-B29E-55501B3DBB1A}"/>
              </a:ext>
            </a:extLst>
          </p:cNvPr>
          <p:cNvSpPr txBox="1"/>
          <p:nvPr/>
        </p:nvSpPr>
        <p:spPr>
          <a:xfrm>
            <a:off x="6273070" y="1292199"/>
            <a:ext cx="1015404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5B1E4746-4E5D-3443-97E3-68AEADA07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853283"/>
              </p:ext>
            </p:extLst>
          </p:nvPr>
        </p:nvGraphicFramePr>
        <p:xfrm>
          <a:off x="5953125" y="2895600"/>
          <a:ext cx="6756400" cy="275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13136" progId="Excel.SheetMacroEnabled.12">
                  <p:link updateAutomatic="1"/>
                </p:oleObj>
              </mc:Choice>
              <mc:Fallback>
                <p:oleObj name="Macro-Enabled Worksheet" r:id="rId5" imgW="2483777" imgH="1013136" progId="Excel.SheetMacroEnabled.12">
                  <p:link updateAutomatic="1"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45254AB4-D375-2300-21D4-98A9C8C4F9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53125" y="2895600"/>
                        <a:ext cx="6756400" cy="2754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D46C0D10-E327-BC37-9F73-512C6DD4D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829274"/>
              </p:ext>
            </p:extLst>
          </p:nvPr>
        </p:nvGraphicFramePr>
        <p:xfrm>
          <a:off x="14087475" y="2905125"/>
          <a:ext cx="2938463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081778" imgH="1005840" progId="Excel.SheetMacroEnabled.12">
                  <p:link updateAutomatic="1"/>
                </p:oleObj>
              </mc:Choice>
              <mc:Fallback>
                <p:oleObj name="Macro-Enabled Worksheet" r:id="rId7" imgW="1081778" imgH="1005840" progId="Excel.SheetMacroEnabled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9F4AF7EA-8541-F799-2CA7-EC32EE5D0A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87475" y="2905125"/>
                        <a:ext cx="2938463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47E3D5AC-A1B2-123B-D47A-73716DE97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03789"/>
              </p:ext>
            </p:extLst>
          </p:nvPr>
        </p:nvGraphicFramePr>
        <p:xfrm>
          <a:off x="6230938" y="6967538"/>
          <a:ext cx="10360025" cy="439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1470822" progId="Excel.SheetMacroEnabled.12">
                  <p:link updateAutomatic="1"/>
                </p:oleObj>
              </mc:Choice>
              <mc:Fallback>
                <p:oleObj name="Macro-Enabled Worksheet" r:id="rId9" imgW="3467211" imgH="1470822" progId="Excel.SheetMacroEnabled.12">
                  <p:link updateAutomatic="1"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C66F783A-6E74-4A4C-8CB6-2BDA99A573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30938" y="6967538"/>
                        <a:ext cx="10360025" cy="439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FF7A8D-6AA2-0928-021E-E8153ED7704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7811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97297-06F0-7B1D-8C89-6A110D6BC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5CB16576-7D04-4488-6474-A07D3ED07C16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6AB676-181D-99CB-15BE-000AFFC3B89E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069FD3D2-986A-1BED-A3A5-78CDDCDC8F71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2Tri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A1EC399C-8613-B8E5-0865-4B5D91F16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8316" y="43412"/>
            <a:ext cx="2147023" cy="6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5DB4FCD-E946-8387-D0E4-9E2A7996E7E3}"/>
              </a:ext>
            </a:extLst>
          </p:cNvPr>
          <p:cNvSpPr txBox="1"/>
          <p:nvPr/>
        </p:nvSpPr>
        <p:spPr>
          <a:xfrm>
            <a:off x="43747" y="1068179"/>
            <a:ext cx="12388886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17650F-1A10-4DDC-65FC-8948F313CF49}"/>
              </a:ext>
            </a:extLst>
          </p:cNvPr>
          <p:cNvSpPr txBox="1"/>
          <p:nvPr/>
        </p:nvSpPr>
        <p:spPr>
          <a:xfrm>
            <a:off x="188126" y="8142238"/>
            <a:ext cx="1215050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AA51E4-2CFE-7226-DD78-7C6C555FC825}"/>
              </a:ext>
            </a:extLst>
          </p:cNvPr>
          <p:cNvSpPr/>
          <p:nvPr/>
        </p:nvSpPr>
        <p:spPr>
          <a:xfrm>
            <a:off x="172336" y="866660"/>
            <a:ext cx="12180086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571E8F4-3681-92E4-4722-07C7BCFD51A5}"/>
              </a:ext>
            </a:extLst>
          </p:cNvPr>
          <p:cNvSpPr/>
          <p:nvPr/>
        </p:nvSpPr>
        <p:spPr>
          <a:xfrm>
            <a:off x="158544" y="7816034"/>
            <a:ext cx="12180086" cy="4826159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CD01F6D-C876-29AF-FFF7-1747ED834282}"/>
              </a:ext>
            </a:extLst>
          </p:cNvPr>
          <p:cNvSpPr/>
          <p:nvPr/>
        </p:nvSpPr>
        <p:spPr>
          <a:xfrm>
            <a:off x="12530671" y="865572"/>
            <a:ext cx="11649979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0DDF698-13A2-9160-0C3D-114C9E22FC60}"/>
              </a:ext>
            </a:extLst>
          </p:cNvPr>
          <p:cNvSpPr txBox="1"/>
          <p:nvPr/>
        </p:nvSpPr>
        <p:spPr>
          <a:xfrm>
            <a:off x="12594840" y="1078754"/>
            <a:ext cx="11551301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EE357FB-4245-FF2B-D826-AC64B788FF8C}"/>
              </a:ext>
            </a:extLst>
          </p:cNvPr>
          <p:cNvSpPr/>
          <p:nvPr/>
        </p:nvSpPr>
        <p:spPr>
          <a:xfrm>
            <a:off x="12530670" y="7808014"/>
            <a:ext cx="11631513" cy="4826159"/>
          </a:xfrm>
          <a:prstGeom prst="roundRect">
            <a:avLst>
              <a:gd name="adj" fmla="val 447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AÇÕES REALIZADAS</a:t>
            </a:r>
            <a:endParaRPr lang="pt-BR" sz="3600" b="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58598423-6E25-BA33-A700-CB61BB7A6B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419702"/>
              </p:ext>
            </p:extLst>
          </p:nvPr>
        </p:nvGraphicFramePr>
        <p:xfrm>
          <a:off x="995363" y="2538413"/>
          <a:ext cx="6754812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05840" progId="Excel.SheetMacroEnabled.12">
                  <p:link updateAutomatic="1"/>
                </p:oleObj>
              </mc:Choice>
              <mc:Fallback>
                <p:oleObj name="Macro-Enabled Worksheet" r:id="rId5" imgW="2483777" imgH="1005840" progId="Excel.SheetMacroEnabled.12">
                  <p:link updateAutomatic="1"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DEE8C7FB-C5A6-3E1F-C563-880642AE45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5363" y="2538413"/>
                        <a:ext cx="6754812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C68C8D92-3498-5973-1194-B9656C99D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647283"/>
              </p:ext>
            </p:extLst>
          </p:nvPr>
        </p:nvGraphicFramePr>
        <p:xfrm>
          <a:off x="8566150" y="2552700"/>
          <a:ext cx="3086100" cy="273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1005840" progId="Excel.SheetMacroEnabled.12">
                  <p:link updateAutomatic="1"/>
                </p:oleObj>
              </mc:Choice>
              <mc:Fallback>
                <p:oleObj name="Macro-Enabled Worksheet" r:id="rId7" imgW="1135067" imgH="1005840" progId="Excel.SheetMacroEnabled.12">
                  <p:link updateAutomatic="1"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07FCC65C-E5DB-B34C-D4F6-B8FD2796E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66150" y="2552700"/>
                        <a:ext cx="3086100" cy="273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7BF2CEAB-2112-F797-115D-DBBE0F91D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91403"/>
              </p:ext>
            </p:extLst>
          </p:nvPr>
        </p:nvGraphicFramePr>
        <p:xfrm>
          <a:off x="1966913" y="5995988"/>
          <a:ext cx="8821737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556422" progId="Excel.SheetMacroEnabled.12">
                  <p:link updateAutomatic="1"/>
                </p:oleObj>
              </mc:Choice>
              <mc:Fallback>
                <p:oleObj name="Macro-Enabled Worksheet" r:id="rId9" imgW="3467211" imgH="556422" progId="Excel.SheetMacroEnabled.12">
                  <p:link updateAutomatic="1"/>
                  <p:pic>
                    <p:nvPicPr>
                      <p:cNvPr id="26" name="Objeto 25">
                        <a:extLst>
                          <a:ext uri="{FF2B5EF4-FFF2-40B4-BE49-F238E27FC236}">
                            <a16:creationId xmlns:a16="http://schemas.microsoft.com/office/drawing/2014/main" id="{32CC5187-525B-20D4-E615-0921B2E2F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66913" y="5995988"/>
                        <a:ext cx="8821737" cy="141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24">
            <a:extLst>
              <a:ext uri="{FF2B5EF4-FFF2-40B4-BE49-F238E27FC236}">
                <a16:creationId xmlns:a16="http://schemas.microsoft.com/office/drawing/2014/main" id="{2EEBF1E3-DC00-88FA-BCC5-1D36880457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824391"/>
              </p:ext>
            </p:extLst>
          </p:nvPr>
        </p:nvGraphicFramePr>
        <p:xfrm>
          <a:off x="20753388" y="2371725"/>
          <a:ext cx="30861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135067" imgH="1005840" progId="Excel.SheetMacroEnabled.12">
                  <p:link updateAutomatic="1"/>
                </p:oleObj>
              </mc:Choice>
              <mc:Fallback>
                <p:oleObj name="Macro-Enabled Worksheet" r:id="rId11" imgW="1135067" imgH="1005840" progId="Excel.SheetMacroEnabled.12">
                  <p:link updateAutomatic="1"/>
                  <p:pic>
                    <p:nvPicPr>
                      <p:cNvPr id="33" name="Objeto 32">
                        <a:extLst>
                          <a:ext uri="{FF2B5EF4-FFF2-40B4-BE49-F238E27FC236}">
                            <a16:creationId xmlns:a16="http://schemas.microsoft.com/office/drawing/2014/main" id="{13F6E39F-B2FF-5832-427F-5C61157E6F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753388" y="2371725"/>
                        <a:ext cx="30861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A8E9F42C-157A-53FE-1B8E-52E6F5693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105566"/>
              </p:ext>
            </p:extLst>
          </p:nvPr>
        </p:nvGraphicFramePr>
        <p:xfrm>
          <a:off x="13236575" y="2387600"/>
          <a:ext cx="6756400" cy="275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2483777" imgH="1013136" progId="Excel.SheetMacroEnabled.12">
                  <p:link updateAutomatic="1"/>
                </p:oleObj>
              </mc:Choice>
              <mc:Fallback>
                <p:oleObj name="Macro-Enabled Worksheet" r:id="rId13" imgW="2483777" imgH="1013136" progId="Excel.SheetMacroEnabled.12">
                  <p:link updateAutomatic="1"/>
                  <p:pic>
                    <p:nvPicPr>
                      <p:cNvPr id="32" name="Objeto 31">
                        <a:extLst>
                          <a:ext uri="{FF2B5EF4-FFF2-40B4-BE49-F238E27FC236}">
                            <a16:creationId xmlns:a16="http://schemas.microsoft.com/office/drawing/2014/main" id="{F0EC19CD-9FB4-9EF9-CD90-19D82B66CC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236575" y="2387600"/>
                        <a:ext cx="6756400" cy="2754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to 28">
            <a:extLst>
              <a:ext uri="{FF2B5EF4-FFF2-40B4-BE49-F238E27FC236}">
                <a16:creationId xmlns:a16="http://schemas.microsoft.com/office/drawing/2014/main" id="{8B73620D-DA9F-2D31-5A27-B5543D6DE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328636"/>
              </p:ext>
            </p:extLst>
          </p:nvPr>
        </p:nvGraphicFramePr>
        <p:xfrm>
          <a:off x="14089063" y="5995988"/>
          <a:ext cx="880745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3467211" imgH="556422" progId="Excel.SheetMacroEnabled.12">
                  <p:link updateAutomatic="1"/>
                </p:oleObj>
              </mc:Choice>
              <mc:Fallback>
                <p:oleObj name="Macro-Enabled Worksheet" r:id="rId1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089063" y="5995988"/>
                        <a:ext cx="8807450" cy="1416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o 32">
            <a:extLst>
              <a:ext uri="{FF2B5EF4-FFF2-40B4-BE49-F238E27FC236}">
                <a16:creationId xmlns:a16="http://schemas.microsoft.com/office/drawing/2014/main" id="{B40DB029-4A12-DC0B-CCF8-B40B62FBC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643158"/>
              </p:ext>
            </p:extLst>
          </p:nvPr>
        </p:nvGraphicFramePr>
        <p:xfrm>
          <a:off x="1795463" y="9212263"/>
          <a:ext cx="5832475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2483777" imgH="1180938" progId="Excel.SheetMacroEnabled.12">
                  <p:link updateAutomatic="1"/>
                </p:oleObj>
              </mc:Choice>
              <mc:Fallback>
                <p:oleObj name="Macro-Enabled Worksheet" r:id="rId17" imgW="2483777" imgH="1180938" progId="Excel.SheetMacroEnabled.12">
                  <p:link updateAutomatic="1"/>
                  <p:pic>
                    <p:nvPicPr>
                      <p:cNvPr id="27" name="Objeto 26">
                        <a:extLst>
                          <a:ext uri="{FF2B5EF4-FFF2-40B4-BE49-F238E27FC236}">
                            <a16:creationId xmlns:a16="http://schemas.microsoft.com/office/drawing/2014/main" id="{67266186-BD38-E763-4C16-E2D8956ED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95463" y="9212263"/>
                        <a:ext cx="5832475" cy="277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to 33">
            <a:extLst>
              <a:ext uri="{FF2B5EF4-FFF2-40B4-BE49-F238E27FC236}">
                <a16:creationId xmlns:a16="http://schemas.microsoft.com/office/drawing/2014/main" id="{CECF3F22-7501-AE70-D4E2-8F62D73264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66488"/>
              </p:ext>
            </p:extLst>
          </p:nvPr>
        </p:nvGraphicFramePr>
        <p:xfrm>
          <a:off x="8521700" y="9221788"/>
          <a:ext cx="2665413" cy="275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1135067" imgH="1173156" progId="Excel.SheetMacroEnabled.12">
                  <p:link updateAutomatic="1"/>
                </p:oleObj>
              </mc:Choice>
              <mc:Fallback>
                <p:oleObj name="Macro-Enabled Worksheet" r:id="rId19" imgW="1135067" imgH="1173156" progId="Excel.SheetMacroEnabled.12">
                  <p:link updateAutomatic="1"/>
                  <p:pic>
                    <p:nvPicPr>
                      <p:cNvPr id="30" name="Objeto 29">
                        <a:extLst>
                          <a:ext uri="{FF2B5EF4-FFF2-40B4-BE49-F238E27FC236}">
                            <a16:creationId xmlns:a16="http://schemas.microsoft.com/office/drawing/2014/main" id="{5C23A178-F01E-3239-48DC-E0BE6680F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21700" y="9221788"/>
                        <a:ext cx="2665413" cy="2754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904BDA-C034-5D11-DDE0-D8DB409B0D9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424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9140-C550-8705-E814-B787E1D9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4F5CE478-371E-9068-8EEF-E6C7DAB6613C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622625D-CDC6-9398-10D9-FD368DEC7783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CA0B3448-AE89-1F58-3EDD-2711F3B6F669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2Tri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17A910F7-9E70-AE02-E924-15398E191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EC15B52-5ED5-62B2-6E90-5D9E0877055D}"/>
              </a:ext>
            </a:extLst>
          </p:cNvPr>
          <p:cNvSpPr txBox="1"/>
          <p:nvPr/>
        </p:nvSpPr>
        <p:spPr>
          <a:xfrm>
            <a:off x="4362450" y="109934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B41C1AE-8710-1800-19D8-91F12D0BE741}"/>
              </a:ext>
            </a:extLst>
          </p:cNvPr>
          <p:cNvSpPr txBox="1"/>
          <p:nvPr/>
        </p:nvSpPr>
        <p:spPr>
          <a:xfrm>
            <a:off x="4367834" y="627648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E43A019-C85B-D2FF-A579-9BE32F97DEF6}"/>
              </a:ext>
            </a:extLst>
          </p:cNvPr>
          <p:cNvSpPr/>
          <p:nvPr/>
        </p:nvSpPr>
        <p:spPr>
          <a:xfrm>
            <a:off x="4325236" y="866661"/>
            <a:ext cx="15690930" cy="470968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A477590-8C2B-0E61-6F14-4E2F7B7E7C35}"/>
              </a:ext>
            </a:extLst>
          </p:cNvPr>
          <p:cNvSpPr/>
          <p:nvPr/>
        </p:nvSpPr>
        <p:spPr>
          <a:xfrm>
            <a:off x="4325236" y="6238761"/>
            <a:ext cx="15690930" cy="633979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DD500E42-DC39-5BDA-46E2-764EAD524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551871"/>
              </p:ext>
            </p:extLst>
          </p:nvPr>
        </p:nvGraphicFramePr>
        <p:xfrm>
          <a:off x="6040438" y="2341563"/>
          <a:ext cx="7697787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898836" progId="Excel.SheetMacroEnabled.12">
                  <p:link updateAutomatic="1"/>
                </p:oleObj>
              </mc:Choice>
              <mc:Fallback>
                <p:oleObj name="Macro-Enabled Worksheet" r:id="rId5" imgW="2483777" imgH="898836" progId="Excel.SheetMacroEnabled.12">
                  <p:link updateAutomatic="1"/>
                  <p:pic>
                    <p:nvPicPr>
                      <p:cNvPr id="37" name="Objeto 36">
                        <a:extLst>
                          <a:ext uri="{FF2B5EF4-FFF2-40B4-BE49-F238E27FC236}">
                            <a16:creationId xmlns:a16="http://schemas.microsoft.com/office/drawing/2014/main" id="{3FFA2DA6-FCDF-44DB-034A-34806407B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40438" y="2341563"/>
                        <a:ext cx="7697787" cy="2782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AC119CD4-4BF6-28DC-2D48-AD36A19A6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996416"/>
              </p:ext>
            </p:extLst>
          </p:nvPr>
        </p:nvGraphicFramePr>
        <p:xfrm>
          <a:off x="15003463" y="2230438"/>
          <a:ext cx="3600450" cy="277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875976" progId="Excel.SheetMacroEnabled.12">
                  <p:link updateAutomatic="1"/>
                </p:oleObj>
              </mc:Choice>
              <mc:Fallback>
                <p:oleObj name="Macro-Enabled Worksheet" r:id="rId7" imgW="1135067" imgH="875976" progId="Excel.SheetMacroEnabled.12">
                  <p:link updateAutomatic="1"/>
                  <p:pic>
                    <p:nvPicPr>
                      <p:cNvPr id="40" name="Objeto 39">
                        <a:extLst>
                          <a:ext uri="{FF2B5EF4-FFF2-40B4-BE49-F238E27FC236}">
                            <a16:creationId xmlns:a16="http://schemas.microsoft.com/office/drawing/2014/main" id="{A56CCE11-5496-48C0-59FA-CADD871DA1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03463" y="2230438"/>
                        <a:ext cx="3600450" cy="2779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961708E8-46CB-2BC9-679B-5628CC9AD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578374"/>
              </p:ext>
            </p:extLst>
          </p:nvPr>
        </p:nvGraphicFramePr>
        <p:xfrm>
          <a:off x="6048375" y="7627938"/>
          <a:ext cx="77597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2483777" imgH="875976" progId="Excel.SheetMacroEnabled.12">
                  <p:link updateAutomatic="1"/>
                </p:oleObj>
              </mc:Choice>
              <mc:Fallback>
                <p:oleObj name="Macro-Enabled Worksheet" r:id="rId9" imgW="2483777" imgH="875976" progId="Excel.SheetMacroEnabled.12">
                  <p:link updateAutomatic="1"/>
                  <p:pic>
                    <p:nvPicPr>
                      <p:cNvPr id="41" name="Objeto 40">
                        <a:extLst>
                          <a:ext uri="{FF2B5EF4-FFF2-40B4-BE49-F238E27FC236}">
                            <a16:creationId xmlns:a16="http://schemas.microsoft.com/office/drawing/2014/main" id="{1F3CD758-AB37-BD19-5EF0-47E3F95ED1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48375" y="7627938"/>
                        <a:ext cx="77597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231AFC29-DB5B-74F3-0067-D6EBB7E8B3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783978"/>
              </p:ext>
            </p:extLst>
          </p:nvPr>
        </p:nvGraphicFramePr>
        <p:xfrm>
          <a:off x="15117763" y="7615238"/>
          <a:ext cx="3497262" cy="274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135067" imgH="891540" progId="Excel.SheetMacroEnabled.12">
                  <p:link updateAutomatic="1"/>
                </p:oleObj>
              </mc:Choice>
              <mc:Fallback>
                <p:oleObj name="Macro-Enabled Worksheet" r:id="rId11" imgW="1135067" imgH="891540" progId="Excel.SheetMacroEnabled.12">
                  <p:link updateAutomatic="1"/>
                  <p:pic>
                    <p:nvPicPr>
                      <p:cNvPr id="42" name="Objeto 41">
                        <a:extLst>
                          <a:ext uri="{FF2B5EF4-FFF2-40B4-BE49-F238E27FC236}">
                            <a16:creationId xmlns:a16="http://schemas.microsoft.com/office/drawing/2014/main" id="{3E22B563-05AF-1516-BBCF-B7FFCA50E3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117763" y="7615238"/>
                        <a:ext cx="3497262" cy="2747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AE1FEEE0-A559-8A1D-D7D1-34D3C7AF23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593820"/>
              </p:ext>
            </p:extLst>
          </p:nvPr>
        </p:nvGraphicFramePr>
        <p:xfrm>
          <a:off x="7745413" y="10928350"/>
          <a:ext cx="876617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3467211" imgH="556422" progId="Excel.SheetMacroEnabled.12">
                  <p:link updateAutomatic="1"/>
                </p:oleObj>
              </mc:Choice>
              <mc:Fallback>
                <p:oleObj name="Macro-Enabled Worksheet" r:id="rId13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45413" y="10928350"/>
                        <a:ext cx="8766175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B38AF4-2FE1-AFB3-9DB8-35CD6D267CF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1589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3AF05-E2FE-3E7F-B8C3-5D20361C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9B8EEE-9959-A73E-FE26-1D13963AA7C3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B3C7EB1-A7A9-9CEA-91CD-04DD167237EE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8E244802-FBB9-1239-0221-9A102719F7C1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2Tri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9A8EF74-1667-188B-D0A0-6AE726839C12}"/>
              </a:ext>
            </a:extLst>
          </p:cNvPr>
          <p:cNvSpPr/>
          <p:nvPr/>
        </p:nvSpPr>
        <p:spPr>
          <a:xfrm>
            <a:off x="225448" y="8180032"/>
            <a:ext cx="23922176" cy="5279531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4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  <a:sym typeface="Helvetica Neue Medium"/>
              </a:rPr>
              <a:t>COMENTÁRIOS ADICIONAIS</a:t>
            </a:r>
            <a:endParaRPr kumimoji="0" lang="pt-BR" sz="280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5C1FD6EB-E04C-CDE4-22FB-04284160C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69D4463-4F20-6A85-8F16-B325873714A6}"/>
              </a:ext>
            </a:extLst>
          </p:cNvPr>
          <p:cNvSpPr/>
          <p:nvPr/>
        </p:nvSpPr>
        <p:spPr>
          <a:xfrm>
            <a:off x="4802026" y="1344968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A4BAC10-64E4-B5F1-99B4-8E6E66DADFF2}"/>
              </a:ext>
            </a:extLst>
          </p:cNvPr>
          <p:cNvSpPr/>
          <p:nvPr/>
        </p:nvSpPr>
        <p:spPr>
          <a:xfrm>
            <a:off x="9006468" y="1344968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15CF390-726C-9E5A-2447-28AF82784DFB}"/>
              </a:ext>
            </a:extLst>
          </p:cNvPr>
          <p:cNvSpPr/>
          <p:nvPr/>
        </p:nvSpPr>
        <p:spPr>
          <a:xfrm>
            <a:off x="14229434" y="1344968"/>
            <a:ext cx="443113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2F75BBD-77F3-BD35-A1D1-1F58B3A6EE07}"/>
              </a:ext>
            </a:extLst>
          </p:cNvPr>
          <p:cNvSpPr/>
          <p:nvPr/>
        </p:nvSpPr>
        <p:spPr>
          <a:xfrm>
            <a:off x="4802026" y="1964093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8540960-3383-6ECC-778A-B52AB8CCCCE7}"/>
              </a:ext>
            </a:extLst>
          </p:cNvPr>
          <p:cNvSpPr/>
          <p:nvPr/>
        </p:nvSpPr>
        <p:spPr>
          <a:xfrm>
            <a:off x="9006468" y="1964093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E59AA3D-6F63-ED82-87F3-1488C2338F40}"/>
              </a:ext>
            </a:extLst>
          </p:cNvPr>
          <p:cNvSpPr/>
          <p:nvPr/>
        </p:nvSpPr>
        <p:spPr>
          <a:xfrm>
            <a:off x="14229434" y="1964093"/>
            <a:ext cx="443113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F8D9D235-9BAE-E8FF-FA78-722A9C072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129719"/>
              </p:ext>
            </p:extLst>
          </p:nvPr>
        </p:nvGraphicFramePr>
        <p:xfrm>
          <a:off x="3162300" y="2895600"/>
          <a:ext cx="18051463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18051588" imgH="4914900" progId="Excel.SheetMacroEnabled.12">
                  <p:link updateAutomatic="1"/>
                </p:oleObj>
              </mc:Choice>
              <mc:Fallback>
                <p:oleObj name="Macro-Enabled Worksheet" r:id="rId5" imgW="18051588" imgH="491490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2300" y="2895600"/>
                        <a:ext cx="18051463" cy="491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A6CE756E-0628-FA32-8A46-0539B223F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821421"/>
              </p:ext>
            </p:extLst>
          </p:nvPr>
        </p:nvGraphicFramePr>
        <p:xfrm>
          <a:off x="7996238" y="1406525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891389" imgH="403698" progId="Excel.SheetMacroEnabled.12">
                  <p:link updateAutomatic="1"/>
                </p:oleObj>
              </mc:Choice>
              <mc:Fallback>
                <p:oleObj name="Macro-Enabled Worksheet" r:id="rId7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96238" y="1406525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3A1EE250-0B8A-78BA-CFD7-0FCD1C58C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165004"/>
              </p:ext>
            </p:extLst>
          </p:nvPr>
        </p:nvGraphicFramePr>
        <p:xfrm>
          <a:off x="8020050" y="2016125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891389" imgH="403698" progId="Excel.SheetMacroEnabled.12">
                  <p:link updateAutomatic="1"/>
                </p:oleObj>
              </mc:Choice>
              <mc:Fallback>
                <p:oleObj name="Macro-Enabled Worksheet" r:id="rId9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20050" y="2016125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3E2DBBFE-4136-2F26-7085-5F006C57A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591303"/>
              </p:ext>
            </p:extLst>
          </p:nvPr>
        </p:nvGraphicFramePr>
        <p:xfrm>
          <a:off x="12642850" y="140652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485809" imgH="403698" progId="Excel.SheetMacroEnabled.12">
                  <p:link updateAutomatic="1"/>
                </p:oleObj>
              </mc:Choice>
              <mc:Fallback>
                <p:oleObj name="Macro-Enabled Worksheet" r:id="rId11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642850" y="1406525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DBF8AF17-C3CF-8C18-CD0F-5F4F10E9D6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439558"/>
              </p:ext>
            </p:extLst>
          </p:nvPr>
        </p:nvGraphicFramePr>
        <p:xfrm>
          <a:off x="12642850" y="201612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485809" imgH="403698" progId="Excel.SheetMacroEnabled.12">
                  <p:link updateAutomatic="1"/>
                </p:oleObj>
              </mc:Choice>
              <mc:Fallback>
                <p:oleObj name="Macro-Enabled Worksheet" r:id="rId13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642850" y="2016125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916294FD-E043-1B76-56BA-FFF9AE128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459962"/>
              </p:ext>
            </p:extLst>
          </p:nvPr>
        </p:nvGraphicFramePr>
        <p:xfrm>
          <a:off x="17184688" y="140652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1485809" imgH="403698" progId="Excel.SheetMacroEnabled.12">
                  <p:link updateAutomatic="1"/>
                </p:oleObj>
              </mc:Choice>
              <mc:Fallback>
                <p:oleObj name="Macro-Enabled Worksheet" r:id="rId15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184688" y="1406525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E8C572A9-8B11-63D8-D01E-B5138A4293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560544"/>
              </p:ext>
            </p:extLst>
          </p:nvPr>
        </p:nvGraphicFramePr>
        <p:xfrm>
          <a:off x="17116425" y="201612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1485809" imgH="403698" progId="Excel.SheetMacroEnabled.12">
                  <p:link updateAutomatic="1"/>
                </p:oleObj>
              </mc:Choice>
              <mc:Fallback>
                <p:oleObj name="Macro-Enabled Worksheet" r:id="rId17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116425" y="2016125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Espaço Reservado para Rodapé 19">
            <a:extLst>
              <a:ext uri="{FF2B5EF4-FFF2-40B4-BE49-F238E27FC236}">
                <a16:creationId xmlns:a16="http://schemas.microsoft.com/office/drawing/2014/main" id="{FA19E829-881A-6D3E-72F8-C969B330390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9592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A6EA-DE98-F402-689C-397CB232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AF356906-EFC5-5CD3-232B-C13E68A973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962" y="899910"/>
            <a:ext cx="2515896" cy="17778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D2788E4-7FF0-4BCC-ECC1-3783BFE934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61" y="25900"/>
            <a:ext cx="24384000" cy="13716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6BD6FF0-961B-9029-F396-EEA33B478734}"/>
              </a:ext>
            </a:extLst>
          </p:cNvPr>
          <p:cNvSpPr txBox="1"/>
          <p:nvPr/>
        </p:nvSpPr>
        <p:spPr>
          <a:xfrm>
            <a:off x="1519962" y="4976638"/>
            <a:ext cx="94073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5600" kern="1200" dirty="0">
                <a:solidFill>
                  <a:schemeClr val="bg1"/>
                </a:solidFill>
                <a:latin typeface="Aptos Black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Tema : K2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BD3F01D6-2C89-D639-CC40-AB3DA20469D9}"/>
              </a:ext>
            </a:extLst>
          </p:cNvPr>
          <p:cNvSpPr txBox="1"/>
          <p:nvPr/>
        </p:nvSpPr>
        <p:spPr>
          <a:xfrm>
            <a:off x="323633" y="6860007"/>
            <a:ext cx="11302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Consultor(a):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8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 err="1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Região</a:t>
            </a: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: 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Grupo:</a:t>
            </a: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4CF4F419-2266-FA3F-96EC-4E0246A00689}"/>
              </a:ext>
            </a:extLst>
          </p:cNvPr>
          <p:cNvSpPr txBox="1"/>
          <p:nvPr/>
        </p:nvSpPr>
        <p:spPr>
          <a:xfrm>
            <a:off x="8583561" y="12308825"/>
            <a:ext cx="155096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0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Terceiro </a:t>
            </a:r>
            <a:r>
              <a:rPr lang="en-US" altLang="ja-JP" sz="4000" kern="1200" dirty="0" err="1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Trimestre</a:t>
            </a: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 - Data:</a:t>
            </a:r>
            <a:endParaRPr lang="en-US" altLang="ja-JP" sz="32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3200" kern="1200" dirty="0">
              <a:solidFill>
                <a:schemeClr val="bg1"/>
              </a:solidFill>
              <a:latin typeface="Grandview Display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F87D62C4-3569-8065-B6D4-8849AE5C8CB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3304"/>
          <a:stretch/>
        </p:blipFill>
        <p:spPr>
          <a:xfrm>
            <a:off x="19629999" y="692210"/>
            <a:ext cx="3670887" cy="143879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0281F2A-7E9A-2E4E-A65C-71678F765F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2678" y="25900"/>
            <a:ext cx="1542661" cy="552527"/>
          </a:xfrm>
          <a:prstGeom prst="rect">
            <a:avLst/>
          </a:prstGeom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BC301B6-5CF1-057F-A73A-B689C2C1785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7347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CED9-5EEF-D7B8-C879-1A7C2C89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9501E89D-438C-E118-428E-15B392AB1E14}"/>
              </a:ext>
            </a:extLst>
          </p:cNvPr>
          <p:cNvGrpSpPr/>
          <p:nvPr/>
        </p:nvGrpSpPr>
        <p:grpSpPr>
          <a:xfrm>
            <a:off x="73077" y="-99019"/>
            <a:ext cx="21198754" cy="718145"/>
            <a:chOff x="0" y="-135951"/>
            <a:chExt cx="13062857" cy="1203966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BED09E0-26CC-1E10-65D3-875D90E105B0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99FD7138-03AF-A75C-97EF-7413494EC969}"/>
                </a:ext>
              </a:extLst>
            </p:cNvPr>
            <p:cNvSpPr txBox="1"/>
            <p:nvPr/>
          </p:nvSpPr>
          <p:spPr>
            <a:xfrm>
              <a:off x="163175" y="-135951"/>
              <a:ext cx="11501689" cy="12039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3Tri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20" name="Retângulo 19">
            <a:extLst>
              <a:ext uri="{FF2B5EF4-FFF2-40B4-BE49-F238E27FC236}">
                <a16:creationId xmlns:a16="http://schemas.microsoft.com/office/drawing/2014/main" id="{15DBFB9D-5D82-DA43-2C70-8C604C0F2868}"/>
              </a:ext>
            </a:extLst>
          </p:cNvPr>
          <p:cNvSpPr/>
          <p:nvPr/>
        </p:nvSpPr>
        <p:spPr>
          <a:xfrm>
            <a:off x="13050416" y="13051995"/>
            <a:ext cx="11321143" cy="650480"/>
          </a:xfrm>
          <a:custGeom>
            <a:avLst/>
            <a:gdLst>
              <a:gd name="connsiteX0" fmla="*/ 0 w 11321143"/>
              <a:gd name="connsiteY0" fmla="*/ 0 h 631819"/>
              <a:gd name="connsiteX1" fmla="*/ 11321143 w 11321143"/>
              <a:gd name="connsiteY1" fmla="*/ 0 h 631819"/>
              <a:gd name="connsiteX2" fmla="*/ 11321143 w 11321143"/>
              <a:gd name="connsiteY2" fmla="*/ 631819 h 631819"/>
              <a:gd name="connsiteX3" fmla="*/ 0 w 11321143"/>
              <a:gd name="connsiteY3" fmla="*/ 631819 h 631819"/>
              <a:gd name="connsiteX4" fmla="*/ 0 w 11321143"/>
              <a:gd name="connsiteY4" fmla="*/ 0 h 631819"/>
              <a:gd name="connsiteX0" fmla="*/ 0 w 11321143"/>
              <a:gd name="connsiteY0" fmla="*/ 0 h 650480"/>
              <a:gd name="connsiteX1" fmla="*/ 11321143 w 11321143"/>
              <a:gd name="connsiteY1" fmla="*/ 0 h 650480"/>
              <a:gd name="connsiteX2" fmla="*/ 11321143 w 11321143"/>
              <a:gd name="connsiteY2" fmla="*/ 631819 h 650480"/>
              <a:gd name="connsiteX3" fmla="*/ 391885 w 11321143"/>
              <a:gd name="connsiteY3" fmla="*/ 650480 h 650480"/>
              <a:gd name="connsiteX4" fmla="*/ 0 w 11321143"/>
              <a:gd name="connsiteY4" fmla="*/ 0 h 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143" h="650480">
                <a:moveTo>
                  <a:pt x="0" y="0"/>
                </a:moveTo>
                <a:lnTo>
                  <a:pt x="11321143" y="0"/>
                </a:lnTo>
                <a:lnTo>
                  <a:pt x="11321143" y="631819"/>
                </a:lnTo>
                <a:lnTo>
                  <a:pt x="391885" y="6504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1A545B82-012C-EAA0-B079-188A56ABAB19}"/>
              </a:ext>
            </a:extLst>
          </p:cNvPr>
          <p:cNvSpPr txBox="1"/>
          <p:nvPr/>
        </p:nvSpPr>
        <p:spPr>
          <a:xfrm>
            <a:off x="13546384" y="13126101"/>
            <a:ext cx="1150168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stricta Bold"/>
                <a:sym typeface="Estricta Bold"/>
              </a:rPr>
              <a:t>Tema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: Taxa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Absorção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Ações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Projeção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Comentarios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sym typeface="Helvetica Neue"/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35FFD6AE-8BD3-4152-0B55-6011156AFEA7}"/>
              </a:ext>
            </a:extLst>
          </p:cNvPr>
          <p:cNvSpPr/>
          <p:nvPr/>
        </p:nvSpPr>
        <p:spPr>
          <a:xfrm>
            <a:off x="125075" y="8221266"/>
            <a:ext cx="8591140" cy="4688178"/>
          </a:xfrm>
          <a:prstGeom prst="roundRect">
            <a:avLst>
              <a:gd name="adj" fmla="val 10287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REFERÊNCIAS: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Taxa de Absorção &gt; 65%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Ponto de Equilíbrio &lt; 50% das vendas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72118EA-8A8F-1407-0DFD-BEFF3AE9A4A8}"/>
              </a:ext>
            </a:extLst>
          </p:cNvPr>
          <p:cNvSpPr/>
          <p:nvPr/>
        </p:nvSpPr>
        <p:spPr>
          <a:xfrm>
            <a:off x="8889157" y="7093192"/>
            <a:ext cx="15033880" cy="5816252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COMENTÁRIOS ADICIONAIS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EC9E849D-7E0A-A90A-2BBA-7D98B6A77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3326" y="43413"/>
            <a:ext cx="1762013" cy="55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3484031-0FB7-E7A6-977E-F0550693F564}"/>
              </a:ext>
            </a:extLst>
          </p:cNvPr>
          <p:cNvSpPr txBox="1"/>
          <p:nvPr/>
        </p:nvSpPr>
        <p:spPr>
          <a:xfrm>
            <a:off x="18661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AC2CCB9-373E-B75E-3263-628A0065ADB6}"/>
              </a:ext>
            </a:extLst>
          </p:cNvPr>
          <p:cNvSpPr/>
          <p:nvPr/>
        </p:nvSpPr>
        <p:spPr>
          <a:xfrm>
            <a:off x="44000" y="674157"/>
            <a:ext cx="4297752" cy="334369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BB70F76-676E-5DAD-D4F9-7E746B8DD855}"/>
              </a:ext>
            </a:extLst>
          </p:cNvPr>
          <p:cNvSpPr txBox="1"/>
          <p:nvPr/>
        </p:nvSpPr>
        <p:spPr>
          <a:xfrm>
            <a:off x="4408330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D78F332-56DB-A82F-74EB-B6ECBD26B3A4}"/>
              </a:ext>
            </a:extLst>
          </p:cNvPr>
          <p:cNvSpPr/>
          <p:nvPr/>
        </p:nvSpPr>
        <p:spPr>
          <a:xfrm>
            <a:off x="4418463" y="674406"/>
            <a:ext cx="4297752" cy="238311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FFF8F2A-9502-583D-C369-D48354D11875}"/>
              </a:ext>
            </a:extLst>
          </p:cNvPr>
          <p:cNvSpPr/>
          <p:nvPr/>
        </p:nvSpPr>
        <p:spPr>
          <a:xfrm>
            <a:off x="53781" y="4095750"/>
            <a:ext cx="4297752" cy="387867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295469F-858E-CC65-2EA7-BF9AE5D8AD08}"/>
              </a:ext>
            </a:extLst>
          </p:cNvPr>
          <p:cNvSpPr txBox="1"/>
          <p:nvPr/>
        </p:nvSpPr>
        <p:spPr>
          <a:xfrm>
            <a:off x="53781" y="4101179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38049B1-96AE-7705-6A02-745F0D731414}"/>
              </a:ext>
            </a:extLst>
          </p:cNvPr>
          <p:cNvSpPr txBox="1"/>
          <p:nvPr/>
        </p:nvSpPr>
        <p:spPr>
          <a:xfrm>
            <a:off x="60529" y="567103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809DC1C-7EDF-0BF3-FE65-ED93DCF8E233}"/>
              </a:ext>
            </a:extLst>
          </p:cNvPr>
          <p:cNvSpPr txBox="1"/>
          <p:nvPr/>
        </p:nvSpPr>
        <p:spPr>
          <a:xfrm>
            <a:off x="4398197" y="3131784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14576A38-B9B4-3DC3-4DEA-036DBA8CE003}"/>
              </a:ext>
            </a:extLst>
          </p:cNvPr>
          <p:cNvSpPr/>
          <p:nvPr/>
        </p:nvSpPr>
        <p:spPr>
          <a:xfrm>
            <a:off x="4408330" y="3133580"/>
            <a:ext cx="4297752" cy="196138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73655E1-FA68-BCB7-47F2-339E2BEAAAFA}"/>
              </a:ext>
            </a:extLst>
          </p:cNvPr>
          <p:cNvSpPr txBox="1"/>
          <p:nvPr/>
        </p:nvSpPr>
        <p:spPr>
          <a:xfrm>
            <a:off x="4388064" y="52580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B26F2BC-D8B5-2EAF-997D-FE61013AFCBA}"/>
              </a:ext>
            </a:extLst>
          </p:cNvPr>
          <p:cNvSpPr/>
          <p:nvPr/>
        </p:nvSpPr>
        <p:spPr>
          <a:xfrm>
            <a:off x="4398197" y="5164110"/>
            <a:ext cx="4297752" cy="281031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C15C2877-991C-94AD-CC32-5BC7C79D9836}"/>
              </a:ext>
            </a:extLst>
          </p:cNvPr>
          <p:cNvSpPr/>
          <p:nvPr/>
        </p:nvSpPr>
        <p:spPr>
          <a:xfrm>
            <a:off x="9341942" y="927876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B09A3E95-84F2-2701-714C-B7AF86048A69}"/>
              </a:ext>
            </a:extLst>
          </p:cNvPr>
          <p:cNvSpPr/>
          <p:nvPr/>
        </p:nvSpPr>
        <p:spPr>
          <a:xfrm>
            <a:off x="13546384" y="927876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3810B256-9085-8D09-8BB3-8C9F07C86D3D}"/>
              </a:ext>
            </a:extLst>
          </p:cNvPr>
          <p:cNvSpPr/>
          <p:nvPr/>
        </p:nvSpPr>
        <p:spPr>
          <a:xfrm>
            <a:off x="18769350" y="927876"/>
            <a:ext cx="443113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9CF5949B-E277-0A45-BE0D-F9E003C0F415}"/>
              </a:ext>
            </a:extLst>
          </p:cNvPr>
          <p:cNvSpPr/>
          <p:nvPr/>
        </p:nvSpPr>
        <p:spPr>
          <a:xfrm>
            <a:off x="9341942" y="1547001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D4E7B669-6205-03B4-B305-323BEE29F902}"/>
              </a:ext>
            </a:extLst>
          </p:cNvPr>
          <p:cNvSpPr/>
          <p:nvPr/>
        </p:nvSpPr>
        <p:spPr>
          <a:xfrm>
            <a:off x="13546384" y="1547001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165932E3-F1AF-8B2A-BC06-F8C31B11B038}"/>
              </a:ext>
            </a:extLst>
          </p:cNvPr>
          <p:cNvSpPr/>
          <p:nvPr/>
        </p:nvSpPr>
        <p:spPr>
          <a:xfrm>
            <a:off x="18769350" y="1547001"/>
            <a:ext cx="443113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09F8B46E-5DA3-4B04-3EF5-3458355B6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366709"/>
              </p:ext>
            </p:extLst>
          </p:nvPr>
        </p:nvGraphicFramePr>
        <p:xfrm>
          <a:off x="323850" y="1146175"/>
          <a:ext cx="24844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13136" progId="Excel.SheetMacroEnabled.12">
                  <p:link updateAutomatic="1"/>
                </p:oleObj>
              </mc:Choice>
              <mc:Fallback>
                <p:oleObj name="Macro-Enabled Worksheet" r:id="rId5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0" y="1146175"/>
                        <a:ext cx="2484438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68744D18-8AC8-87F1-53DA-1596C68AC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373165"/>
              </p:ext>
            </p:extLst>
          </p:nvPr>
        </p:nvGraphicFramePr>
        <p:xfrm>
          <a:off x="3144838" y="1131888"/>
          <a:ext cx="10810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081778" imgH="1005840" progId="Excel.SheetMacroEnabled.12">
                  <p:link updateAutomatic="1"/>
                </p:oleObj>
              </mc:Choice>
              <mc:Fallback>
                <p:oleObj name="Macro-Enabled Worksheet" r:id="rId7" imgW="1081778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4838" y="1131888"/>
                        <a:ext cx="1081087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4A644E2C-B018-761E-D204-199EC8A46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304293"/>
              </p:ext>
            </p:extLst>
          </p:nvPr>
        </p:nvGraphicFramePr>
        <p:xfrm>
          <a:off x="476250" y="2443163"/>
          <a:ext cx="3467100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1470822" progId="Excel.SheetMacroEnabled.12">
                  <p:link updateAutomatic="1"/>
                </p:oleObj>
              </mc:Choice>
              <mc:Fallback>
                <p:oleObj name="Macro-Enabled Worksheet" r:id="rId9" imgW="3467211" imgH="14708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6250" y="2443163"/>
                        <a:ext cx="3467100" cy="1471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2D876A6B-EB94-5860-B75D-8D6284878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846325"/>
              </p:ext>
            </p:extLst>
          </p:nvPr>
        </p:nvGraphicFramePr>
        <p:xfrm>
          <a:off x="314325" y="4552950"/>
          <a:ext cx="24844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2483777" imgH="898836" progId="Excel.SheetMacroEnabled.12">
                  <p:link updateAutomatic="1"/>
                </p:oleObj>
              </mc:Choice>
              <mc:Fallback>
                <p:oleObj name="Macro-Enabled Worksheet" r:id="rId11" imgW="2483777" imgH="8988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325" y="4552950"/>
                        <a:ext cx="2484438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695ECC23-F0B3-60D2-90BA-59755F93C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336761"/>
              </p:ext>
            </p:extLst>
          </p:nvPr>
        </p:nvGraphicFramePr>
        <p:xfrm>
          <a:off x="3105150" y="4568825"/>
          <a:ext cx="11350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135067" imgH="875976" progId="Excel.SheetMacroEnabled.12">
                  <p:link updateAutomatic="1"/>
                </p:oleObj>
              </mc:Choice>
              <mc:Fallback>
                <p:oleObj name="Macro-Enabled Worksheet" r:id="rId13" imgW="113506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05150" y="4568825"/>
                        <a:ext cx="1135063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74F85037-3D54-4920-EC4B-231579E610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050454"/>
              </p:ext>
            </p:extLst>
          </p:nvPr>
        </p:nvGraphicFramePr>
        <p:xfrm>
          <a:off x="314325" y="6162675"/>
          <a:ext cx="248443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2483777" imgH="875976" progId="Excel.SheetMacroEnabled.12">
                  <p:link updateAutomatic="1"/>
                </p:oleObj>
              </mc:Choice>
              <mc:Fallback>
                <p:oleObj name="Macro-Enabled Worksheet" r:id="rId15" imgW="248377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4325" y="6162675"/>
                        <a:ext cx="2484438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7284C3E6-3AA4-E5CE-A0A2-F08DF431D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53660"/>
              </p:ext>
            </p:extLst>
          </p:nvPr>
        </p:nvGraphicFramePr>
        <p:xfrm>
          <a:off x="3089275" y="6156325"/>
          <a:ext cx="11350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1135067" imgH="891540" progId="Excel.SheetMacroEnabled.12">
                  <p:link updateAutomatic="1"/>
                </p:oleObj>
              </mc:Choice>
              <mc:Fallback>
                <p:oleObj name="Macro-Enabled Worksheet" r:id="rId17" imgW="1135067" imgH="8915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89275" y="6156325"/>
                        <a:ext cx="1135063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DA59E04D-3372-16B7-FAF3-6CC7F6F81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062098"/>
              </p:ext>
            </p:extLst>
          </p:nvPr>
        </p:nvGraphicFramePr>
        <p:xfrm>
          <a:off x="4833938" y="2403475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3467211" imgH="556422" progId="Excel.SheetMacroEnabled.12">
                  <p:link updateAutomatic="1"/>
                </p:oleObj>
              </mc:Choice>
              <mc:Fallback>
                <p:oleObj name="Macro-Enabled Worksheet" r:id="rId19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33938" y="2403475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F96FB7CF-CE00-0316-0020-08307EA494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122055"/>
              </p:ext>
            </p:extLst>
          </p:nvPr>
        </p:nvGraphicFramePr>
        <p:xfrm>
          <a:off x="4684713" y="1128713"/>
          <a:ext cx="24844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1" imgW="2483777" imgH="1005840" progId="Excel.SheetMacroEnabled.12">
                  <p:link updateAutomatic="1"/>
                </p:oleObj>
              </mc:Choice>
              <mc:Fallback>
                <p:oleObj name="Macro-Enabled Worksheet" r:id="rId21" imgW="248377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84713" y="1128713"/>
                        <a:ext cx="2484437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4CB64EE6-0670-6CEC-0BB7-20EA2E5E0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655120"/>
              </p:ext>
            </p:extLst>
          </p:nvPr>
        </p:nvGraphicFramePr>
        <p:xfrm>
          <a:off x="7466013" y="1131888"/>
          <a:ext cx="11350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3" imgW="1135067" imgH="1005840" progId="Excel.SheetMacroEnabled.12">
                  <p:link updateAutomatic="1"/>
                </p:oleObj>
              </mc:Choice>
              <mc:Fallback>
                <p:oleObj name="Macro-Enabled Worksheet" r:id="rId23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66013" y="1131888"/>
                        <a:ext cx="1135062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7B8A8EA3-A955-6A8A-01D0-58AA617BB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321929"/>
              </p:ext>
            </p:extLst>
          </p:nvPr>
        </p:nvGraphicFramePr>
        <p:xfrm>
          <a:off x="476250" y="7269163"/>
          <a:ext cx="34671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5" imgW="3467211" imgH="556422" progId="Excel.SheetMacroEnabled.12">
                  <p:link updateAutomatic="1"/>
                </p:oleObj>
              </mc:Choice>
              <mc:Fallback>
                <p:oleObj name="Macro-Enabled Worksheet" r:id="rId2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76250" y="7269163"/>
                        <a:ext cx="3467100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1AE40EBF-D6B1-A333-91F5-7630BDDE0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566364"/>
              </p:ext>
            </p:extLst>
          </p:nvPr>
        </p:nvGraphicFramePr>
        <p:xfrm>
          <a:off x="4681538" y="3621088"/>
          <a:ext cx="248443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7" imgW="2483777" imgH="1180938" progId="Excel.SheetMacroEnabled.12">
                  <p:link updateAutomatic="1"/>
                </p:oleObj>
              </mc:Choice>
              <mc:Fallback>
                <p:oleObj name="Macro-Enabled Worksheet" r:id="rId27" imgW="2483777" imgH="118093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81538" y="3621088"/>
                        <a:ext cx="2484437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D7CB0F2A-DDA2-AB00-FFB4-426754ADF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254576"/>
              </p:ext>
            </p:extLst>
          </p:nvPr>
        </p:nvGraphicFramePr>
        <p:xfrm>
          <a:off x="7456488" y="3624263"/>
          <a:ext cx="1135062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9" imgW="1135067" imgH="1173156" progId="Excel.SheetMacroEnabled.12">
                  <p:link updateAutomatic="1"/>
                </p:oleObj>
              </mc:Choice>
              <mc:Fallback>
                <p:oleObj name="Macro-Enabled Worksheet" r:id="rId29" imgW="1135067" imgH="117315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456488" y="3624263"/>
                        <a:ext cx="1135062" cy="1173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>
            <a:extLst>
              <a:ext uri="{FF2B5EF4-FFF2-40B4-BE49-F238E27FC236}">
                <a16:creationId xmlns:a16="http://schemas.microsoft.com/office/drawing/2014/main" id="{36F788C1-299A-8792-5C20-85E0173042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92016"/>
              </p:ext>
            </p:extLst>
          </p:nvPr>
        </p:nvGraphicFramePr>
        <p:xfrm>
          <a:off x="4681538" y="5818188"/>
          <a:ext cx="248443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1" imgW="2483777" imgH="1013136" progId="Excel.SheetMacroEnabled.12">
                  <p:link updateAutomatic="1"/>
                </p:oleObj>
              </mc:Choice>
              <mc:Fallback>
                <p:oleObj name="Macro-Enabled Worksheet" r:id="rId31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81538" y="5818188"/>
                        <a:ext cx="2484437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>
            <a:extLst>
              <a:ext uri="{FF2B5EF4-FFF2-40B4-BE49-F238E27FC236}">
                <a16:creationId xmlns:a16="http://schemas.microsoft.com/office/drawing/2014/main" id="{D107D5BE-142D-5821-1299-0CC8E35047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112194"/>
              </p:ext>
            </p:extLst>
          </p:nvPr>
        </p:nvGraphicFramePr>
        <p:xfrm>
          <a:off x="7445375" y="5822950"/>
          <a:ext cx="11350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3" imgW="1135067" imgH="1005840" progId="Excel.SheetMacroEnabled.12">
                  <p:link updateAutomatic="1"/>
                </p:oleObj>
              </mc:Choice>
              <mc:Fallback>
                <p:oleObj name="Macro-Enabled Worksheet" r:id="rId33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445375" y="5822950"/>
                        <a:ext cx="1135063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o 32">
            <a:extLst>
              <a:ext uri="{FF2B5EF4-FFF2-40B4-BE49-F238E27FC236}">
                <a16:creationId xmlns:a16="http://schemas.microsoft.com/office/drawing/2014/main" id="{CA07815B-9596-19D3-88A2-6C8B0289B2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261374"/>
              </p:ext>
            </p:extLst>
          </p:nvPr>
        </p:nvGraphicFramePr>
        <p:xfrm>
          <a:off x="4833938" y="7269163"/>
          <a:ext cx="34671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5" imgW="3467211" imgH="556422" progId="Excel.SheetMacroEnabled.12">
                  <p:link updateAutomatic="1"/>
                </p:oleObj>
              </mc:Choice>
              <mc:Fallback>
                <p:oleObj name="Macro-Enabled Worksheet" r:id="rId3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833938" y="7269163"/>
                        <a:ext cx="3467100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to 35">
            <a:extLst>
              <a:ext uri="{FF2B5EF4-FFF2-40B4-BE49-F238E27FC236}">
                <a16:creationId xmlns:a16="http://schemas.microsoft.com/office/drawing/2014/main" id="{E137455D-F6E8-A8A7-8D73-1C2E2BFD0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573475"/>
              </p:ext>
            </p:extLst>
          </p:nvPr>
        </p:nvGraphicFramePr>
        <p:xfrm>
          <a:off x="12530138" y="985838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7" imgW="891389" imgH="403698" progId="Excel.SheetMacroEnabled.12">
                  <p:link updateAutomatic="1"/>
                </p:oleObj>
              </mc:Choice>
              <mc:Fallback>
                <p:oleObj name="Macro-Enabled Worksheet" r:id="rId37" imgW="891389" imgH="403698" progId="Excel.SheetMacroEnabled.12">
                  <p:link updateAutomatic="1"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4B8F49D4-5F52-EAE9-0D8A-B0021AEF4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530138" y="985838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to 36">
            <a:extLst>
              <a:ext uri="{FF2B5EF4-FFF2-40B4-BE49-F238E27FC236}">
                <a16:creationId xmlns:a16="http://schemas.microsoft.com/office/drawing/2014/main" id="{0F86832F-5DD4-9313-0914-D6C0E32B0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02835"/>
              </p:ext>
            </p:extLst>
          </p:nvPr>
        </p:nvGraphicFramePr>
        <p:xfrm>
          <a:off x="12530138" y="1604963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9" imgW="891389" imgH="403698" progId="Excel.SheetMacroEnabled.12">
                  <p:link updateAutomatic="1"/>
                </p:oleObj>
              </mc:Choice>
              <mc:Fallback>
                <p:oleObj name="Macro-Enabled Worksheet" r:id="rId39" imgW="891389" imgH="403698" progId="Excel.SheetMacroEnabled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B106039B-B776-CA27-A057-8AB3ADFF5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2530138" y="1604963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to 39">
            <a:extLst>
              <a:ext uri="{FF2B5EF4-FFF2-40B4-BE49-F238E27FC236}">
                <a16:creationId xmlns:a16="http://schemas.microsoft.com/office/drawing/2014/main" id="{6BFAFA74-69C2-9591-2077-0651C5F2A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318908"/>
              </p:ext>
            </p:extLst>
          </p:nvPr>
        </p:nvGraphicFramePr>
        <p:xfrm>
          <a:off x="17165638" y="985838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1" imgW="1485809" imgH="403698" progId="Excel.SheetMacroEnabled.12">
                  <p:link updateAutomatic="1"/>
                </p:oleObj>
              </mc:Choice>
              <mc:Fallback>
                <p:oleObj name="Macro-Enabled Worksheet" r:id="rId41" imgW="1485809" imgH="403698" progId="Excel.SheetMacroEnabled.12">
                  <p:link updateAutomatic="1"/>
                  <p:pic>
                    <p:nvPicPr>
                      <p:cNvPr id="16" name="Objeto 15">
                        <a:extLst>
                          <a:ext uri="{FF2B5EF4-FFF2-40B4-BE49-F238E27FC236}">
                            <a16:creationId xmlns:a16="http://schemas.microsoft.com/office/drawing/2014/main" id="{7483E20E-42BF-C2BE-D2AE-F3D2D333A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7165638" y="985838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o 40">
            <a:extLst>
              <a:ext uri="{FF2B5EF4-FFF2-40B4-BE49-F238E27FC236}">
                <a16:creationId xmlns:a16="http://schemas.microsoft.com/office/drawing/2014/main" id="{FD999F65-BFFE-3B33-F18B-6781C87341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463221"/>
              </p:ext>
            </p:extLst>
          </p:nvPr>
        </p:nvGraphicFramePr>
        <p:xfrm>
          <a:off x="17165638" y="16049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3" imgW="1485809" imgH="403698" progId="Excel.SheetMacroEnabled.12">
                  <p:link updateAutomatic="1"/>
                </p:oleObj>
              </mc:Choice>
              <mc:Fallback>
                <p:oleObj name="Macro-Enabled Worksheet" r:id="rId43" imgW="1485809" imgH="403698" progId="Excel.SheetMacroEnabled.12">
                  <p:link updateAutomatic="1"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477EDD4E-E900-E418-169A-54669B9E10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7165638" y="16049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to 41">
            <a:extLst>
              <a:ext uri="{FF2B5EF4-FFF2-40B4-BE49-F238E27FC236}">
                <a16:creationId xmlns:a16="http://schemas.microsoft.com/office/drawing/2014/main" id="{0402AD40-791B-9895-98D9-7AEC7C73A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123748"/>
              </p:ext>
            </p:extLst>
          </p:nvPr>
        </p:nvGraphicFramePr>
        <p:xfrm>
          <a:off x="21664613" y="985838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5" imgW="1485809" imgH="403698" progId="Excel.SheetMacroEnabled.12">
                  <p:link updateAutomatic="1"/>
                </p:oleObj>
              </mc:Choice>
              <mc:Fallback>
                <p:oleObj name="Macro-Enabled Worksheet" r:id="rId45" imgW="1485809" imgH="403698" progId="Excel.SheetMacroEnabled.12">
                  <p:link updateAutomatic="1"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98B3CED8-0512-7948-3519-366AF385AB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664613" y="985838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to 48">
            <a:extLst>
              <a:ext uri="{FF2B5EF4-FFF2-40B4-BE49-F238E27FC236}">
                <a16:creationId xmlns:a16="http://schemas.microsoft.com/office/drawing/2014/main" id="{1B35DE85-EFCF-FCB3-005D-36B2B1D219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559987"/>
              </p:ext>
            </p:extLst>
          </p:nvPr>
        </p:nvGraphicFramePr>
        <p:xfrm>
          <a:off x="21664613" y="16049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6" imgW="1485809" imgH="403698" progId="Excel.SheetMacroEnabled.12">
                  <p:link updateAutomatic="1"/>
                </p:oleObj>
              </mc:Choice>
              <mc:Fallback>
                <p:oleObj name="Macro-Enabled Worksheet" r:id="rId46" imgW="1485809" imgH="403698" progId="Excel.SheetMacroEnabled.12">
                  <p:link updateAutomatic="1"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7DE33EA9-90FD-7FC2-4728-08A5EB341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664613" y="16049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to 50">
            <a:extLst>
              <a:ext uri="{FF2B5EF4-FFF2-40B4-BE49-F238E27FC236}">
                <a16:creationId xmlns:a16="http://schemas.microsoft.com/office/drawing/2014/main" id="{E3685A48-B70F-5D10-30ED-26D7F2683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722355"/>
              </p:ext>
            </p:extLst>
          </p:nvPr>
        </p:nvGraphicFramePr>
        <p:xfrm>
          <a:off x="9045575" y="2551113"/>
          <a:ext cx="14678025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7" imgW="18051588" imgH="4914900" progId="Excel.SheetMacroEnabled.12">
                  <p:link updateAutomatic="1"/>
                </p:oleObj>
              </mc:Choice>
              <mc:Fallback>
                <p:oleObj name="Macro-Enabled Worksheet" r:id="rId47" imgW="18051588" imgH="4914900" progId="Excel.SheetMacroEnabled.12">
                  <p:link updateAutomatic="1"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0496DEBB-B1EB-0D7F-78C7-8618B8AC56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9045575" y="2551113"/>
                        <a:ext cx="14678025" cy="399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Espaço Reservado para Rodapé 49">
            <a:extLst>
              <a:ext uri="{FF2B5EF4-FFF2-40B4-BE49-F238E27FC236}">
                <a16:creationId xmlns:a16="http://schemas.microsoft.com/office/drawing/2014/main" id="{6D4C3C8E-4461-0BAE-253E-01C69A4AB6D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6141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64EE-06AF-98C3-713C-0FF0C293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81EDFAF3-ADFB-4A47-36D7-A086A395F422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708289D-1CEC-0BE5-45B8-B0B14E168444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6426E291-CCEC-BE45-1AA8-338C0A7BB0C3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3Tri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D0B44E35-2F5D-8B8C-0975-813968113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25100A-0B88-4EEB-93EE-324D84CB6115}"/>
              </a:ext>
            </a:extLst>
          </p:cNvPr>
          <p:cNvSpPr txBox="1"/>
          <p:nvPr/>
        </p:nvSpPr>
        <p:spPr>
          <a:xfrm>
            <a:off x="6273070" y="1596999"/>
            <a:ext cx="1015404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BA3C9F2A-AAA0-DA1A-ED77-0687B9E97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088194"/>
              </p:ext>
            </p:extLst>
          </p:nvPr>
        </p:nvGraphicFramePr>
        <p:xfrm>
          <a:off x="6283325" y="3235325"/>
          <a:ext cx="6754813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13136" progId="Excel.SheetMacroEnabled.12">
                  <p:link updateAutomatic="1"/>
                </p:oleObj>
              </mc:Choice>
              <mc:Fallback>
                <p:oleObj name="Macro-Enabled Worksheet" r:id="rId5" imgW="2483777" imgH="1013136" progId="Excel.SheetMacroEnabled.12">
                  <p:link updateAutomatic="1"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09F8B46E-5DA3-4B04-3EF5-3458355B63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83325" y="3235325"/>
                        <a:ext cx="6754813" cy="275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49F50D25-03CB-5C98-46BA-3649C9205E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92223"/>
              </p:ext>
            </p:extLst>
          </p:nvPr>
        </p:nvGraphicFramePr>
        <p:xfrm>
          <a:off x="14204950" y="3186113"/>
          <a:ext cx="2944813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081778" imgH="1005840" progId="Excel.SheetMacroEnabled.12">
                  <p:link updateAutomatic="1"/>
                </p:oleObj>
              </mc:Choice>
              <mc:Fallback>
                <p:oleObj name="Macro-Enabled Worksheet" r:id="rId7" imgW="1081778" imgH="1005840" progId="Excel.SheetMacroEnabled.12">
                  <p:link updateAutomatic="1"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68744D18-8AC8-87F1-53DA-1596C68AC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204950" y="3186113"/>
                        <a:ext cx="2944813" cy="274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3DF23E7B-22DE-C05F-4EBF-7272ED998E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902919"/>
              </p:ext>
            </p:extLst>
          </p:nvPr>
        </p:nvGraphicFramePr>
        <p:xfrm>
          <a:off x="6440488" y="6950075"/>
          <a:ext cx="10399712" cy="441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1470822" progId="Excel.SheetMacroEnabled.12">
                  <p:link updateAutomatic="1"/>
                </p:oleObj>
              </mc:Choice>
              <mc:Fallback>
                <p:oleObj name="Macro-Enabled Worksheet" r:id="rId9" imgW="3467211" imgH="1470822" progId="Excel.SheetMacroEnabled.12">
                  <p:link updateAutomatic="1"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4A644E2C-B018-761E-D204-199EC8A467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40488" y="6950075"/>
                        <a:ext cx="10399712" cy="441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21C1BC-01ED-0F0A-1002-A11A52D59C6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0724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1C15-23EB-C425-B633-0469AE53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D93F1EE7-129A-B98F-92A4-B93ABE4AB554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138A07C-1DA0-8F22-3D8C-1F871AB775EB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349A85BC-349A-4E6D-2967-54BA0F6369A5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3Tri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D84D7C9B-6727-6899-B9B2-6564CB2DC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8316" y="43412"/>
            <a:ext cx="2147023" cy="6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1897D66-C356-8225-AA45-6740D00AFDF4}"/>
              </a:ext>
            </a:extLst>
          </p:cNvPr>
          <p:cNvSpPr txBox="1"/>
          <p:nvPr/>
        </p:nvSpPr>
        <p:spPr>
          <a:xfrm>
            <a:off x="43747" y="1068179"/>
            <a:ext cx="12388886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D7ECA3-B596-F7F1-F4EB-9B1E14372443}"/>
              </a:ext>
            </a:extLst>
          </p:cNvPr>
          <p:cNvSpPr txBox="1"/>
          <p:nvPr/>
        </p:nvSpPr>
        <p:spPr>
          <a:xfrm>
            <a:off x="188126" y="8142238"/>
            <a:ext cx="1215050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DCDF225-36EA-5CCA-7F69-3C7E39474002}"/>
              </a:ext>
            </a:extLst>
          </p:cNvPr>
          <p:cNvSpPr/>
          <p:nvPr/>
        </p:nvSpPr>
        <p:spPr>
          <a:xfrm>
            <a:off x="172336" y="866660"/>
            <a:ext cx="12180086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1FE3444-BD83-A187-AC3C-57E8AA897358}"/>
              </a:ext>
            </a:extLst>
          </p:cNvPr>
          <p:cNvSpPr/>
          <p:nvPr/>
        </p:nvSpPr>
        <p:spPr>
          <a:xfrm>
            <a:off x="158544" y="7816034"/>
            <a:ext cx="12180086" cy="4826159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20C4E36-04E1-D3D1-37FE-81E1BC34C8C8}"/>
              </a:ext>
            </a:extLst>
          </p:cNvPr>
          <p:cNvSpPr/>
          <p:nvPr/>
        </p:nvSpPr>
        <p:spPr>
          <a:xfrm>
            <a:off x="12530671" y="865572"/>
            <a:ext cx="11649979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54C6DFF-1C8C-1289-FEAC-3800CD30EE85}"/>
              </a:ext>
            </a:extLst>
          </p:cNvPr>
          <p:cNvSpPr txBox="1"/>
          <p:nvPr/>
        </p:nvSpPr>
        <p:spPr>
          <a:xfrm>
            <a:off x="12594840" y="1078754"/>
            <a:ext cx="11551301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D68E569-06C2-7AFE-F15B-736DCB6CB222}"/>
              </a:ext>
            </a:extLst>
          </p:cNvPr>
          <p:cNvSpPr/>
          <p:nvPr/>
        </p:nvSpPr>
        <p:spPr>
          <a:xfrm>
            <a:off x="12530670" y="7808014"/>
            <a:ext cx="11631513" cy="4826159"/>
          </a:xfrm>
          <a:prstGeom prst="roundRect">
            <a:avLst>
              <a:gd name="adj" fmla="val 447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AÇÕES REALIZADAS</a:t>
            </a:r>
            <a:endParaRPr lang="pt-BR" sz="3600" b="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D8238EB1-141C-5E54-C6BE-03583C6A46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093408"/>
              </p:ext>
            </p:extLst>
          </p:nvPr>
        </p:nvGraphicFramePr>
        <p:xfrm>
          <a:off x="1249363" y="2517775"/>
          <a:ext cx="67564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05840" progId="Excel.SheetMacroEnabled.12">
                  <p:link updateAutomatic="1"/>
                </p:oleObj>
              </mc:Choice>
              <mc:Fallback>
                <p:oleObj name="Macro-Enabled Worksheet" r:id="rId5" imgW="2483777" imgH="1005840" progId="Excel.SheetMacroEnabled.12">
                  <p:link updateAutomatic="1"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F96FB7CF-CE00-0316-0020-08307EA49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49363" y="2517775"/>
                        <a:ext cx="67564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9140551-4B4D-D28F-C2A2-EE4F7F3E9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764445"/>
              </p:ext>
            </p:extLst>
          </p:nvPr>
        </p:nvGraphicFramePr>
        <p:xfrm>
          <a:off x="8651875" y="2536825"/>
          <a:ext cx="3087688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1005840" progId="Excel.SheetMacroEnabled.12">
                  <p:link updateAutomatic="1"/>
                </p:oleObj>
              </mc:Choice>
              <mc:Fallback>
                <p:oleObj name="Macro-Enabled Worksheet" r:id="rId7" imgW="1135067" imgH="1005840" progId="Excel.SheetMacroEnabled.12">
                  <p:link updateAutomatic="1"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4CB64EE6-0670-6CEC-0BB7-20EA2E5E07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1875" y="2536825"/>
                        <a:ext cx="3087688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B769E98F-4DCF-5B87-DA9C-8EB9091E3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507407"/>
              </p:ext>
            </p:extLst>
          </p:nvPr>
        </p:nvGraphicFramePr>
        <p:xfrm>
          <a:off x="1981200" y="5943600"/>
          <a:ext cx="872172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556422" progId="Excel.SheetMacroEnabled.12">
                  <p:link updateAutomatic="1"/>
                </p:oleObj>
              </mc:Choice>
              <mc:Fallback>
                <p:oleObj name="Macro-Enabled Worksheet" r:id="rId9" imgW="3467211" imgH="556422" progId="Excel.SheetMacroEnabled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DA59E04D-3372-16B7-FAF3-6CC7F6F81A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1200" y="5943600"/>
                        <a:ext cx="8721725" cy="140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23">
            <a:extLst>
              <a:ext uri="{FF2B5EF4-FFF2-40B4-BE49-F238E27FC236}">
                <a16:creationId xmlns:a16="http://schemas.microsoft.com/office/drawing/2014/main" id="{0F6B9C8C-74FD-799E-15DA-12203863A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07400"/>
              </p:ext>
            </p:extLst>
          </p:nvPr>
        </p:nvGraphicFramePr>
        <p:xfrm>
          <a:off x="13233400" y="2527300"/>
          <a:ext cx="6754813" cy="275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2483777" imgH="1013136" progId="Excel.SheetMacroEnabled.12">
                  <p:link updateAutomatic="1"/>
                </p:oleObj>
              </mc:Choice>
              <mc:Fallback>
                <p:oleObj name="Macro-Enabled Worksheet" r:id="rId11" imgW="2483777" imgH="1013136" progId="Excel.SheetMacroEnabled.12">
                  <p:link updateAutomatic="1"/>
                  <p:pic>
                    <p:nvPicPr>
                      <p:cNvPr id="30" name="Objeto 29">
                        <a:extLst>
                          <a:ext uri="{FF2B5EF4-FFF2-40B4-BE49-F238E27FC236}">
                            <a16:creationId xmlns:a16="http://schemas.microsoft.com/office/drawing/2014/main" id="{36F788C1-299A-8792-5C20-85E0173042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233400" y="2527300"/>
                        <a:ext cx="6754813" cy="2754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24">
            <a:extLst>
              <a:ext uri="{FF2B5EF4-FFF2-40B4-BE49-F238E27FC236}">
                <a16:creationId xmlns:a16="http://schemas.microsoft.com/office/drawing/2014/main" id="{02592839-FC9B-A8F3-930A-A5E927765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840768"/>
              </p:ext>
            </p:extLst>
          </p:nvPr>
        </p:nvGraphicFramePr>
        <p:xfrm>
          <a:off x="20743863" y="2535238"/>
          <a:ext cx="3089275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135067" imgH="1005840" progId="Excel.SheetMacroEnabled.12">
                  <p:link updateAutomatic="1"/>
                </p:oleObj>
              </mc:Choice>
              <mc:Fallback>
                <p:oleObj name="Macro-Enabled Worksheet" r:id="rId13" imgW="1135067" imgH="1005840" progId="Excel.SheetMacroEnabled.12">
                  <p:link updateAutomatic="1"/>
                  <p:pic>
                    <p:nvPicPr>
                      <p:cNvPr id="32" name="Objeto 31">
                        <a:extLst>
                          <a:ext uri="{FF2B5EF4-FFF2-40B4-BE49-F238E27FC236}">
                            <a16:creationId xmlns:a16="http://schemas.microsoft.com/office/drawing/2014/main" id="{D107D5BE-142D-5821-1299-0CC8E35047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743863" y="2535238"/>
                        <a:ext cx="3089275" cy="274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9AC0156F-C1C0-AA37-31F4-CBD12FE4A5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231012"/>
              </p:ext>
            </p:extLst>
          </p:nvPr>
        </p:nvGraphicFramePr>
        <p:xfrm>
          <a:off x="14160500" y="5943600"/>
          <a:ext cx="8624888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3467211" imgH="556422" progId="Excel.SheetMacroEnabled.12">
                  <p:link updateAutomatic="1"/>
                </p:oleObj>
              </mc:Choice>
              <mc:Fallback>
                <p:oleObj name="Macro-Enabled Worksheet" r:id="rId15" imgW="3467211" imgH="556422" progId="Excel.SheetMacroEnabled.12">
                  <p:link updateAutomatic="1"/>
                  <p:pic>
                    <p:nvPicPr>
                      <p:cNvPr id="33" name="Objeto 32">
                        <a:extLst>
                          <a:ext uri="{FF2B5EF4-FFF2-40B4-BE49-F238E27FC236}">
                            <a16:creationId xmlns:a16="http://schemas.microsoft.com/office/drawing/2014/main" id="{CA07815B-9596-19D3-88A2-6C8B0289B2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160500" y="5943600"/>
                        <a:ext cx="8624888" cy="1385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DF425190-58D8-419F-3F9E-6AFF14079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365873"/>
              </p:ext>
            </p:extLst>
          </p:nvPr>
        </p:nvGraphicFramePr>
        <p:xfrm>
          <a:off x="1881188" y="9267825"/>
          <a:ext cx="5832475" cy="27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2483777" imgH="1180938" progId="Excel.SheetMacroEnabled.12">
                  <p:link updateAutomatic="1"/>
                </p:oleObj>
              </mc:Choice>
              <mc:Fallback>
                <p:oleObj name="Macro-Enabled Worksheet" r:id="rId17" imgW="2483777" imgH="1180938" progId="Excel.SheetMacroEnabled.12">
                  <p:link updateAutomatic="1"/>
                  <p:pic>
                    <p:nvPicPr>
                      <p:cNvPr id="26" name="Objeto 25">
                        <a:extLst>
                          <a:ext uri="{FF2B5EF4-FFF2-40B4-BE49-F238E27FC236}">
                            <a16:creationId xmlns:a16="http://schemas.microsoft.com/office/drawing/2014/main" id="{1AE40EBF-D6B1-A333-91F5-7630BDDE08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81188" y="9267825"/>
                        <a:ext cx="5832475" cy="277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to 28">
            <a:extLst>
              <a:ext uri="{FF2B5EF4-FFF2-40B4-BE49-F238E27FC236}">
                <a16:creationId xmlns:a16="http://schemas.microsoft.com/office/drawing/2014/main" id="{8FD633E0-1E3C-75A5-9E83-CE14C64E9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602422"/>
              </p:ext>
            </p:extLst>
          </p:nvPr>
        </p:nvGraphicFramePr>
        <p:xfrm>
          <a:off x="8609013" y="9277350"/>
          <a:ext cx="2665412" cy="275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1135067" imgH="1173156" progId="Excel.SheetMacroEnabled.12">
                  <p:link updateAutomatic="1"/>
                </p:oleObj>
              </mc:Choice>
              <mc:Fallback>
                <p:oleObj name="Macro-Enabled Worksheet" r:id="rId19" imgW="1135067" imgH="1173156" progId="Excel.SheetMacroEnabled.12">
                  <p:link updateAutomatic="1"/>
                  <p:pic>
                    <p:nvPicPr>
                      <p:cNvPr id="27" name="Objeto 26">
                        <a:extLst>
                          <a:ext uri="{FF2B5EF4-FFF2-40B4-BE49-F238E27FC236}">
                            <a16:creationId xmlns:a16="http://schemas.microsoft.com/office/drawing/2014/main" id="{D7CB0F2A-DDA2-AB00-FFB4-426754ADF3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609013" y="9277350"/>
                        <a:ext cx="2665412" cy="2754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D07BB1-1C96-3B45-1242-6E580B29F2A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023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465-D997-4453-5D53-42B369FD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5446C4B3-F861-603E-B125-67F6C283B91D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F7B78DC-500B-A7A9-FD0A-E758D692C04C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C7CE22A3-091D-857A-AA8A-3AAF8B29D8FD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3Tri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2E207CE1-8EAF-315A-F63F-213FDD3CF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585ED05-E475-0996-8E98-964851FF00A8}"/>
              </a:ext>
            </a:extLst>
          </p:cNvPr>
          <p:cNvSpPr txBox="1"/>
          <p:nvPr/>
        </p:nvSpPr>
        <p:spPr>
          <a:xfrm>
            <a:off x="4362450" y="109934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D9D29C8-76EB-EC39-6F65-503F09D5539F}"/>
              </a:ext>
            </a:extLst>
          </p:cNvPr>
          <p:cNvSpPr txBox="1"/>
          <p:nvPr/>
        </p:nvSpPr>
        <p:spPr>
          <a:xfrm>
            <a:off x="4367834" y="627648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556B141-784B-6524-1DE4-979DEDD23834}"/>
              </a:ext>
            </a:extLst>
          </p:cNvPr>
          <p:cNvSpPr/>
          <p:nvPr/>
        </p:nvSpPr>
        <p:spPr>
          <a:xfrm>
            <a:off x="4325236" y="866661"/>
            <a:ext cx="15690930" cy="470968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E2350F0-917B-48AB-D4A6-EBC05D12F4B9}"/>
              </a:ext>
            </a:extLst>
          </p:cNvPr>
          <p:cNvSpPr/>
          <p:nvPr/>
        </p:nvSpPr>
        <p:spPr>
          <a:xfrm>
            <a:off x="4325236" y="6238761"/>
            <a:ext cx="15690930" cy="633979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F195D5FB-E872-B23D-5EEF-CECF05C2D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769654"/>
              </p:ext>
            </p:extLst>
          </p:nvPr>
        </p:nvGraphicFramePr>
        <p:xfrm>
          <a:off x="6173788" y="2295525"/>
          <a:ext cx="7696200" cy="278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898836" progId="Excel.SheetMacroEnabled.12">
                  <p:link updateAutomatic="1"/>
                </p:oleObj>
              </mc:Choice>
              <mc:Fallback>
                <p:oleObj name="Macro-Enabled Worksheet" r:id="rId5" imgW="2483777" imgH="898836" progId="Excel.SheetMacroEnabled.12">
                  <p:link updateAutomatic="1"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2D876A6B-EB94-5860-B75D-8D6284878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3788" y="2295525"/>
                        <a:ext cx="7696200" cy="278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1A32B0E6-318D-5FFD-C849-69F43DCFA2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091016"/>
              </p:ext>
            </p:extLst>
          </p:nvPr>
        </p:nvGraphicFramePr>
        <p:xfrm>
          <a:off x="15059025" y="2297113"/>
          <a:ext cx="3598863" cy="277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875976" progId="Excel.SheetMacroEnabled.12">
                  <p:link updateAutomatic="1"/>
                </p:oleObj>
              </mc:Choice>
              <mc:Fallback>
                <p:oleObj name="Macro-Enabled Worksheet" r:id="rId7" imgW="1135067" imgH="875976" progId="Excel.SheetMacroEnabled.12">
                  <p:link updateAutomatic="1"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695ECC23-F0B3-60D2-90BA-59755F93CC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59025" y="2297113"/>
                        <a:ext cx="3598863" cy="2779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9A3D0BB2-04F7-D9F9-579A-705C2D670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462386"/>
              </p:ext>
            </p:extLst>
          </p:nvPr>
        </p:nvGraphicFramePr>
        <p:xfrm>
          <a:off x="6180138" y="7567613"/>
          <a:ext cx="7761287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2483777" imgH="875976" progId="Excel.SheetMacroEnabled.12">
                  <p:link updateAutomatic="1"/>
                </p:oleObj>
              </mc:Choice>
              <mc:Fallback>
                <p:oleObj name="Macro-Enabled Worksheet" r:id="rId9" imgW="2483777" imgH="875976" progId="Excel.SheetMacroEnabled.12">
                  <p:link updateAutomatic="1"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74F85037-3D54-4920-EC4B-231579E610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80138" y="7567613"/>
                        <a:ext cx="7761287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88E08038-3864-9CCB-471F-A533D1891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857358"/>
              </p:ext>
            </p:extLst>
          </p:nvPr>
        </p:nvGraphicFramePr>
        <p:xfrm>
          <a:off x="15171738" y="7561263"/>
          <a:ext cx="3497262" cy="274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135067" imgH="891540" progId="Excel.SheetMacroEnabled.12">
                  <p:link updateAutomatic="1"/>
                </p:oleObj>
              </mc:Choice>
              <mc:Fallback>
                <p:oleObj name="Macro-Enabled Worksheet" r:id="rId11" imgW="1135067" imgH="891540" progId="Excel.SheetMacroEnabled.12">
                  <p:link updateAutomatic="1"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7284C3E6-3AA4-E5CE-A0A2-F08DF431D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171738" y="7561263"/>
                        <a:ext cx="3497262" cy="2747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3CE7F4F4-B7BE-E87D-419F-D62CC0DEF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917396"/>
              </p:ext>
            </p:extLst>
          </p:nvPr>
        </p:nvGraphicFramePr>
        <p:xfrm>
          <a:off x="7745413" y="10845800"/>
          <a:ext cx="8805862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3467211" imgH="556422" progId="Excel.SheetMacroEnabled.12">
                  <p:link updateAutomatic="1"/>
                </p:oleObj>
              </mc:Choice>
              <mc:Fallback>
                <p:oleObj name="Macro-Enabled Worksheet" r:id="rId13" imgW="3467211" imgH="556422" progId="Excel.SheetMacroEnabled.12">
                  <p:link updateAutomatic="1"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7B8A8EA3-A955-6A8A-01D0-58AA617BB3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45413" y="10845800"/>
                        <a:ext cx="8805862" cy="1416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C7511A-8B3D-F496-5EC8-1AF8B7D69FF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1557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2970-F01A-0F38-A4EF-0E1329E9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46DE7C08-B7A6-8719-1BB9-DF76BD0F2FB6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0775A52-3488-50F1-CDFB-B4A9D68F9A8F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A7CE5F1C-C14C-09FD-BAA5-853773B3CF20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3Tri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9D03961-BFE9-6E38-F29F-FCC46FBFCDE8}"/>
              </a:ext>
            </a:extLst>
          </p:cNvPr>
          <p:cNvSpPr/>
          <p:nvPr/>
        </p:nvSpPr>
        <p:spPr>
          <a:xfrm>
            <a:off x="225448" y="8103832"/>
            <a:ext cx="23922176" cy="5355731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4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  <a:sym typeface="Helvetica Neue Medium"/>
              </a:rPr>
              <a:t>COMENTÁRIOS ADICIONAIS</a:t>
            </a:r>
            <a:endParaRPr kumimoji="0" lang="pt-BR" sz="280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B42844AE-F464-8067-27F9-E139073D4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E97541C-0903-CECE-9904-5E64124AD1D7}"/>
              </a:ext>
            </a:extLst>
          </p:cNvPr>
          <p:cNvSpPr/>
          <p:nvPr/>
        </p:nvSpPr>
        <p:spPr>
          <a:xfrm>
            <a:off x="4802026" y="1344968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5448CF9-4DE5-80DD-0AE4-99A32B4AFABB}"/>
              </a:ext>
            </a:extLst>
          </p:cNvPr>
          <p:cNvSpPr/>
          <p:nvPr/>
        </p:nvSpPr>
        <p:spPr>
          <a:xfrm>
            <a:off x="9006468" y="1344968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B8C70BD-00F2-F43F-7B74-3695F691D6C0}"/>
              </a:ext>
            </a:extLst>
          </p:cNvPr>
          <p:cNvSpPr/>
          <p:nvPr/>
        </p:nvSpPr>
        <p:spPr>
          <a:xfrm>
            <a:off x="14229434" y="1344968"/>
            <a:ext cx="443113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CD77796-1291-464B-A925-5DFC16602388}"/>
              </a:ext>
            </a:extLst>
          </p:cNvPr>
          <p:cNvSpPr/>
          <p:nvPr/>
        </p:nvSpPr>
        <p:spPr>
          <a:xfrm>
            <a:off x="4802026" y="1964093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6A99CC9-6A9D-9D12-198B-2AEE069987DA}"/>
              </a:ext>
            </a:extLst>
          </p:cNvPr>
          <p:cNvSpPr/>
          <p:nvPr/>
        </p:nvSpPr>
        <p:spPr>
          <a:xfrm>
            <a:off x="9006468" y="1964093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AB04818-9143-DC3E-6102-05B76B544BA8}"/>
              </a:ext>
            </a:extLst>
          </p:cNvPr>
          <p:cNvSpPr/>
          <p:nvPr/>
        </p:nvSpPr>
        <p:spPr>
          <a:xfrm>
            <a:off x="14229434" y="1964093"/>
            <a:ext cx="443113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0496DEBB-B1EB-0D7F-78C7-8618B8AC5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941699"/>
              </p:ext>
            </p:extLst>
          </p:nvPr>
        </p:nvGraphicFramePr>
        <p:xfrm>
          <a:off x="3167063" y="2857500"/>
          <a:ext cx="18051462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18051588" imgH="4914900" progId="Excel.SheetMacroEnabled.12">
                  <p:link updateAutomatic="1"/>
                </p:oleObj>
              </mc:Choice>
              <mc:Fallback>
                <p:oleObj name="Macro-Enabled Worksheet" r:id="rId5" imgW="18051588" imgH="491490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7063" y="2857500"/>
                        <a:ext cx="18051462" cy="491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4B8F49D4-5F52-EAE9-0D8A-B0021AEF4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707727"/>
              </p:ext>
            </p:extLst>
          </p:nvPr>
        </p:nvGraphicFramePr>
        <p:xfrm>
          <a:off x="8034338" y="1404938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891389" imgH="403698" progId="Excel.SheetMacroEnabled.12">
                  <p:link updateAutomatic="1"/>
                </p:oleObj>
              </mc:Choice>
              <mc:Fallback>
                <p:oleObj name="Macro-Enabled Worksheet" r:id="rId7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34338" y="1404938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B106039B-B776-CA27-A057-8AB3ADFF5C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510096"/>
              </p:ext>
            </p:extLst>
          </p:nvPr>
        </p:nvGraphicFramePr>
        <p:xfrm>
          <a:off x="8034338" y="2024063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891389" imgH="403698" progId="Excel.SheetMacroEnabled.12">
                  <p:link updateAutomatic="1"/>
                </p:oleObj>
              </mc:Choice>
              <mc:Fallback>
                <p:oleObj name="Macro-Enabled Worksheet" r:id="rId9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34338" y="2024063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7483E20E-42BF-C2BE-D2AE-F3D2D333A3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45450"/>
              </p:ext>
            </p:extLst>
          </p:nvPr>
        </p:nvGraphicFramePr>
        <p:xfrm>
          <a:off x="12669838" y="1404938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485809" imgH="403698" progId="Excel.SheetMacroEnabled.12">
                  <p:link updateAutomatic="1"/>
                </p:oleObj>
              </mc:Choice>
              <mc:Fallback>
                <p:oleObj name="Macro-Enabled Worksheet" r:id="rId11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669838" y="1404938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477EDD4E-E900-E418-169A-54669B9E1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451966"/>
              </p:ext>
            </p:extLst>
          </p:nvPr>
        </p:nvGraphicFramePr>
        <p:xfrm>
          <a:off x="12669838" y="20240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485809" imgH="403698" progId="Excel.SheetMacroEnabled.12">
                  <p:link updateAutomatic="1"/>
                </p:oleObj>
              </mc:Choice>
              <mc:Fallback>
                <p:oleObj name="Macro-Enabled Worksheet" r:id="rId13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669838" y="20240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98B3CED8-0512-7948-3519-366AF385A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311382"/>
              </p:ext>
            </p:extLst>
          </p:nvPr>
        </p:nvGraphicFramePr>
        <p:xfrm>
          <a:off x="17168813" y="1404938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1485809" imgH="403698" progId="Excel.SheetMacroEnabled.12">
                  <p:link updateAutomatic="1"/>
                </p:oleObj>
              </mc:Choice>
              <mc:Fallback>
                <p:oleObj name="Macro-Enabled Worksheet" r:id="rId15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168813" y="1404938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7DE33EA9-90FD-7FC2-4728-08A5EB3416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519300"/>
              </p:ext>
            </p:extLst>
          </p:nvPr>
        </p:nvGraphicFramePr>
        <p:xfrm>
          <a:off x="17168813" y="20240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1485809" imgH="403698" progId="Excel.SheetMacroEnabled.12">
                  <p:link updateAutomatic="1"/>
                </p:oleObj>
              </mc:Choice>
              <mc:Fallback>
                <p:oleObj name="Macro-Enabled Worksheet" r:id="rId16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168813" y="20240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Espaço Reservado para Rodapé 19">
            <a:extLst>
              <a:ext uri="{FF2B5EF4-FFF2-40B4-BE49-F238E27FC236}">
                <a16:creationId xmlns:a16="http://schemas.microsoft.com/office/drawing/2014/main" id="{C247DDE9-55C6-31D8-1D48-F4FC2CE08FD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7548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1E46-15A8-B415-AF86-59E77DB5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039FFF4-5EEC-F909-2D2E-D747D144A0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962" y="899910"/>
            <a:ext cx="2515896" cy="17778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0E41250-6D7B-0A62-7E0F-033121E50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61" y="25900"/>
            <a:ext cx="24384000" cy="13716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17875B3-2D0D-C6AD-56DF-AB5483296775}"/>
              </a:ext>
            </a:extLst>
          </p:cNvPr>
          <p:cNvSpPr txBox="1"/>
          <p:nvPr/>
        </p:nvSpPr>
        <p:spPr>
          <a:xfrm>
            <a:off x="1519962" y="4976638"/>
            <a:ext cx="94073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5600" kern="1200" dirty="0">
                <a:solidFill>
                  <a:schemeClr val="bg1"/>
                </a:solidFill>
                <a:latin typeface="Aptos Black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Tema : K2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B0CDB62A-53CC-59B6-3E13-829556E04E29}"/>
              </a:ext>
            </a:extLst>
          </p:cNvPr>
          <p:cNvSpPr txBox="1"/>
          <p:nvPr/>
        </p:nvSpPr>
        <p:spPr>
          <a:xfrm>
            <a:off x="323633" y="6860007"/>
            <a:ext cx="11302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Consultor(a):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8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 err="1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Região</a:t>
            </a: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: </a:t>
            </a: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800" kern="1200" dirty="0">
                <a:solidFill>
                  <a:schemeClr val="bg1"/>
                </a:solidFill>
                <a:latin typeface="Aptos Display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Grupo:</a:t>
            </a: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l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2400" kern="1200" dirty="0">
              <a:solidFill>
                <a:schemeClr val="bg1"/>
              </a:solidFill>
              <a:latin typeface="Aptos Display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EE3EAACB-1028-FD26-412A-4C031384A194}"/>
              </a:ext>
            </a:extLst>
          </p:cNvPr>
          <p:cNvSpPr txBox="1"/>
          <p:nvPr/>
        </p:nvSpPr>
        <p:spPr>
          <a:xfrm>
            <a:off x="8583561" y="12308825"/>
            <a:ext cx="155096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40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Quarto </a:t>
            </a:r>
            <a:r>
              <a:rPr lang="en-US" altLang="ja-JP" sz="4000" kern="1200" dirty="0" err="1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Trimestre</a:t>
            </a:r>
            <a:r>
              <a:rPr lang="en-US" altLang="ja-JP" sz="4000" kern="1200" dirty="0">
                <a:solidFill>
                  <a:schemeClr val="bg1"/>
                </a:solidFill>
                <a:latin typeface="Grandview" panose="020B0502040204020203" pitchFamily="34" charset="0"/>
                <a:ea typeface="Meiryo UI" panose="020B0604030504040204" pitchFamily="50" charset="-128"/>
                <a:cs typeface="Times New Roman" panose="02020603050405020304" pitchFamily="18" charset="0"/>
              </a:rPr>
              <a:t> - Data:</a:t>
            </a:r>
            <a:endParaRPr lang="en-US" altLang="ja-JP" sz="3200" kern="1200" dirty="0">
              <a:solidFill>
                <a:schemeClr val="bg1"/>
              </a:solidFill>
              <a:latin typeface="Grandview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r" defTabSz="914400" eaLnBrk="0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3200" kern="1200" dirty="0">
              <a:solidFill>
                <a:schemeClr val="bg1"/>
              </a:solidFill>
              <a:latin typeface="Grandview Display" panose="020B0502040204020203" pitchFamily="34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ADBDA83A-C438-116A-22EE-9B05D919E0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3304"/>
          <a:stretch/>
        </p:blipFill>
        <p:spPr>
          <a:xfrm>
            <a:off x="19629999" y="692210"/>
            <a:ext cx="3670887" cy="143879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4AFF880-7E77-2812-145F-48844E3A4C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2678" y="25900"/>
            <a:ext cx="1542661" cy="552527"/>
          </a:xfrm>
          <a:prstGeom prst="rect">
            <a:avLst/>
          </a:prstGeom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F2D7982-D6DB-B0C6-D116-9535564EFB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0383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DAB6-89F4-AA60-33AC-77C6AC52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C2561EEE-F9CB-2FC9-001D-3A72A19A5466}"/>
              </a:ext>
            </a:extLst>
          </p:cNvPr>
          <p:cNvGrpSpPr/>
          <p:nvPr/>
        </p:nvGrpSpPr>
        <p:grpSpPr>
          <a:xfrm>
            <a:off x="73077" y="-99019"/>
            <a:ext cx="21198754" cy="718145"/>
            <a:chOff x="0" y="-135951"/>
            <a:chExt cx="13062857" cy="1203966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EF21D90-F6DC-4CE1-2C59-4075DBCC6C2C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99148B50-1CA0-AE24-17CD-4918B237B011}"/>
                </a:ext>
              </a:extLst>
            </p:cNvPr>
            <p:cNvSpPr txBox="1"/>
            <p:nvPr/>
          </p:nvSpPr>
          <p:spPr>
            <a:xfrm>
              <a:off x="163175" y="-135951"/>
              <a:ext cx="11501689" cy="12039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4Tri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20" name="Retângulo 19">
            <a:extLst>
              <a:ext uri="{FF2B5EF4-FFF2-40B4-BE49-F238E27FC236}">
                <a16:creationId xmlns:a16="http://schemas.microsoft.com/office/drawing/2014/main" id="{657BC022-2C77-C145-39B8-AA8B713A4E06}"/>
              </a:ext>
            </a:extLst>
          </p:cNvPr>
          <p:cNvSpPr/>
          <p:nvPr/>
        </p:nvSpPr>
        <p:spPr>
          <a:xfrm>
            <a:off x="13050416" y="13051995"/>
            <a:ext cx="11321143" cy="650480"/>
          </a:xfrm>
          <a:custGeom>
            <a:avLst/>
            <a:gdLst>
              <a:gd name="connsiteX0" fmla="*/ 0 w 11321143"/>
              <a:gd name="connsiteY0" fmla="*/ 0 h 631819"/>
              <a:gd name="connsiteX1" fmla="*/ 11321143 w 11321143"/>
              <a:gd name="connsiteY1" fmla="*/ 0 h 631819"/>
              <a:gd name="connsiteX2" fmla="*/ 11321143 w 11321143"/>
              <a:gd name="connsiteY2" fmla="*/ 631819 h 631819"/>
              <a:gd name="connsiteX3" fmla="*/ 0 w 11321143"/>
              <a:gd name="connsiteY3" fmla="*/ 631819 h 631819"/>
              <a:gd name="connsiteX4" fmla="*/ 0 w 11321143"/>
              <a:gd name="connsiteY4" fmla="*/ 0 h 631819"/>
              <a:gd name="connsiteX0" fmla="*/ 0 w 11321143"/>
              <a:gd name="connsiteY0" fmla="*/ 0 h 650480"/>
              <a:gd name="connsiteX1" fmla="*/ 11321143 w 11321143"/>
              <a:gd name="connsiteY1" fmla="*/ 0 h 650480"/>
              <a:gd name="connsiteX2" fmla="*/ 11321143 w 11321143"/>
              <a:gd name="connsiteY2" fmla="*/ 631819 h 650480"/>
              <a:gd name="connsiteX3" fmla="*/ 391885 w 11321143"/>
              <a:gd name="connsiteY3" fmla="*/ 650480 h 650480"/>
              <a:gd name="connsiteX4" fmla="*/ 0 w 11321143"/>
              <a:gd name="connsiteY4" fmla="*/ 0 h 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143" h="650480">
                <a:moveTo>
                  <a:pt x="0" y="0"/>
                </a:moveTo>
                <a:lnTo>
                  <a:pt x="11321143" y="0"/>
                </a:lnTo>
                <a:lnTo>
                  <a:pt x="11321143" y="631819"/>
                </a:lnTo>
                <a:lnTo>
                  <a:pt x="391885" y="6504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41EE7ABB-E923-D15A-3C59-13E050981DEB}"/>
              </a:ext>
            </a:extLst>
          </p:cNvPr>
          <p:cNvSpPr txBox="1"/>
          <p:nvPr/>
        </p:nvSpPr>
        <p:spPr>
          <a:xfrm>
            <a:off x="13546384" y="13126101"/>
            <a:ext cx="1150168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stricta Bold"/>
                <a:sym typeface="Estricta Bold"/>
              </a:rPr>
              <a:t>Tema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: Taxa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Absorção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Ações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Projeção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 /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Estricta Bold"/>
                <a:sym typeface="Estricta Bold"/>
              </a:rPr>
              <a:t>Comentarios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sym typeface="Helvetica Neue"/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AD16E99-D501-1090-933A-3B116BAD7F49}"/>
              </a:ext>
            </a:extLst>
          </p:cNvPr>
          <p:cNvSpPr/>
          <p:nvPr/>
        </p:nvSpPr>
        <p:spPr>
          <a:xfrm>
            <a:off x="125075" y="8221266"/>
            <a:ext cx="8591140" cy="4688178"/>
          </a:xfrm>
          <a:prstGeom prst="roundRect">
            <a:avLst>
              <a:gd name="adj" fmla="val 10287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REFERÊNCIAS: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Taxa de Absorção &gt; 65%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Ponto de Equilíbrio &lt; 50% das vendas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007E3C4-209B-956D-E2E6-831D807550AD}"/>
              </a:ext>
            </a:extLst>
          </p:cNvPr>
          <p:cNvSpPr/>
          <p:nvPr/>
        </p:nvSpPr>
        <p:spPr>
          <a:xfrm>
            <a:off x="8889157" y="6811588"/>
            <a:ext cx="15033880" cy="6097856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COMENTÁRIOS ADICIONAIS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582BFD40-119A-89E3-2807-95903643B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3326" y="43413"/>
            <a:ext cx="1762013" cy="55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A36182-7B3C-88CE-37CC-AAD5B0FFF3F0}"/>
              </a:ext>
            </a:extLst>
          </p:cNvPr>
          <p:cNvSpPr txBox="1"/>
          <p:nvPr/>
        </p:nvSpPr>
        <p:spPr>
          <a:xfrm>
            <a:off x="18661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49BA193-9B23-5537-F0A0-C63FF66834F8}"/>
              </a:ext>
            </a:extLst>
          </p:cNvPr>
          <p:cNvSpPr/>
          <p:nvPr/>
        </p:nvSpPr>
        <p:spPr>
          <a:xfrm>
            <a:off x="44000" y="674157"/>
            <a:ext cx="4297752" cy="334369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83FE4A0-AB11-6F56-12A5-11F93C0BE05F}"/>
              </a:ext>
            </a:extLst>
          </p:cNvPr>
          <p:cNvSpPr txBox="1"/>
          <p:nvPr/>
        </p:nvSpPr>
        <p:spPr>
          <a:xfrm>
            <a:off x="4408330" y="6726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59F3467-29EB-F369-D7C6-C1884860F00B}"/>
              </a:ext>
            </a:extLst>
          </p:cNvPr>
          <p:cNvSpPr/>
          <p:nvPr/>
        </p:nvSpPr>
        <p:spPr>
          <a:xfrm>
            <a:off x="4418463" y="674406"/>
            <a:ext cx="4297752" cy="238311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2C3E46C-1B68-3BD6-826D-DCE60175EA89}"/>
              </a:ext>
            </a:extLst>
          </p:cNvPr>
          <p:cNvSpPr/>
          <p:nvPr/>
        </p:nvSpPr>
        <p:spPr>
          <a:xfrm>
            <a:off x="53781" y="4095750"/>
            <a:ext cx="4297752" cy="387867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4992A5C-507F-F514-4F74-5E9037500190}"/>
              </a:ext>
            </a:extLst>
          </p:cNvPr>
          <p:cNvSpPr txBox="1"/>
          <p:nvPr/>
        </p:nvSpPr>
        <p:spPr>
          <a:xfrm>
            <a:off x="53781" y="4101179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E926057-EBFE-3234-6C23-D125E01FBDFD}"/>
              </a:ext>
            </a:extLst>
          </p:cNvPr>
          <p:cNvSpPr txBox="1"/>
          <p:nvPr/>
        </p:nvSpPr>
        <p:spPr>
          <a:xfrm>
            <a:off x="60529" y="567103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4310A9E-4483-B820-8E0B-3CB487750868}"/>
              </a:ext>
            </a:extLst>
          </p:cNvPr>
          <p:cNvSpPr txBox="1"/>
          <p:nvPr/>
        </p:nvSpPr>
        <p:spPr>
          <a:xfrm>
            <a:off x="4398197" y="3131784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4C434E1E-E769-097C-AECB-A47198FF9429}"/>
              </a:ext>
            </a:extLst>
          </p:cNvPr>
          <p:cNvSpPr/>
          <p:nvPr/>
        </p:nvSpPr>
        <p:spPr>
          <a:xfrm>
            <a:off x="4408330" y="3133580"/>
            <a:ext cx="4297752" cy="1961389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5F51618-64D3-68D6-9B4C-E374E10669A5}"/>
              </a:ext>
            </a:extLst>
          </p:cNvPr>
          <p:cNvSpPr txBox="1"/>
          <p:nvPr/>
        </p:nvSpPr>
        <p:spPr>
          <a:xfrm>
            <a:off x="4388064" y="5258010"/>
            <a:ext cx="429775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AB82BF1B-42CD-7407-9CD3-071DBF697C9A}"/>
              </a:ext>
            </a:extLst>
          </p:cNvPr>
          <p:cNvSpPr/>
          <p:nvPr/>
        </p:nvSpPr>
        <p:spPr>
          <a:xfrm>
            <a:off x="4398197" y="5164110"/>
            <a:ext cx="4297752" cy="2810310"/>
          </a:xfrm>
          <a:prstGeom prst="roundRect">
            <a:avLst>
              <a:gd name="adj" fmla="val 447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7AC66E31-7C19-1647-D422-7D9EAF43CCD0}"/>
              </a:ext>
            </a:extLst>
          </p:cNvPr>
          <p:cNvSpPr/>
          <p:nvPr/>
        </p:nvSpPr>
        <p:spPr>
          <a:xfrm>
            <a:off x="9341942" y="927876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8F0F0B4-0D83-0208-5B01-AB535BC3147F}"/>
              </a:ext>
            </a:extLst>
          </p:cNvPr>
          <p:cNvSpPr/>
          <p:nvPr/>
        </p:nvSpPr>
        <p:spPr>
          <a:xfrm>
            <a:off x="13546384" y="927876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18C61A8E-8385-D066-9D73-82D1C94DDEF3}"/>
              </a:ext>
            </a:extLst>
          </p:cNvPr>
          <p:cNvSpPr/>
          <p:nvPr/>
        </p:nvSpPr>
        <p:spPr>
          <a:xfrm>
            <a:off x="18769350" y="927876"/>
            <a:ext cx="443113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571A68D2-395E-39B1-DA8C-B9026072E5D0}"/>
              </a:ext>
            </a:extLst>
          </p:cNvPr>
          <p:cNvSpPr/>
          <p:nvPr/>
        </p:nvSpPr>
        <p:spPr>
          <a:xfrm>
            <a:off x="9341942" y="1547001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A4B548E6-FBC5-A4AB-68EC-397BE17FFF6B}"/>
              </a:ext>
            </a:extLst>
          </p:cNvPr>
          <p:cNvSpPr/>
          <p:nvPr/>
        </p:nvSpPr>
        <p:spPr>
          <a:xfrm>
            <a:off x="13546384" y="1547001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9AE99D09-EF1F-16F3-BFEC-7FD6BC55912C}"/>
              </a:ext>
            </a:extLst>
          </p:cNvPr>
          <p:cNvSpPr/>
          <p:nvPr/>
        </p:nvSpPr>
        <p:spPr>
          <a:xfrm>
            <a:off x="18769350" y="1547001"/>
            <a:ext cx="443113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7CA2D7AE-D142-84BA-3982-64861322C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698530"/>
              </p:ext>
            </p:extLst>
          </p:nvPr>
        </p:nvGraphicFramePr>
        <p:xfrm>
          <a:off x="306388" y="1149350"/>
          <a:ext cx="248443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13136" progId="Excel.SheetMacroEnabled.12">
                  <p:link updateAutomatic="1"/>
                </p:oleObj>
              </mc:Choice>
              <mc:Fallback>
                <p:oleObj name="Macro-Enabled Worksheet" r:id="rId5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388" y="1149350"/>
                        <a:ext cx="2484437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7337638D-88C6-098B-C398-97C3343715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317996"/>
              </p:ext>
            </p:extLst>
          </p:nvPr>
        </p:nvGraphicFramePr>
        <p:xfrm>
          <a:off x="3143250" y="1135063"/>
          <a:ext cx="108108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081778" imgH="1005840" progId="Excel.SheetMacroEnabled.12">
                  <p:link updateAutomatic="1"/>
                </p:oleObj>
              </mc:Choice>
              <mc:Fallback>
                <p:oleObj name="Macro-Enabled Worksheet" r:id="rId7" imgW="1081778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3250" y="1135063"/>
                        <a:ext cx="1081088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4F14F0BD-95B4-CEF6-33E5-CFF2B71E1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551648"/>
              </p:ext>
            </p:extLst>
          </p:nvPr>
        </p:nvGraphicFramePr>
        <p:xfrm>
          <a:off x="476250" y="2443163"/>
          <a:ext cx="3467100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1470822" progId="Excel.SheetMacroEnabled.12">
                  <p:link updateAutomatic="1"/>
                </p:oleObj>
              </mc:Choice>
              <mc:Fallback>
                <p:oleObj name="Macro-Enabled Worksheet" r:id="rId9" imgW="3467211" imgH="14708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6250" y="2443163"/>
                        <a:ext cx="3467100" cy="1471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F9405156-DA2E-C3D2-B4CA-2478D30BB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64352"/>
              </p:ext>
            </p:extLst>
          </p:nvPr>
        </p:nvGraphicFramePr>
        <p:xfrm>
          <a:off x="311150" y="4492625"/>
          <a:ext cx="24844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2483777" imgH="898836" progId="Excel.SheetMacroEnabled.12">
                  <p:link updateAutomatic="1"/>
                </p:oleObj>
              </mc:Choice>
              <mc:Fallback>
                <p:oleObj name="Macro-Enabled Worksheet" r:id="rId11" imgW="2483777" imgH="8988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1150" y="4492625"/>
                        <a:ext cx="2484438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BF09F8BB-5867-382B-CC80-560BBC5FEF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839067"/>
              </p:ext>
            </p:extLst>
          </p:nvPr>
        </p:nvGraphicFramePr>
        <p:xfrm>
          <a:off x="3097213" y="4516438"/>
          <a:ext cx="11350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135067" imgH="875976" progId="Excel.SheetMacroEnabled.12">
                  <p:link updateAutomatic="1"/>
                </p:oleObj>
              </mc:Choice>
              <mc:Fallback>
                <p:oleObj name="Macro-Enabled Worksheet" r:id="rId13" imgW="113506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97213" y="4516438"/>
                        <a:ext cx="1135062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379A6741-99E1-A2D7-CED4-087E1D8B0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343987"/>
              </p:ext>
            </p:extLst>
          </p:nvPr>
        </p:nvGraphicFramePr>
        <p:xfrm>
          <a:off x="314325" y="6154738"/>
          <a:ext cx="248443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2483777" imgH="875976" progId="Excel.SheetMacroEnabled.12">
                  <p:link updateAutomatic="1"/>
                </p:oleObj>
              </mc:Choice>
              <mc:Fallback>
                <p:oleObj name="Macro-Enabled Worksheet" r:id="rId15" imgW="2483777" imgH="87597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4325" y="6154738"/>
                        <a:ext cx="2484438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7CD72185-9664-9DA4-83CB-E63F06D99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660442"/>
              </p:ext>
            </p:extLst>
          </p:nvPr>
        </p:nvGraphicFramePr>
        <p:xfrm>
          <a:off x="3105150" y="6132513"/>
          <a:ext cx="11350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1135067" imgH="891540" progId="Excel.SheetMacroEnabled.12">
                  <p:link updateAutomatic="1"/>
                </p:oleObj>
              </mc:Choice>
              <mc:Fallback>
                <p:oleObj name="Macro-Enabled Worksheet" r:id="rId17" imgW="1135067" imgH="8915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05150" y="6132513"/>
                        <a:ext cx="1135063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92309FCF-4928-429D-15A5-1F136AEDA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046952"/>
              </p:ext>
            </p:extLst>
          </p:nvPr>
        </p:nvGraphicFramePr>
        <p:xfrm>
          <a:off x="476250" y="7258050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3467211" imgH="556422" progId="Excel.SheetMacroEnabled.12">
                  <p:link updateAutomatic="1"/>
                </p:oleObj>
              </mc:Choice>
              <mc:Fallback>
                <p:oleObj name="Macro-Enabled Worksheet" r:id="rId19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6250" y="7258050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8A45199E-593D-BA31-1228-E1ABB108E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745593"/>
              </p:ext>
            </p:extLst>
          </p:nvPr>
        </p:nvGraphicFramePr>
        <p:xfrm>
          <a:off x="4692650" y="1085850"/>
          <a:ext cx="24844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1" imgW="2483777" imgH="1005840" progId="Excel.SheetMacroEnabled.12">
                  <p:link updateAutomatic="1"/>
                </p:oleObj>
              </mc:Choice>
              <mc:Fallback>
                <p:oleObj name="Macro-Enabled Worksheet" r:id="rId21" imgW="248377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92650" y="1085850"/>
                        <a:ext cx="2484438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082DDF12-7282-99FC-C27E-E864B264F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324969"/>
              </p:ext>
            </p:extLst>
          </p:nvPr>
        </p:nvGraphicFramePr>
        <p:xfrm>
          <a:off x="7464425" y="1085850"/>
          <a:ext cx="11350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3" imgW="1135067" imgH="1005840" progId="Excel.SheetMacroEnabled.12">
                  <p:link updateAutomatic="1"/>
                </p:oleObj>
              </mc:Choice>
              <mc:Fallback>
                <p:oleObj name="Macro-Enabled Worksheet" r:id="rId23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64425" y="1085850"/>
                        <a:ext cx="1135063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15FF2056-928B-9114-E942-264BD3A46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243791"/>
              </p:ext>
            </p:extLst>
          </p:nvPr>
        </p:nvGraphicFramePr>
        <p:xfrm>
          <a:off x="4824413" y="2365375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5" imgW="3467211" imgH="556422" progId="Excel.SheetMacroEnabled.12">
                  <p:link updateAutomatic="1"/>
                </p:oleObj>
              </mc:Choice>
              <mc:Fallback>
                <p:oleObj name="Macro-Enabled Worksheet" r:id="rId2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824413" y="2365375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8A576755-C9B7-2EFB-B03F-63B31FB257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92730"/>
              </p:ext>
            </p:extLst>
          </p:nvPr>
        </p:nvGraphicFramePr>
        <p:xfrm>
          <a:off x="4675188" y="3624263"/>
          <a:ext cx="248443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7" imgW="2483777" imgH="1180938" progId="Excel.SheetMacroEnabled.12">
                  <p:link updateAutomatic="1"/>
                </p:oleObj>
              </mc:Choice>
              <mc:Fallback>
                <p:oleObj name="Macro-Enabled Worksheet" r:id="rId27" imgW="2483777" imgH="118093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75188" y="3624263"/>
                        <a:ext cx="2484437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0872522B-6D0A-77E1-94BB-6C48A91F2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345197"/>
              </p:ext>
            </p:extLst>
          </p:nvPr>
        </p:nvGraphicFramePr>
        <p:xfrm>
          <a:off x="7462838" y="3627438"/>
          <a:ext cx="1135062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9" imgW="1135067" imgH="1173156" progId="Excel.SheetMacroEnabled.12">
                  <p:link updateAutomatic="1"/>
                </p:oleObj>
              </mc:Choice>
              <mc:Fallback>
                <p:oleObj name="Macro-Enabled Worksheet" r:id="rId29" imgW="1135067" imgH="117315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462838" y="3627438"/>
                        <a:ext cx="1135062" cy="1173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>
            <a:extLst>
              <a:ext uri="{FF2B5EF4-FFF2-40B4-BE49-F238E27FC236}">
                <a16:creationId xmlns:a16="http://schemas.microsoft.com/office/drawing/2014/main" id="{FA21E12D-DE18-ACE1-D674-829A1332B8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00270"/>
              </p:ext>
            </p:extLst>
          </p:nvPr>
        </p:nvGraphicFramePr>
        <p:xfrm>
          <a:off x="4668838" y="5795963"/>
          <a:ext cx="248443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1" imgW="2483777" imgH="1013136" progId="Excel.SheetMacroEnabled.12">
                  <p:link updateAutomatic="1"/>
                </p:oleObj>
              </mc:Choice>
              <mc:Fallback>
                <p:oleObj name="Macro-Enabled Worksheet" r:id="rId31" imgW="2483777" imgH="101313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68838" y="5795963"/>
                        <a:ext cx="2484437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>
            <a:extLst>
              <a:ext uri="{FF2B5EF4-FFF2-40B4-BE49-F238E27FC236}">
                <a16:creationId xmlns:a16="http://schemas.microsoft.com/office/drawing/2014/main" id="{3569BB5E-ECFD-F302-C5EA-377FE69CB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361552"/>
              </p:ext>
            </p:extLst>
          </p:nvPr>
        </p:nvGraphicFramePr>
        <p:xfrm>
          <a:off x="7446963" y="5800725"/>
          <a:ext cx="11350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3" imgW="1135067" imgH="1005840" progId="Excel.SheetMacroEnabled.12">
                  <p:link updateAutomatic="1"/>
                </p:oleObj>
              </mc:Choice>
              <mc:Fallback>
                <p:oleObj name="Macro-Enabled Worksheet" r:id="rId33" imgW="1135067" imgH="100584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446963" y="5800725"/>
                        <a:ext cx="1135062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o 32">
            <a:extLst>
              <a:ext uri="{FF2B5EF4-FFF2-40B4-BE49-F238E27FC236}">
                <a16:creationId xmlns:a16="http://schemas.microsoft.com/office/drawing/2014/main" id="{A8AFC0D6-A1FB-7EE5-1E74-A66DDF4995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067516"/>
              </p:ext>
            </p:extLst>
          </p:nvPr>
        </p:nvGraphicFramePr>
        <p:xfrm>
          <a:off x="4833938" y="7258050"/>
          <a:ext cx="3467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5" imgW="3467211" imgH="556422" progId="Excel.SheetMacroEnabled.12">
                  <p:link updateAutomatic="1"/>
                </p:oleObj>
              </mc:Choice>
              <mc:Fallback>
                <p:oleObj name="Macro-Enabled Worksheet" r:id="rId35" imgW="3467211" imgH="55642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833938" y="7258050"/>
                        <a:ext cx="34671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to 35">
            <a:extLst>
              <a:ext uri="{FF2B5EF4-FFF2-40B4-BE49-F238E27FC236}">
                <a16:creationId xmlns:a16="http://schemas.microsoft.com/office/drawing/2014/main" id="{F60F3788-42FD-48B1-A472-06FEFD9182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068679"/>
              </p:ext>
            </p:extLst>
          </p:nvPr>
        </p:nvGraphicFramePr>
        <p:xfrm>
          <a:off x="12484100" y="979488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7" imgW="891389" imgH="403698" progId="Excel.SheetMacroEnabled.12">
                  <p:link updateAutomatic="1"/>
                </p:oleObj>
              </mc:Choice>
              <mc:Fallback>
                <p:oleObj name="Macro-Enabled Worksheet" r:id="rId37" imgW="891389" imgH="403698" progId="Excel.SheetMacroEnabled.12">
                  <p:link updateAutomatic="1"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4147F691-8B1E-F1CC-3D14-6914AB97A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484100" y="979488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to 36">
            <a:extLst>
              <a:ext uri="{FF2B5EF4-FFF2-40B4-BE49-F238E27FC236}">
                <a16:creationId xmlns:a16="http://schemas.microsoft.com/office/drawing/2014/main" id="{7E6CCEF6-BB03-6DE8-67D0-A592910F0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050281"/>
              </p:ext>
            </p:extLst>
          </p:nvPr>
        </p:nvGraphicFramePr>
        <p:xfrm>
          <a:off x="12484100" y="1630363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9" imgW="891389" imgH="403698" progId="Excel.SheetMacroEnabled.12">
                  <p:link updateAutomatic="1"/>
                </p:oleObj>
              </mc:Choice>
              <mc:Fallback>
                <p:oleObj name="Macro-Enabled Worksheet" r:id="rId39" imgW="891389" imgH="403698" progId="Excel.SheetMacroEnabled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1E0826AF-C97C-66D2-EAD9-2F0A132228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484100" y="1630363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to 39">
            <a:extLst>
              <a:ext uri="{FF2B5EF4-FFF2-40B4-BE49-F238E27FC236}">
                <a16:creationId xmlns:a16="http://schemas.microsoft.com/office/drawing/2014/main" id="{008C21DC-1B8B-58A3-2776-CC8D48480A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07506"/>
              </p:ext>
            </p:extLst>
          </p:nvPr>
        </p:nvGraphicFramePr>
        <p:xfrm>
          <a:off x="17087850" y="979488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0" imgW="1485809" imgH="403698" progId="Excel.SheetMacroEnabled.12">
                  <p:link updateAutomatic="1"/>
                </p:oleObj>
              </mc:Choice>
              <mc:Fallback>
                <p:oleObj name="Macro-Enabled Worksheet" r:id="rId40" imgW="1485809" imgH="403698" progId="Excel.SheetMacroEnabled.12">
                  <p:link updateAutomatic="1"/>
                  <p:pic>
                    <p:nvPicPr>
                      <p:cNvPr id="16" name="Objeto 15">
                        <a:extLst>
                          <a:ext uri="{FF2B5EF4-FFF2-40B4-BE49-F238E27FC236}">
                            <a16:creationId xmlns:a16="http://schemas.microsoft.com/office/drawing/2014/main" id="{7603B385-BD9C-72CD-F2B3-8D9E6C10AE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7087850" y="979488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o 40">
            <a:extLst>
              <a:ext uri="{FF2B5EF4-FFF2-40B4-BE49-F238E27FC236}">
                <a16:creationId xmlns:a16="http://schemas.microsoft.com/office/drawing/2014/main" id="{FC271CC1-5935-F98B-717C-A5EF9EF986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904011"/>
              </p:ext>
            </p:extLst>
          </p:nvPr>
        </p:nvGraphicFramePr>
        <p:xfrm>
          <a:off x="17087850" y="16303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2" imgW="1485809" imgH="403698" progId="Excel.SheetMacroEnabled.12">
                  <p:link updateAutomatic="1"/>
                </p:oleObj>
              </mc:Choice>
              <mc:Fallback>
                <p:oleObj name="Macro-Enabled Worksheet" r:id="rId42" imgW="1485809" imgH="403698" progId="Excel.SheetMacroEnabled.12">
                  <p:link updateAutomatic="1"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7DA7F6C0-AA1C-5B4F-9B12-B31D505A8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7087850" y="16303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to 41">
            <a:extLst>
              <a:ext uri="{FF2B5EF4-FFF2-40B4-BE49-F238E27FC236}">
                <a16:creationId xmlns:a16="http://schemas.microsoft.com/office/drawing/2014/main" id="{46E9EB8B-1A0A-0CC6-DB75-AAB8C94D7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12358"/>
              </p:ext>
            </p:extLst>
          </p:nvPr>
        </p:nvGraphicFramePr>
        <p:xfrm>
          <a:off x="21709063" y="979488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3" imgW="1485809" imgH="403698" progId="Excel.SheetMacroEnabled.12">
                  <p:link updateAutomatic="1"/>
                </p:oleObj>
              </mc:Choice>
              <mc:Fallback>
                <p:oleObj name="Macro-Enabled Worksheet" r:id="rId43" imgW="1485809" imgH="403698" progId="Excel.SheetMacroEnabled.12">
                  <p:link updateAutomatic="1"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0304B534-3275-C46C-ACBE-D9F3AF14FD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1709063" y="979488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to 48">
            <a:extLst>
              <a:ext uri="{FF2B5EF4-FFF2-40B4-BE49-F238E27FC236}">
                <a16:creationId xmlns:a16="http://schemas.microsoft.com/office/drawing/2014/main" id="{B3EC4D57-430F-FD90-1B68-7D3DDED030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444958"/>
              </p:ext>
            </p:extLst>
          </p:nvPr>
        </p:nvGraphicFramePr>
        <p:xfrm>
          <a:off x="21709063" y="16303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4" imgW="1485809" imgH="403698" progId="Excel.SheetMacroEnabled.12">
                  <p:link updateAutomatic="1"/>
                </p:oleObj>
              </mc:Choice>
              <mc:Fallback>
                <p:oleObj name="Macro-Enabled Worksheet" r:id="rId44" imgW="1485809" imgH="403698" progId="Excel.SheetMacroEnabled.12">
                  <p:link updateAutomatic="1"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1CFFDEA7-3987-31BD-0C60-B24A0E193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1709063" y="16303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to 52">
            <a:extLst>
              <a:ext uri="{FF2B5EF4-FFF2-40B4-BE49-F238E27FC236}">
                <a16:creationId xmlns:a16="http://schemas.microsoft.com/office/drawing/2014/main" id="{3FB7F2D7-6C80-57FE-16D2-B17F45D371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897354"/>
              </p:ext>
            </p:extLst>
          </p:nvPr>
        </p:nvGraphicFramePr>
        <p:xfrm>
          <a:off x="9055100" y="2459038"/>
          <a:ext cx="14705013" cy="40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5" imgW="18051588" imgH="4914900" progId="Excel.SheetMacroEnabled.12">
                  <p:link updateAutomatic="1"/>
                </p:oleObj>
              </mc:Choice>
              <mc:Fallback>
                <p:oleObj name="Macro-Enabled Worksheet" r:id="rId45" imgW="18051588" imgH="4914900" progId="Excel.SheetMacroEnabled.12">
                  <p:link updateAutomatic="1"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A7DA4C27-01A8-CFEA-3983-4541ED7EEB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9055100" y="2459038"/>
                        <a:ext cx="14705013" cy="400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Espaço Reservado para Rodapé 49">
            <a:extLst>
              <a:ext uri="{FF2B5EF4-FFF2-40B4-BE49-F238E27FC236}">
                <a16:creationId xmlns:a16="http://schemas.microsoft.com/office/drawing/2014/main" id="{68EA9FCB-3071-0638-AD13-3547D81D7AC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6005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A0791-D89A-EA6D-1F4E-49DA54F3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F8FC95CB-5053-8B7A-84CB-5781F891A2C4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2C436C1-3493-87C3-0B20-08EE166226AD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8A0B188B-8031-2B0F-3C90-089EA736036C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4Tri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C64994DF-0901-8C31-6952-5A43F4EB5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E134B12-1D11-2EFF-EEC1-F3FED60FAC99}"/>
              </a:ext>
            </a:extLst>
          </p:cNvPr>
          <p:cNvSpPr txBox="1"/>
          <p:nvPr/>
        </p:nvSpPr>
        <p:spPr>
          <a:xfrm>
            <a:off x="6273070" y="1558899"/>
            <a:ext cx="1015404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TAXA DE ABSORÇÃO</a:t>
            </a: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BCA356B6-D68C-9D4C-A7D1-878EAC9FE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154684"/>
              </p:ext>
            </p:extLst>
          </p:nvPr>
        </p:nvGraphicFramePr>
        <p:xfrm>
          <a:off x="6227763" y="3444875"/>
          <a:ext cx="6754812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13136" progId="Excel.SheetMacroEnabled.12">
                  <p:link updateAutomatic="1"/>
                </p:oleObj>
              </mc:Choice>
              <mc:Fallback>
                <p:oleObj name="Macro-Enabled Worksheet" r:id="rId5" imgW="2483777" imgH="1013136" progId="Excel.SheetMacroEnabled.12">
                  <p:link updateAutomatic="1"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7CA2D7AE-D142-84BA-3982-64861322C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7763" y="3444875"/>
                        <a:ext cx="6754812" cy="275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C3CA36C3-A68B-D472-B75B-39DB9B410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885771"/>
              </p:ext>
            </p:extLst>
          </p:nvPr>
        </p:nvGraphicFramePr>
        <p:xfrm>
          <a:off x="14136688" y="3452813"/>
          <a:ext cx="294005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081778" imgH="1005840" progId="Excel.SheetMacroEnabled.12">
                  <p:link updateAutomatic="1"/>
                </p:oleObj>
              </mc:Choice>
              <mc:Fallback>
                <p:oleObj name="Macro-Enabled Worksheet" r:id="rId7" imgW="1081778" imgH="1005840" progId="Excel.SheetMacroEnabled.12">
                  <p:link updateAutomatic="1"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7337638D-88C6-098B-C398-97C3343715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136688" y="3452813"/>
                        <a:ext cx="294005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206D0A1C-4EAC-9C88-6404-739300046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669301"/>
              </p:ext>
            </p:extLst>
          </p:nvPr>
        </p:nvGraphicFramePr>
        <p:xfrm>
          <a:off x="6230938" y="7292975"/>
          <a:ext cx="10399712" cy="441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1470822" progId="Excel.SheetMacroEnabled.12">
                  <p:link updateAutomatic="1"/>
                </p:oleObj>
              </mc:Choice>
              <mc:Fallback>
                <p:oleObj name="Macro-Enabled Worksheet" r:id="rId9" imgW="3467211" imgH="1470822" progId="Excel.SheetMacroEnabled.12">
                  <p:link updateAutomatic="1"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4F14F0BD-95B4-CEF6-33E5-CFF2B71E12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30938" y="7292975"/>
                        <a:ext cx="10399712" cy="441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0690FC-24D8-1ED8-0478-84D70C18DB0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6953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90CE-333D-8440-EF04-920A4079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056C057D-D777-DFD3-2D19-C4F5FECAAC0A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2D1B38E-576C-99F7-F07C-9DDCD1B78DCB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E9E3FD0B-AB62-B1BD-3425-1172A8064A82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4Tri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3E62916C-84CA-1ECE-C514-12738B114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8316" y="43412"/>
            <a:ext cx="2147023" cy="6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416D872-3416-1646-7B76-B5E70F582172}"/>
              </a:ext>
            </a:extLst>
          </p:cNvPr>
          <p:cNvSpPr txBox="1"/>
          <p:nvPr/>
        </p:nvSpPr>
        <p:spPr>
          <a:xfrm>
            <a:off x="43747" y="1068179"/>
            <a:ext cx="12388886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PEÇAS &amp; ACESSÓRIOS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0F1A5C1-2937-E371-1246-1C6EB7A2AC6C}"/>
              </a:ext>
            </a:extLst>
          </p:cNvPr>
          <p:cNvSpPr txBox="1"/>
          <p:nvPr/>
        </p:nvSpPr>
        <p:spPr>
          <a:xfrm>
            <a:off x="188126" y="8142238"/>
            <a:ext cx="1215050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FATURAMENTO DE MÃO DE OBRA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495AE15-3222-4CD2-8727-D422D654FDFD}"/>
              </a:ext>
            </a:extLst>
          </p:cNvPr>
          <p:cNvSpPr/>
          <p:nvPr/>
        </p:nvSpPr>
        <p:spPr>
          <a:xfrm>
            <a:off x="172336" y="866660"/>
            <a:ext cx="12180086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2313271-29C6-A0BB-94D5-28D677B885C7}"/>
              </a:ext>
            </a:extLst>
          </p:cNvPr>
          <p:cNvSpPr/>
          <p:nvPr/>
        </p:nvSpPr>
        <p:spPr>
          <a:xfrm>
            <a:off x="158544" y="7816034"/>
            <a:ext cx="12180086" cy="4826159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13BDC7F-5CCE-6B44-A628-884A005B5025}"/>
              </a:ext>
            </a:extLst>
          </p:cNvPr>
          <p:cNvSpPr/>
          <p:nvPr/>
        </p:nvSpPr>
        <p:spPr>
          <a:xfrm>
            <a:off x="12530671" y="865572"/>
            <a:ext cx="11649979" cy="6799985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E2285BB-649F-35AB-B9F5-810F7A24B777}"/>
              </a:ext>
            </a:extLst>
          </p:cNvPr>
          <p:cNvSpPr txBox="1"/>
          <p:nvPr/>
        </p:nvSpPr>
        <p:spPr>
          <a:xfrm>
            <a:off x="12594840" y="1078754"/>
            <a:ext cx="11551301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4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PASSAGENS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5772B21-558B-81EB-3768-B3D0FCC3AB44}"/>
              </a:ext>
            </a:extLst>
          </p:cNvPr>
          <p:cNvSpPr/>
          <p:nvPr/>
        </p:nvSpPr>
        <p:spPr>
          <a:xfrm>
            <a:off x="12530670" y="7808014"/>
            <a:ext cx="11631513" cy="4826159"/>
          </a:xfrm>
          <a:prstGeom prst="roundRect">
            <a:avLst>
              <a:gd name="adj" fmla="val 447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AÇÕES REALIZADAS</a:t>
            </a:r>
            <a:endParaRPr lang="pt-BR" sz="3600" b="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66ED6C9C-F482-E13E-712B-D9CD6289E6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959646"/>
              </p:ext>
            </p:extLst>
          </p:nvPr>
        </p:nvGraphicFramePr>
        <p:xfrm>
          <a:off x="1077913" y="2433638"/>
          <a:ext cx="67564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1005840" progId="Excel.SheetMacroEnabled.12">
                  <p:link updateAutomatic="1"/>
                </p:oleObj>
              </mc:Choice>
              <mc:Fallback>
                <p:oleObj name="Macro-Enabled Worksheet" r:id="rId5" imgW="2483777" imgH="1005840" progId="Excel.SheetMacroEnabled.12">
                  <p:link updateAutomatic="1"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8A45199E-593D-BA31-1228-E1ABB108E4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7913" y="2433638"/>
                        <a:ext cx="67564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03E95D65-7BC2-D137-4746-F418DF41E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012998"/>
              </p:ext>
            </p:extLst>
          </p:nvPr>
        </p:nvGraphicFramePr>
        <p:xfrm>
          <a:off x="8669338" y="2433638"/>
          <a:ext cx="30861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1005840" progId="Excel.SheetMacroEnabled.12">
                  <p:link updateAutomatic="1"/>
                </p:oleObj>
              </mc:Choice>
              <mc:Fallback>
                <p:oleObj name="Macro-Enabled Worksheet" r:id="rId7" imgW="1135067" imgH="1005840" progId="Excel.SheetMacroEnabled.12">
                  <p:link updateAutomatic="1"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082DDF12-7282-99FC-C27E-E864B264F7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69338" y="2433638"/>
                        <a:ext cx="30861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76A771CC-8E03-0C07-1153-9223FB19E1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227330"/>
              </p:ext>
            </p:extLst>
          </p:nvPr>
        </p:nvGraphicFramePr>
        <p:xfrm>
          <a:off x="1941513" y="5873750"/>
          <a:ext cx="8820150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467211" imgH="556422" progId="Excel.SheetMacroEnabled.12">
                  <p:link updateAutomatic="1"/>
                </p:oleObj>
              </mc:Choice>
              <mc:Fallback>
                <p:oleObj name="Macro-Enabled Worksheet" r:id="rId9" imgW="3467211" imgH="556422" progId="Excel.SheetMacroEnabled.12">
                  <p:link updateAutomatic="1"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15FF2056-928B-9114-E942-264BD3A465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41513" y="5873750"/>
                        <a:ext cx="8820150" cy="141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23">
            <a:extLst>
              <a:ext uri="{FF2B5EF4-FFF2-40B4-BE49-F238E27FC236}">
                <a16:creationId xmlns:a16="http://schemas.microsoft.com/office/drawing/2014/main" id="{DB4012EF-F27D-10AB-03F5-93F75ECE3D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994864"/>
              </p:ext>
            </p:extLst>
          </p:nvPr>
        </p:nvGraphicFramePr>
        <p:xfrm>
          <a:off x="13233400" y="2384425"/>
          <a:ext cx="6754813" cy="275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2483777" imgH="1013136" progId="Excel.SheetMacroEnabled.12">
                  <p:link updateAutomatic="1"/>
                </p:oleObj>
              </mc:Choice>
              <mc:Fallback>
                <p:oleObj name="Macro-Enabled Worksheet" r:id="rId11" imgW="2483777" imgH="1013136" progId="Excel.SheetMacroEnabled.12">
                  <p:link updateAutomatic="1"/>
                  <p:pic>
                    <p:nvPicPr>
                      <p:cNvPr id="30" name="Objeto 29">
                        <a:extLst>
                          <a:ext uri="{FF2B5EF4-FFF2-40B4-BE49-F238E27FC236}">
                            <a16:creationId xmlns:a16="http://schemas.microsoft.com/office/drawing/2014/main" id="{FA21E12D-DE18-ACE1-D674-829A1332B8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233400" y="2384425"/>
                        <a:ext cx="6754813" cy="2754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24">
            <a:extLst>
              <a:ext uri="{FF2B5EF4-FFF2-40B4-BE49-F238E27FC236}">
                <a16:creationId xmlns:a16="http://schemas.microsoft.com/office/drawing/2014/main" id="{746E8299-060F-318A-0875-1AE679F6EA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919128"/>
              </p:ext>
            </p:extLst>
          </p:nvPr>
        </p:nvGraphicFramePr>
        <p:xfrm>
          <a:off x="20743863" y="2392363"/>
          <a:ext cx="3090862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135067" imgH="1005840" progId="Excel.SheetMacroEnabled.12">
                  <p:link updateAutomatic="1"/>
                </p:oleObj>
              </mc:Choice>
              <mc:Fallback>
                <p:oleObj name="Macro-Enabled Worksheet" r:id="rId13" imgW="1135067" imgH="1005840" progId="Excel.SheetMacroEnabled.12">
                  <p:link updateAutomatic="1"/>
                  <p:pic>
                    <p:nvPicPr>
                      <p:cNvPr id="32" name="Objeto 31">
                        <a:extLst>
                          <a:ext uri="{FF2B5EF4-FFF2-40B4-BE49-F238E27FC236}">
                            <a16:creationId xmlns:a16="http://schemas.microsoft.com/office/drawing/2014/main" id="{3569BB5E-ECFD-F302-C5EA-377FE69CB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743863" y="2392363"/>
                        <a:ext cx="3090862" cy="274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CA1E58D3-FF54-F89C-7CA0-32B195954F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504578"/>
              </p:ext>
            </p:extLst>
          </p:nvPr>
        </p:nvGraphicFramePr>
        <p:xfrm>
          <a:off x="14090650" y="5873750"/>
          <a:ext cx="8747125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3467211" imgH="556422" progId="Excel.SheetMacroEnabled.12">
                  <p:link updateAutomatic="1"/>
                </p:oleObj>
              </mc:Choice>
              <mc:Fallback>
                <p:oleObj name="Macro-Enabled Worksheet" r:id="rId15" imgW="3467211" imgH="556422" progId="Excel.SheetMacroEnabled.12">
                  <p:link updateAutomatic="1"/>
                  <p:pic>
                    <p:nvPicPr>
                      <p:cNvPr id="33" name="Objeto 32">
                        <a:extLst>
                          <a:ext uri="{FF2B5EF4-FFF2-40B4-BE49-F238E27FC236}">
                            <a16:creationId xmlns:a16="http://schemas.microsoft.com/office/drawing/2014/main" id="{A8AFC0D6-A1FB-7EE5-1E74-A66DDF4995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090650" y="5873750"/>
                        <a:ext cx="8747125" cy="1404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0F144A9A-5AAF-37BF-AA9E-D66BB34D0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780037"/>
              </p:ext>
            </p:extLst>
          </p:nvPr>
        </p:nvGraphicFramePr>
        <p:xfrm>
          <a:off x="1744663" y="9226550"/>
          <a:ext cx="5832475" cy="27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7" imgW="2483777" imgH="1180938" progId="Excel.SheetMacroEnabled.12">
                  <p:link updateAutomatic="1"/>
                </p:oleObj>
              </mc:Choice>
              <mc:Fallback>
                <p:oleObj name="Macro-Enabled Worksheet" r:id="rId17" imgW="2483777" imgH="1180938" progId="Excel.SheetMacroEnabled.12">
                  <p:link updateAutomatic="1"/>
                  <p:pic>
                    <p:nvPicPr>
                      <p:cNvPr id="26" name="Objeto 25">
                        <a:extLst>
                          <a:ext uri="{FF2B5EF4-FFF2-40B4-BE49-F238E27FC236}">
                            <a16:creationId xmlns:a16="http://schemas.microsoft.com/office/drawing/2014/main" id="{8A576755-C9B7-2EFB-B03F-63B31FB25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44663" y="9226550"/>
                        <a:ext cx="5832475" cy="277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to 28">
            <a:extLst>
              <a:ext uri="{FF2B5EF4-FFF2-40B4-BE49-F238E27FC236}">
                <a16:creationId xmlns:a16="http://schemas.microsoft.com/office/drawing/2014/main" id="{ADAE7026-1FAE-9723-308A-B24F42A81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515014"/>
              </p:ext>
            </p:extLst>
          </p:nvPr>
        </p:nvGraphicFramePr>
        <p:xfrm>
          <a:off x="8502650" y="9236075"/>
          <a:ext cx="2663825" cy="275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9" imgW="1135067" imgH="1173156" progId="Excel.SheetMacroEnabled.12">
                  <p:link updateAutomatic="1"/>
                </p:oleObj>
              </mc:Choice>
              <mc:Fallback>
                <p:oleObj name="Macro-Enabled Worksheet" r:id="rId19" imgW="1135067" imgH="1173156" progId="Excel.SheetMacroEnabled.12">
                  <p:link updateAutomatic="1"/>
                  <p:pic>
                    <p:nvPicPr>
                      <p:cNvPr id="27" name="Objeto 26">
                        <a:extLst>
                          <a:ext uri="{FF2B5EF4-FFF2-40B4-BE49-F238E27FC236}">
                            <a16:creationId xmlns:a16="http://schemas.microsoft.com/office/drawing/2014/main" id="{0872522B-6D0A-77E1-94BB-6C48A91F22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02650" y="9236075"/>
                        <a:ext cx="2663825" cy="2754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52D743-972C-A478-ACE5-82E63469F4E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1918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7BF8-9A5B-876F-8BC1-7283193C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C824F123-D471-717B-A00F-BF4987BA1C4E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6209AA5-3B78-8CBB-8483-904EF16E2E03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71771CED-91B9-8817-099F-47EEA0E84630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4Tri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pic>
        <p:nvPicPr>
          <p:cNvPr id="2" name="Picture 2" descr="Varejo Yamaha">
            <a:extLst>
              <a:ext uri="{FF2B5EF4-FFF2-40B4-BE49-F238E27FC236}">
                <a16:creationId xmlns:a16="http://schemas.microsoft.com/office/drawing/2014/main" id="{667B498D-7A35-5F36-D724-B4B76C748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0E86C50-D484-D89B-0F15-76450045AC9F}"/>
              </a:ext>
            </a:extLst>
          </p:cNvPr>
          <p:cNvSpPr txBox="1"/>
          <p:nvPr/>
        </p:nvSpPr>
        <p:spPr>
          <a:xfrm>
            <a:off x="4362450" y="109934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UNIDADES VENDIDAS 0Km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22E03DE-1133-9A1E-5819-AD2136A9EB7B}"/>
              </a:ext>
            </a:extLst>
          </p:cNvPr>
          <p:cNvSpPr txBox="1"/>
          <p:nvPr/>
        </p:nvSpPr>
        <p:spPr>
          <a:xfrm>
            <a:off x="4367834" y="6276483"/>
            <a:ext cx="1555921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5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PONTO DE EQUILÍBRIO – % s/ VENDAS 0Km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FE6BBB8-8CED-476E-DCB0-5C8BE10DD4B5}"/>
              </a:ext>
            </a:extLst>
          </p:cNvPr>
          <p:cNvSpPr/>
          <p:nvPr/>
        </p:nvSpPr>
        <p:spPr>
          <a:xfrm>
            <a:off x="4325236" y="866661"/>
            <a:ext cx="15690930" cy="470968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441D1F5-7D46-7714-1720-3EE818231784}"/>
              </a:ext>
            </a:extLst>
          </p:cNvPr>
          <p:cNvSpPr/>
          <p:nvPr/>
        </p:nvSpPr>
        <p:spPr>
          <a:xfrm>
            <a:off x="4325236" y="6238761"/>
            <a:ext cx="15690930" cy="6339796"/>
          </a:xfrm>
          <a:prstGeom prst="roundRect">
            <a:avLst>
              <a:gd name="adj" fmla="val 4477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1EB62D84-FF20-67B0-57B4-7098F9B51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72466"/>
              </p:ext>
            </p:extLst>
          </p:nvPr>
        </p:nvGraphicFramePr>
        <p:xfrm>
          <a:off x="6249988" y="2292350"/>
          <a:ext cx="7696200" cy="278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483777" imgH="898836" progId="Excel.SheetMacroEnabled.12">
                  <p:link updateAutomatic="1"/>
                </p:oleObj>
              </mc:Choice>
              <mc:Fallback>
                <p:oleObj name="Macro-Enabled Worksheet" r:id="rId5" imgW="2483777" imgH="898836" progId="Excel.SheetMacroEnabled.12">
                  <p:link updateAutomatic="1"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F9405156-DA2E-C3D2-B4CA-2478D30BBB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9988" y="2292350"/>
                        <a:ext cx="7696200" cy="278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86B551D7-C3C7-6331-9674-DC2EF2840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839280"/>
              </p:ext>
            </p:extLst>
          </p:nvPr>
        </p:nvGraphicFramePr>
        <p:xfrm>
          <a:off x="14925675" y="2270125"/>
          <a:ext cx="3605213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1135067" imgH="875976" progId="Excel.SheetMacroEnabled.12">
                  <p:link updateAutomatic="1"/>
                </p:oleObj>
              </mc:Choice>
              <mc:Fallback>
                <p:oleObj name="Macro-Enabled Worksheet" r:id="rId7" imgW="1135067" imgH="875976" progId="Excel.SheetMacroEnabled.12">
                  <p:link updateAutomatic="1"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BF09F8BB-5867-382B-CC80-560BBC5FE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925675" y="2270125"/>
                        <a:ext cx="3605213" cy="278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582C3805-489A-F279-111D-55F0534777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665380"/>
              </p:ext>
            </p:extLst>
          </p:nvPr>
        </p:nvGraphicFramePr>
        <p:xfrm>
          <a:off x="6257925" y="7589838"/>
          <a:ext cx="7759700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2483777" imgH="875976" progId="Excel.SheetMacroEnabled.12">
                  <p:link updateAutomatic="1"/>
                </p:oleObj>
              </mc:Choice>
              <mc:Fallback>
                <p:oleObj name="Macro-Enabled Worksheet" r:id="rId9" imgW="2483777" imgH="875976" progId="Excel.SheetMacroEnabled.12">
                  <p:link updateAutomatic="1"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379A6741-99E1-A2D7-CED4-087E1D8B0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57925" y="7589838"/>
                        <a:ext cx="7759700" cy="2738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3C5E7B71-A0BD-E454-C6A9-BEC319D35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102370"/>
              </p:ext>
            </p:extLst>
          </p:nvPr>
        </p:nvGraphicFramePr>
        <p:xfrm>
          <a:off x="15057438" y="7593013"/>
          <a:ext cx="3486150" cy="274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1135067" imgH="891540" progId="Excel.SheetMacroEnabled.12">
                  <p:link updateAutomatic="1"/>
                </p:oleObj>
              </mc:Choice>
              <mc:Fallback>
                <p:oleObj name="Macro-Enabled Worksheet" r:id="rId11" imgW="1135067" imgH="891540" progId="Excel.SheetMacroEnabled.12">
                  <p:link updateAutomatic="1"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7CD72185-9664-9DA4-83CB-E63F06D99B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057438" y="7593013"/>
                        <a:ext cx="3486150" cy="2741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BF54182F-76D7-54A3-1415-C5CB6DB22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04372"/>
              </p:ext>
            </p:extLst>
          </p:nvPr>
        </p:nvGraphicFramePr>
        <p:xfrm>
          <a:off x="7745413" y="10917238"/>
          <a:ext cx="8805862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3467211" imgH="556422" progId="Excel.SheetMacroEnabled.12">
                  <p:link updateAutomatic="1"/>
                </p:oleObj>
              </mc:Choice>
              <mc:Fallback>
                <p:oleObj name="Macro-Enabled Worksheet" r:id="rId13" imgW="3467211" imgH="556422" progId="Excel.SheetMacroEnabled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92309FCF-4928-429D-15A5-1F136AEDA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45413" y="10917238"/>
                        <a:ext cx="8805862" cy="1414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D2C84E-A7F7-420E-7A70-8578A7BF445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6801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323D-0079-F234-F914-2A988AAA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3CB9C0A-5B23-09F9-3D83-7839E76BCBE2}"/>
              </a:ext>
            </a:extLst>
          </p:cNvPr>
          <p:cNvGrpSpPr/>
          <p:nvPr/>
        </p:nvGrpSpPr>
        <p:grpSpPr>
          <a:xfrm>
            <a:off x="24950" y="-101834"/>
            <a:ext cx="13062857" cy="750071"/>
            <a:chOff x="0" y="-6197"/>
            <a:chExt cx="13062857" cy="986446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E03A9DC-AC89-B817-DB75-E11C3E17F534}"/>
                </a:ext>
              </a:extLst>
            </p:cNvPr>
            <p:cNvSpPr/>
            <p:nvPr/>
          </p:nvSpPr>
          <p:spPr>
            <a:xfrm>
              <a:off x="0" y="149290"/>
              <a:ext cx="13062857" cy="830959"/>
            </a:xfrm>
            <a:custGeom>
              <a:avLst/>
              <a:gdLst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3062857 w 13062857"/>
                <a:gd name="connsiteY2" fmla="*/ 830959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  <a:gd name="connsiteX0" fmla="*/ 0 w 13062857"/>
                <a:gd name="connsiteY0" fmla="*/ 0 h 830959"/>
                <a:gd name="connsiteX1" fmla="*/ 13062857 w 13062857"/>
                <a:gd name="connsiteY1" fmla="*/ 0 h 830959"/>
                <a:gd name="connsiteX2" fmla="*/ 12391053 w 13062857"/>
                <a:gd name="connsiteY2" fmla="*/ 812297 h 830959"/>
                <a:gd name="connsiteX3" fmla="*/ 0 w 13062857"/>
                <a:gd name="connsiteY3" fmla="*/ 830959 h 830959"/>
                <a:gd name="connsiteX4" fmla="*/ 0 w 13062857"/>
                <a:gd name="connsiteY4" fmla="*/ 0 h 83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57" h="830959">
                  <a:moveTo>
                    <a:pt x="0" y="0"/>
                  </a:moveTo>
                  <a:lnTo>
                    <a:pt x="13062857" y="0"/>
                  </a:lnTo>
                  <a:lnTo>
                    <a:pt x="12391053" y="812297"/>
                  </a:lnTo>
                  <a:lnTo>
                    <a:pt x="0" y="83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7B1052F8-82DA-564B-40D9-EE6B0BC02799}"/>
                </a:ext>
              </a:extLst>
            </p:cNvPr>
            <p:cNvSpPr txBox="1"/>
            <p:nvPr/>
          </p:nvSpPr>
          <p:spPr>
            <a:xfrm>
              <a:off x="163175" y="-6197"/>
              <a:ext cx="11501689" cy="944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4Tri Grupo: Yamaha</a:t>
              </a: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Estricta Bold"/>
                  <a:ea typeface="Estricta Bold"/>
                  <a:cs typeface="Estricta Bold"/>
                  <a:sym typeface="Estricta Bold"/>
                </a:rPr>
                <a:t> 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Helvetica Neue"/>
              </a:endParaRP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ADCA113-D25B-E3DA-E6AE-E9D3108861AB}"/>
              </a:ext>
            </a:extLst>
          </p:cNvPr>
          <p:cNvSpPr/>
          <p:nvPr/>
        </p:nvSpPr>
        <p:spPr>
          <a:xfrm>
            <a:off x="225448" y="8576398"/>
            <a:ext cx="23922176" cy="4883165"/>
          </a:xfrm>
          <a:prstGeom prst="roundRect">
            <a:avLst>
              <a:gd name="adj" fmla="val 547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4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  <a:sym typeface="Helvetica Neue Medium"/>
              </a:rPr>
              <a:t>COMENTÁRIOS ADICIONAIS</a:t>
            </a:r>
            <a:endParaRPr kumimoji="0" lang="pt-BR" sz="2800" i="0" u="none" strike="noStrike" cap="none" spc="0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3" name="Picture 2" descr="Varejo Yamaha">
            <a:extLst>
              <a:ext uri="{FF2B5EF4-FFF2-40B4-BE49-F238E27FC236}">
                <a16:creationId xmlns:a16="http://schemas.microsoft.com/office/drawing/2014/main" id="{9DC5358A-A007-7BF6-C5C6-6559388D6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06" y="43412"/>
            <a:ext cx="2482133" cy="7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F2DEFD1-536B-5CA3-FC52-8470358611AC}"/>
              </a:ext>
            </a:extLst>
          </p:cNvPr>
          <p:cNvSpPr/>
          <p:nvPr/>
        </p:nvSpPr>
        <p:spPr>
          <a:xfrm>
            <a:off x="4802026" y="1344968"/>
            <a:ext cx="4111699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TAXA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810F805-8506-1815-9FE8-1A5EACFA32C1}"/>
              </a:ext>
            </a:extLst>
          </p:cNvPr>
          <p:cNvSpPr/>
          <p:nvPr/>
        </p:nvSpPr>
        <p:spPr>
          <a:xfrm>
            <a:off x="9006468" y="1344968"/>
            <a:ext cx="513022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AUMENTO MC PÓS-VENDAS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2688A0E-CEB1-D263-A1BD-900905045558}"/>
              </a:ext>
            </a:extLst>
          </p:cNvPr>
          <p:cNvSpPr/>
          <p:nvPr/>
        </p:nvSpPr>
        <p:spPr>
          <a:xfrm>
            <a:off x="14229434" y="1344968"/>
            <a:ext cx="4431131" cy="56197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REDUÇÃO</a:t>
            </a:r>
            <a:r>
              <a:rPr lang="pt-BR" sz="1800" b="1" baseline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DESPESAS</a:t>
            </a:r>
            <a:endParaRPr lang="pt-BR" sz="1800" b="1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E08519C-C512-9229-CB28-8C708B04C81E}"/>
              </a:ext>
            </a:extLst>
          </p:cNvPr>
          <p:cNvSpPr/>
          <p:nvPr/>
        </p:nvSpPr>
        <p:spPr>
          <a:xfrm>
            <a:off x="4802026" y="1964093"/>
            <a:ext cx="4111699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TAXA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ABSORÇÃO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3648628-5FB9-C617-71AB-7AE72632C086}"/>
              </a:ext>
            </a:extLst>
          </p:cNvPr>
          <p:cNvSpPr/>
          <p:nvPr/>
        </p:nvSpPr>
        <p:spPr>
          <a:xfrm>
            <a:off x="9006468" y="1964093"/>
            <a:ext cx="513022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AUMENTO MC PÓS-VENDAS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AAD3606-C23E-BE8F-E267-18CF1C6A576C}"/>
              </a:ext>
            </a:extLst>
          </p:cNvPr>
          <p:cNvSpPr/>
          <p:nvPr/>
        </p:nvSpPr>
        <p:spPr>
          <a:xfrm>
            <a:off x="14229434" y="1964093"/>
            <a:ext cx="4431131" cy="56197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REALIZADO REDUÇÃO</a:t>
            </a:r>
            <a:r>
              <a:rPr lang="pt-BR" sz="18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DESPESAS</a:t>
            </a:r>
            <a:endParaRPr lang="pt-BR" sz="1800" b="1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A7DA4C27-01A8-CFEA-3983-4541ED7EE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933585"/>
              </p:ext>
            </p:extLst>
          </p:nvPr>
        </p:nvGraphicFramePr>
        <p:xfrm>
          <a:off x="3162300" y="3094038"/>
          <a:ext cx="18051463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18051588" imgH="4914900" progId="Excel.SheetMacroEnabled.12">
                  <p:link updateAutomatic="1"/>
                </p:oleObj>
              </mc:Choice>
              <mc:Fallback>
                <p:oleObj name="Macro-Enabled Worksheet" r:id="rId5" imgW="18051588" imgH="491490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2300" y="3094038"/>
                        <a:ext cx="18051463" cy="491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4147F691-8B1E-F1CC-3D14-6914AB97A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575511"/>
              </p:ext>
            </p:extLst>
          </p:nvPr>
        </p:nvGraphicFramePr>
        <p:xfrm>
          <a:off x="8034338" y="1400175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891389" imgH="403698" progId="Excel.SheetMacroEnabled.12">
                  <p:link updateAutomatic="1"/>
                </p:oleObj>
              </mc:Choice>
              <mc:Fallback>
                <p:oleObj name="Macro-Enabled Worksheet" r:id="rId7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34338" y="1400175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1E0826AF-C97C-66D2-EAD9-2F0A13222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750962"/>
              </p:ext>
            </p:extLst>
          </p:nvPr>
        </p:nvGraphicFramePr>
        <p:xfrm>
          <a:off x="8034338" y="2049463"/>
          <a:ext cx="892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891389" imgH="403698" progId="Excel.SheetMacroEnabled.12">
                  <p:link updateAutomatic="1"/>
                </p:oleObj>
              </mc:Choice>
              <mc:Fallback>
                <p:oleObj name="Macro-Enabled Worksheet" r:id="rId9" imgW="89138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34338" y="2049463"/>
                        <a:ext cx="8921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7603B385-BD9C-72CD-F2B3-8D9E6C10A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588276"/>
              </p:ext>
            </p:extLst>
          </p:nvPr>
        </p:nvGraphicFramePr>
        <p:xfrm>
          <a:off x="12573000" y="140017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0" imgW="1485809" imgH="403698" progId="Excel.SheetMacroEnabled.12">
                  <p:link updateAutomatic="1"/>
                </p:oleObj>
              </mc:Choice>
              <mc:Fallback>
                <p:oleObj name="Macro-Enabled Worksheet" r:id="rId10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573000" y="1400175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7DA7F6C0-AA1C-5B4F-9B12-B31D505A8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8465"/>
              </p:ext>
            </p:extLst>
          </p:nvPr>
        </p:nvGraphicFramePr>
        <p:xfrm>
          <a:off x="12573000" y="20494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2" imgW="1485809" imgH="403698" progId="Excel.SheetMacroEnabled.12">
                  <p:link updateAutomatic="1"/>
                </p:oleObj>
              </mc:Choice>
              <mc:Fallback>
                <p:oleObj name="Macro-Enabled Worksheet" r:id="rId12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573000" y="20494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0304B534-3275-C46C-ACBE-D9F3AF14F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040646"/>
              </p:ext>
            </p:extLst>
          </p:nvPr>
        </p:nvGraphicFramePr>
        <p:xfrm>
          <a:off x="17194213" y="140017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3" imgW="1485809" imgH="403698" progId="Excel.SheetMacroEnabled.12">
                  <p:link updateAutomatic="1"/>
                </p:oleObj>
              </mc:Choice>
              <mc:Fallback>
                <p:oleObj name="Macro-Enabled Worksheet" r:id="rId13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194213" y="1400175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1CFFDEA7-3987-31BD-0C60-B24A0E193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120864"/>
              </p:ext>
            </p:extLst>
          </p:nvPr>
        </p:nvGraphicFramePr>
        <p:xfrm>
          <a:off x="17194213" y="2049463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5" imgW="1485809" imgH="403698" progId="Excel.SheetMacroEnabled.12">
                  <p:link updateAutomatic="1"/>
                </p:oleObj>
              </mc:Choice>
              <mc:Fallback>
                <p:oleObj name="Macro-Enabled Worksheet" r:id="rId15" imgW="1485809" imgH="40369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194213" y="2049463"/>
                        <a:ext cx="14859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Espaço Reservado para Rodapé 19">
            <a:extLst>
              <a:ext uri="{FF2B5EF4-FFF2-40B4-BE49-F238E27FC236}">
                <a16:creationId xmlns:a16="http://schemas.microsoft.com/office/drawing/2014/main" id="{A8B08EE4-A27D-6DC0-2D01-4B8B7366A9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0157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271E-2B79-7852-E3B4-5F90B732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BD28C32F-D515-D9DC-B091-94D20C8257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962" y="899910"/>
            <a:ext cx="2515896" cy="17778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948F94C-7B76-2782-9D4A-D6FE8CDEA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6F17860-DF7F-62AE-77EF-F1406E7986A4}"/>
              </a:ext>
            </a:extLst>
          </p:cNvPr>
          <p:cNvSpPr txBox="1"/>
          <p:nvPr/>
        </p:nvSpPr>
        <p:spPr>
          <a:xfrm>
            <a:off x="1519962" y="4976638"/>
            <a:ext cx="94073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5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Meiryo UI" panose="020B0604030504040204" pitchFamily="50" charset="-128"/>
                <a:cs typeface="Times New Roman" panose="02020603050405020304" pitchFamily="18" charset="0"/>
                <a:sym typeface="Helvetica Neue"/>
              </a:rPr>
              <a:t>Obrigado</a:t>
            </a:r>
            <a:endParaRPr kumimoji="0" lang="en-US" altLang="ja-JP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Black" panose="020B0004020202020204" pitchFamily="34" charset="0"/>
              <a:ea typeface="Meiryo UI" panose="020B0604030504040204" pitchFamily="50" charset="-128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49F1D87E-6C93-6CF2-5AB4-31E3E22A329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3304"/>
          <a:stretch/>
        </p:blipFill>
        <p:spPr>
          <a:xfrm>
            <a:off x="19629999" y="692210"/>
            <a:ext cx="3670887" cy="143879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5AB4701-1F0D-18E9-AF07-76CDF2A59F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2678" y="25900"/>
            <a:ext cx="1542661" cy="552527"/>
          </a:xfrm>
          <a:prstGeom prst="rect">
            <a:avLst/>
          </a:prstGeom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BFD176F-71EE-A043-59CD-ABCF0097006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2093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D4750D6696BCD4FBEB5BFF41C8EE3DD" ma:contentTypeVersion="9" ma:contentTypeDescription="Crie um novo documento." ma:contentTypeScope="" ma:versionID="9786dd555bc3cae53f4cd561fe44212f">
  <xsd:schema xmlns:xsd="http://www.w3.org/2001/XMLSchema" xmlns:xs="http://www.w3.org/2001/XMLSchema" xmlns:p="http://schemas.microsoft.com/office/2006/metadata/properties" xmlns:ns2="0e15e669-52a8-4e93-84e3-3995b16ecb7f" xmlns:ns3="7805cb1b-8432-4ae9-a7a3-5837c71f58da" targetNamespace="http://schemas.microsoft.com/office/2006/metadata/properties" ma:root="true" ma:fieldsID="1a6cb0ed749d808379d90327cf96446e" ns2:_="" ns3:_="">
    <xsd:import namespace="0e15e669-52a8-4e93-84e3-3995b16ecb7f"/>
    <xsd:import namespace="7805cb1b-8432-4ae9-a7a3-5837c71f5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15e669-52a8-4e93-84e3-3995b16ecb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05cb1b-8432-4ae9-a7a3-5837c71f58d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sisl xmlns:xsd="http://www.w3.org/2001/XMLSchema" xmlns:xsi="http://www.w3.org/2001/XMLSchema-instance" xmlns="http://www.boldonjames.com/2008/01/sie/internal/label" sislVersion="0" policy="06b056e2-7ddb-4f31-a510-f19fdcc3f692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9F835747-F836-42DF-9F49-8B300FF448D3}">
  <ds:schemaRefs>
    <ds:schemaRef ds:uri="0e15e669-52a8-4e93-84e3-3995b16ecb7f"/>
    <ds:schemaRef ds:uri="7805cb1b-8432-4ae9-a7a3-5837c71f58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BE08B36-4240-4166-BD27-AC20D02FBE65}">
  <ds:schemaRefs>
    <ds:schemaRef ds:uri="0e15e669-52a8-4e93-84e3-3995b16ecb7f"/>
    <ds:schemaRef ds:uri="7805cb1b-8432-4ae9-a7a3-5837c71f58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D3A2913-FB1C-462C-89E4-F8C409C706E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63013EA-5DF7-470A-B102-665F86221188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76684a67-d816-43ce-93f9-29b6f72f823f}" enabled="0" method="" siteId="{76684a67-d816-43ce-93f9-29b6f72f82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706</Words>
  <Application>Microsoft Office PowerPoint</Application>
  <PresentationFormat>Personalizar</PresentationFormat>
  <Paragraphs>198</Paragraphs>
  <Slides>25</Slides>
  <Notes>25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Vínculos</vt:lpstr>
      </vt:variant>
      <vt:variant>
        <vt:i4>184</vt:i4>
      </vt:variant>
      <vt:variant>
        <vt:lpstr>Títulos de slides</vt:lpstr>
      </vt:variant>
      <vt:variant>
        <vt:i4>25</vt:i4>
      </vt:variant>
    </vt:vector>
  </HeadingPairs>
  <TitlesOfParts>
    <vt:vector size="220" baseType="lpstr">
      <vt:lpstr>Aptos Black</vt:lpstr>
      <vt:lpstr>Aptos Display</vt:lpstr>
      <vt:lpstr>Calibri</vt:lpstr>
      <vt:lpstr>Estricta Bold</vt:lpstr>
      <vt:lpstr>Grandview</vt:lpstr>
      <vt:lpstr>Grandview Display</vt:lpstr>
      <vt:lpstr>Helvetica Neue</vt:lpstr>
      <vt:lpstr>Helvetica Neue Light</vt:lpstr>
      <vt:lpstr>Helvetica Neue Medium</vt:lpstr>
      <vt:lpstr>White</vt:lpstr>
      <vt:lpstr>1_White</vt:lpstr>
      <vt:lpstr>C:\YAMAHA - teste\NIPPON\Analisador_DEF_v9.xlsm!PPT_1Tri_TX_Absorcao![Analisador_DEF_v9.xlsm]PPT_1Tri_TX_Absorcao Gráfico 7</vt:lpstr>
      <vt:lpstr>C:\YAMAHA - teste\NIPPON\Analisador_DEF_v9.xlsm!PPT_1Tri_TX_Absorcao![Analisador_DEF_v9.xlsm]PPT_1Tri_TX_Absorcao Gráfico 8</vt:lpstr>
      <vt:lpstr>C:\YAMAHA - teste\NIPPON\Analisador_DEF_v9.xlsm!PPT!L2C2:L9C6</vt:lpstr>
      <vt:lpstr>C:\YAMAHA - teste\NIPPON\Analisador_DEF_v9.xlsm!PPT_1Tri_TX_Absorcao![Analisador_DEF_v9.xlsm]PPT_1Tri_TX_Absorcao Gráfico 14</vt:lpstr>
      <vt:lpstr>C:\YAMAHA - teste\NIPPON\Analisador_DEF_v9.xlsm!PPT_1Tri_TX_Absorcao![Analisador_DEF_v9.xlsm]PPT_1Tri_TX_Absorcao Gráfico 15</vt:lpstr>
      <vt:lpstr>C:\YAMAHA - teste\NIPPON\Analisador_DEF_v9.xlsm!PPT!L11C2:L13C6</vt:lpstr>
      <vt:lpstr>C:\YAMAHA - teste\NIPPON\Analisador_DEF_v9.xlsm!PPT_1Tri_TX_Absorcao![Analisador_DEF_v9.xlsm]PPT_1Tri_TX_Absorcao Gráfico 2</vt:lpstr>
      <vt:lpstr>C:\YAMAHA - teste\NIPPON\Analisador_DEF_v9.xlsm!PPT_1Tri_TX_Absorcao![Analisador_DEF_v9.xlsm]PPT_1Tri_TX_Absorcao Gráfico 3</vt:lpstr>
      <vt:lpstr>C:\YAMAHA - teste\NIPPON\Analisador_DEF_v9.xlsm!PPT_1Tri_TX_Absorcao![Analisador_DEF_v9.xlsm]PPT_1Tri_TX_Absorcao Gráfico 6</vt:lpstr>
      <vt:lpstr>C:\YAMAHA - teste\NIPPON\Analisador_DEF_v9.xlsm!PPT_1Tri_TX_Absorcao![Analisador_DEF_v9.xlsm]PPT_1Tri_TX_Absorcao Gráfico 12</vt:lpstr>
      <vt:lpstr>C:\YAMAHA - teste\NIPPON\Analisador_DEF_v9.xlsm!PPT!L15C2:L17C6</vt:lpstr>
      <vt:lpstr>C:\YAMAHA - teste\NIPPON\Analisador_DEF_v9.xlsm!PPT_1Tri_TX_Absorcao![Analisador_DEF_v9.xlsm]PPT_1Tri_TX_Absorcao Gráfico 19</vt:lpstr>
      <vt:lpstr>C:\YAMAHA - teste\NIPPON\Analisador_DEF_v9.xlsm!PPT_1Tri_TX_Absorcao![Analisador_DEF_v9.xlsm]PPT_1Tri_TX_Absorcao Gráfico 20</vt:lpstr>
      <vt:lpstr>C:\YAMAHA - teste\NIPPON\Analisador_DEF_v9.xlsm!PPT_1Tri_TX_Absorcao![Analisador_DEF_v9.xlsm]PPT_1Tri_TX_Absorcao Gráfico 24</vt:lpstr>
      <vt:lpstr>C:\YAMAHA - teste\NIPPON\Analisador_DEF_v9.xlsm!PPT_1Tri_TX_Absorcao![Analisador_DEF_v9.xlsm]PPT_1Tri_TX_Absorcao Gráfico 25</vt:lpstr>
      <vt:lpstr>C:\YAMAHA - teste\NIPPON\Analisador_DEF_v9.xlsm!PPT!L19C2:L21C6</vt:lpstr>
      <vt:lpstr>C:\YAMAHA - teste\NIPPON\Analisador_DEF_v9.xlsm!PPT!L26C8</vt:lpstr>
      <vt:lpstr>C:\YAMAHA - teste\NIPPON\Analisador_DEF_v9.xlsm!PPT!L30C8</vt:lpstr>
      <vt:lpstr>C:\YAMAHA - teste\NIPPON\Analisador_DEF_v9.xlsm!PPT!L33C12</vt:lpstr>
      <vt:lpstr>C:\YAMAHA - teste\NIPPON\Analisador_DEF_v9.xlsm!PPT!L35C12</vt:lpstr>
      <vt:lpstr>C:\YAMAHA - teste\NIPPON\Analisador_DEF_v9.xlsm!PPT!L37C12</vt:lpstr>
      <vt:lpstr>C:\YAMAHA - teste\NIPPON\Analisador_DEF_v9.xlsm!PPT!L39C12</vt:lpstr>
      <vt:lpstr>C:\YAMAHA - teste\NIPPON\Analisador_DEF_v9.xlsm!Acoes1TRI!L4C2:L8C9</vt:lpstr>
      <vt:lpstr>C:\YAMAHA - teste\NIPPON\Analisador_DEF_v9.xlsm!PPT_1Tri_TX_Absorcao![Analisador_DEF_v9.xlsm]PPT_1Tri_TX_Absorcao Gráfico 7</vt:lpstr>
      <vt:lpstr>C:\YAMAHA - teste\NIPPON\Analisador_DEF_v9.xlsm!PPT_1Tri_TX_Absorcao![Analisador_DEF_v9.xlsm]PPT_1Tri_TX_Absorcao Gráfico 8</vt:lpstr>
      <vt:lpstr>C:\YAMAHA - teste\NIPPON\Analisador_DEF_v9.xlsm!PPT!L2C2:L9C6</vt:lpstr>
      <vt:lpstr>C:\YAMAHA - teste\NIPPON\Analisador_DEF_v9.xlsm!PPT_1Tri_TX_Absorcao![Analisador_DEF_v9.xlsm]PPT_1Tri_TX_Absorcao Gráfico 14</vt:lpstr>
      <vt:lpstr>C:\YAMAHA - teste\NIPPON\Analisador_DEF_v9.xlsm!PPT_1Tri_TX_Absorcao![Analisador_DEF_v9.xlsm]PPT_1Tri_TX_Absorcao Gráfico 15</vt:lpstr>
      <vt:lpstr>C:\YAMAHA - teste\NIPPON\Analisador_DEF_v9.xlsm!PPT!L11C2:L13C6</vt:lpstr>
      <vt:lpstr>C:\YAMAHA - teste\NIPPON\Analisador_DEF_v9.xlsm!PPT_1Tri_TX_Absorcao![Analisador_DEF_v9.xlsm]PPT_1Tri_TX_Absorcao Gráfico 19</vt:lpstr>
      <vt:lpstr>C:\YAMAHA - teste\NIPPON\Analisador_DEF_v9.xlsm!PPT_1Tri_TX_Absorcao![Analisador_DEF_v9.xlsm]PPT_1Tri_TX_Absorcao Gráfico 20</vt:lpstr>
      <vt:lpstr>C:\YAMAHA - teste\NIPPON\Analisador_DEF_v9.xlsm!PPT_1Tri_TX_Absorcao![Analisador_DEF_v9.xlsm]PPT_1Tri_TX_Absorcao Gráfico 24</vt:lpstr>
      <vt:lpstr>C:\YAMAHA - teste\NIPPON\Analisador_DEF_v9.xlsm!PPT_1Tri_TX_Absorcao![Analisador_DEF_v9.xlsm]PPT_1Tri_TX_Absorcao Gráfico 25</vt:lpstr>
      <vt:lpstr>C:\YAMAHA - teste\NIPPON\Analisador_DEF_v9.xlsm!PPT!L19C2:L21C6</vt:lpstr>
      <vt:lpstr>C:\YAMAHA - teste\NIPPON\Analisador_DEF_v9.xlsm!PPT_1Tri_TX_Absorcao![Analisador_DEF_v9.xlsm]PPT_1Tri_TX_Absorcao Gráfico 2</vt:lpstr>
      <vt:lpstr>C:\YAMAHA - teste\NIPPON\Analisador_DEF_v9.xlsm!PPT_1Tri_TX_Absorcao![Analisador_DEF_v9.xlsm]PPT_1Tri_TX_Absorcao Gráfico 3</vt:lpstr>
      <vt:lpstr>C:\YAMAHA - teste\NIPPON\Analisador_DEF_v9.xlsm!PPT_1Tri_TX_Absorcao![Analisador_DEF_v9.xlsm]PPT_1Tri_TX_Absorcao Gráfico 6</vt:lpstr>
      <vt:lpstr>C:\YAMAHA - teste\NIPPON\Analisador_DEF_v9.xlsm!PPT_1Tri_TX_Absorcao![Analisador_DEF_v9.xlsm]PPT_1Tri_TX_Absorcao Gráfico 12</vt:lpstr>
      <vt:lpstr>C:\YAMAHA - teste\NIPPON\Analisador_DEF_v9.xlsm!PPT!L15C2:L17C6</vt:lpstr>
      <vt:lpstr>C:\YAMAHA - teste\NIPPON\Analisador_DEF_v9.xlsm!PPT!L26C8</vt:lpstr>
      <vt:lpstr>C:\YAMAHA - teste\NIPPON\Analisador_DEF_v9.xlsm!PPT!L30C8</vt:lpstr>
      <vt:lpstr>C:\YAMAHA - teste\NIPPON\Analisador_DEF_v9.xlsm!PPT!L33C12</vt:lpstr>
      <vt:lpstr>C:\YAMAHA - teste\NIPPON\Analisador_DEF_v9.xlsm!PPT!L35C12</vt:lpstr>
      <vt:lpstr>C:\YAMAHA - teste\NIPPON\Analisador_DEF_v9.xlsm!PPT!L37C12</vt:lpstr>
      <vt:lpstr>C:\YAMAHA - teste\NIPPON\Analisador_DEF_v9.xlsm!PPT!L39C12</vt:lpstr>
      <vt:lpstr>C:\YAMAHA - teste\NIPPON\Analisador_DEF_v9.xlsm!Acoes1TRI!L4C2:L8C9</vt:lpstr>
      <vt:lpstr>C:\YAMAHA - teste\NIPPON\Analisador_DEF_v9.xlsm!Acoes2TRI!L4C2:L8C9</vt:lpstr>
      <vt:lpstr>C:\YAMAHA - teste\NIPPON\Analisador_DEF_v9.xlsm!PPT!L26C9</vt:lpstr>
      <vt:lpstr>C:\YAMAHA - teste\NIPPON\Analisador_DEF_v9.xlsm!PPT!L30C9</vt:lpstr>
      <vt:lpstr>C:\YAMAHA - teste\NIPPON\Analisador_DEF_v9.xlsm!PPT!L33C13</vt:lpstr>
      <vt:lpstr>C:\YAMAHA - teste\NIPPON\Analisador_DEF_v9.xlsm!PPT!L35C13</vt:lpstr>
      <vt:lpstr>C:\YAMAHA - teste\NIPPON\Analisador_DEF_v9.xlsm!PPT!L37C13</vt:lpstr>
      <vt:lpstr>C:\YAMAHA - teste\NIPPON\Analisador_DEF_v9.xlsm!PPT!L39C13</vt:lpstr>
      <vt:lpstr>C:\YAMAHA - teste\NIPPON\Analisador_DEF_v9.xlsm!PPT_2Tri_TX_Absorcao![Analisador_DEF_v9.xlsm]PPT_2Tri_TX_Absorcao Gráfico 3</vt:lpstr>
      <vt:lpstr>C:\YAMAHA - teste\NIPPON\Analisador_DEF_v9.xlsm!PPT_2Tri_TX_Absorcao![Analisador_DEF_v9.xlsm]PPT_2Tri_TX_Absorcao Gráfico 4</vt:lpstr>
      <vt:lpstr>C:\YAMAHA - teste\NIPPON\Analisador_DEF_v9.xlsm!PPT!L42C2:L49C6</vt:lpstr>
      <vt:lpstr>C:\YAMAHA - teste\NIPPON\Analisador_DEF_v9.xlsm!PPT_2Tri_TX_Absorcao![Analisador_DEF_v9.xlsm]PPT_2Tri_TX_Absorcao Gráfico 8</vt:lpstr>
      <vt:lpstr>C:\YAMAHA - teste\NIPPON\Analisador_DEF_v9.xlsm!PPT_2Tri_TX_Absorcao![Analisador_DEF_v9.xlsm]PPT_2Tri_TX_Absorcao Gráfico 9</vt:lpstr>
      <vt:lpstr>C:\YAMAHA - teste\NIPPON\Analisador_DEF_v9.xlsm!PPT!L51C2:L53C6</vt:lpstr>
      <vt:lpstr>C:\YAMAHA - teste\NIPPON\Analisador_DEF_v9.xlsm!PPT_2Tri_TX_Absorcao![Analisador_DEF_v9.xlsm]PPT_2Tri_TX_Absorcao Gráfico 12</vt:lpstr>
      <vt:lpstr>C:\YAMAHA - teste\NIPPON\Analisador_DEF_v9.xlsm!PPT_2Tri_TX_Absorcao![Analisador_DEF_v9.xlsm]PPT_2Tri_TX_Absorcao Gráfico 13</vt:lpstr>
      <vt:lpstr>C:\YAMAHA - teste\NIPPON\Analisador_DEF_v9.xlsm!PPT_2Tri_TX_Absorcao![Analisador_DEF_v9.xlsm]PPT_2Tri_TX_Absorcao Gráfico 17</vt:lpstr>
      <vt:lpstr>C:\YAMAHA - teste\NIPPON\Analisador_DEF_v9.xlsm!PPT_2Tri_TX_Absorcao![Analisador_DEF_v9.xlsm]PPT_2Tri_TX_Absorcao Gráfico 18</vt:lpstr>
      <vt:lpstr>C:\YAMAHA - teste\NIPPON\Analisador_DEF_v9.xlsm!PPT!L59C2:L61C6</vt:lpstr>
      <vt:lpstr>C:\YAMAHA - teste\NIPPON\Analisador_DEF_v9.xlsm!PPT_2Tri_TX_Absorcao![Analisador_DEF_v9.xlsm]PPT_2Tri_TX_Absorcao Gráfico 21</vt:lpstr>
      <vt:lpstr>C:\YAMAHA - teste\NIPPON\Analisador_DEF_v9.xlsm!PPT_2Tri_TX_Absorcao![Analisador_DEF_v9.xlsm]PPT_2Tri_TX_Absorcao Gráfico 22</vt:lpstr>
      <vt:lpstr>C:\YAMAHA - teste\NIPPON\Analisador_DEF_v9.xlsm!PPT_2Tri_TX_Absorcao![Analisador_DEF_v9.xlsm]PPT_2Tri_TX_Absorcao Gráfico 25</vt:lpstr>
      <vt:lpstr>C:\YAMAHA - teste\NIPPON\Analisador_DEF_v9.xlsm!PPT_2Tri_TX_Absorcao![Analisador_DEF_v9.xlsm]PPT_2Tri_TX_Absorcao Gráfico 26</vt:lpstr>
      <vt:lpstr>C:\YAMAHA - teste\NIPPON\Analisador_DEF_v9.xlsm!PPT!L55C2:L57C6</vt:lpstr>
      <vt:lpstr>C:\YAMAHA - teste\NIPPON\Analisador_DEF_v9.xlsm!PPT_2Tri_TX_Absorcao![Analisador_DEF_v9.xlsm]PPT_2Tri_TX_Absorcao Gráfico 3</vt:lpstr>
      <vt:lpstr>C:\YAMAHA - teste\NIPPON\Analisador_DEF_v9.xlsm!PPT_2Tri_TX_Absorcao![Analisador_DEF_v9.xlsm]PPT_2Tri_TX_Absorcao Gráfico 4</vt:lpstr>
      <vt:lpstr>C:\YAMAHA - teste\NIPPON\Analisador_DEF_v9.xlsm!PPT!L42C2:L49C6</vt:lpstr>
      <vt:lpstr>C:\YAMAHA - teste\NIPPON\Analisador_DEF_v9.xlsm!PPT_2Tri_TX_Absorcao![Analisador_DEF_v9.xlsm]PPT_2Tri_TX_Absorcao Gráfico 8</vt:lpstr>
      <vt:lpstr>C:\YAMAHA - teste\NIPPON\Analisador_DEF_v9.xlsm!PPT_2Tri_TX_Absorcao![Analisador_DEF_v9.xlsm]PPT_2Tri_TX_Absorcao Gráfico 9</vt:lpstr>
      <vt:lpstr>C:\YAMAHA - teste\NIPPON\Analisador_DEF_v9.xlsm!PPT!L51C2:L53C6</vt:lpstr>
      <vt:lpstr>C:\YAMAHA - teste\NIPPON\Analisador_DEF_v9.xlsm!PPT_2Tri_TX_Absorcao![Analisador_DEF_v9.xlsm]PPT_2Tri_TX_Absorcao Gráfico 18</vt:lpstr>
      <vt:lpstr>C:\YAMAHA - teste\NIPPON\Analisador_DEF_v9.xlsm!PPT_2Tri_TX_Absorcao![Analisador_DEF_v9.xlsm]PPT_2Tri_TX_Absorcao Gráfico 17</vt:lpstr>
      <vt:lpstr>C:\YAMAHA - teste\NIPPON\Analisador_DEF_v9.xlsm!PPT!L59C2:L61C6</vt:lpstr>
      <vt:lpstr>C:\YAMAHA - teste\NIPPON\Analisador_DEF_v9.xlsm!PPT_2Tri_TX_Absorcao![Analisador_DEF_v9.xlsm]PPT_2Tri_TX_Absorcao Gráfico 12</vt:lpstr>
      <vt:lpstr>C:\YAMAHA - teste\NIPPON\Analisador_DEF_v9.xlsm!PPT_2Tri_TX_Absorcao![Analisador_DEF_v9.xlsm]PPT_2Tri_TX_Absorcao Gráfico 13</vt:lpstr>
      <vt:lpstr>C:\YAMAHA - teste\NIPPON\Analisador_DEF_v9.xlsm!PPT_2Tri_TX_Absorcao![Analisador_DEF_v9.xlsm]PPT_2Tri_TX_Absorcao Gráfico 21</vt:lpstr>
      <vt:lpstr>C:\YAMAHA - teste\NIPPON\Analisador_DEF_v9.xlsm!PPT_2Tri_TX_Absorcao![Analisador_DEF_v9.xlsm]PPT_2Tri_TX_Absorcao Gráfico 22</vt:lpstr>
      <vt:lpstr>C:\YAMAHA - teste\NIPPON\Analisador_DEF_v9.xlsm!PPT_2Tri_TX_Absorcao![Analisador_DEF_v9.xlsm]PPT_2Tri_TX_Absorcao Gráfico 25</vt:lpstr>
      <vt:lpstr>C:\YAMAHA - teste\NIPPON\Analisador_DEF_v9.xlsm!PPT_2Tri_TX_Absorcao![Analisador_DEF_v9.xlsm]PPT_2Tri_TX_Absorcao Gráfico 26</vt:lpstr>
      <vt:lpstr>C:\YAMAHA - teste\NIPPON\Analisador_DEF_v9.xlsm!PPT!L55C2:L57C6</vt:lpstr>
      <vt:lpstr>C:\YAMAHA - teste\NIPPON\Analisador_DEF_v9.xlsm!Acoes2TRI!L4C2:L8C9</vt:lpstr>
      <vt:lpstr>C:\YAMAHA - teste\NIPPON\Analisador_DEF_v9.xlsm!PPT!L26C9</vt:lpstr>
      <vt:lpstr>C:\YAMAHA - teste\NIPPON\Analisador_DEF_v9.xlsm!PPT!L30C9</vt:lpstr>
      <vt:lpstr>C:\YAMAHA - teste\NIPPON\Analisador_DEF_v9.xlsm!PPT!L33C13</vt:lpstr>
      <vt:lpstr>C:\YAMAHA - teste\NIPPON\Analisador_DEF_v9.xlsm!PPT!L35C13</vt:lpstr>
      <vt:lpstr>C:\YAMAHA - teste\NIPPON\Analisador_DEF_v9.xlsm!PPT!L37C13</vt:lpstr>
      <vt:lpstr>C:\YAMAHA - teste\NIPPON\Analisador_DEF_v9.xlsm!PPT!L39C13</vt:lpstr>
      <vt:lpstr>C:\YAMAHA - teste\NIPPON\Analisador_DEF_v9.xlsm!PPT_3Tri_TX_Absorcao![Analisador_DEF_v9.xlsm]PPT_3Tri_TX_Absorcao Gráfico 3</vt:lpstr>
      <vt:lpstr>C:\YAMAHA - teste\NIPPON\Analisador_DEF_v9.xlsm!PPT_3Tri_TX_Absorcao![Analisador_DEF_v9.xlsm]PPT_3Tri_TX_Absorcao Gráfico 4</vt:lpstr>
      <vt:lpstr>C:\YAMAHA - teste\NIPPON\Analisador_DEF_v9.xlsm!PPT!L64C2:L71C6</vt:lpstr>
      <vt:lpstr>C:\YAMAHA - teste\NIPPON\Analisador_DEF_v9.xlsm!PPT_3Tri_TX_Absorcao![Analisador_DEF_v9.xlsm]PPT_3Tri_TX_Absorcao Gráfico 21</vt:lpstr>
      <vt:lpstr>C:\YAMAHA - teste\NIPPON\Analisador_DEF_v9.xlsm!PPT_3Tri_TX_Absorcao![Analisador_DEF_v9.xlsm]PPT_3Tri_TX_Absorcao Gráfico 22</vt:lpstr>
      <vt:lpstr>C:\YAMAHA - teste\NIPPON\Analisador_DEF_v9.xlsm!PPT_3Tri_TX_Absorcao![Analisador_DEF_v9.xlsm]PPT_3Tri_TX_Absorcao Gráfico 25</vt:lpstr>
      <vt:lpstr>C:\YAMAHA - teste\NIPPON\Analisador_DEF_v9.xlsm!PPT_3Tri_TX_Absorcao![Analisador_DEF_v9.xlsm]PPT_3Tri_TX_Absorcao Gráfico 26</vt:lpstr>
      <vt:lpstr>C:\YAMAHA - teste\NIPPON\Analisador_DEF_v9.xlsm!PPT!L73C2:L75C6</vt:lpstr>
      <vt:lpstr>C:\YAMAHA - teste\NIPPON\Analisador_DEF_v9.xlsm!PPT_3Tri_TX_Absorcao![Analisador_DEF_v9.xlsm]PPT_3Tri_TX_Absorcao Gráfico 8</vt:lpstr>
      <vt:lpstr>C:\YAMAHA - teste\NIPPON\Analisador_DEF_v9.xlsm!PPT_3Tri_TX_Absorcao![Analisador_DEF_v9.xlsm]PPT_3Tri_TX_Absorcao Gráfico 9</vt:lpstr>
      <vt:lpstr>C:\YAMAHA - teste\NIPPON\Analisador_DEF_v9.xlsm!PPT!L77C2:L79C6</vt:lpstr>
      <vt:lpstr>C:\YAMAHA - teste\NIPPON\Analisador_DEF_v9.xlsm!PPT_3Tri_TX_Absorcao![Analisador_DEF_v9.xlsm]PPT_3Tri_TX_Absorcao Gráfico 12</vt:lpstr>
      <vt:lpstr>C:\YAMAHA - teste\NIPPON\Analisador_DEF_v9.xlsm!PPT_3Tri_TX_Absorcao![Analisador_DEF_v9.xlsm]PPT_3Tri_TX_Absorcao Gráfico 13</vt:lpstr>
      <vt:lpstr>C:\YAMAHA - teste\NIPPON\Analisador_DEF_v9.xlsm!PPT_3Tri_TX_Absorcao![Analisador_DEF_v9.xlsm]PPT_3Tri_TX_Absorcao Gráfico 17</vt:lpstr>
      <vt:lpstr>C:\YAMAHA - teste\NIPPON\Analisador_DEF_v9.xlsm!PPT_3Tri_TX_Absorcao![Analisador_DEF_v9.xlsm]PPT_3Tri_TX_Absorcao Gráfico 18</vt:lpstr>
      <vt:lpstr>C:\YAMAHA - teste\NIPPON\Analisador_DEF_v9.xlsm!PPT!L81C2:L83C6</vt:lpstr>
      <vt:lpstr>C:\YAMAHA - teste\NIPPON\Analisador_DEF_v9.xlsm!PPT!L26C10</vt:lpstr>
      <vt:lpstr>C:\YAMAHA - teste\NIPPON\Analisador_DEF_v9.xlsm!PPT!L30C10</vt:lpstr>
      <vt:lpstr>C:\YAMAHA - teste\NIPPON\Analisador_DEF_v9.xlsm!PPT!L33C14</vt:lpstr>
      <vt:lpstr>C:\YAMAHA - teste\NIPPON\Analisador_DEF_v9.xlsm!PPT!L35C14</vt:lpstr>
      <vt:lpstr>C:\YAMAHA - teste\NIPPON\Analisador_DEF_v9.xlsm!PPT!L37C14</vt:lpstr>
      <vt:lpstr>C:\YAMAHA - teste\NIPPON\Analisador_DEF_v9.xlsm!PPT!L39C14</vt:lpstr>
      <vt:lpstr>C:\YAMAHA - teste\NIPPON\Analisador_DEF_v9.xlsm!Acoes3TRI!L4C2:L8C9</vt:lpstr>
      <vt:lpstr>C:\YAMAHA - teste\NIPPON\Analisador_DEF_v9.xlsm!PPT_3Tri_TX_Absorcao![Analisador_DEF_v9.xlsm]PPT_3Tri_TX_Absorcao Gráfico 3</vt:lpstr>
      <vt:lpstr>C:\YAMAHA - teste\NIPPON\Analisador_DEF_v9.xlsm!PPT_3Tri_TX_Absorcao![Analisador_DEF_v9.xlsm]PPT_3Tri_TX_Absorcao Gráfico 4</vt:lpstr>
      <vt:lpstr>C:\YAMAHA - teste\NIPPON\Analisador_DEF_v9.xlsm!PPT!L64C2:L71C6</vt:lpstr>
      <vt:lpstr>C:\YAMAHA - teste\NIPPON\Analisador_DEF_v9.xlsm!PPT_3Tri_TX_Absorcao![Analisador_DEF_v9.xlsm]PPT_3Tri_TX_Absorcao Gráfico 8</vt:lpstr>
      <vt:lpstr>C:\YAMAHA - teste\NIPPON\Analisador_DEF_v9.xlsm!PPT_3Tri_TX_Absorcao![Analisador_DEF_v9.xlsm]PPT_3Tri_TX_Absorcao Gráfico 9</vt:lpstr>
      <vt:lpstr>C:\YAMAHA - teste\NIPPON\Analisador_DEF_v9.xlsm!PPT!L73C2:L75C6</vt:lpstr>
      <vt:lpstr>C:\YAMAHA - teste\NIPPON\Analisador_DEF_v9.xlsm!PPT_3Tri_TX_Absorcao![Analisador_DEF_v9.xlsm]PPT_3Tri_TX_Absorcao Gráfico 17</vt:lpstr>
      <vt:lpstr>C:\YAMAHA - teste\NIPPON\Analisador_DEF_v9.xlsm!PPT_3Tri_TX_Absorcao![Analisador_DEF_v9.xlsm]PPT_3Tri_TX_Absorcao Gráfico 18</vt:lpstr>
      <vt:lpstr>C:\YAMAHA - teste\NIPPON\Analisador_DEF_v9.xlsm!PPT!L81C2:L83C6</vt:lpstr>
      <vt:lpstr>C:\YAMAHA - teste\NIPPON\Analisador_DEF_v9.xlsm!PPT_3Tri_TX_Absorcao![Analisador_DEF_v9.xlsm]PPT_3Tri_TX_Absorcao Gráfico 12</vt:lpstr>
      <vt:lpstr>C:\YAMAHA - teste\NIPPON\Analisador_DEF_v9.xlsm!PPT_3Tri_TX_Absorcao![Analisador_DEF_v9.xlsm]PPT_3Tri_TX_Absorcao Gráfico 13</vt:lpstr>
      <vt:lpstr>C:\YAMAHA - teste\NIPPON\Analisador_DEF_v9.xlsm!PPT_3Tri_TX_Absorcao![Analisador_DEF_v9.xlsm]PPT_3Tri_TX_Absorcao Gráfico 21</vt:lpstr>
      <vt:lpstr>C:\YAMAHA - teste\NIPPON\Analisador_DEF_v9.xlsm!PPT_3Tri_TX_Absorcao![Analisador_DEF_v9.xlsm]PPT_3Tri_TX_Absorcao Gráfico 22</vt:lpstr>
      <vt:lpstr>C:\YAMAHA - teste\NIPPON\Analisador_DEF_v9.xlsm!PPT_3Tri_TX_Absorcao![Analisador_DEF_v9.xlsm]PPT_3Tri_TX_Absorcao Gráfico 25</vt:lpstr>
      <vt:lpstr>C:\YAMAHA - teste\NIPPON\Analisador_DEF_v9.xlsm!PPT_3Tri_TX_Absorcao![Analisador_DEF_v9.xlsm]PPT_3Tri_TX_Absorcao Gráfico 26</vt:lpstr>
      <vt:lpstr>C:\YAMAHA - teste\NIPPON\Analisador_DEF_v9.xlsm!PPT!L77C2:L79C6</vt:lpstr>
      <vt:lpstr>C:\YAMAHA - teste\NIPPON\Analisador_DEF_v9.xlsm!Acoes3TRI!L4C2:L8C9</vt:lpstr>
      <vt:lpstr>C:\YAMAHA - teste\NIPPON\Analisador_DEF_v9.xlsm!PPT!L26C10</vt:lpstr>
      <vt:lpstr>C:\YAMAHA - teste\NIPPON\Analisador_DEF_v9.xlsm!PPT!L30C10</vt:lpstr>
      <vt:lpstr>C:\YAMAHA - teste\NIPPON\Analisador_DEF_v9.xlsm!PPT!L33C14</vt:lpstr>
      <vt:lpstr>C:\YAMAHA - teste\NIPPON\Analisador_DEF_v9.xlsm!PPT!L35C14</vt:lpstr>
      <vt:lpstr>C:\YAMAHA - teste\NIPPON\Analisador_DEF_v9.xlsm!PPT!L37C14</vt:lpstr>
      <vt:lpstr>C:\YAMAHA - teste\NIPPON\Analisador_DEF_v9.xlsm!PPT!L39C14</vt:lpstr>
      <vt:lpstr>C:\YAMAHA - teste\NIPPON\Analisador_DEF_v9.xlsm!PPT_4Tri_TX_Absorcao![Analisador_DEF_v9.xlsm]PPT_4Tri_TX_Absorcao Gráfico 3</vt:lpstr>
      <vt:lpstr>C:\YAMAHA - teste\NIPPON\Analisador_DEF_v9.xlsm!PPT_4Tri_TX_Absorcao![Analisador_DEF_v9.xlsm]PPT_4Tri_TX_Absorcao Gráfico 4</vt:lpstr>
      <vt:lpstr>C:\YAMAHA - teste\NIPPON\Analisador_DEF_v9.xlsm!PPT!L86C2:L93C6</vt:lpstr>
      <vt:lpstr>C:\YAMAHA - teste\NIPPON\Analisador_DEF_v9.xlsm!PPT_4Tri_TX_Absorcao![Analisador_DEF_v9.xlsm]PPT_4Tri_TX_Absorcao Gráfico 21</vt:lpstr>
      <vt:lpstr>C:\YAMAHA - teste\NIPPON\Analisador_DEF_v9.xlsm!PPT_4Tri_TX_Absorcao![Analisador_DEF_v9.xlsm]PPT_4Tri_TX_Absorcao Gráfico 22</vt:lpstr>
      <vt:lpstr>C:\YAMAHA - teste\NIPPON\Analisador_DEF_v9.xlsm!PPT_4Tri_TX_Absorcao![Analisador_DEF_v9.xlsm]PPT_4Tri_TX_Absorcao Gráfico 25</vt:lpstr>
      <vt:lpstr>C:\YAMAHA - teste\NIPPON\Analisador_DEF_v9.xlsm!PPT_4Tri_TX_Absorcao![Analisador_DEF_v9.xlsm]PPT_4Tri_TX_Absorcao Gráfico 26</vt:lpstr>
      <vt:lpstr>C:\YAMAHA - teste\NIPPON\Analisador_DEF_v9.xlsm!PPT!L99C2:L101C6</vt:lpstr>
      <vt:lpstr>C:\YAMAHA - teste\NIPPON\Analisador_DEF_v9.xlsm!PPT_4Tri_TX_Absorcao![Analisador_DEF_v9.xlsm]PPT_4Tri_TX_Absorcao Gráfico 8</vt:lpstr>
      <vt:lpstr>C:\YAMAHA - teste\NIPPON\Analisador_DEF_v9.xlsm!PPT_4Tri_TX_Absorcao![Analisador_DEF_v9.xlsm]PPT_4Tri_TX_Absorcao Gráfico 9</vt:lpstr>
      <vt:lpstr>C:\YAMAHA - teste\NIPPON\Analisador_DEF_v9.xlsm!PPT!L95C2:L97C6</vt:lpstr>
      <vt:lpstr>C:\YAMAHA - teste\NIPPON\Analisador_DEF_v9.xlsm!PPT_4Tri_TX_Absorcao![Analisador_DEF_v9.xlsm]PPT_4Tri_TX_Absorcao Gráfico 12</vt:lpstr>
      <vt:lpstr>C:\YAMAHA - teste\NIPPON\Analisador_DEF_v9.xlsm!PPT_4Tri_TX_Absorcao![Analisador_DEF_v9.xlsm]PPT_4Tri_TX_Absorcao Gráfico 13</vt:lpstr>
      <vt:lpstr>C:\YAMAHA - teste\NIPPON\Analisador_DEF_v9.xlsm!PPT_4Tri_TX_Absorcao![Analisador_DEF_v9.xlsm]PPT_4Tri_TX_Absorcao Gráfico 17</vt:lpstr>
      <vt:lpstr>C:\YAMAHA - teste\NIPPON\Analisador_DEF_v9.xlsm!PPT_4Tri_TX_Absorcao![Analisador_DEF_v9.xlsm]PPT_4Tri_TX_Absorcao Gráfico 18</vt:lpstr>
      <vt:lpstr>C:\YAMAHA - teste\NIPPON\Analisador_DEF_v9.xlsm!PPT!L103C2:L105C6</vt:lpstr>
      <vt:lpstr>C:\YAMAHA - teste\NIPPON\Analisador_DEF_v9.xlsm!PPT!L26C11</vt:lpstr>
      <vt:lpstr>C:\YAMAHA - teste\NIPPON\Analisador_DEF_v9.xlsm!PPT!L30C11</vt:lpstr>
      <vt:lpstr>C:\YAMAHA - teste\NIPPON\Analisador_DEF_v9.xlsm!PPT!L33C15</vt:lpstr>
      <vt:lpstr>C:\YAMAHA - teste\NIPPON\Analisador_DEF_v9.xlsm!PPT!L35C15</vt:lpstr>
      <vt:lpstr>C:\YAMAHA - teste\NIPPON\Analisador_DEF_v9.xlsm!PPT!L37C15</vt:lpstr>
      <vt:lpstr>C:\YAMAHA - teste\NIPPON\Analisador_DEF_v9.xlsm!PPT!L39C15</vt:lpstr>
      <vt:lpstr>C:\YAMAHA - teste\NIPPON\Analisador_DEF_v9.xlsm!Acoes4TRI!L4C2:L8C9</vt:lpstr>
      <vt:lpstr>C:\YAMAHA - teste\NIPPON\Analisador_DEF_v9.xlsm!PPT_4Tri_TX_Absorcao![Analisador_DEF_v9.xlsm]PPT_4Tri_TX_Absorcao Gráfico 3</vt:lpstr>
      <vt:lpstr>C:\YAMAHA - teste\NIPPON\Analisador_DEF_v9.xlsm!PPT_4Tri_TX_Absorcao![Analisador_DEF_v9.xlsm]PPT_4Tri_TX_Absorcao Gráfico 4</vt:lpstr>
      <vt:lpstr>C:\YAMAHA - teste\NIPPON\Analisador_DEF_v9.xlsm!PPT!L86C2:L93C6</vt:lpstr>
      <vt:lpstr>C:\YAMAHA - teste\NIPPON\Analisador_DEF_v9.xlsm!PPT_4Tri_TX_Absorcao![Analisador_DEF_v9.xlsm]PPT_4Tri_TX_Absorcao Gráfico 8</vt:lpstr>
      <vt:lpstr>C:\YAMAHA - teste\NIPPON\Analisador_DEF_v9.xlsm!PPT_4Tri_TX_Absorcao![Analisador_DEF_v9.xlsm]PPT_4Tri_TX_Absorcao Gráfico 9</vt:lpstr>
      <vt:lpstr>C:\YAMAHA - teste\NIPPON\Analisador_DEF_v9.xlsm!PPT!L95C2:L97C6</vt:lpstr>
      <vt:lpstr>C:\YAMAHA - teste\NIPPON\Analisador_DEF_v9.xlsm!PPT_4Tri_TX_Absorcao![Analisador_DEF_v9.xlsm]PPT_4Tri_TX_Absorcao Gráfico 17</vt:lpstr>
      <vt:lpstr>C:\YAMAHA - teste\NIPPON\Analisador_DEF_v9.xlsm!PPT_4Tri_TX_Absorcao![Analisador_DEF_v9.xlsm]PPT_4Tri_TX_Absorcao Gráfico 18</vt:lpstr>
      <vt:lpstr>C:\YAMAHA - teste\NIPPON\Analisador_DEF_v9.xlsm!PPT!L103C2:L105C6</vt:lpstr>
      <vt:lpstr>C:\YAMAHA - teste\NIPPON\Analisador_DEF_v9.xlsm!PPT_4Tri_TX_Absorcao![Analisador_DEF_v9.xlsm]PPT_4Tri_TX_Absorcao Gráfico 12</vt:lpstr>
      <vt:lpstr>C:\YAMAHA - teste\NIPPON\Analisador_DEF_v9.xlsm!PPT_4Tri_TX_Absorcao![Analisador_DEF_v9.xlsm]PPT_4Tri_TX_Absorcao Gráfico 13</vt:lpstr>
      <vt:lpstr>C:\YAMAHA - teste\NIPPON\Analisador_DEF_v9.xlsm!PPT_4Tri_TX_Absorcao![Analisador_DEF_v9.xlsm]PPT_4Tri_TX_Absorcao Gráfico 21</vt:lpstr>
      <vt:lpstr>C:\YAMAHA - teste\NIPPON\Analisador_DEF_v9.xlsm!PPT_4Tri_TX_Absorcao![Analisador_DEF_v9.xlsm]PPT_4Tri_TX_Absorcao Gráfico 22</vt:lpstr>
      <vt:lpstr>C:\YAMAHA - teste\NIPPON\Analisador_DEF_v9.xlsm!PPT_4Tri_TX_Absorcao![Analisador_DEF_v9.xlsm]PPT_4Tri_TX_Absorcao Gráfico 25</vt:lpstr>
      <vt:lpstr>C:\YAMAHA - teste\NIPPON\Analisador_DEF_v9.xlsm!PPT_4Tri_TX_Absorcao![Analisador_DEF_v9.xlsm]PPT_4Tri_TX_Absorcao Gráfico 26</vt:lpstr>
      <vt:lpstr>C:\YAMAHA - teste\NIPPON\Analisador_DEF_v9.xlsm!PPT!L99C2:L101C6</vt:lpstr>
      <vt:lpstr>C:\YAMAHA - teste\NIPPON\Analisador_DEF_v9.xlsm!Acoes4TRI!L4C2:L8C9</vt:lpstr>
      <vt:lpstr>C:\YAMAHA - teste\NIPPON\Analisador_DEF_v9.xlsm!PPT!L26C11</vt:lpstr>
      <vt:lpstr>C:\YAMAHA - teste\NIPPON\Analisador_DEF_v9.xlsm!PPT!L30C11</vt:lpstr>
      <vt:lpstr>C:\YAMAHA - teste\NIPPON\Analisador_DEF_v9.xlsm!PPT!L33C15</vt:lpstr>
      <vt:lpstr>C:\YAMAHA - teste\NIPPON\Analisador_DEF_v9.xlsm!PPT!L35C15</vt:lpstr>
      <vt:lpstr>C:\YAMAHA - teste\NIPPON\Analisador_DEF_v9.xlsm!PPT!L37C15</vt:lpstr>
      <vt:lpstr>C:\YAMAHA - teste\NIPPON\Analisador_DEF_v9.xlsm!PPT!L39C15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Augusto Barros</dc:creator>
  <cp:lastModifiedBy>Caique Goncalves De Oliveira</cp:lastModifiedBy>
  <cp:revision>33</cp:revision>
  <dcterms:modified xsi:type="dcterms:W3CDTF">2026-07-28T15:55:17Z</dcterms:modified>
  <cp:category>XPTOPublic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23cecbaa-99ae-4960-99db-660ed3091c9a</vt:lpwstr>
  </property>
  <property fmtid="{D5CDD505-2E9C-101B-9397-08002B2CF9AE}" pid="3" name="bjSaver">
    <vt:lpwstr>jMPiftq7UvchF0wPKRvoKfTgW+2/X3E+</vt:lpwstr>
  </property>
  <property fmtid="{D5CDD505-2E9C-101B-9397-08002B2CF9AE}" pid="4" name="bjDocumentSecurityLabel">
    <vt:lpwstr>NÃO CLASSIFICADA</vt:lpwstr>
  </property>
  <property fmtid="{D5CDD505-2E9C-101B-9397-08002B2CF9AE}" pid="5" name="X-BJ-Classification">
    <vt:lpwstr>X-BJ-CLASSIFICATION-{Classificação}</vt:lpwstr>
  </property>
  <property fmtid="{D5CDD505-2E9C-101B-9397-08002B2CF9AE}" pid="6" name="ContentTypeId">
    <vt:lpwstr>0x0101005D4750D6696BCD4FBEB5BFF41C8EE3DD</vt:lpwstr>
  </property>
  <property fmtid="{D5CDD505-2E9C-101B-9397-08002B2CF9AE}" pid="7" name="bjDocumentLabelXML">
    <vt:lpwstr>&lt;?xml version="1.0" encoding="us-ascii"?&gt;&lt;sisl xmlns:xsd="http://www.w3.org/2001/XMLSchema" xmlns:xsi="http://www.w3.org/2001/XMLSchema-instance" sislVersion="0" policy="06b056e2-7ddb-4f31-a510-f19fdcc3f692" origin="userSelected" xmlns="http://www.boldonj</vt:lpwstr>
  </property>
  <property fmtid="{D5CDD505-2E9C-101B-9397-08002B2CF9AE}" pid="8" name="bjDocumentLabelXML-0">
    <vt:lpwstr>ames.com/2008/01/sie/internal/label"&gt;&lt;element uid="id_classification_nonbusiness" value="" /&gt;&lt;/sisl&gt;</vt:lpwstr>
  </property>
  <property fmtid="{D5CDD505-2E9C-101B-9397-08002B2CF9AE}" pid="9" name="bjClsUserRVM">
    <vt:lpwstr>[]</vt:lpwstr>
  </property>
</Properties>
</file>