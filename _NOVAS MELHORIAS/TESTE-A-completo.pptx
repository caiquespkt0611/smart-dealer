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Abertura: este deck sai do sistema com os mesmos números das telas — nada foi montado à mão.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Pergunta 1 da call: "como eu fui?" — responder com a carta e o ritmo, não com opinião.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decomposição fecha exata: variação real = efeito mercado + efeito share. É ela que separa "o mercado caiu" de "perdemos disputa".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causa muda a ação: disputa → retomar terreno; demanda → converter o que ainda entra e ajustar pedido.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O resultado da área é do grupo — a invasão é alerta, não placar. Nomear os CNPJs muda a conversa.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Linha da média no gráfico = referência 65%. Passagens (nº de O.S.) não constam no DRE — pendente de outra fonte.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Traduzir o prêmio em motos: cada degrau da circular tem um número exato de motos de distância.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B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" name="forma 4"/>
          <p:cNvSpPr/>
          <p:nvPr/>
        </p:nvSpPr>
        <p:spPr>
          <a:xfrm>
            <a:off x="685800" y="2286000"/>
            <a:ext cx="10820400" cy="2014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300" b="1" dirty="0">
                <a:solidFill>
                  <a:srgbClr val="A9C4E8"/>
                </a:solidFill>
                <a:latin typeface="Calibri"/>
                <a:cs typeface="Calibri"/>
              </a:rPr>
              <a:t>PLANO DE PERFORMANCE</a:t>
            </a:r>
          </a:p>
        </p:txBody>
      </p:sp>
      <p:sp>
        <p:nvSpPr>
          <p:cNvPr id="5" name="forma 5"/>
          <p:cNvSpPr/>
          <p:nvPr/>
        </p:nvSpPr>
        <p:spPr>
          <a:xfrm>
            <a:off x="685800" y="2616200"/>
            <a:ext cx="10820400" cy="681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4400" b="1" dirty="0">
                <a:solidFill>
                  <a:srgbClr val="FFFFFF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3403600"/>
            <a:ext cx="10820400" cy="278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800" dirty="0">
                <a:solidFill>
                  <a:srgbClr val="D7E3F4"/>
                </a:solidFill>
                <a:latin typeface="Calibri"/>
                <a:cs typeface="Calibri"/>
              </a:rPr>
              <a:t>Julho fechado → carta de Agosto/2026</a:t>
            </a:r>
          </a:p>
        </p:txBody>
      </p:sp>
      <p:sp>
        <p:nvSpPr>
          <p:cNvPr id="7" name="forma 7"/>
          <p:cNvSpPr/>
          <p:nvPr/>
        </p:nvSpPr>
        <p:spPr>
          <a:xfrm>
            <a:off x="685800" y="3810000"/>
            <a:ext cx="10820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A9C4E8"/>
                </a:solidFill>
                <a:latin typeface="Calibri"/>
                <a:cs typeface="Calibri"/>
              </a:rPr>
              <a:t>Smart Dealer · dados vivos do sistema · 07/08/2026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O MÊS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julho diz sobre o que agosto exige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CARTA DE AGOSTO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160 un</a:t>
            </a:r>
          </a:p>
        </p:txBody>
      </p:sp>
      <p:sp>
        <p:nvSpPr>
          <p:cNvPr id="9" name="forma 9"/>
          <p:cNvSpPr/>
          <p:nvPr/>
        </p:nvSpPr>
        <p:spPr>
          <a:xfrm>
            <a:off x="287528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02768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FECHAMENTO JULHO</a:t>
            </a:r>
          </a:p>
        </p:txBody>
      </p:sp>
      <p:sp>
        <p:nvSpPr>
          <p:cNvPr id="11" name="forma 11"/>
          <p:cNvSpPr/>
          <p:nvPr/>
        </p:nvSpPr>
        <p:spPr>
          <a:xfrm>
            <a:off x="302768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144 un</a:t>
            </a:r>
          </a:p>
        </p:txBody>
      </p:sp>
      <p:sp>
        <p:nvSpPr>
          <p:cNvPr id="12" name="forma 12"/>
          <p:cNvSpPr/>
          <p:nvPr/>
        </p:nvSpPr>
        <p:spPr>
          <a:xfrm>
            <a:off x="506476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521716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SALTO QUE A CARTA PEDE</a:t>
            </a:r>
          </a:p>
        </p:txBody>
      </p:sp>
      <p:sp>
        <p:nvSpPr>
          <p:cNvPr id="14" name="forma 14"/>
          <p:cNvSpPr/>
          <p:nvPr/>
        </p:nvSpPr>
        <p:spPr>
          <a:xfrm>
            <a:off x="521716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+16 un</a:t>
            </a:r>
          </a:p>
        </p:txBody>
      </p:sp>
      <p:sp>
        <p:nvSpPr>
          <p:cNvPr id="15" name="forma 15"/>
          <p:cNvSpPr/>
          <p:nvPr/>
        </p:nvSpPr>
        <p:spPr>
          <a:xfrm>
            <a:off x="725424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740664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RITMO NECESSÁRIO</a:t>
            </a:r>
          </a:p>
        </p:txBody>
      </p:sp>
      <p:sp>
        <p:nvSpPr>
          <p:cNvPr id="17" name="forma 17"/>
          <p:cNvSpPr/>
          <p:nvPr/>
        </p:nvSpPr>
        <p:spPr>
          <a:xfrm>
            <a:off x="740664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7,6 un/dia</a:t>
            </a:r>
          </a:p>
        </p:txBody>
      </p:sp>
      <p:sp>
        <p:nvSpPr>
          <p:cNvPr id="18" name="forma 18"/>
          <p:cNvSpPr/>
          <p:nvPr/>
        </p:nvSpPr>
        <p:spPr>
          <a:xfrm>
            <a:off x="7406640" y="1941068"/>
            <a:ext cx="175768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21 dias úteis</a:t>
            </a:r>
          </a:p>
        </p:txBody>
      </p:sp>
      <p:sp>
        <p:nvSpPr>
          <p:cNvPr id="19" name="forma 19"/>
          <p:cNvSpPr/>
          <p:nvPr/>
        </p:nvSpPr>
        <p:spPr>
          <a:xfrm>
            <a:off x="9443720" y="1270000"/>
            <a:ext cx="206248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0" name="forma 20"/>
          <p:cNvSpPr/>
          <p:nvPr/>
        </p:nvSpPr>
        <p:spPr>
          <a:xfrm>
            <a:off x="9596120" y="1384300"/>
            <a:ext cx="175768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POSIÇÃO REGIONAL</a:t>
            </a:r>
          </a:p>
        </p:txBody>
      </p:sp>
      <p:sp>
        <p:nvSpPr>
          <p:cNvPr id="21" name="forma 21"/>
          <p:cNvSpPr/>
          <p:nvPr/>
        </p:nvSpPr>
        <p:spPr>
          <a:xfrm>
            <a:off x="9596120" y="1574800"/>
            <a:ext cx="175768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4º de 9</a:t>
            </a:r>
          </a:p>
        </p:txBody>
      </p:sp>
      <p:sp>
        <p:nvSpPr>
          <p:cNvPr id="22" name="forma 22"/>
          <p:cNvSpPr/>
          <p:nvPr/>
        </p:nvSpPr>
        <p:spPr>
          <a:xfrm>
            <a:off x="685800" y="2322068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2322068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2449068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LARGADA</a:t>
            </a:r>
          </a:p>
        </p:txBody>
      </p:sp>
      <p:sp>
        <p:nvSpPr>
          <p:cNvPr id="25" name="forma 25"/>
          <p:cNvSpPr/>
          <p:nvPr/>
        </p:nvSpPr>
        <p:spPr>
          <a:xfrm>
            <a:off x="9169400" y="2423668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+16 un</a:t>
            </a:r>
          </a:p>
        </p:txBody>
      </p:sp>
      <p:sp>
        <p:nvSpPr>
          <p:cNvPr id="26" name="forma 26"/>
          <p:cNvSpPr/>
          <p:nvPr/>
        </p:nvSpPr>
        <p:spPr>
          <a:xfrm>
            <a:off x="889000" y="2703068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Julho fechou com 144 un e a carta de agosto é de 160 un — +16 un sobre o que acabou de ser feito, ou 7,6 un/dia. Ainda não há venda registrada no mês: não há ritmo a corrigir, há ritmo a estabelecer.</a:t>
            </a:r>
          </a:p>
        </p:txBody>
      </p:sp>
      <p:sp>
        <p:nvSpPr>
          <p:cNvPr id="27" name="forma 2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MERCADO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Por que o varejo está onde está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áreas Amparo + Ouro Fino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MERCADO DA ÁREA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791 un/mês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 766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SHARE YAMAHA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20,4%</a:t>
            </a:r>
          </a:p>
        </p:txBody>
      </p:sp>
      <p:sp>
        <p:nvSpPr>
          <p:cNvPr id="13" name="forma 13"/>
          <p:cNvSpPr/>
          <p:nvPr/>
        </p:nvSpPr>
        <p:spPr>
          <a:xfrm>
            <a:off x="35750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Abr–Jun: 20,1%</a:t>
            </a:r>
          </a:p>
        </p:txBody>
      </p:sp>
      <p:sp>
        <p:nvSpPr>
          <p:cNvPr id="14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EFEITO MERCADO</a:t>
            </a:r>
          </a:p>
        </p:txBody>
      </p:sp>
      <p:sp>
        <p:nvSpPr>
          <p:cNvPr id="16" name="forma 16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+5 un</a:t>
            </a:r>
          </a:p>
        </p:txBody>
      </p:sp>
      <p:sp>
        <p:nvSpPr>
          <p:cNvPr id="17" name="forma 17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EFEITO SHARE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+1,7 un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296668"/>
            <a:ext cx="10820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52514E"/>
                </a:solidFill>
                <a:latin typeface="Calibri"/>
                <a:cs typeface="Calibri"/>
              </a:rPr>
              <a:t>Mercado da área, mês a mês (un)</a:t>
            </a:r>
          </a:p>
        </p:txBody>
      </p:sp>
      <p:sp>
        <p:nvSpPr>
          <p:cNvPr id="21" name="forma 21"/>
          <p:cNvSpPr/>
          <p:nvPr/>
        </p:nvSpPr>
        <p:spPr>
          <a:xfrm>
            <a:off x="1242483" y="2960004"/>
            <a:ext cx="533400" cy="108926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1115483" y="276950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674</a:t>
            </a:r>
          </a:p>
        </p:txBody>
      </p:sp>
      <p:sp>
        <p:nvSpPr>
          <p:cNvPr id="23" name="forma 23"/>
          <p:cNvSpPr/>
          <p:nvPr/>
        </p:nvSpPr>
        <p:spPr>
          <a:xfrm>
            <a:off x="1115483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Fev</a:t>
            </a:r>
          </a:p>
        </p:txBody>
      </p:sp>
      <p:sp>
        <p:nvSpPr>
          <p:cNvPr id="24" name="forma 24"/>
          <p:cNvSpPr/>
          <p:nvPr/>
        </p:nvSpPr>
        <p:spPr>
          <a:xfrm>
            <a:off x="2889250" y="2724051"/>
            <a:ext cx="533400" cy="1325217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2762250" y="2533551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820</a:t>
            </a:r>
          </a:p>
        </p:txBody>
      </p:sp>
      <p:sp>
        <p:nvSpPr>
          <p:cNvPr id="26" name="forma 26"/>
          <p:cNvSpPr/>
          <p:nvPr/>
        </p:nvSpPr>
        <p:spPr>
          <a:xfrm>
            <a:off x="2762250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Mar</a:t>
            </a:r>
          </a:p>
        </p:txBody>
      </p:sp>
      <p:sp>
        <p:nvSpPr>
          <p:cNvPr id="27" name="forma 27"/>
          <p:cNvSpPr/>
          <p:nvPr/>
        </p:nvSpPr>
        <p:spPr>
          <a:xfrm>
            <a:off x="4536017" y="2769302"/>
            <a:ext cx="533400" cy="1279966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4409017" y="2578802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792</a:t>
            </a:r>
          </a:p>
        </p:txBody>
      </p:sp>
      <p:sp>
        <p:nvSpPr>
          <p:cNvPr id="29" name="forma 29"/>
          <p:cNvSpPr/>
          <p:nvPr/>
        </p:nvSpPr>
        <p:spPr>
          <a:xfrm>
            <a:off x="4409017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Abr</a:t>
            </a:r>
          </a:p>
        </p:txBody>
      </p:sp>
      <p:sp>
        <p:nvSpPr>
          <p:cNvPr id="30" name="forma 30"/>
          <p:cNvSpPr/>
          <p:nvPr/>
        </p:nvSpPr>
        <p:spPr>
          <a:xfrm>
            <a:off x="6182783" y="2851724"/>
            <a:ext cx="533400" cy="119754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6055783" y="266122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741</a:t>
            </a:r>
          </a:p>
        </p:txBody>
      </p:sp>
      <p:sp>
        <p:nvSpPr>
          <p:cNvPr id="32" name="forma 32"/>
          <p:cNvSpPr/>
          <p:nvPr/>
        </p:nvSpPr>
        <p:spPr>
          <a:xfrm>
            <a:off x="6055783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Mai</a:t>
            </a:r>
          </a:p>
        </p:txBody>
      </p:sp>
      <p:sp>
        <p:nvSpPr>
          <p:cNvPr id="33" name="forma 33"/>
          <p:cNvSpPr/>
          <p:nvPr/>
        </p:nvSpPr>
        <p:spPr>
          <a:xfrm>
            <a:off x="7829550" y="2811321"/>
            <a:ext cx="533400" cy="1237947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7702550" y="2620821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766</a:t>
            </a:r>
          </a:p>
        </p:txBody>
      </p:sp>
      <p:sp>
        <p:nvSpPr>
          <p:cNvPr id="35" name="forma 35"/>
          <p:cNvSpPr/>
          <p:nvPr/>
        </p:nvSpPr>
        <p:spPr>
          <a:xfrm>
            <a:off x="7702550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Jun</a:t>
            </a:r>
          </a:p>
        </p:txBody>
      </p:sp>
      <p:sp>
        <p:nvSpPr>
          <p:cNvPr id="36" name="forma 36"/>
          <p:cNvSpPr/>
          <p:nvPr/>
        </p:nvSpPr>
        <p:spPr>
          <a:xfrm>
            <a:off x="9476317" y="2770918"/>
            <a:ext cx="533400" cy="1278350"/>
          </a:xfrm>
          <a:prstGeom prst="roundRect">
            <a:avLst>
              <a:gd name="adj" fmla="val 12000"/>
            </a:avLst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7" name="forma 37"/>
          <p:cNvSpPr/>
          <p:nvPr/>
        </p:nvSpPr>
        <p:spPr>
          <a:xfrm>
            <a:off x="9349317" y="258041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4B9B3F"/>
                </a:solidFill>
                <a:latin typeface="Calibri"/>
                <a:cs typeface="Calibri"/>
              </a:rPr>
              <a:t>791</a:t>
            </a:r>
          </a:p>
        </p:txBody>
      </p:sp>
      <p:sp>
        <p:nvSpPr>
          <p:cNvPr id="38" name="forma 38"/>
          <p:cNvSpPr/>
          <p:nvPr/>
        </p:nvSpPr>
        <p:spPr>
          <a:xfrm>
            <a:off x="9349317" y="4100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0B0B0B"/>
                </a:solidFill>
                <a:latin typeface="Calibri"/>
                <a:cs typeface="Calibri"/>
              </a:rPr>
              <a:t>Jul</a:t>
            </a:r>
          </a:p>
        </p:txBody>
      </p:sp>
      <p:sp>
        <p:nvSpPr>
          <p:cNvPr id="39" name="forma 39"/>
          <p:cNvSpPr/>
          <p:nvPr/>
        </p:nvSpPr>
        <p:spPr>
          <a:xfrm>
            <a:off x="685800" y="2810836"/>
            <a:ext cx="9956800" cy="11430"/>
          </a:xfrm>
          <a:prstGeom prst="rect">
            <a:avLst/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0" name="forma 40"/>
          <p:cNvSpPr/>
          <p:nvPr/>
        </p:nvSpPr>
        <p:spPr>
          <a:xfrm>
            <a:off x="10693400" y="2734636"/>
            <a:ext cx="8128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766</a:t>
            </a:r>
          </a:p>
        </p:txBody>
      </p:sp>
      <p:sp>
        <p:nvSpPr>
          <p:cNvPr id="41" name="forma 41"/>
          <p:cNvSpPr/>
          <p:nvPr/>
        </p:nvSpPr>
        <p:spPr>
          <a:xfrm>
            <a:off x="685800" y="4354068"/>
            <a:ext cx="10820400" cy="756126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2" name="forma 42"/>
          <p:cNvSpPr/>
          <p:nvPr/>
        </p:nvSpPr>
        <p:spPr>
          <a:xfrm>
            <a:off x="685800" y="4354068"/>
            <a:ext cx="50800" cy="756126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3" name="forma 43"/>
          <p:cNvSpPr/>
          <p:nvPr/>
        </p:nvSpPr>
        <p:spPr>
          <a:xfrm>
            <a:off x="889000" y="44810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VEREDITO</a:t>
            </a:r>
          </a:p>
        </p:txBody>
      </p:sp>
      <p:sp>
        <p:nvSpPr>
          <p:cNvPr id="44" name="forma 44"/>
          <p:cNvSpPr/>
          <p:nvPr/>
        </p:nvSpPr>
        <p:spPr>
          <a:xfrm>
            <a:off x="889000" y="4735068"/>
            <a:ext cx="10414000" cy="22272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Crescimento puxado pelo mercado da área.</a:t>
            </a:r>
          </a:p>
        </p:txBody>
      </p:sp>
      <p:sp>
        <p:nvSpPr>
          <p:cNvPr id="45" name="forma 45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SEGMENTOS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Onde o volume está variando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vs média Abr–Jun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95400"/>
          <a:ext cx="10820400" cy="2387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413000"/>
                <a:gridCol w="1651000"/>
                <a:gridCol w="1905000"/>
                <a:gridCol w="1651000"/>
                <a:gridCol w="3200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SEGMENTO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MERCADO/MÊS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 (BASE → ATUAL)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IMPACTO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LEITURA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- 150cc-199cc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274 (+0%)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17,1% → 14,6%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-6,8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+6pp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Street - 300cc-500cc Premium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21 (+34%)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39,8% → 14,3%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-3,2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+15,1pp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Big Trail - 600cc-799cc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 (-18%)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39,9%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-2,9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Perda de disputa — Honda +34,3pp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On/Off - 125cc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12 (-28%)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UNDERBONE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60 (-23%)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CUSTOM - 600cc-999cc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5 (-32%)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3048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Big Trail - &gt; 1000cc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 (-9%)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0% → 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+0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Estável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TERRITÓRIO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Praças com espaço — e quem está invadindo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10820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b="1" dirty="0">
                <a:solidFill>
                  <a:srgbClr val="52514E"/>
                </a:solidFill>
                <a:latin typeface="Calibri"/>
                <a:cs typeface="Calibri"/>
              </a:rPr>
              <a:t>Cidades abaixo do share do território (20,4%)</a:t>
            </a:r>
          </a:p>
        </p:txBody>
      </p:sp>
      <p:graphicFrame>
        <p:nvGraphicFramePr>
          <p:cNvPr id="7" name="tabela 7"/>
          <p:cNvGraphicFramePr>
            <a:graphicFrameLocks noGrp="1"/>
          </p:cNvGraphicFramePr>
          <p:nvPr/>
        </p:nvGraphicFramePr>
        <p:xfrm>
          <a:off x="685800" y="1524000"/>
          <a:ext cx="8128000" cy="13716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540000"/>
                <a:gridCol w="1905000"/>
                <a:gridCol w="1651000"/>
                <a:gridCol w="20320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CIDADE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MERCADO (UN/MÊS)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 HOJE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ESPAÇO A OCUPAR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189,7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17,2%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+6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Piracaia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23,6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+3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Cambui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35,9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15,1%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+2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Joanopolis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7,8%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D98A0B"/>
                          </a:solidFill>
                          <a:latin typeface="Calibri"/>
                          <a:cs typeface="Calibri"/>
                        </a:rPr>
                        <a:t>+1 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8" name="forma 8"/>
          <p:cNvSpPr/>
          <p:nvPr/>
        </p:nvSpPr>
        <p:spPr>
          <a:xfrm>
            <a:off x="685800" y="30226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9" name="forma 9"/>
          <p:cNvSpPr/>
          <p:nvPr/>
        </p:nvSpPr>
        <p:spPr>
          <a:xfrm>
            <a:off x="685800" y="3022600"/>
            <a:ext cx="50800" cy="978852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889000" y="31496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INVASÃO DE TERRITÓRIO</a:t>
            </a:r>
          </a:p>
        </p:txBody>
      </p:sp>
      <p:sp>
        <p:nvSpPr>
          <p:cNvPr id="11" name="forma 11"/>
          <p:cNvSpPr/>
          <p:nvPr/>
        </p:nvSpPr>
        <p:spPr>
          <a:xfrm>
            <a:off x="9169400" y="31242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4B9B3F"/>
                </a:solidFill>
                <a:latin typeface="Calibri"/>
                <a:cs typeface="Calibri"/>
              </a:rPr>
              <a:t>19%</a:t>
            </a:r>
          </a:p>
        </p:txBody>
      </p:sp>
      <p:sp>
        <p:nvSpPr>
          <p:cNvPr id="12" name="forma 12"/>
          <p:cNvSpPr/>
          <p:nvPr/>
        </p:nvSpPr>
        <p:spPr>
          <a:xfrm>
            <a:off x="889000" y="34036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Das 153 un/mês de Yamaha emplacadas na área, a Nippon emplaca 124 — 29 un/mês são de terceiros, principalmente Sul Motos e Moto Italia. Dentro do esperado para área compartilhada de mercado.</a:t>
            </a:r>
          </a:p>
        </p:txBody>
      </p:sp>
      <p:sp>
        <p:nvSpPr>
          <p:cNvPr id="13" name="forma 13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K2 · PÓS-VENDAS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3796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450" b="1" dirty="0">
                <a:solidFill>
                  <a:srgbClr val="0B0B0B"/>
                </a:solidFill>
                <a:latin typeface="Calibri"/>
                <a:cs typeface="Calibri"/>
              </a:rPr>
              <a:t>O pós-vendas pagando as despesas da operação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DRE Yamaha BMI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ABSORÇÃO — MAI/26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49,4%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referência &gt; 65%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MC PÓS-VENDAS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R$ 129.133,17</a:t>
            </a:r>
          </a:p>
        </p:txBody>
      </p:sp>
      <p:sp>
        <p:nvSpPr>
          <p:cNvPr id="13" name="forma 13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DESPESAS OPERACIONAIS</a:t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R$ 261.524,32</a:t>
            </a:r>
          </a:p>
        </p:txBody>
      </p:sp>
      <p:sp>
        <p:nvSpPr>
          <p:cNvPr id="16" name="forma 16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7" name="forma 17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PONTO DE EQUILÍBRIO</a:t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45 motos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29,2% das vendas · ref &lt; 50%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296668"/>
            <a:ext cx="10820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52514E"/>
                </a:solidFill>
                <a:latin typeface="Calibri"/>
                <a:cs typeface="Calibri"/>
              </a:rPr>
              <a:t>Taxa de absorção, mês a mês (%)</a:t>
            </a:r>
          </a:p>
        </p:txBody>
      </p:sp>
      <p:sp>
        <p:nvSpPr>
          <p:cNvPr id="21" name="forma 21"/>
          <p:cNvSpPr/>
          <p:nvPr/>
        </p:nvSpPr>
        <p:spPr>
          <a:xfrm>
            <a:off x="1036638" y="3292450"/>
            <a:ext cx="533400" cy="629818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909638" y="3101950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34</a:t>
            </a:r>
          </a:p>
        </p:txBody>
      </p:sp>
      <p:sp>
        <p:nvSpPr>
          <p:cNvPr id="23" name="forma 23"/>
          <p:cNvSpPr/>
          <p:nvPr/>
        </p:nvSpPr>
        <p:spPr>
          <a:xfrm>
            <a:off x="90963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Out</a:t>
            </a:r>
          </a:p>
        </p:txBody>
      </p:sp>
      <p:sp>
        <p:nvSpPr>
          <p:cNvPr id="24" name="forma 24"/>
          <p:cNvSpPr/>
          <p:nvPr/>
        </p:nvSpPr>
        <p:spPr>
          <a:xfrm>
            <a:off x="2271713" y="3333566"/>
            <a:ext cx="533400" cy="588702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5" name="forma 25"/>
          <p:cNvSpPr/>
          <p:nvPr/>
        </p:nvSpPr>
        <p:spPr>
          <a:xfrm>
            <a:off x="2144713" y="3143066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32</a:t>
            </a:r>
          </a:p>
        </p:txBody>
      </p:sp>
      <p:sp>
        <p:nvSpPr>
          <p:cNvPr id="26" name="forma 26"/>
          <p:cNvSpPr/>
          <p:nvPr/>
        </p:nvSpPr>
        <p:spPr>
          <a:xfrm>
            <a:off x="214471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Nov</a:t>
            </a:r>
          </a:p>
        </p:txBody>
      </p:sp>
      <p:sp>
        <p:nvSpPr>
          <p:cNvPr id="27" name="forma 27"/>
          <p:cNvSpPr/>
          <p:nvPr/>
        </p:nvSpPr>
        <p:spPr>
          <a:xfrm>
            <a:off x="3506788" y="3354124"/>
            <a:ext cx="533400" cy="56814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3379788" y="316362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30</a:t>
            </a:r>
          </a:p>
        </p:txBody>
      </p:sp>
      <p:sp>
        <p:nvSpPr>
          <p:cNvPr id="29" name="forma 29"/>
          <p:cNvSpPr/>
          <p:nvPr/>
        </p:nvSpPr>
        <p:spPr>
          <a:xfrm>
            <a:off x="337978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Dez</a:t>
            </a:r>
          </a:p>
        </p:txBody>
      </p:sp>
      <p:sp>
        <p:nvSpPr>
          <p:cNvPr id="30" name="forma 30"/>
          <p:cNvSpPr/>
          <p:nvPr/>
        </p:nvSpPr>
        <p:spPr>
          <a:xfrm>
            <a:off x="4741863" y="3042018"/>
            <a:ext cx="533400" cy="88025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4614863" y="285151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47</a:t>
            </a:r>
          </a:p>
        </p:txBody>
      </p:sp>
      <p:sp>
        <p:nvSpPr>
          <p:cNvPr id="32" name="forma 32"/>
          <p:cNvSpPr/>
          <p:nvPr/>
        </p:nvSpPr>
        <p:spPr>
          <a:xfrm>
            <a:off x="461486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Jan</a:t>
            </a:r>
          </a:p>
        </p:txBody>
      </p:sp>
      <p:sp>
        <p:nvSpPr>
          <p:cNvPr id="33" name="forma 33"/>
          <p:cNvSpPr/>
          <p:nvPr/>
        </p:nvSpPr>
        <p:spPr>
          <a:xfrm>
            <a:off x="5976938" y="3163496"/>
            <a:ext cx="533400" cy="758772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4" name="forma 34"/>
          <p:cNvSpPr/>
          <p:nvPr/>
        </p:nvSpPr>
        <p:spPr>
          <a:xfrm>
            <a:off x="5849938" y="2972996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41</a:t>
            </a:r>
          </a:p>
        </p:txBody>
      </p:sp>
      <p:sp>
        <p:nvSpPr>
          <p:cNvPr id="35" name="forma 35"/>
          <p:cNvSpPr/>
          <p:nvPr/>
        </p:nvSpPr>
        <p:spPr>
          <a:xfrm>
            <a:off x="584993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Fev</a:t>
            </a:r>
          </a:p>
        </p:txBody>
      </p:sp>
      <p:sp>
        <p:nvSpPr>
          <p:cNvPr id="36" name="forma 36"/>
          <p:cNvSpPr/>
          <p:nvPr/>
        </p:nvSpPr>
        <p:spPr>
          <a:xfrm>
            <a:off x="7212013" y="2754208"/>
            <a:ext cx="533400" cy="1168060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7" name="forma 37"/>
          <p:cNvSpPr/>
          <p:nvPr/>
        </p:nvSpPr>
        <p:spPr>
          <a:xfrm>
            <a:off x="7085013" y="2563708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63</a:t>
            </a:r>
          </a:p>
        </p:txBody>
      </p:sp>
      <p:sp>
        <p:nvSpPr>
          <p:cNvPr id="38" name="forma 38"/>
          <p:cNvSpPr/>
          <p:nvPr/>
        </p:nvSpPr>
        <p:spPr>
          <a:xfrm>
            <a:off x="708501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Mar</a:t>
            </a:r>
          </a:p>
        </p:txBody>
      </p:sp>
      <p:sp>
        <p:nvSpPr>
          <p:cNvPr id="39" name="forma 39"/>
          <p:cNvSpPr/>
          <p:nvPr/>
        </p:nvSpPr>
        <p:spPr>
          <a:xfrm>
            <a:off x="8447088" y="3030804"/>
            <a:ext cx="533400" cy="891464"/>
          </a:xfrm>
          <a:prstGeom prst="roundRect">
            <a:avLst>
              <a:gd name="adj" fmla="val 12000"/>
            </a:avLst>
          </a:prstGeom>
          <a:solidFill>
            <a:srgbClr val="C9D6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0" name="forma 40"/>
          <p:cNvSpPr/>
          <p:nvPr/>
        </p:nvSpPr>
        <p:spPr>
          <a:xfrm>
            <a:off x="8320088" y="2840304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dirty="0">
                <a:solidFill>
                  <a:srgbClr val="52514E"/>
                </a:solidFill>
                <a:latin typeface="Calibri"/>
                <a:cs typeface="Calibri"/>
              </a:rPr>
              <a:t>48</a:t>
            </a:r>
          </a:p>
        </p:txBody>
      </p:sp>
      <p:sp>
        <p:nvSpPr>
          <p:cNvPr id="41" name="forma 41"/>
          <p:cNvSpPr/>
          <p:nvPr/>
        </p:nvSpPr>
        <p:spPr>
          <a:xfrm>
            <a:off x="8320088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dirty="0">
                <a:solidFill>
                  <a:srgbClr val="898781"/>
                </a:solidFill>
                <a:latin typeface="Calibri"/>
                <a:cs typeface="Calibri"/>
              </a:rPr>
              <a:t>Abr</a:t>
            </a:r>
          </a:p>
        </p:txBody>
      </p:sp>
      <p:sp>
        <p:nvSpPr>
          <p:cNvPr id="42" name="forma 42"/>
          <p:cNvSpPr/>
          <p:nvPr/>
        </p:nvSpPr>
        <p:spPr>
          <a:xfrm>
            <a:off x="9682163" y="2999033"/>
            <a:ext cx="533400" cy="923235"/>
          </a:xfrm>
          <a:prstGeom prst="roundRect">
            <a:avLst>
              <a:gd name="adj" fmla="val 12000"/>
            </a:avLst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3" name="forma 43"/>
          <p:cNvSpPr/>
          <p:nvPr/>
        </p:nvSpPr>
        <p:spPr>
          <a:xfrm>
            <a:off x="9555163" y="2808533"/>
            <a:ext cx="787400" cy="1549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000" b="1" dirty="0">
                <a:solidFill>
                  <a:srgbClr val="D98A0B"/>
                </a:solidFill>
                <a:latin typeface="Calibri"/>
                <a:cs typeface="Calibri"/>
              </a:rPr>
              <a:t>49</a:t>
            </a:r>
          </a:p>
        </p:txBody>
      </p:sp>
      <p:sp>
        <p:nvSpPr>
          <p:cNvPr id="44" name="forma 44"/>
          <p:cNvSpPr/>
          <p:nvPr/>
        </p:nvSpPr>
        <p:spPr>
          <a:xfrm>
            <a:off x="9555163" y="3973068"/>
            <a:ext cx="787400" cy="1394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900" b="1" dirty="0">
                <a:solidFill>
                  <a:srgbClr val="0B0B0B"/>
                </a:solidFill>
                <a:latin typeface="Calibri"/>
                <a:cs typeface="Calibri"/>
              </a:rPr>
              <a:t>Mai</a:t>
            </a:r>
          </a:p>
        </p:txBody>
      </p:sp>
      <p:sp>
        <p:nvSpPr>
          <p:cNvPr id="45" name="forma 45"/>
          <p:cNvSpPr/>
          <p:nvPr/>
        </p:nvSpPr>
        <p:spPr>
          <a:xfrm>
            <a:off x="685800" y="2707485"/>
            <a:ext cx="9956800" cy="11430"/>
          </a:xfrm>
          <a:prstGeom prst="rect">
            <a:avLst/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6" name="forma 46"/>
          <p:cNvSpPr/>
          <p:nvPr/>
        </p:nvSpPr>
        <p:spPr>
          <a:xfrm>
            <a:off x="10693400" y="2631285"/>
            <a:ext cx="8128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média 65</a:t>
            </a:r>
          </a:p>
        </p:txBody>
      </p:sp>
      <p:sp>
        <p:nvSpPr>
          <p:cNvPr id="47" name="forma 47"/>
          <p:cNvSpPr/>
          <p:nvPr/>
        </p:nvSpPr>
        <p:spPr>
          <a:xfrm>
            <a:off x="685800" y="4201668"/>
            <a:ext cx="10820400" cy="90138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8" name="forma 48"/>
          <p:cNvSpPr/>
          <p:nvPr/>
        </p:nvSpPr>
        <p:spPr>
          <a:xfrm>
            <a:off x="685800" y="4201668"/>
            <a:ext cx="50800" cy="90138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49" name="forma 49"/>
          <p:cNvSpPr/>
          <p:nvPr/>
        </p:nvSpPr>
        <p:spPr>
          <a:xfrm>
            <a:off x="889000" y="43286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GAP</a:t>
            </a:r>
          </a:p>
        </p:txBody>
      </p:sp>
      <p:sp>
        <p:nvSpPr>
          <p:cNvPr id="50" name="forma 50"/>
          <p:cNvSpPr/>
          <p:nvPr/>
        </p:nvSpPr>
        <p:spPr>
          <a:xfrm>
            <a:off x="889000" y="4582668"/>
            <a:ext cx="10414000" cy="36798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950" dirty="0">
                <a:solidFill>
                  <a:srgbClr val="0B0B0B"/>
                </a:solidFill>
                <a:latin typeface="Calibri"/>
                <a:cs typeface="Calibri"/>
              </a:rPr>
              <a:t>A absorção saiu de ~30% no fim de 2025 para 49,4%. Faltam R$ 40.857,64 de MC de pós-vendas por mês para os 65% — cada real de margem no balcão e na oficina desafoga a venda de motos.</a:t>
            </a:r>
          </a:p>
        </p:txBody>
      </p:sp>
      <p:sp>
        <p:nvSpPr>
          <p:cNvPr id="51" name="forma 51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K2 · fonte: DRE Yamaha BMI mensal (aba Data) — arquivos NIPPON em _NOVAS MELHORIAS/K2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CAMPANHAS YAMAHA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a Nippon tem a receber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Campeões de Vendas + incentivo por modelo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JÁ APURADO (2 FONTES)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R$ 73.500</a:t>
            </a:r>
          </a:p>
        </p:txBody>
      </p:sp>
      <p:sp>
        <p:nvSpPr>
          <p:cNvPr id="9" name="forma 9"/>
          <p:cNvSpPr/>
          <p:nvPr/>
        </p:nvSpPr>
        <p:spPr>
          <a:xfrm>
            <a:off x="8382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Campeões R$ 7.500 + vouchers R$ 66.000</a:t>
            </a:r>
          </a:p>
        </p:txBody>
      </p:sp>
      <p:sp>
        <p:nvSpPr>
          <p:cNvPr id="10" name="forma 10"/>
          <p:cNvSpPr/>
          <p:nvPr/>
        </p:nvSpPr>
        <p:spPr>
          <a:xfrm>
            <a:off x="34226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VOUCHERS — PROJEÇÃO DO MÊS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R$ 56.500</a:t>
            </a:r>
          </a:p>
        </p:txBody>
      </p:sp>
      <p:sp>
        <p:nvSpPr>
          <p:cNvPr id="13" name="forma 13"/>
          <p:cNvSpPr/>
          <p:nvPr/>
        </p:nvSpPr>
        <p:spPr>
          <a:xfrm>
            <a:off x="357505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ritmo dos últimos 3 meses</a:t>
            </a:r>
          </a:p>
        </p:txBody>
      </p:sp>
      <p:sp>
        <p:nvSpPr>
          <p:cNvPr id="14" name="forma 14"/>
          <p:cNvSpPr/>
          <p:nvPr/>
        </p:nvSpPr>
        <p:spPr>
          <a:xfrm>
            <a:off x="615950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RECUPERÁVEL NO TRIMESTRE</a:t>
            </a:r>
          </a:p>
        </p:txBody>
      </p:sp>
      <p:sp>
        <p:nvSpPr>
          <p:cNvPr id="16" name="forma 16"/>
          <p:cNvSpPr/>
          <p:nvPr/>
        </p:nvSpPr>
        <p:spPr>
          <a:xfrm>
            <a:off x="631190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R$ 15.000</a:t>
            </a:r>
          </a:p>
        </p:txBody>
      </p:sp>
      <p:sp>
        <p:nvSpPr>
          <p:cNvPr id="17" name="forma 17"/>
          <p:cNvSpPr/>
          <p:nvPr/>
        </p:nvSpPr>
        <p:spPr>
          <a:xfrm>
            <a:off x="6311900" y="1941068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meta acumulada em 100%</a:t>
            </a:r>
          </a:p>
        </p:txBody>
      </p:sp>
      <p:sp>
        <p:nvSpPr>
          <p:cNvPr id="18" name="forma 18"/>
          <p:cNvSpPr/>
          <p:nvPr/>
        </p:nvSpPr>
        <p:spPr>
          <a:xfrm>
            <a:off x="8896350" y="1270000"/>
            <a:ext cx="2609850" cy="874268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3843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POTENCIAL TOTAL</a:t>
            </a:r>
          </a:p>
        </p:txBody>
      </p:sp>
      <p:sp>
        <p:nvSpPr>
          <p:cNvPr id="20" name="forma 20"/>
          <p:cNvSpPr/>
          <p:nvPr/>
        </p:nvSpPr>
        <p:spPr>
          <a:xfrm>
            <a:off x="9048750" y="1574800"/>
            <a:ext cx="230505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4B9B3F"/>
                </a:solidFill>
                <a:latin typeface="Calibri"/>
                <a:cs typeface="Calibri"/>
              </a:rPr>
              <a:t>R$ 222.600</a:t>
            </a:r>
          </a:p>
        </p:txBody>
      </p:sp>
      <p:graphicFrame>
        <p:nvGraphicFramePr>
          <p:cNvPr id="21" name="tabela 21"/>
          <p:cNvGraphicFramePr>
            <a:graphicFrameLocks noGrp="1"/>
          </p:cNvGraphicFramePr>
          <p:nvPr/>
        </p:nvGraphicFramePr>
        <p:xfrm>
          <a:off x="685800" y="2347468"/>
          <a:ext cx="10820400" cy="10922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778000"/>
                <a:gridCol w="1397000"/>
                <a:gridCol w="1651000"/>
                <a:gridCol w="1651000"/>
                <a:gridCol w="4343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CARTA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RESULTADO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PRÊMIO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REGRA APLICADA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Julho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144 un (90%)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4B9B3F"/>
                          </a:solidFill>
                          <a:latin typeface="Calibri"/>
                          <a:cs typeface="Calibri"/>
                        </a:rPr>
                        <a:t>R$ 7.500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90–99% da meta — 50% do valor (válido no mês)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Agosto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aguardando primeiras vendas do 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  <a:tr h="2794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Setembro *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160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898781"/>
                          </a:solidFill>
                          <a:latin typeface="Calibri"/>
                          <a:cs typeface="Calibri"/>
                        </a:rPr>
                        <a:t>—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carta ainda não informada — assumida igual à atual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solidFill>
                      <a:srgbClr val="function fill() { [native code] }"/>
                    </a:solidFill>
                  </a:tcPr>
                </a:tc>
              </a:tr>
            </a:tbl>
          </a:graphicData>
        </a:graphic>
      </p:graphicFrame>
      <p:sp>
        <p:nvSpPr>
          <p:cNvPr id="22" name="forma 22"/>
          <p:cNvSpPr/>
          <p:nvPr/>
        </p:nvSpPr>
        <p:spPr>
          <a:xfrm>
            <a:off x="685800" y="3541268"/>
            <a:ext cx="10820400" cy="843280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3541268"/>
            <a:ext cx="50800" cy="843280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3668268"/>
            <a:ext cx="104140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LEITURA</a:t>
            </a:r>
          </a:p>
        </p:txBody>
      </p:sp>
      <p:sp>
        <p:nvSpPr>
          <p:cNvPr id="25" name="forma 25"/>
          <p:cNvSpPr/>
          <p:nvPr/>
        </p:nvSpPr>
        <p:spPr>
          <a:xfrm>
            <a:off x="889000" y="3922268"/>
            <a:ext cx="1041400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800" dirty="0">
                <a:solidFill>
                  <a:srgbClr val="0B0B0B"/>
                </a:solidFill>
                <a:latin typeface="Calibri"/>
                <a:cs typeface="Calibri"/>
              </a:rPr>
              <a:t>Duas fontes: Campeões de Vendas (R$ 7.500 garantidos em julho; R$ 15.000 recuperáveis no acumulado) + incentivo por modelo (R$ 66.000 de julho, projeção R$ 56.500 no mês — Fazer, NMAX, MT-07, Lander e XMAX). Bônus não cumulativo com taxas subsidiadas: valores de voucher são o teto.</a:t>
            </a:r>
          </a:p>
        </p:txBody>
      </p:sp>
      <p:sp>
        <p:nvSpPr>
          <p:cNvPr id="26" name="forma 26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* carta ainda não informada — estimada igual à atual. 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1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933241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34914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Entrar em Agosto no ritmo que a carta exige desde o primeiro dia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Julho fechou com 144 un e a carta de Agosto é de 160 un — +16 un (11%) sobre o que acabou de ser feito, ou 7,6 un/dia nos 21 dias úteis. Ainda não há venda registrada no mês: não há ritmo a corrigir, há ritmo a estabelecer. 4º de 9 na regional.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Distribuir a carta de 160 un em meta semanal antes do primeiro dia útil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Abrir o mês com as propostas e negociações que ficaram de julho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Conferir se o estoque cobre o ritmo pedido e antecipar o pedido do que faltar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Não deixar a recuperação para a última semana: mês que começa devagar fecha no aperto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Fechar Agosto com 160 un (100% da carta), sustentando 7,6 un/dia. Medir diariamente.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- 150cc-199cc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17,1% para 14,6% (-2,5pp), o que representa -6,8 un/mês. O segmento movimenta 274 un/mês. Honda ganhou 6pp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6pp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17,1% no segmento = +7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- 300cc-500cc Premium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39,8% para 14,3% (-25,5pp), o que representa -3,2 un/mês. O segmento movimenta 21 un/mês. Honda ganhou 15,1pp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15,1pp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39,8% no segmento = +5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2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3126943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0634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Big Trail - 600cc-799cc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na área caiu de 39,9% para 0% (-39,9pp), o que representa -2,9 un/mês. O segmento movimenta 6 un/mês. Honda ganhou 34,3pp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34,3pp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39,9% no segmento = +2 un/mês. Medir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803148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Atibaia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 movimenta 189,7 un/mês e a Yamaha tem só 17,2% de share ali, contra 20,4% no território. A diferença vale 6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Atibaia = +6 un/mês. Acompanhar o emplacamento mensal.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3148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Piracaia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Piracaia movimenta 23,6 un/mês e a Yamaha tem só 7,3% de share ali, contra 20,4% no território. A diferença vale 3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07/08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Piracaia = +3 un/mês. Acompanhar o emplacamento mensal.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Smart Dealer · Nippon Motos · varejo e emplacamento até Julho fechado · carta de Agosto · áreas Amparo + Ouro Fino · gerado em 07/08/2026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ormance">
  <a:themeElements>
    <a:clrScheme name="Performance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formance Notas">
  <a:themeElements>
    <a:clrScheme name="Performance Notas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 Not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 Nota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Performance Concessionário</Application>
  <Slides>9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Performance — Nippon</dc:title>
  <dc:creator>Smart Dealer</dc:creator>
  <cp:lastModifiedBy>Smart Dealer</cp:lastModifiedBy>
</cp:coreProperties>
</file>