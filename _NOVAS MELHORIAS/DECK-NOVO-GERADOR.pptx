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da área (un)</c:v>
                </c:pt>
              </c:strCache>
            </c:strRef>
          </c:tx>
          <c:spPr>
            <a:solidFill>
              <a:srgbClr val="C9D6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762</c:v>
                </c:pt>
                <c:pt idx="1">
                  <c:v>674</c:v>
                </c:pt>
                <c:pt idx="2">
                  <c:v>820</c:v>
                </c:pt>
                <c:pt idx="3">
                  <c:v>792</c:v>
                </c:pt>
                <c:pt idx="4">
                  <c:v>741</c:v>
                </c:pt>
                <c:pt idx="5">
                  <c:v>766</c:v>
                </c:pt>
                <c:pt idx="6">
                  <c:v>791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Yamaha (un)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122</c:v>
                </c:pt>
                <c:pt idx="1">
                  <c:v>134</c:v>
                </c:pt>
                <c:pt idx="2">
                  <c:v>188</c:v>
                </c:pt>
                <c:pt idx="3">
                  <c:v>175</c:v>
                </c:pt>
                <c:pt idx="4">
                  <c:v>141</c:v>
                </c:pt>
                <c:pt idx="5">
                  <c:v>147</c:v>
                </c:pt>
                <c:pt idx="6">
                  <c:v>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absorção (%)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Out/25</c:v>
                  </c:pt>
                  <c:pt idx="1">
                    <c:v>Nov/25</c:v>
                  </c:pt>
                  <c:pt idx="2">
                    <c:v>Dez/25</c:v>
                  </c:pt>
                  <c:pt idx="3">
                    <c:v>Jan/26</c:v>
                  </c:pt>
                  <c:pt idx="4">
                    <c:v>Fev/26</c:v>
                  </c:pt>
                  <c:pt idx="5">
                    <c:v>Mar/26</c:v>
                  </c:pt>
                  <c:pt idx="6">
                    <c:v>Abr/26</c:v>
                  </c:pt>
                  <c:pt idx="7">
                    <c:v>Mai/26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33.7</c:v>
                </c:pt>
                <c:pt idx="1">
                  <c:v>31.5</c:v>
                </c:pt>
                <c:pt idx="2">
                  <c:v>30.4</c:v>
                </c:pt>
                <c:pt idx="3">
                  <c:v>47.1</c:v>
                </c:pt>
                <c:pt idx="4">
                  <c:v>40.6</c:v>
                </c:pt>
                <c:pt idx="5">
                  <c:v>62.5</c:v>
                </c:pt>
                <c:pt idx="6">
                  <c:v>47.7</c:v>
                </c:pt>
                <c:pt idx="7">
                  <c:v>49.4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este deck sai do sistema com os mesmos números das telas — nada foi montado à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1 da call: "como eu fui?" — responder com a carta e o ritmo, não com opinião.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decomposição fecha exata: variação real = efeito mercado + efeito share. É ela que separa "o mercado caiu" de "perdemos disputa".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causa muda a ação: disputa → retomar terreno; demanda → converter o que ainda entra e ajustar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da área é do grupo — a invasão é alerta, não placar. Nomear os CNPJs muda 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 da Yamaha: absorção acima de 65%. Passagens (nº de O.S.) não constam no DRE — pendente de outra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Traduzir o prêmio em motos: cada degrau da circular tem um número exato de motos de distância.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tabela inteira em voz alta: ler as linhas de prioridade alta e combinar responsável e data para cada uma. É a mesma tabela do botão "Gerar PDCA", em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MOTOS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fechado → carta de Agosto/2026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· dados vivos do sistema · 07/08/2026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MÊS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julho diz sobre o que agosto exige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MOTOS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115922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61872"/>
            <a:ext cx="185989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AGOSTO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185989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un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792578" y="1170432"/>
            <a:ext cx="2115922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/>
          <p:nvPr/>
        </p:nvSpPr>
        <p:spPr>
          <a:xfrm>
            <a:off x="2920594" y="1261872"/>
            <a:ext cx="185989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JULHO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0594" y="1444752"/>
            <a:ext cx="185989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un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036515" y="1170432"/>
            <a:ext cx="2115922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3" name="Text 11"/>
          <p:cNvSpPr/>
          <p:nvPr/>
        </p:nvSpPr>
        <p:spPr>
          <a:xfrm>
            <a:off x="5164531" y="1261872"/>
            <a:ext cx="185989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QUE A CARTA PEDE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64531" y="1444752"/>
            <a:ext cx="185989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un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280453" y="1170432"/>
            <a:ext cx="2115922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6" name="Text 14"/>
          <p:cNvSpPr/>
          <p:nvPr/>
        </p:nvSpPr>
        <p:spPr>
          <a:xfrm>
            <a:off x="7408469" y="1261872"/>
            <a:ext cx="185989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NECESSÁRIO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08469" y="1444752"/>
            <a:ext cx="185989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 un/dia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08469" y="1865376"/>
            <a:ext cx="185989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dias úteis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524390" y="1170432"/>
            <a:ext cx="2115922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20" name="Text 18"/>
          <p:cNvSpPr/>
          <p:nvPr/>
        </p:nvSpPr>
        <p:spPr>
          <a:xfrm>
            <a:off x="9652406" y="1261872"/>
            <a:ext cx="185989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REGIONAL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52406" y="1444752"/>
            <a:ext cx="185989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de 9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2368296"/>
            <a:ext cx="11091672" cy="11430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368296"/>
            <a:ext cx="45720" cy="1143000"/>
          </a:xfrm>
          <a:prstGeom prst="rect">
            <a:avLst/>
          </a:prstGeom>
          <a:solidFill>
            <a:srgbClr val="D98A0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2459736"/>
            <a:ext cx="8714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LARGADA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9808" y="2642616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fechou com 144 un e a carta de agosto é de 160 un — +16 un sobre o que acabou de ser feito, ou 7,6 un/dia. Ainda não há venda registrada no mês: não há ritmo a corrigir, há ritmo a estabelecer.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37192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un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· Nippon Motos · varejo e emplacamento até Julho fechado · carta de Agosto · áreas Amparo + Ouro Fino · gerado em 07/08/2026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varejo está onde está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Amparo + Ouro Fino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DA ÁREA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 un/mês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6656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766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53562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481578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YAMAHA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81578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B9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81578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Abr–Jun: 20,1%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58484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5" name="Text 13"/>
          <p:cNvSpPr/>
          <p:nvPr/>
        </p:nvSpPr>
        <p:spPr>
          <a:xfrm>
            <a:off x="6286500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MERCADO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86500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B9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un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63406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8" name="Text 16"/>
          <p:cNvSpPr/>
          <p:nvPr/>
        </p:nvSpPr>
        <p:spPr>
          <a:xfrm>
            <a:off x="9091422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SHARE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91422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B9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+1,7 un</a:t>
            </a:r>
            <a:endParaRPr lang="en-US" sz="1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322576"/>
          <a:ext cx="110916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4837176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EDF5E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837176"/>
            <a:ext cx="45720" cy="868680"/>
          </a:xfrm>
          <a:prstGeom prst="rect">
            <a:avLst/>
          </a:prstGeom>
          <a:solidFill>
            <a:srgbClr val="4B9B3F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928616"/>
            <a:ext cx="10689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VEREDITO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49808" y="5111496"/>
            <a:ext cx="106893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puxado pelo mercado da área.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· Nippon Motos · varejo e emplacamento até Julho fechado · carta de Agosto · áreas Amparo + Ouro Fino · gerado em 07/08/2026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volume está variando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média Abr–Jun · só onde a Yamaha tem produto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61872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920240"/>
                <a:gridCol w="1645920"/>
                <a:gridCol w="35021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MERCADO/MÊS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(BASE → ATUAL)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- 150cc-199cc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 (+0%)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17,1% → 14,6%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-6,8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de disputa — Honda +6pp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- 300cc-500cc Premium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(+34%)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39,8% → 14,3%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-3,2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de disputa — Honda +15,1pp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Trail - 600cc-799cc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(-18%)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39,9% → 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-2,9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de disputa — Honda +34,3pp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Scooter - 201cc-449cc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(+70%)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65,1% → 42,9%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de disputa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On/Off - 150cc-199cc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(+14%)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7,4% → 7,8%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- 200cc-399cc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(-2%)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41,2% → 49,1%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+3,8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On/Off - 200cc-500cc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(+18%)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35,9% → 35,5%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+3,9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restrita aos segmentos onde a Yamaha tem produto — 19 segmentos sem moto no catálogo (~125 un/mês) ficam fora do plano.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· Nippon Motos · varejo e emplacamento até Julho fechado · carta de Agosto · áreas Amparo + Ouro Fino · gerado em 07/08/2026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Praças com espaço — e quem está invadindo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MOTOS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16152"/>
          <a:ext cx="798600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737360"/>
                <a:gridCol w="167664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(UN/MÊS)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HOJE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A OCUPAR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Atibaia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98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Piracaia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98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98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Joanopolis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D98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un/mês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456432"/>
            <a:ext cx="11091672" cy="1188720"/>
          </a:xfrm>
          <a:prstGeom prst="roundRect">
            <a:avLst>
              <a:gd name="adj" fmla="val 3846"/>
            </a:avLst>
          </a:prstGeom>
          <a:solidFill>
            <a:srgbClr val="EDF5E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456432"/>
            <a:ext cx="45720" cy="1188720"/>
          </a:xfrm>
          <a:prstGeom prst="rect">
            <a:avLst/>
          </a:prstGeom>
          <a:solidFill>
            <a:srgbClr val="4B9B3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547872"/>
            <a:ext cx="8714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INVASÃO DE TERRITÓRIO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9808" y="3730752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153 un/mês de Yamaha emplacadas na área, a Nippon emplaca 124 — 29 un/mês são de terceiros, principalmente Sul Motos e Moto Italia. Dentro do esperado para área compartilhada de mercado.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537192" y="36027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B9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· Nippon Motos · varejo e emplacamento até Julho fechado · carta de Agosto · áreas Amparo + Ouro Fino · gerado em 07/08/2026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· PÓS-VENDAS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pós-vendas pagando as despesas da operação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Yamaha BMI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ABSORÇÃO — MAI/26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49,4%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6656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&gt; 65%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53562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481578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PÓS-VENDAS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81578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R$ 129.133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158484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6286500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OPERACIONAIS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86500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R$ 261.524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963406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9091422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091422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motos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91422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29,2% das vendas · ref &lt; 50%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322576"/>
          <a:ext cx="1109167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4791456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791456"/>
            <a:ext cx="45720" cy="914400"/>
          </a:xfrm>
          <a:prstGeom prst="rect">
            <a:avLst/>
          </a:prstGeom>
          <a:solidFill>
            <a:srgbClr val="D98A0B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882896"/>
            <a:ext cx="10689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49808" y="5065776"/>
            <a:ext cx="1068933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absorção saiu de ~30% no fim de 2025 para 49,4%. Faltam R$ 40.858 de MC de pós-vendas por mês para os 65% — cada real de margem no balcão e na oficina desafoga a venda de motos.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· fonte: DRE Yamaha BMI mensal (aba Data) — arquivos NIPPON em _NOVAS MELHORIAS/K2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YAMAHA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Nippon tem a receber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Campeões de Vendas + incentivo por modelo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APURADO (2 FONTES)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B9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R$ 73.500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6656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Campeões R$ 7.500 + vouchers R$ 66.000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53562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481578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— PROJEÇÃO DO MÊS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81578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R$ 56.500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81578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dos últimos 3 meses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58484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5" name="Text 13"/>
          <p:cNvSpPr/>
          <p:nvPr/>
        </p:nvSpPr>
        <p:spPr>
          <a:xfrm>
            <a:off x="6286500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RECUPERÁVEL NO TRIMESTRE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86500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R$ 15.000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86500" y="1865376"/>
            <a:ext cx="242087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acumulada em 100%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63406" y="1170432"/>
            <a:ext cx="2676906" cy="969264"/>
          </a:xfrm>
          <a:prstGeom prst="roundRect">
            <a:avLst>
              <a:gd name="adj" fmla="val 6604"/>
            </a:avLst>
          </a:prstGeom>
          <a:solidFill>
            <a:srgbClr val="F7F7F5"/>
          </a:solidFill>
          <a:ln/>
        </p:spPr>
      </p:sp>
      <p:sp>
        <p:nvSpPr>
          <p:cNvPr id="19" name="Text 17"/>
          <p:cNvSpPr/>
          <p:nvPr/>
        </p:nvSpPr>
        <p:spPr>
          <a:xfrm>
            <a:off x="9091422" y="1261872"/>
            <a:ext cx="242087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TOTAL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91422" y="1444752"/>
            <a:ext cx="242087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B9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R$ 222.600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22576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45920"/>
                <a:gridCol w="1463040"/>
                <a:gridCol w="5513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PRÊMIO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APLICADA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un (90%)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B9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90–99% da meta — 50% do valor (válido no mês)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98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primeiras vendas do mês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Setembro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98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ainda não informada — assumida igual à atual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4105656"/>
            <a:ext cx="11091672" cy="1051560"/>
          </a:xfrm>
          <a:prstGeom prst="roundRect">
            <a:avLst>
              <a:gd name="adj" fmla="val 4348"/>
            </a:avLst>
          </a:prstGeom>
          <a:solidFill>
            <a:srgbClr val="EDF5E8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105656"/>
            <a:ext cx="45720" cy="1051560"/>
          </a:xfrm>
          <a:prstGeom prst="rect">
            <a:avLst/>
          </a:prstGeom>
          <a:solidFill>
            <a:srgbClr val="4B9B3F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4197096"/>
            <a:ext cx="10689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49808" y="4379976"/>
            <a:ext cx="106893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fontes: Campeões de Vendas (R$ 7.500 garantidos em julho; R$ 15.000 recuperáveis no acumulado) + incentivo por modelo (R$ 66.000 de julho, projeção R$ 56.500 no mês — Fazer, NMAX, MT-07, Lander e XMAX). Bônus não cumulativo com taxas subsidiadas: valores de voucher são o teto.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carta ainda não informada — estimada igual à atual. Smart Dealer · Nippon Motos · varejo e emplacamento até Julho fechado · carta de Agosto · áreas Amparo + Ouro Fino · gerado em 07/08/2026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20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20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fazer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MOTOS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16152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377440"/>
                <a:gridCol w="868680"/>
                <a:gridCol w="640080"/>
                <a:gridCol w="731520"/>
                <a:gridCol w="640080"/>
                <a:gridCol w="1719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FAZER?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(AÇÃO)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QUÊ?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(JUSTIFICATIVA)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COMO?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(ATIVIDADES)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(META/IMPACTO)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Entrar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Julho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fechou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(11%)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acabou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feito,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úteis.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mês: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corrigir,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estabelecer.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4º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útil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negociações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ficaram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julho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antecipar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semana: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começa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devagar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Caique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(100%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carta),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sustentando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un/dia.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diariamente.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Recuperar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150cc-199cc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(-2,5pp),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-6,8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6pp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showroom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Caique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emplacamento.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Recuperar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300cc-500cc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39,8%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(-25,5pp),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-3,2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15,1pp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showroom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Caique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39,8%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emplacamento.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Recuperar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600cc-799cc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(-39,9pp),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-2,9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34,3pp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subiu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showroom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Caique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emplacamento.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Ocupar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Atibaia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Atibaia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189,7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Yamaha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território.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geolocalizada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Caique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Atibaia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emplacamento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Ocupar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Piracaia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Piracaia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Yamaha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território.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praça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prospecção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geolocalizada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Caique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20,4%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Piracaia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un/mês.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emplacamento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· Nippon Motos · varejo e emplacamento até Julho fechado · carta de Agosto · áreas Amparo + Ouro Fino · gerado em 07/08/2026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Performance — Nippon Motos · 07/08/2026</dc:title>
  <dc:subject>PptxGenJS Presentation</dc:subject>
  <dc:creator>Smart Dealer</dc:creator>
  <cp:lastModifiedBy>Smart Dealer</cp:lastModifiedBy>
  <cp:revision>1</cp:revision>
  <dcterms:created xsi:type="dcterms:W3CDTF">2026-08-07T11:42:22Z</dcterms:created>
  <dcterms:modified xsi:type="dcterms:W3CDTF">2026-08-07T11:42:22Z</dcterms:modified>
</cp:coreProperties>
</file>