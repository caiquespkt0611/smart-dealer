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7"/>
  </p:notesMasterIdLst>
  <p:sldIdLst>
    <p:sldId id="256" r:id="rId3"/>
    <p:sldId id="284" r:id="rId4"/>
    <p:sldId id="285" r:id="rId5"/>
    <p:sldId id="286" r:id="rId6"/>
    <p:sldId id="260" r:id="rId7"/>
    <p:sldId id="292" r:id="rId8"/>
    <p:sldId id="264" r:id="rId9"/>
    <p:sldId id="290" r:id="rId10"/>
    <p:sldId id="266" r:id="rId11"/>
    <p:sldId id="269" r:id="rId12"/>
    <p:sldId id="280" r:id="rId13"/>
    <p:sldId id="268" r:id="rId14"/>
    <p:sldId id="278" r:id="rId15"/>
    <p:sldId id="281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A5FA"/>
    <a:srgbClr val="003897"/>
    <a:srgbClr val="1A72D4"/>
    <a:srgbClr val="002060"/>
    <a:srgbClr val="0B1120"/>
    <a:srgbClr val="001A5C"/>
    <a:srgbClr val="000D2E"/>
    <a:srgbClr val="000000"/>
    <a:srgbClr val="FF8888"/>
    <a:srgbClr val="61A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4A817-9A3D-467D-8759-5A5FA6AA0E43}" v="9030" dt="2026-08-04T17:02:28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9586" autoAdjust="0"/>
  </p:normalViewPr>
  <p:slideViewPr>
    <p:cSldViewPr snapToGrid="0" snapToObjects="1">
      <p:cViewPr varScale="1">
        <p:scale>
          <a:sx n="72" d="100"/>
          <a:sy n="72" d="100"/>
        </p:scale>
        <p:origin x="784" y="21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72596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[ABERTURA — entre em silêncio. Espere a sala olhar para você. Só então fale.]</a:t>
            </a:r>
          </a:p>
          <a:p>
            <a:endParaRPr/>
          </a:p>
          <a:p>
            <a:r>
              <a:t>Boa tarde.</a:t>
            </a:r>
          </a:p>
          <a:p>
            <a:endParaRPr/>
          </a:p>
          <a:p>
            <a:r>
              <a:t>Nos próximos minutos, eu não vou apresentar um sistema.</a:t>
            </a:r>
          </a:p>
          <a:p>
            <a:r>
              <a:t>Vou contar a história de uma pergunta que não saía da nossa cabeça.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Uma pergunta simples. Quase incômoda.</a:t>
            </a:r>
          </a:p>
          <a:p>
            <a:r>
              <a:t>E a resposta dela muda a forma como a rede Yamaha se relaciona com cada cliente que entra numa loja.</a:t>
            </a:r>
          </a:p>
          <a:p>
            <a:endParaRPr/>
          </a:p>
          <a:p>
            <a:r>
              <a:t>Eu sou o Caique. Esse é o Klenilson. Grupo Shogun Riders, Nippon Motos.</a:t>
            </a:r>
          </a:p>
          <a:p>
            <a:r>
              <a:t>E essa é a pergunta.</a:t>
            </a:r>
          </a:p>
          <a:p>
            <a:endParaRPr/>
          </a:p>
          <a:p>
            <a:r>
              <a:t>[AVANCE O SLIDE]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[Deixe a pergunta na tela falar sozinha por 3 segundos antes de abrir a boca.]</a:t>
            </a:r>
          </a:p>
          <a:p>
            <a:endParaRPr/>
          </a:p>
          <a:p>
            <a:r>
              <a:t>"A Yamaha conhece seus clientes tão bem quanto a Amazon, a Netflix ou o Nubank?"</a:t>
            </a:r>
          </a:p>
          <a:p>
            <a:endParaRPr/>
          </a:p>
          <a:p>
            <a:r>
              <a:t>[PAUSA LONGA]</a:t>
            </a:r>
          </a:p>
          <a:p>
            <a:endParaRPr/>
          </a:p>
          <a:p>
            <a:r>
              <a:t>Pensem nas empresas que vocês mais admiram como clientes.</a:t>
            </a:r>
          </a:p>
          <a:p>
            <a:r>
              <a:t>A Amazon sabe o que você precisa antes de você procurar.</a:t>
            </a:r>
          </a:p>
          <a:p>
            <a:r>
              <a:t>A Netflix sabe o que você quer assistir antes de você escolher.</a:t>
            </a:r>
          </a:p>
          <a:p>
            <a:r>
              <a:t>O Nubank resolve em segundos o que um banco levava semanas.</a:t>
            </a:r>
          </a:p>
          <a:p>
            <a:endParaRPr/>
          </a:p>
          <a:p>
            <a:r>
              <a:t>Nenhuma delas é mágica.</a:t>
            </a:r>
          </a:p>
          <a:p>
            <a:r>
              <a:t>Todas elas fazem a mesma coisa: transformam dados em cuidado.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E aqui está o incômodo.</a:t>
            </a:r>
          </a:p>
          <a:p>
            <a:r>
              <a:t>Nós temos os dados. Temos há anos.</a:t>
            </a:r>
          </a:p>
          <a:p>
            <a:r>
              <a:t>A pergunta não é se a Yamaha PODE conhecer o cliente assim.</a:t>
            </a:r>
          </a:p>
          <a:p>
            <a:endParaRPr/>
          </a:p>
          <a:p>
            <a:r>
              <a:t>É por que ainda não conhece.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30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[Tom de conversa. Você está descrevendo a vida real do cliente — todos na sala vão se reconhecer.]</a:t>
            </a:r>
          </a:p>
          <a:p>
            <a:endParaRPr/>
          </a:p>
          <a:p>
            <a:r>
              <a:t>O cliente mudou. E mudou sem pedir licença.</a:t>
            </a:r>
          </a:p>
          <a:p>
            <a:endParaRPr/>
          </a:p>
          <a:p>
            <a:r>
              <a:t>Em 2016, o cliente se adaptava ao nosso processo.</a:t>
            </a:r>
          </a:p>
          <a:p>
            <a:r>
              <a:t>Esperava na loja. Esperava no telefone. Esperava um retorno que às vezes não vinha.</a:t>
            </a:r>
          </a:p>
          <a:p>
            <a:r>
              <a:t>E achava normal. Porque todo mundo era assim.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Em 2026, esse cliente pede um carro pelo aplicativo e acompanha o motorista na tela.</a:t>
            </a:r>
          </a:p>
          <a:p>
            <a:r>
              <a:t>Compra online às 23h e recebe no dia seguinte.</a:t>
            </a:r>
          </a:p>
          <a:p>
            <a:r>
              <a:t>Abre uma conta em cinco minutos, sem sair do sofá.</a:t>
            </a:r>
          </a:p>
          <a:p>
            <a:endParaRPr/>
          </a:p>
          <a:p>
            <a:r>
              <a:t>E aí ele entra numa concessionária.</a:t>
            </a:r>
          </a:p>
          <a:p>
            <a:endParaRPr/>
          </a:p>
          <a:p>
            <a:r>
              <a:t>[PAUSA — deixe o contraste doer.]</a:t>
            </a:r>
          </a:p>
          <a:p>
            <a:endParaRPr/>
          </a:p>
          <a:p>
            <a:r>
              <a:t>O padrão de comparação dele não é a concessionária do outro lado da rua.</a:t>
            </a:r>
          </a:p>
          <a:p>
            <a:r>
              <a:t>É a MELHOR experiência que ele já viveu na vida.</a:t>
            </a:r>
          </a:p>
          <a:p>
            <a:endParaRPr/>
          </a:p>
          <a:p>
            <a:r>
              <a:t>Contra isso é que nós competimos. Todos os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7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[Ritmo mais firme. Aqui você nomeia o vilão da história — e o vilão não é falta de dados.]</a:t>
            </a:r>
          </a:p>
          <a:p>
            <a:endParaRPr/>
          </a:p>
          <a:p>
            <a:r>
              <a:t>Aqui está o que descobrimos quando olhamos para dentro.</a:t>
            </a:r>
          </a:p>
          <a:p>
            <a:endParaRPr/>
          </a:p>
          <a:p>
            <a:r>
              <a:t>O problema da rede Yamaha NÃO é falta de dados.</a:t>
            </a:r>
          </a:p>
          <a:p>
            <a:r>
              <a:t>[PAUSA]</a:t>
            </a:r>
          </a:p>
          <a:p>
            <a:r>
              <a:t>É o contrário.</a:t>
            </a:r>
          </a:p>
          <a:p>
            <a:endParaRPr/>
          </a:p>
          <a:p>
            <a:r>
              <a:t>Todos os dias, a rede gera milhares de interações.</a:t>
            </a:r>
          </a:p>
          <a:p>
            <a:r>
              <a:t>Vendas. Financiamentos. Revisões. Leads. Campanhas. NPS.</a:t>
            </a:r>
          </a:p>
          <a:p>
            <a:r>
              <a:t>Uma riqueza que a maioria das empresas sonharia em ter.</a:t>
            </a:r>
          </a:p>
          <a:p>
            <a:endParaRPr/>
          </a:p>
          <a:p>
            <a:r>
              <a:t>Mas cada dado vive trancado no seu próprio sistema.</a:t>
            </a:r>
          </a:p>
          <a:p>
            <a:r>
              <a:t>Cada sistema é uma ilha.</a:t>
            </a:r>
          </a:p>
          <a:p>
            <a:r>
              <a:t>E ninguém — ninguém — enxerga o oceano.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Os dados existem.</a:t>
            </a:r>
          </a:p>
          <a:p>
            <a:r>
              <a:t>A inteligência, não.</a:t>
            </a:r>
          </a:p>
          <a:p>
            <a:endParaRPr/>
          </a:p>
          <a:p>
            <a:r>
              <a:t>Essa frase resume tudo o que viemos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56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[Conte como uma história de detetive. Devagar. Cada linha da tela é uma pista.]</a:t>
            </a:r>
          </a:p>
          <a:p>
            <a:endParaRPr/>
          </a:p>
          <a:p>
            <a:r>
              <a:t>Deixa eu tornar isso concreto.</a:t>
            </a:r>
          </a:p>
          <a:p>
            <a:endParaRPr/>
          </a:p>
          <a:p>
            <a:r>
              <a:t>Um cliente tem o crédito APROVADO no banco.</a:t>
            </a:r>
          </a:p>
          <a:p>
            <a:r>
              <a:t>A moto que ele quer está DISPONÍVEL no estoque.</a:t>
            </a:r>
          </a:p>
          <a:p>
            <a:r>
              <a:t>Existe uma campanha ATIVA exatamente para aquele modelo.</a:t>
            </a:r>
          </a:p>
          <a:p>
            <a:endParaRPr/>
          </a:p>
          <a:p>
            <a:r>
              <a:t>Três sinais verdes. A venda está pronta. Só falta alguém enxergar.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Mas o crédito vive no sistema do banco.</a:t>
            </a:r>
          </a:p>
          <a:p>
            <a:r>
              <a:t>O estoque vive em outro sistema.</a:t>
            </a:r>
          </a:p>
          <a:p>
            <a:r>
              <a:t>A campanha, num terceiro.</a:t>
            </a:r>
          </a:p>
          <a:p>
            <a:endParaRPr/>
          </a:p>
          <a:p>
            <a:r>
              <a:t>O vendedor não vê. O gerente não vê. O concessionário não vê.</a:t>
            </a:r>
          </a:p>
          <a:p>
            <a:endParaRPr/>
          </a:p>
          <a:p>
            <a:r>
              <a:t>E a venda... se perde.</a:t>
            </a:r>
          </a:p>
          <a:p>
            <a:endParaRPr/>
          </a:p>
          <a:p>
            <a:r>
              <a:t>[PAUSA LONGA]</a:t>
            </a:r>
          </a:p>
          <a:p>
            <a:endParaRPr/>
          </a:p>
          <a:p>
            <a:r>
              <a:t>Ninguém errou. Ninguém foi negligente.</a:t>
            </a:r>
          </a:p>
          <a:p>
            <a:r>
              <a:t>A informação estava toda lá — só que espalhada em lugares que não conversam.</a:t>
            </a:r>
          </a:p>
          <a:p>
            <a:endParaRPr/>
          </a:p>
          <a:p>
            <a:r>
              <a:t>Foi exatamente nesse momento que o Smart Dealer nasceu.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[Mudança de energia. O tom sobe. Aqui começa a solução — apresente como quem revela algo.]</a:t>
            </a:r>
          </a:p>
          <a:p>
            <a:endParaRPr/>
          </a:p>
          <a:p>
            <a:r>
              <a:t>Então deixa eu apresentar a vocês o Smart Dealer.</a:t>
            </a:r>
          </a:p>
          <a:p>
            <a:endParaRPr/>
          </a:p>
          <a:p>
            <a:r>
              <a:t>O Centro de Inteligência da rede Yamaha.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A ideia é de uma simplicidade quase óbvia:</a:t>
            </a:r>
          </a:p>
          <a:p>
            <a:r>
              <a:t>pegar tudo o que a rede já produz — vendas, leads, Banco Yamaha, consórcio, seguros, pós-venda, NPS, campanhas, estoque —</a:t>
            </a:r>
          </a:p>
          <a:p>
            <a:r>
              <a:t>e fazer essas informações finalmente conversarem entre si.</a:t>
            </a:r>
          </a:p>
          <a:p>
            <a:endParaRPr/>
          </a:p>
          <a:p>
            <a:r>
              <a:t>E quando elas conversam, quatro coisas acontecem:</a:t>
            </a:r>
          </a:p>
          <a:p>
            <a:endParaRPr/>
          </a:p>
          <a:p>
            <a:r>
              <a:t>As oportunidades se identificam SOZINHAS.</a:t>
            </a:r>
          </a:p>
          <a:p>
            <a:r>
              <a:t>Os alertas chegam NA HORA, não no fechamento do mês.</a:t>
            </a:r>
          </a:p>
          <a:p>
            <a:r>
              <a:t>A jornada do cliente aparece COMPLETA, do primeiro lead à última revisão.</a:t>
            </a:r>
          </a:p>
          <a:p>
            <a:r>
              <a:t>E a decisão vem RECOMENDADA, com inteligência artificial.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Nós não criamos dados novos.</a:t>
            </a:r>
          </a:p>
          <a:p>
            <a:r>
              <a:t>Nós demos inteligência aos dados que a Yamaha já tinha.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89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de arquitetura — não leia as caixas. Dê o conceito em uma frase e humanize.]</a:t>
            </a:r>
          </a:p>
          <a:p>
            <a:endParaRPr/>
          </a:p>
          <a:p>
            <a:r>
              <a:t>Visualmente, é isso.</a:t>
            </a:r>
          </a:p>
          <a:p>
            <a:endParaRPr/>
          </a:p>
          <a:p>
            <a:r>
              <a:t>No centro, a concessionária. Em volta, tudo o que ela já usa hoje:</a:t>
            </a:r>
          </a:p>
          <a:p>
            <a:r>
              <a:t>CRM, Banco Yamaha, consórcio, oficina, pós-venda, NPS, Blu Club.</a:t>
            </a:r>
          </a:p>
          <a:p>
            <a:endParaRPr/>
          </a:p>
          <a:p>
            <a:r>
              <a:t>O Smart Dealer não substitui nada disso.</a:t>
            </a:r>
          </a:p>
          <a:p>
            <a:r>
              <a:t>Ele fica no meio — conectando, cruzando e pensando.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A CCY deixa de gerenciar sistemas.</a:t>
            </a:r>
          </a:p>
          <a:p>
            <a:r>
              <a:t>E passa a gerenciar EXPERIÊNCIAS.</a:t>
            </a:r>
          </a:p>
          <a:p>
            <a:endParaRPr/>
          </a:p>
          <a:p>
            <a:r>
              <a:t>Essa é a diferença entre ter tecnologia e ter inteligência.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[Tom quase de confidência. Desfazer objeções antes que elas nasçam.]</a:t>
            </a:r>
          </a:p>
          <a:p>
            <a:endParaRPr/>
          </a:p>
          <a:p>
            <a:r>
              <a:t>Antes de mostrar o que o Smart Dealer é, deixa eu dizer o que ele NÃO é.</a:t>
            </a:r>
          </a:p>
          <a:p>
            <a:endParaRPr/>
          </a:p>
          <a:p>
            <a:r>
              <a:t>Não é mais um sistema para o vendedor abrir.</a:t>
            </a:r>
          </a:p>
          <a:p>
            <a:r>
              <a:t>Não é mais uma tela para o gerente decorar.</a:t>
            </a:r>
          </a:p>
          <a:p>
            <a:r>
              <a:t>Não é mais uma senha, mais um cadastro, mais um processo.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A rede não precisa de mais ferramentas.</a:t>
            </a:r>
          </a:p>
          <a:p>
            <a:r>
              <a:t>Precisa que as ferramentas que já existem finalmente trabalhem juntas.</a:t>
            </a:r>
          </a:p>
          <a:p>
            <a:endParaRPr/>
          </a:p>
          <a:p>
            <a:r>
              <a:t>O Smart Dealer consolida tudo em uma única visão.</a:t>
            </a:r>
          </a:p>
          <a:p>
            <a:r>
              <a:t>O que antes exigia abrir cinco sistemas, agora está em um só lugar.</a:t>
            </a:r>
          </a:p>
          <a:p>
            <a:endParaRPr/>
          </a:p>
          <a:p>
            <a:r>
              <a:t>Simples assim. E é por ser simples que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58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[Aqui é o momento 'antes e depois'. Jobs adorava esse formato. Conte o 'antes' devagar, o 'depois' em uma frase.]</a:t>
            </a:r>
          </a:p>
          <a:p>
            <a:endParaRPr/>
          </a:p>
          <a:p>
            <a:r>
              <a:t>Vamos falar de tempo.</a:t>
            </a:r>
          </a:p>
          <a:p>
            <a:endParaRPr/>
          </a:p>
          <a:p>
            <a:r>
              <a:t>Hoje, para responder uma pergunta simples da operação, o caminho é esse:</a:t>
            </a:r>
          </a:p>
          <a:p>
            <a:r>
              <a:t>abrir o CRM. Abrir o Banco Yamaha. Abrir o consórcio. Abrir as planilhas internas.</a:t>
            </a:r>
          </a:p>
          <a:p>
            <a:r>
              <a:t>Cruzar tudo manualmente. Analisar.</a:t>
            </a:r>
          </a:p>
          <a:p>
            <a:endParaRPr/>
          </a:p>
          <a:p>
            <a:r>
              <a:t>De trinta minutos a três horas. Dependendo da pergunta.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Com o Smart Dealer?</a:t>
            </a:r>
          </a:p>
          <a:p>
            <a:endParaRPr/>
          </a:p>
          <a:p>
            <a:r>
              <a:t>[PAUSA — e então, quase casual:]</a:t>
            </a:r>
          </a:p>
          <a:p>
            <a:endParaRPr/>
          </a:p>
          <a:p>
            <a:r>
              <a:t>Segundos.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E o mais bonito: o cliente nunca vai ver o Smart Dealer.</a:t>
            </a:r>
          </a:p>
          <a:p>
            <a:r>
              <a:t>Mas vai sentir. Menos espera. Mais personalização. Uma loja que lembra dele.</a:t>
            </a:r>
          </a:p>
          <a:p>
            <a:r>
              <a:t>A melhor tecnologia é a que desaparece — e deixa só a experiência.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[Fale diretamente com os gestores na sala. Esse slide é sobre eles.]</a:t>
            </a:r>
          </a:p>
          <a:p>
            <a:endParaRPr/>
          </a:p>
          <a:p>
            <a:r>
              <a:t>E o que muda para quem gerencia?</a:t>
            </a:r>
          </a:p>
          <a:p>
            <a:endParaRPr/>
          </a:p>
          <a:p>
            <a:r>
              <a:t>Uma palavra: previsibilidade.</a:t>
            </a:r>
          </a:p>
          <a:p>
            <a:endParaRPr/>
          </a:p>
          <a:p>
            <a:r>
              <a:t>Hoje, o gerente descobre o problema quando o mês fecha.</a:t>
            </a:r>
          </a:p>
          <a:p>
            <a:r>
              <a:t>Com o Smart Dealer, ele enxerga a conversão de cada vendedor em tempo real.</a:t>
            </a:r>
          </a:p>
          <a:p>
            <a:r>
              <a:t>Vê onde o funil está travando ANTES do lead esfriar.</a:t>
            </a:r>
          </a:p>
          <a:p>
            <a:r>
              <a:t>Vê o NPS na hora, não no relatório do mês seguinte.</a:t>
            </a:r>
          </a:p>
          <a:p>
            <a:r>
              <a:t>Vê a taxa de aprovação bancária e os motivos de recusa.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O gerente deixa de gerenciar por percepção.</a:t>
            </a:r>
          </a:p>
          <a:p>
            <a:r>
              <a:t>E passa a gerenciar por dados.</a:t>
            </a:r>
          </a:p>
          <a:p>
            <a:endParaRPr/>
          </a:p>
          <a:p>
            <a:r>
              <a:t>Deixa de ser reativo.</a:t>
            </a:r>
          </a:p>
          <a:p>
            <a:r>
              <a:t>E passa a ser preditivo.</a:t>
            </a:r>
          </a:p>
          <a:p>
            <a:endParaRPr/>
          </a:p>
          <a:p>
            <a:r>
              <a:t>Deixa de apagar incêndio.</a:t>
            </a:r>
          </a:p>
          <a:p>
            <a:r>
              <a:t>E passa a evitar que o fogo comece.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[Energia alta. Esse é um dos momentos 'uau'. Use os exemplos como mini-histórias.]</a:t>
            </a:r>
          </a:p>
          <a:p>
            <a:endParaRPr/>
          </a:p>
          <a:p>
            <a:r>
              <a:t>Agora, a parte que a gente mais gosta.</a:t>
            </a:r>
          </a:p>
          <a:p>
            <a:endParaRPr/>
          </a:p>
          <a:p>
            <a:r>
              <a:t>Toda essa inteligência cabe numa única interface: um chat.</a:t>
            </a:r>
          </a:p>
          <a:p>
            <a:r>
              <a:t>Um chat universal, para TODA a operação.</a:t>
            </a:r>
          </a:p>
          <a:p>
            <a:endParaRPr/>
          </a:p>
          <a:p>
            <a:r>
              <a:t>O mecânico pergunta: "Qual o procedimento de revisão dos 6.000 km da Fazer 250?"</a:t>
            </a:r>
          </a:p>
          <a:p>
            <a:r>
              <a:t>Resposta instantânea, direto do manual oficial.</a:t>
            </a:r>
          </a:p>
          <a:p>
            <a:endParaRPr/>
          </a:p>
          <a:p>
            <a:r>
              <a:t>O vendedor pergunta: "Qual oportunidade devo focar hoje?"</a:t>
            </a:r>
          </a:p>
          <a:p>
            <a:r>
              <a:t>O sistema cruza leads, estoque, campanhas e aprovações — e devolve o lead prioritário, com modelo e argumento prontos.</a:t>
            </a:r>
          </a:p>
          <a:p>
            <a:endParaRPr/>
          </a:p>
          <a:p>
            <a:r>
              <a:t>O financeiro pergunta: "Quais fichas aprovadas não foram pagas essa semana?"</a:t>
            </a:r>
          </a:p>
          <a:p>
            <a:r>
              <a:t>E recebe a lista, com a ação sugerida ao lado.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Percebam o que aconteceu aqui.</a:t>
            </a:r>
          </a:p>
          <a:p>
            <a:r>
              <a:t>Ninguém abriu sistema. Ninguém cruzou planilha. Ninguém esperou relatório.</a:t>
            </a:r>
          </a:p>
          <a:p>
            <a:endParaRPr/>
          </a:p>
          <a:p>
            <a:r>
              <a:t>As pessoas simplesmente... perguntaram.</a:t>
            </a:r>
          </a:p>
          <a:p>
            <a:r>
              <a:t>Como se perguntassem a um colega que sabe tudo da operação.</a:t>
            </a:r>
          </a:p>
          <a:p>
            <a:r>
              <a:t>Porque é exatamente isso que ele 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 momento mais poderoso da apresentação: números reais. Conte devagar. Deixe cada número cair.]</a:t>
            </a:r>
          </a:p>
          <a:p>
            <a:endParaRPr/>
          </a:p>
          <a:p>
            <a:r>
              <a:t>Mas eu sei o que vocês estão pensando: "Bonito. Funciona?"</a:t>
            </a:r>
          </a:p>
          <a:p>
            <a:endParaRPr/>
          </a:p>
          <a:p>
            <a:r>
              <a:t>Deixa eu contar uma história real, com números reais do nosso grupo.</a:t>
            </a:r>
          </a:p>
          <a:p>
            <a:endParaRPr/>
          </a:p>
          <a:p>
            <a:r>
              <a:t>Num trimestre, 62 clientes tiveram o crédito recusado no CDC.</a:t>
            </a:r>
          </a:p>
          <a:p>
            <a:r>
              <a:t>Na operação tradicional, essa história acaba aqui. Recusado é fim de linha.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O Smart Dealer pegou esses 62 recusados e cruzou, automaticamente, com o Liberacred.</a:t>
            </a:r>
          </a:p>
          <a:p>
            <a:r>
              <a:t>23 deles eram elegíveis. 23 clientes aprovados — que ninguém sabia que estavam aprovados.</a:t>
            </a:r>
          </a:p>
          <a:p>
            <a:endParaRPr/>
          </a:p>
          <a:p>
            <a:r>
              <a:t>Esses 23 viraram fila de trabalho do vendedor.</a:t>
            </a:r>
          </a:p>
          <a:p>
            <a:r>
              <a:t>E a mensagem que o cliente recebeu não foi de recusa. Foi de parabéns:</a:t>
            </a:r>
          </a:p>
          <a:p>
            <a:r>
              <a:t>"Você acaba de ser APROVADO no Liberacred do Banco Yamaha."</a:t>
            </a:r>
          </a:p>
          <a:p>
            <a:endParaRPr/>
          </a:p>
          <a:p>
            <a:r>
              <a:t>Resultado: 5 vendas.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R$ 92.300 recuperados.</a:t>
            </a:r>
          </a:p>
          <a:p>
            <a:r>
              <a:t>De clientes que já tinham ouvido "não".</a:t>
            </a:r>
          </a:p>
          <a:p>
            <a:endParaRPr/>
          </a:p>
          <a:p>
            <a:r>
              <a:t>Isso não é projeção. Não é slide de consultoria.</a:t>
            </a:r>
          </a:p>
          <a:p>
            <a:r>
              <a:t>Está rodando. Em smart-dealer.vercel.app.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 clássico 'one more thing'. Diminua o ritmo, sorria, como quem quase esqueceu.]</a:t>
            </a:r>
          </a:p>
          <a:p>
            <a:endParaRPr/>
          </a:p>
          <a:p>
            <a:r>
              <a:t>E tem mais uma coisa.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Toda a documentação técnica oficial da Yamaha — manuais, procedimentos de revisão, normas, campanhas —</a:t>
            </a:r>
          </a:p>
          <a:p>
            <a:r>
              <a:t>agora vive dentro de um assistente de IA.</a:t>
            </a:r>
          </a:p>
          <a:p>
            <a:endParaRPr/>
          </a:p>
          <a:p>
            <a:r>
              <a:t>O mecânico pergunta: "Como substituir um fusível queimado da Crosser Z?"</a:t>
            </a:r>
          </a:p>
          <a:p>
            <a:r>
              <a:t>E recebe a resposta exata. Seção 6.33. Com a advertência de segurança. Com a fonte citada.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Nenhuma resposta inventada. Nenhum "achismo".</a:t>
            </a:r>
          </a:p>
          <a:p>
            <a:r>
              <a:t>Sempre a documentação oficial Yamaha — em segundos, na palma da mão.</a:t>
            </a:r>
          </a:p>
          <a:p>
            <a:endParaRPr/>
          </a:p>
          <a:p>
            <a:r>
              <a:t>O conhecimento que antes estava num manual na gaveta</a:t>
            </a:r>
          </a:p>
          <a:p>
            <a:r>
              <a:t>agora está na conversa. Onde o trabalho acontece.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[Fechamento. Ritmo lento, tom baixo, convicção total. As últimas frases são as que a sala leva para casa.]</a:t>
            </a:r>
          </a:p>
          <a:p>
            <a:endParaRPr/>
          </a:p>
          <a:p>
            <a:r>
              <a:t>Começamos com uma pergunta:</a:t>
            </a:r>
          </a:p>
          <a:p>
            <a:r>
              <a:t>como transformar dados em experiências memoráveis?</a:t>
            </a:r>
          </a:p>
          <a:p>
            <a:endParaRPr/>
          </a:p>
          <a:p>
            <a:r>
              <a:t>A resposta tem quatro degraus, e cada um constrói o próximo.</a:t>
            </a:r>
          </a:p>
          <a:p>
            <a:endParaRPr/>
          </a:p>
          <a:p>
            <a:r>
              <a:t>Uma operação inteligente gera decisões melhores.</a:t>
            </a:r>
          </a:p>
          <a:p>
            <a:r>
              <a:t>Decisões melhores geram experiências memoráveis.</a:t>
            </a:r>
          </a:p>
          <a:p>
            <a:r>
              <a:t>E experiências memoráveis geram a única coisa que importa no longo prazo:</a:t>
            </a:r>
          </a:p>
          <a:p>
            <a:r>
              <a:t>crescimento sustentável.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O Smart Dealer é mais do que uma plataforma.</a:t>
            </a:r>
          </a:p>
          <a:p>
            <a:r>
              <a:t>É um novo padrão de relacionamento entre o cliente, a concessionária e a Yamaha.</a:t>
            </a:r>
          </a:p>
          <a:p>
            <a:endParaRPr/>
          </a:p>
          <a:p>
            <a:r>
              <a:t>[PAUSA LONGA]</a:t>
            </a:r>
          </a:p>
          <a:p>
            <a:endParaRPr/>
          </a:p>
          <a:p>
            <a:r>
              <a:t>A Amazon conhece seus clientes. A Netflix conhece. O Nubank conhece.</a:t>
            </a:r>
          </a:p>
          <a:p>
            <a:endParaRPr/>
          </a:p>
          <a:p>
            <a:r>
              <a:t>A partir de hoje, a Yamaha também.</a:t>
            </a:r>
          </a:p>
          <a:p>
            <a:endParaRPr/>
          </a:p>
          <a:p>
            <a:r>
              <a:t>[PAUSA]</a:t>
            </a:r>
          </a:p>
          <a:p>
            <a:endParaRPr/>
          </a:p>
          <a:p>
            <a:r>
              <a:t>Muito obrigado.</a:t>
            </a:r>
          </a:p>
          <a:p>
            <a:endParaRPr/>
          </a:p>
          <a:p>
            <a:r>
              <a:t>Yamaha Way 2026 — Grupo Shogun Riders, Nippon Motos.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microsoft.com/office/2007/relationships/hdphoto" Target="../media/hdphoto1.wdp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png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tângulo 189">
            <a:extLst>
              <a:ext uri="{FF2B5EF4-FFF2-40B4-BE49-F238E27FC236}">
                <a16:creationId xmlns:a16="http://schemas.microsoft.com/office/drawing/2014/main" id="{F01A830D-DC65-5881-FEBF-40FC724724E1}"/>
              </a:ext>
            </a:extLst>
          </p:cNvPr>
          <p:cNvSpPr/>
          <p:nvPr/>
        </p:nvSpPr>
        <p:spPr>
          <a:xfrm>
            <a:off x="0" y="0"/>
            <a:ext cx="11167473" cy="10287000"/>
          </a:xfrm>
          <a:prstGeom prst="rect">
            <a:avLst/>
          </a:prstGeom>
          <a:gradFill flip="none" rotWithShape="1">
            <a:gsLst>
              <a:gs pos="25000">
                <a:srgbClr val="003897">
                  <a:shade val="30000"/>
                  <a:satMod val="115000"/>
                </a:srgbClr>
              </a:gs>
              <a:gs pos="56000">
                <a:srgbClr val="003897"/>
              </a:gs>
              <a:gs pos="100000">
                <a:srgbClr val="001A5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45" name="Agrupar 444">
            <a:extLst>
              <a:ext uri="{FF2B5EF4-FFF2-40B4-BE49-F238E27FC236}">
                <a16:creationId xmlns:a16="http://schemas.microsoft.com/office/drawing/2014/main" id="{49431963-76FF-1935-B376-E9BF29ACEE87}"/>
              </a:ext>
            </a:extLst>
          </p:cNvPr>
          <p:cNvGrpSpPr/>
          <p:nvPr/>
        </p:nvGrpSpPr>
        <p:grpSpPr>
          <a:xfrm>
            <a:off x="0" y="1"/>
            <a:ext cx="11171369" cy="11195608"/>
            <a:chOff x="0" y="1"/>
            <a:chExt cx="11171369" cy="11195608"/>
          </a:xfrm>
        </p:grpSpPr>
        <p:grpSp>
          <p:nvGrpSpPr>
            <p:cNvPr id="260" name="Agrupar 259">
              <a:extLst>
                <a:ext uri="{FF2B5EF4-FFF2-40B4-BE49-F238E27FC236}">
                  <a16:creationId xmlns:a16="http://schemas.microsoft.com/office/drawing/2014/main" id="{12B9FECC-5278-25B5-F37C-AD2584AD7DD8}"/>
                </a:ext>
              </a:extLst>
            </p:cNvPr>
            <p:cNvGrpSpPr/>
            <p:nvPr/>
          </p:nvGrpSpPr>
          <p:grpSpPr>
            <a:xfrm rot="5400000">
              <a:off x="139932" y="573454"/>
              <a:ext cx="11195608" cy="10048702"/>
              <a:chOff x="128161" y="118809"/>
              <a:chExt cx="11195608" cy="10048702"/>
            </a:xfrm>
          </p:grpSpPr>
          <p:cxnSp>
            <p:nvCxnSpPr>
              <p:cNvPr id="243" name="Conector reto 242">
                <a:extLst>
                  <a:ext uri="{FF2B5EF4-FFF2-40B4-BE49-F238E27FC236}">
                    <a16:creationId xmlns:a16="http://schemas.microsoft.com/office/drawing/2014/main" id="{1779F6DF-3A9F-F277-3B07-90903974C7AE}"/>
                  </a:ext>
                </a:extLst>
              </p:cNvPr>
              <p:cNvCxnSpPr/>
              <p:nvPr/>
            </p:nvCxnSpPr>
            <p:spPr>
              <a:xfrm>
                <a:off x="152400" y="734291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Conector reto 243">
                <a:extLst>
                  <a:ext uri="{FF2B5EF4-FFF2-40B4-BE49-F238E27FC236}">
                    <a16:creationId xmlns:a16="http://schemas.microsoft.com/office/drawing/2014/main" id="{3081A03F-9DAE-793A-D899-6B0E979481BA}"/>
                  </a:ext>
                </a:extLst>
              </p:cNvPr>
              <p:cNvCxnSpPr/>
              <p:nvPr/>
            </p:nvCxnSpPr>
            <p:spPr>
              <a:xfrm>
                <a:off x="152400" y="1368830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Conector reto 244">
                <a:extLst>
                  <a:ext uri="{FF2B5EF4-FFF2-40B4-BE49-F238E27FC236}">
                    <a16:creationId xmlns:a16="http://schemas.microsoft.com/office/drawing/2014/main" id="{43431A88-251D-91AF-BF06-0B61B06B4E07}"/>
                  </a:ext>
                </a:extLst>
              </p:cNvPr>
              <p:cNvCxnSpPr/>
              <p:nvPr/>
            </p:nvCxnSpPr>
            <p:spPr>
              <a:xfrm>
                <a:off x="152400" y="2003369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Conector reto 245">
                <a:extLst>
                  <a:ext uri="{FF2B5EF4-FFF2-40B4-BE49-F238E27FC236}">
                    <a16:creationId xmlns:a16="http://schemas.microsoft.com/office/drawing/2014/main" id="{1607B443-26DA-7454-055C-4C0CD6A9B2B1}"/>
                  </a:ext>
                </a:extLst>
              </p:cNvPr>
              <p:cNvCxnSpPr/>
              <p:nvPr/>
            </p:nvCxnSpPr>
            <p:spPr>
              <a:xfrm>
                <a:off x="152400" y="2637908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Conector reto 246">
                <a:extLst>
                  <a:ext uri="{FF2B5EF4-FFF2-40B4-BE49-F238E27FC236}">
                    <a16:creationId xmlns:a16="http://schemas.microsoft.com/office/drawing/2014/main" id="{203C0F3D-9DD3-9339-548A-65D469FD1D30}"/>
                  </a:ext>
                </a:extLst>
              </p:cNvPr>
              <p:cNvCxnSpPr/>
              <p:nvPr/>
            </p:nvCxnSpPr>
            <p:spPr>
              <a:xfrm>
                <a:off x="152400" y="3272447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Conector reto 247">
                <a:extLst>
                  <a:ext uri="{FF2B5EF4-FFF2-40B4-BE49-F238E27FC236}">
                    <a16:creationId xmlns:a16="http://schemas.microsoft.com/office/drawing/2014/main" id="{DF559E7E-7B70-72C6-CF87-2CC3297023AA}"/>
                  </a:ext>
                </a:extLst>
              </p:cNvPr>
              <p:cNvCxnSpPr/>
              <p:nvPr/>
            </p:nvCxnSpPr>
            <p:spPr>
              <a:xfrm>
                <a:off x="152400" y="3906986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Conector reto 248">
                <a:extLst>
                  <a:ext uri="{FF2B5EF4-FFF2-40B4-BE49-F238E27FC236}">
                    <a16:creationId xmlns:a16="http://schemas.microsoft.com/office/drawing/2014/main" id="{40C220B1-6512-75BF-0BDF-312CD2F75D67}"/>
                  </a:ext>
                </a:extLst>
              </p:cNvPr>
              <p:cNvCxnSpPr/>
              <p:nvPr/>
            </p:nvCxnSpPr>
            <p:spPr>
              <a:xfrm>
                <a:off x="152400" y="4541525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Conector reto 249">
                <a:extLst>
                  <a:ext uri="{FF2B5EF4-FFF2-40B4-BE49-F238E27FC236}">
                    <a16:creationId xmlns:a16="http://schemas.microsoft.com/office/drawing/2014/main" id="{6634D319-E58D-97F8-0C1F-28AC88ED78D0}"/>
                  </a:ext>
                </a:extLst>
              </p:cNvPr>
              <p:cNvCxnSpPr/>
              <p:nvPr/>
            </p:nvCxnSpPr>
            <p:spPr>
              <a:xfrm>
                <a:off x="152400" y="5142812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Conector reto 250">
                <a:extLst>
                  <a:ext uri="{FF2B5EF4-FFF2-40B4-BE49-F238E27FC236}">
                    <a16:creationId xmlns:a16="http://schemas.microsoft.com/office/drawing/2014/main" id="{0E386440-ACC1-C9DB-3672-2E495334ACE8}"/>
                  </a:ext>
                </a:extLst>
              </p:cNvPr>
              <p:cNvCxnSpPr/>
              <p:nvPr/>
            </p:nvCxnSpPr>
            <p:spPr>
              <a:xfrm>
                <a:off x="156296" y="5758990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Conector reto 251">
                <a:extLst>
                  <a:ext uri="{FF2B5EF4-FFF2-40B4-BE49-F238E27FC236}">
                    <a16:creationId xmlns:a16="http://schemas.microsoft.com/office/drawing/2014/main" id="{BB4F61EF-834D-00D6-1F5C-53E19B248E6F}"/>
                  </a:ext>
                </a:extLst>
              </p:cNvPr>
              <p:cNvCxnSpPr/>
              <p:nvPr/>
            </p:nvCxnSpPr>
            <p:spPr>
              <a:xfrm>
                <a:off x="156296" y="6393529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Conector reto 252">
                <a:extLst>
                  <a:ext uri="{FF2B5EF4-FFF2-40B4-BE49-F238E27FC236}">
                    <a16:creationId xmlns:a16="http://schemas.microsoft.com/office/drawing/2014/main" id="{973FE9F4-8027-45C7-A171-49BFC1A4FD6C}"/>
                  </a:ext>
                </a:extLst>
              </p:cNvPr>
              <p:cNvCxnSpPr/>
              <p:nvPr/>
            </p:nvCxnSpPr>
            <p:spPr>
              <a:xfrm>
                <a:off x="156296" y="7028068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Conector reto 253">
                <a:extLst>
                  <a:ext uri="{FF2B5EF4-FFF2-40B4-BE49-F238E27FC236}">
                    <a16:creationId xmlns:a16="http://schemas.microsoft.com/office/drawing/2014/main" id="{9E216158-716B-9E0F-BC68-E649F898EDDD}"/>
                  </a:ext>
                </a:extLst>
              </p:cNvPr>
              <p:cNvCxnSpPr/>
              <p:nvPr/>
            </p:nvCxnSpPr>
            <p:spPr>
              <a:xfrm>
                <a:off x="156296" y="7662607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Conector reto 254">
                <a:extLst>
                  <a:ext uri="{FF2B5EF4-FFF2-40B4-BE49-F238E27FC236}">
                    <a16:creationId xmlns:a16="http://schemas.microsoft.com/office/drawing/2014/main" id="{FE343DE0-6AC8-33A3-59A6-450B408F3B32}"/>
                  </a:ext>
                </a:extLst>
              </p:cNvPr>
              <p:cNvCxnSpPr/>
              <p:nvPr/>
            </p:nvCxnSpPr>
            <p:spPr>
              <a:xfrm>
                <a:off x="156296" y="8297146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Conector reto 255">
                <a:extLst>
                  <a:ext uri="{FF2B5EF4-FFF2-40B4-BE49-F238E27FC236}">
                    <a16:creationId xmlns:a16="http://schemas.microsoft.com/office/drawing/2014/main" id="{19B3C12F-1D32-924C-4DE4-2BFD76F243A5}"/>
                  </a:ext>
                </a:extLst>
              </p:cNvPr>
              <p:cNvCxnSpPr/>
              <p:nvPr/>
            </p:nvCxnSpPr>
            <p:spPr>
              <a:xfrm>
                <a:off x="156296" y="8931685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Conector reto 256">
                <a:extLst>
                  <a:ext uri="{FF2B5EF4-FFF2-40B4-BE49-F238E27FC236}">
                    <a16:creationId xmlns:a16="http://schemas.microsoft.com/office/drawing/2014/main" id="{78BB0C38-D090-689D-1087-B560CF2D5AFF}"/>
                  </a:ext>
                </a:extLst>
              </p:cNvPr>
              <p:cNvCxnSpPr/>
              <p:nvPr/>
            </p:nvCxnSpPr>
            <p:spPr>
              <a:xfrm>
                <a:off x="156296" y="9566224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Conector reto 257">
                <a:extLst>
                  <a:ext uri="{FF2B5EF4-FFF2-40B4-BE49-F238E27FC236}">
                    <a16:creationId xmlns:a16="http://schemas.microsoft.com/office/drawing/2014/main" id="{566A525D-467F-1BC8-7E37-036D1A9EFF79}"/>
                  </a:ext>
                </a:extLst>
              </p:cNvPr>
              <p:cNvCxnSpPr/>
              <p:nvPr/>
            </p:nvCxnSpPr>
            <p:spPr>
              <a:xfrm>
                <a:off x="156296" y="10167511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Conector reto 293">
                <a:extLst>
                  <a:ext uri="{FF2B5EF4-FFF2-40B4-BE49-F238E27FC236}">
                    <a16:creationId xmlns:a16="http://schemas.microsoft.com/office/drawing/2014/main" id="{DB3FAC02-859B-1A2F-ED33-1A7654BC77C6}"/>
                  </a:ext>
                </a:extLst>
              </p:cNvPr>
              <p:cNvCxnSpPr/>
              <p:nvPr/>
            </p:nvCxnSpPr>
            <p:spPr>
              <a:xfrm>
                <a:off x="128161" y="118809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0" name="Agrupar 269">
              <a:extLst>
                <a:ext uri="{FF2B5EF4-FFF2-40B4-BE49-F238E27FC236}">
                  <a16:creationId xmlns:a16="http://schemas.microsoft.com/office/drawing/2014/main" id="{132444AA-A7B8-E6BE-82D8-C7E830793A55}"/>
                </a:ext>
              </a:extLst>
            </p:cNvPr>
            <p:cNvGrpSpPr/>
            <p:nvPr/>
          </p:nvGrpSpPr>
          <p:grpSpPr>
            <a:xfrm>
              <a:off x="0" y="581891"/>
              <a:ext cx="11171369" cy="9433220"/>
              <a:chOff x="0" y="581891"/>
              <a:chExt cx="11171369" cy="9433220"/>
            </a:xfrm>
          </p:grpSpPr>
          <p:cxnSp>
            <p:nvCxnSpPr>
              <p:cNvPr id="198" name="Conector reto 197">
                <a:extLst>
                  <a:ext uri="{FF2B5EF4-FFF2-40B4-BE49-F238E27FC236}">
                    <a16:creationId xmlns:a16="http://schemas.microsoft.com/office/drawing/2014/main" id="{8F662EA6-E86C-2C57-B1C4-A4E8AD262631}"/>
                  </a:ext>
                </a:extLst>
              </p:cNvPr>
              <p:cNvCxnSpPr/>
              <p:nvPr/>
            </p:nvCxnSpPr>
            <p:spPr>
              <a:xfrm>
                <a:off x="0" y="581891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ector reto 198">
                <a:extLst>
                  <a:ext uri="{FF2B5EF4-FFF2-40B4-BE49-F238E27FC236}">
                    <a16:creationId xmlns:a16="http://schemas.microsoft.com/office/drawing/2014/main" id="{2E0A2621-24F1-6815-A7D5-7E29E5EB583B}"/>
                  </a:ext>
                </a:extLst>
              </p:cNvPr>
              <p:cNvCxnSpPr/>
              <p:nvPr/>
            </p:nvCxnSpPr>
            <p:spPr>
              <a:xfrm>
                <a:off x="0" y="1216430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ector reto 199">
                <a:extLst>
                  <a:ext uri="{FF2B5EF4-FFF2-40B4-BE49-F238E27FC236}">
                    <a16:creationId xmlns:a16="http://schemas.microsoft.com/office/drawing/2014/main" id="{7B506FD4-D833-58A4-CB6F-904F6414A697}"/>
                  </a:ext>
                </a:extLst>
              </p:cNvPr>
              <p:cNvCxnSpPr/>
              <p:nvPr/>
            </p:nvCxnSpPr>
            <p:spPr>
              <a:xfrm>
                <a:off x="0" y="1850969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ector reto 200">
                <a:extLst>
                  <a:ext uri="{FF2B5EF4-FFF2-40B4-BE49-F238E27FC236}">
                    <a16:creationId xmlns:a16="http://schemas.microsoft.com/office/drawing/2014/main" id="{5A627934-3F9B-FFE5-3A38-B9BC9195DB86}"/>
                  </a:ext>
                </a:extLst>
              </p:cNvPr>
              <p:cNvCxnSpPr/>
              <p:nvPr/>
            </p:nvCxnSpPr>
            <p:spPr>
              <a:xfrm>
                <a:off x="0" y="2485508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Conector reto 201">
                <a:extLst>
                  <a:ext uri="{FF2B5EF4-FFF2-40B4-BE49-F238E27FC236}">
                    <a16:creationId xmlns:a16="http://schemas.microsoft.com/office/drawing/2014/main" id="{2C0D360F-CD45-F8E3-8756-FA640DEA38F2}"/>
                  </a:ext>
                </a:extLst>
              </p:cNvPr>
              <p:cNvCxnSpPr/>
              <p:nvPr/>
            </p:nvCxnSpPr>
            <p:spPr>
              <a:xfrm>
                <a:off x="0" y="3120047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Conector reto 202">
                <a:extLst>
                  <a:ext uri="{FF2B5EF4-FFF2-40B4-BE49-F238E27FC236}">
                    <a16:creationId xmlns:a16="http://schemas.microsoft.com/office/drawing/2014/main" id="{61058238-0087-B0FC-CAFB-373B1FA3D2C6}"/>
                  </a:ext>
                </a:extLst>
              </p:cNvPr>
              <p:cNvCxnSpPr/>
              <p:nvPr/>
            </p:nvCxnSpPr>
            <p:spPr>
              <a:xfrm>
                <a:off x="0" y="3754586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Conector reto 203">
                <a:extLst>
                  <a:ext uri="{FF2B5EF4-FFF2-40B4-BE49-F238E27FC236}">
                    <a16:creationId xmlns:a16="http://schemas.microsoft.com/office/drawing/2014/main" id="{B3C0A5E1-4282-0801-CFE0-0230AFAAA09A}"/>
                  </a:ext>
                </a:extLst>
              </p:cNvPr>
              <p:cNvCxnSpPr/>
              <p:nvPr/>
            </p:nvCxnSpPr>
            <p:spPr>
              <a:xfrm>
                <a:off x="0" y="4389125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Conector reto 210">
                <a:extLst>
                  <a:ext uri="{FF2B5EF4-FFF2-40B4-BE49-F238E27FC236}">
                    <a16:creationId xmlns:a16="http://schemas.microsoft.com/office/drawing/2014/main" id="{406FFFEB-2378-3F63-F7CC-66387FC07F84}"/>
                  </a:ext>
                </a:extLst>
              </p:cNvPr>
              <p:cNvCxnSpPr/>
              <p:nvPr/>
            </p:nvCxnSpPr>
            <p:spPr>
              <a:xfrm>
                <a:off x="0" y="4990412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Conector reto 216">
                <a:extLst>
                  <a:ext uri="{FF2B5EF4-FFF2-40B4-BE49-F238E27FC236}">
                    <a16:creationId xmlns:a16="http://schemas.microsoft.com/office/drawing/2014/main" id="{130A1FA5-85A3-EFCA-E6F6-D1DC073FFE3B}"/>
                  </a:ext>
                </a:extLst>
              </p:cNvPr>
              <p:cNvCxnSpPr/>
              <p:nvPr/>
            </p:nvCxnSpPr>
            <p:spPr>
              <a:xfrm>
                <a:off x="3896" y="5606590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Conector reto 217">
                <a:extLst>
                  <a:ext uri="{FF2B5EF4-FFF2-40B4-BE49-F238E27FC236}">
                    <a16:creationId xmlns:a16="http://schemas.microsoft.com/office/drawing/2014/main" id="{0AA0C6DC-FBD5-77F2-E5D2-5964C685F789}"/>
                  </a:ext>
                </a:extLst>
              </p:cNvPr>
              <p:cNvCxnSpPr/>
              <p:nvPr/>
            </p:nvCxnSpPr>
            <p:spPr>
              <a:xfrm>
                <a:off x="3896" y="6241129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Conector reto 218">
                <a:extLst>
                  <a:ext uri="{FF2B5EF4-FFF2-40B4-BE49-F238E27FC236}">
                    <a16:creationId xmlns:a16="http://schemas.microsoft.com/office/drawing/2014/main" id="{2A6CBD85-AC8D-25BB-BB8D-239BF3832C4A}"/>
                  </a:ext>
                </a:extLst>
              </p:cNvPr>
              <p:cNvCxnSpPr/>
              <p:nvPr/>
            </p:nvCxnSpPr>
            <p:spPr>
              <a:xfrm>
                <a:off x="3896" y="6875668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Conector reto 219">
                <a:extLst>
                  <a:ext uri="{FF2B5EF4-FFF2-40B4-BE49-F238E27FC236}">
                    <a16:creationId xmlns:a16="http://schemas.microsoft.com/office/drawing/2014/main" id="{DF2CA738-2DD1-9A37-C551-C099E2EEB43C}"/>
                  </a:ext>
                </a:extLst>
              </p:cNvPr>
              <p:cNvCxnSpPr/>
              <p:nvPr/>
            </p:nvCxnSpPr>
            <p:spPr>
              <a:xfrm>
                <a:off x="3896" y="7510207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ector reto 220">
                <a:extLst>
                  <a:ext uri="{FF2B5EF4-FFF2-40B4-BE49-F238E27FC236}">
                    <a16:creationId xmlns:a16="http://schemas.microsoft.com/office/drawing/2014/main" id="{7686B95B-C62F-505C-44BB-F18F84551497}"/>
                  </a:ext>
                </a:extLst>
              </p:cNvPr>
              <p:cNvCxnSpPr/>
              <p:nvPr/>
            </p:nvCxnSpPr>
            <p:spPr>
              <a:xfrm>
                <a:off x="3896" y="8144746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Conector reto 221">
                <a:extLst>
                  <a:ext uri="{FF2B5EF4-FFF2-40B4-BE49-F238E27FC236}">
                    <a16:creationId xmlns:a16="http://schemas.microsoft.com/office/drawing/2014/main" id="{D0B2BA93-0F5F-B0D6-DB1B-2163BBECC7CD}"/>
                  </a:ext>
                </a:extLst>
              </p:cNvPr>
              <p:cNvCxnSpPr/>
              <p:nvPr/>
            </p:nvCxnSpPr>
            <p:spPr>
              <a:xfrm>
                <a:off x="3896" y="8779285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Conector reto 222">
                <a:extLst>
                  <a:ext uri="{FF2B5EF4-FFF2-40B4-BE49-F238E27FC236}">
                    <a16:creationId xmlns:a16="http://schemas.microsoft.com/office/drawing/2014/main" id="{6B86C9B7-67F1-F212-D8B6-63D19D937318}"/>
                  </a:ext>
                </a:extLst>
              </p:cNvPr>
              <p:cNvCxnSpPr/>
              <p:nvPr/>
            </p:nvCxnSpPr>
            <p:spPr>
              <a:xfrm>
                <a:off x="3896" y="9413824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Conector reto 223">
                <a:extLst>
                  <a:ext uri="{FF2B5EF4-FFF2-40B4-BE49-F238E27FC236}">
                    <a16:creationId xmlns:a16="http://schemas.microsoft.com/office/drawing/2014/main" id="{A6030065-0B40-66BA-0E8B-B333FB31B37E}"/>
                  </a:ext>
                </a:extLst>
              </p:cNvPr>
              <p:cNvCxnSpPr/>
              <p:nvPr/>
            </p:nvCxnSpPr>
            <p:spPr>
              <a:xfrm>
                <a:off x="3896" y="10015111"/>
                <a:ext cx="11167473" cy="0"/>
              </a:xfrm>
              <a:prstGeom prst="line">
                <a:avLst/>
              </a:prstGeom>
              <a:ln>
                <a:solidFill>
                  <a:srgbClr val="4472C4">
                    <a:alpha val="4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Image 1" descr="_NOVAS MELHORIAS/deck-assets/dashboard.png">
            <a:extLst>
              <a:ext uri="{FF2B5EF4-FFF2-40B4-BE49-F238E27FC236}">
                <a16:creationId xmlns:a16="http://schemas.microsoft.com/office/drawing/2014/main" id="{CB08222D-905D-74F3-0B29-6469079CF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364" y="3078189"/>
            <a:ext cx="7655848" cy="4545660"/>
          </a:xfrm>
          <a:prstGeom prst="rect">
            <a:avLst/>
          </a:prstGeom>
          <a:effectLst>
            <a:outerShdw blurRad="279400" dist="101600" dir="5400000" algn="bl" rotWithShape="0">
              <a:srgbClr val="05090F">
                <a:alpha val="60000"/>
              </a:srgbClr>
            </a:outerShdw>
          </a:effectLst>
        </p:spPr>
      </p:pic>
      <p:sp>
        <p:nvSpPr>
          <p:cNvPr id="14" name="Text 12"/>
          <p:cNvSpPr/>
          <p:nvPr/>
        </p:nvSpPr>
        <p:spPr>
          <a:xfrm>
            <a:off x="860603" y="7275172"/>
            <a:ext cx="11167473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Bahnschrift SemiLight" panose="020B0502040204020203" pitchFamily="34" charset="0"/>
                <a:ea typeface="Arial" pitchFamily="34" charset="-122"/>
                <a:cs typeface="Arial" pitchFamily="34" charset="-120"/>
              </a:rPr>
              <a:t>Caique Oliveira · Klenilson Paiva</a:t>
            </a:r>
            <a:endParaRPr lang="en-US" sz="2000" dirty="0">
              <a:solidFill>
                <a:srgbClr val="FFFFFF"/>
              </a:solidFill>
              <a:latin typeface="Bahnschrift SemiLight" panose="020B0502040204020203" pitchFamily="34" charset="0"/>
            </a:endParaRPr>
          </a:p>
        </p:txBody>
      </p: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3BD39C3F-302D-D9BB-2602-822396E5EDA0}"/>
              </a:ext>
            </a:extLst>
          </p:cNvPr>
          <p:cNvGrpSpPr/>
          <p:nvPr/>
        </p:nvGrpSpPr>
        <p:grpSpPr>
          <a:xfrm>
            <a:off x="776783" y="2843033"/>
            <a:ext cx="8856436" cy="5053274"/>
            <a:chOff x="762000" y="3095399"/>
            <a:chExt cx="8856436" cy="5053274"/>
          </a:xfrm>
        </p:grpSpPr>
        <p:sp>
          <p:nvSpPr>
            <p:cNvPr id="8" name="Shape 6"/>
            <p:cNvSpPr/>
            <p:nvPr/>
          </p:nvSpPr>
          <p:spPr>
            <a:xfrm>
              <a:off x="845820" y="3095399"/>
              <a:ext cx="609600" cy="28575"/>
            </a:xfrm>
            <a:prstGeom prst="roundRect">
              <a:avLst>
                <a:gd name="adj" fmla="val 50000"/>
              </a:avLst>
            </a:prstGeom>
            <a:solidFill>
              <a:srgbClr val="1A72D4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/>
            <p:nvPr/>
          </p:nvSpPr>
          <p:spPr>
            <a:xfrm>
              <a:off x="845820" y="3390674"/>
              <a:ext cx="8437245" cy="10439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88000"/>
                </a:lnSpc>
                <a:buNone/>
              </a:pPr>
              <a:r>
                <a:rPr lang="en-US" sz="9000" b="1" kern="0" spc="-300" dirty="0">
                  <a:solidFill>
                    <a:srgbClr val="FFFFFF"/>
                  </a:solidFill>
                  <a:latin typeface="Bahnschrift Condensed" panose="020B0502040204020203" pitchFamily="34" charset="0"/>
                  <a:ea typeface="Arial" pitchFamily="34" charset="-122"/>
                  <a:cs typeface="Arial" pitchFamily="34" charset="-120"/>
                </a:rPr>
                <a:t>SMART</a:t>
              </a:r>
              <a:endParaRPr lang="en-US" sz="9000" dirty="0">
                <a:latin typeface="Bahnschrift Condensed" panose="020B0502040204020203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62000" y="4447003"/>
              <a:ext cx="8298180" cy="204063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88000"/>
                </a:lnSpc>
                <a:buNone/>
              </a:pPr>
              <a:r>
                <a:rPr lang="en-US" sz="16600" b="1" kern="0" spc="-300" dirty="0">
                  <a:ln w="28575">
                    <a:noFill/>
                  </a:ln>
                  <a:gradFill flip="none" rotWithShape="1">
                    <a:gsLst>
                      <a:gs pos="0">
                        <a:srgbClr val="61A6FB">
                          <a:shade val="30000"/>
                          <a:satMod val="115000"/>
                        </a:srgbClr>
                      </a:gs>
                      <a:gs pos="50000">
                        <a:srgbClr val="61A6FB">
                          <a:shade val="67500"/>
                          <a:satMod val="115000"/>
                        </a:srgbClr>
                      </a:gs>
                      <a:gs pos="100000">
                        <a:srgbClr val="61A6FB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atin typeface="Bahnschrift Condensed" panose="020B0502040204020203" pitchFamily="34" charset="0"/>
                  <a:ea typeface="Arial" pitchFamily="34" charset="-122"/>
                  <a:cs typeface="Arial" pitchFamily="34" charset="-120"/>
                </a:rPr>
                <a:t>DEALER</a:t>
              </a:r>
              <a:endParaRPr lang="en-US" sz="16600" dirty="0">
                <a:gradFill flip="none" rotWithShape="1">
                  <a:gsLst>
                    <a:gs pos="0">
                      <a:srgbClr val="61A6FB">
                        <a:shade val="30000"/>
                        <a:satMod val="115000"/>
                      </a:srgbClr>
                    </a:gs>
                    <a:gs pos="50000">
                      <a:srgbClr val="61A6FB">
                        <a:shade val="67500"/>
                        <a:satMod val="115000"/>
                      </a:srgbClr>
                    </a:gs>
                    <a:gs pos="100000">
                      <a:srgbClr val="61A6FB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Bahnschrift Condensed" panose="020B0502040204020203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845820" y="6473597"/>
              <a:ext cx="8772616" cy="952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800" dirty="0">
                  <a:solidFill>
                    <a:schemeClr val="bg1"/>
                  </a:solidFill>
                  <a:latin typeface="Bahnschrift SemiLight" panose="020B0502040204020203" pitchFamily="34" charset="0"/>
                  <a:ea typeface="Arial" pitchFamily="34" charset="-122"/>
                  <a:cs typeface="Arial" pitchFamily="34" charset="-120"/>
                </a:rPr>
                <a:t>Plataforma Inteligente de Gestão da Experiência do Cliente</a:t>
              </a:r>
              <a:endParaRPr lang="en-US" sz="2800" dirty="0">
                <a:solidFill>
                  <a:schemeClr val="bg1"/>
                </a:solidFill>
                <a:latin typeface="Bahnschrift SemiLight" panose="020B0502040204020203" pitchFamily="34" charset="0"/>
              </a:endParaRPr>
            </a:p>
          </p:txBody>
        </p:sp>
        <p:sp>
          <p:nvSpPr>
            <p:cNvPr id="216" name="Shape 6">
              <a:extLst>
                <a:ext uri="{FF2B5EF4-FFF2-40B4-BE49-F238E27FC236}">
                  <a16:creationId xmlns:a16="http://schemas.microsoft.com/office/drawing/2014/main" id="{2A88D976-A39C-1F3A-E52E-58AE0305D0CB}"/>
                </a:ext>
              </a:extLst>
            </p:cNvPr>
            <p:cNvSpPr/>
            <p:nvPr/>
          </p:nvSpPr>
          <p:spPr>
            <a:xfrm>
              <a:off x="849716" y="8120098"/>
              <a:ext cx="609600" cy="28575"/>
            </a:xfrm>
            <a:prstGeom prst="roundRect">
              <a:avLst>
                <a:gd name="adj" fmla="val 50000"/>
              </a:avLst>
            </a:prstGeom>
            <a:solidFill>
              <a:srgbClr val="1A72D4"/>
            </a:solidFill>
            <a:ln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BJPseudoFooter">
            <a:extLst>
              <a:ext uri="{FF2B5EF4-FFF2-40B4-BE49-F238E27FC236}">
                <a16:creationId xmlns:a16="http://schemas.microsoft.com/office/drawing/2014/main" id="{489BCA6A-E3EA-35E9-4649-D379538962F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907">
            <a:extLst>
              <a:ext uri="{FF2B5EF4-FFF2-40B4-BE49-F238E27FC236}">
                <a16:creationId xmlns:a16="http://schemas.microsoft.com/office/drawing/2014/main" id="{D8157C4D-4393-3678-4EA5-63E3FE852FCC}"/>
              </a:ext>
            </a:extLst>
          </p:cNvPr>
          <p:cNvSpPr/>
          <p:nvPr/>
        </p:nvSpPr>
        <p:spPr>
          <a:xfrm>
            <a:off x="0" y="819150"/>
            <a:ext cx="14078806" cy="9529202"/>
          </a:xfrm>
          <a:custGeom>
            <a:avLst/>
            <a:gdLst>
              <a:gd name="connsiteX0" fmla="*/ 0 w 7809136"/>
              <a:gd name="connsiteY0" fmla="*/ 0 h 6923471"/>
              <a:gd name="connsiteX1" fmla="*/ 0 w 7809136"/>
              <a:gd name="connsiteY1" fmla="*/ 6923471 h 6923471"/>
              <a:gd name="connsiteX2" fmla="*/ 7131147 w 7809136"/>
              <a:gd name="connsiteY2" fmla="*/ 6923471 h 6923471"/>
              <a:gd name="connsiteX3" fmla="*/ 7477068 w 7809136"/>
              <a:gd name="connsiteY3" fmla="*/ 2825761 h 6923471"/>
              <a:gd name="connsiteX4" fmla="*/ 108528 w 7809136"/>
              <a:gd name="connsiteY4" fmla="*/ 85899 h 6923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9136" h="6923471">
                <a:moveTo>
                  <a:pt x="0" y="0"/>
                </a:moveTo>
                <a:lnTo>
                  <a:pt x="0" y="6923471"/>
                </a:lnTo>
                <a:lnTo>
                  <a:pt x="7131147" y="6923471"/>
                </a:lnTo>
                <a:cubicBezTo>
                  <a:pt x="4478326" y="4756374"/>
                  <a:pt x="9030947" y="4987173"/>
                  <a:pt x="7477068" y="2825761"/>
                </a:cubicBezTo>
                <a:cubicBezTo>
                  <a:pt x="5971747" y="731892"/>
                  <a:pt x="3491790" y="2639889"/>
                  <a:pt x="108528" y="85899"/>
                </a:cubicBezTo>
                <a:close/>
              </a:path>
            </a:pathLst>
          </a:custGeom>
          <a:gradFill flip="none" rotWithShape="1">
            <a:gsLst>
              <a:gs pos="0">
                <a:srgbClr val="003897">
                  <a:shade val="30000"/>
                  <a:satMod val="115000"/>
                </a:srgbClr>
              </a:gs>
              <a:gs pos="50000">
                <a:srgbClr val="003897">
                  <a:shade val="67500"/>
                  <a:satMod val="115000"/>
                </a:srgbClr>
              </a:gs>
              <a:gs pos="100000">
                <a:srgbClr val="003897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14478000" y="6477000"/>
            <a:ext cx="5524500" cy="5524500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79715" y="-294701"/>
            <a:ext cx="10897509" cy="6479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pt-BR" sz="66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A</a:t>
            </a:r>
            <a:r>
              <a:rPr lang="pt-BR" sz="72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 </a:t>
            </a:r>
            <a:r>
              <a:rPr lang="pt-BR" sz="7200" dirty="0">
                <a:ln>
                  <a:solidFill>
                    <a:srgbClr val="0070C0"/>
                  </a:solidFill>
                </a:ln>
                <a:solidFill>
                  <a:srgbClr val="62A5FA"/>
                </a:solidFill>
                <a:latin typeface="Bahnschrift SemiBold Condensed" panose="020B0502040204020203" pitchFamily="34" charset="0"/>
                <a:cs typeface="Arial" pitchFamily="34" charset="-120"/>
              </a:rPr>
              <a:t>Yamaha</a:t>
            </a:r>
            <a:r>
              <a:rPr lang="pt-BR" sz="72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 </a:t>
            </a:r>
            <a:r>
              <a:rPr lang="pt-BR" sz="66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conhece seus clientes tão bem quanto </a:t>
            </a:r>
            <a:r>
              <a:rPr lang="pt-BR" sz="7200" dirty="0" err="1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Amazon</a:t>
            </a:r>
            <a:r>
              <a:rPr lang="pt-BR" sz="72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, Netflix </a:t>
            </a:r>
            <a:r>
              <a:rPr lang="pt-BR" sz="66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ou</a:t>
            </a:r>
            <a:r>
              <a:rPr lang="pt-BR" sz="72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rial" pitchFamily="34" charset="-120"/>
              </a:rPr>
              <a:t> Nubank?</a:t>
            </a:r>
            <a:endParaRPr lang="en-US" sz="7200" dirty="0">
              <a:ln>
                <a:solidFill>
                  <a:srgbClr val="0070C0"/>
                </a:solidFill>
              </a:ln>
              <a:solidFill>
                <a:schemeClr val="bg1"/>
              </a:solidFill>
              <a:latin typeface="Bahnschrift SemiBold Condensed" panose="020B0502040204020203" pitchFamily="34" charset="0"/>
              <a:cs typeface="Arial" pitchFamily="34" charset="-12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4D8AE74-87F0-C1D5-59A4-23AC1F4FF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476" y="5572472"/>
            <a:ext cx="2583873" cy="78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5C1DC2E-8488-F845-AE61-57EA06BB3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140" y="3745075"/>
            <a:ext cx="2733242" cy="83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Apple Logo and symbol, meaning, history, PNG, brand">
            <a:extLst>
              <a:ext uri="{FF2B5EF4-FFF2-40B4-BE49-F238E27FC236}">
                <a16:creationId xmlns:a16="http://schemas.microsoft.com/office/drawing/2014/main" id="{50EED679-7D5F-DBDC-37F7-CB15A535E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430" y="3536407"/>
            <a:ext cx="2277931" cy="128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E7EB7C28-A0F1-6C11-CFFD-1CC556399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374" y="7571596"/>
            <a:ext cx="3257939" cy="69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5F24C270-A364-83F7-2463-ED7B61D9A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05" y="4546040"/>
            <a:ext cx="939508" cy="95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8">
            <a:extLst>
              <a:ext uri="{FF2B5EF4-FFF2-40B4-BE49-F238E27FC236}">
                <a16:creationId xmlns:a16="http://schemas.microsoft.com/office/drawing/2014/main" id="{01D0F9E2-946A-1DB0-4412-A0FFFD99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46" y="6087049"/>
            <a:ext cx="2164023" cy="121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0">
            <a:extLst>
              <a:ext uri="{FF2B5EF4-FFF2-40B4-BE49-F238E27FC236}">
                <a16:creationId xmlns:a16="http://schemas.microsoft.com/office/drawing/2014/main" id="{BF758165-CADD-1515-FFC8-7DC003CD8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25" y="7984548"/>
            <a:ext cx="1728455" cy="127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6">
            <a:extLst>
              <a:ext uri="{FF2B5EF4-FFF2-40B4-BE49-F238E27FC236}">
                <a16:creationId xmlns:a16="http://schemas.microsoft.com/office/drawing/2014/main" id="{4B41191B-EF8F-9034-1D97-CCBA86911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710" y="8982367"/>
            <a:ext cx="2722070" cy="90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AMD Logo PNG Transparent &amp; SVG Vector - Freebie Supply">
            <a:extLst>
              <a:ext uri="{FF2B5EF4-FFF2-40B4-BE49-F238E27FC236}">
                <a16:creationId xmlns:a16="http://schemas.microsoft.com/office/drawing/2014/main" id="{DAB84B69-1981-291C-33B2-84807ECEE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586" y="5293236"/>
            <a:ext cx="1646660" cy="164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2">
            <a:extLst>
              <a:ext uri="{FF2B5EF4-FFF2-40B4-BE49-F238E27FC236}">
                <a16:creationId xmlns:a16="http://schemas.microsoft.com/office/drawing/2014/main" id="{C038ED5C-06FC-71ED-1D63-58D099431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484" y="8160443"/>
            <a:ext cx="1971673" cy="73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4">
            <a:extLst>
              <a:ext uri="{FF2B5EF4-FFF2-40B4-BE49-F238E27FC236}">
                <a16:creationId xmlns:a16="http://schemas.microsoft.com/office/drawing/2014/main" id="{B672FEC9-365A-9916-D906-09A05E4C7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391" y="4176219"/>
            <a:ext cx="1463767" cy="43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Spotify Logo – PNG e Vetor – Download de Logo">
            <a:extLst>
              <a:ext uri="{FF2B5EF4-FFF2-40B4-BE49-F238E27FC236}">
                <a16:creationId xmlns:a16="http://schemas.microsoft.com/office/drawing/2014/main" id="{12F37E57-3B3B-129B-4C3E-46AB2382E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640" y="9568508"/>
            <a:ext cx="1775824" cy="53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Logo Nubank – Logos PNG">
            <a:extLst>
              <a:ext uri="{FF2B5EF4-FFF2-40B4-BE49-F238E27FC236}">
                <a16:creationId xmlns:a16="http://schemas.microsoft.com/office/drawing/2014/main" id="{FFE34967-E5B8-BEAF-1F13-F036DED6E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79" y="2052512"/>
            <a:ext cx="2055692" cy="205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rcado Livre Logo – PNG e Vetor – Download de Logo">
            <a:extLst>
              <a:ext uri="{FF2B5EF4-FFF2-40B4-BE49-F238E27FC236}">
                <a16:creationId xmlns:a16="http://schemas.microsoft.com/office/drawing/2014/main" id="{025A2540-1C43-6FFF-90A8-E270561E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391" y="5802316"/>
            <a:ext cx="3425371" cy="870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Agrupar 40">
            <a:extLst>
              <a:ext uri="{FF2B5EF4-FFF2-40B4-BE49-F238E27FC236}">
                <a16:creationId xmlns:a16="http://schemas.microsoft.com/office/drawing/2014/main" id="{CC7EA901-AE2C-2FE3-CFD9-1FFDCA893139}"/>
              </a:ext>
            </a:extLst>
          </p:cNvPr>
          <p:cNvGrpSpPr/>
          <p:nvPr/>
        </p:nvGrpSpPr>
        <p:grpSpPr>
          <a:xfrm>
            <a:off x="4209194" y="3951739"/>
            <a:ext cx="2853096" cy="6590666"/>
            <a:chOff x="8716649" y="1067686"/>
            <a:chExt cx="561241" cy="1359946"/>
          </a:xfrm>
        </p:grpSpPr>
        <p:sp>
          <p:nvSpPr>
            <p:cNvPr id="42" name="Freeform: Shape 872">
              <a:extLst>
                <a:ext uri="{FF2B5EF4-FFF2-40B4-BE49-F238E27FC236}">
                  <a16:creationId xmlns:a16="http://schemas.microsoft.com/office/drawing/2014/main" id="{1527D18A-C131-E367-A86E-74E55A642511}"/>
                </a:ext>
              </a:extLst>
            </p:cNvPr>
            <p:cNvSpPr/>
            <p:nvPr/>
          </p:nvSpPr>
          <p:spPr>
            <a:xfrm>
              <a:off x="8716649" y="2125215"/>
              <a:ext cx="529230" cy="302417"/>
            </a:xfrm>
            <a:custGeom>
              <a:avLst/>
              <a:gdLst>
                <a:gd name="connsiteX0" fmla="*/ 224780 w 296968"/>
                <a:gd name="connsiteY0" fmla="*/ 66110 h 169696"/>
                <a:gd name="connsiteX1" fmla="*/ 64056 w 296968"/>
                <a:gd name="connsiteY1" fmla="*/ 39595 h 169696"/>
                <a:gd name="connsiteX2" fmla="*/ 53344 w 296968"/>
                <a:gd name="connsiteY2" fmla="*/ 91077 h 169696"/>
                <a:gd name="connsiteX3" fmla="*/ 147356 w 296968"/>
                <a:gd name="connsiteY3" fmla="*/ 124910 h 169696"/>
                <a:gd name="connsiteX4" fmla="*/ 262898 w 296968"/>
                <a:gd name="connsiteY4" fmla="*/ 124910 h 169696"/>
                <a:gd name="connsiteX5" fmla="*/ 224780 w 296968"/>
                <a:gd name="connsiteY5" fmla="*/ 66110 h 16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6968" h="169696">
                  <a:moveTo>
                    <a:pt x="224780" y="66110"/>
                  </a:moveTo>
                  <a:cubicBezTo>
                    <a:pt x="224780" y="66110"/>
                    <a:pt x="94241" y="21926"/>
                    <a:pt x="64056" y="39595"/>
                  </a:cubicBezTo>
                  <a:cubicBezTo>
                    <a:pt x="33893" y="57265"/>
                    <a:pt x="23287" y="78922"/>
                    <a:pt x="53344" y="91077"/>
                  </a:cubicBezTo>
                  <a:cubicBezTo>
                    <a:pt x="83402" y="103231"/>
                    <a:pt x="112293" y="109468"/>
                    <a:pt x="147356" y="124910"/>
                  </a:cubicBezTo>
                  <a:cubicBezTo>
                    <a:pt x="182377" y="140352"/>
                    <a:pt x="281565" y="151892"/>
                    <a:pt x="262898" y="124910"/>
                  </a:cubicBezTo>
                  <a:cubicBezTo>
                    <a:pt x="244253" y="97928"/>
                    <a:pt x="224780" y="66110"/>
                    <a:pt x="224780" y="6611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1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3" name="Freeform: Shape 873">
              <a:extLst>
                <a:ext uri="{FF2B5EF4-FFF2-40B4-BE49-F238E27FC236}">
                  <a16:creationId xmlns:a16="http://schemas.microsoft.com/office/drawing/2014/main" id="{089F1850-676E-4C34-2DB8-C00B6FC10E26}"/>
                </a:ext>
              </a:extLst>
            </p:cNvPr>
            <p:cNvSpPr/>
            <p:nvPr/>
          </p:nvSpPr>
          <p:spPr>
            <a:xfrm>
              <a:off x="9010428" y="2239530"/>
              <a:ext cx="113406" cy="113406"/>
            </a:xfrm>
            <a:custGeom>
              <a:avLst/>
              <a:gdLst>
                <a:gd name="connsiteX0" fmla="*/ 16107 w 63636"/>
                <a:gd name="connsiteY0" fmla="*/ 19783 h 63636"/>
                <a:gd name="connsiteX1" fmla="*/ 16107 w 63636"/>
                <a:gd name="connsiteY1" fmla="*/ 36880 h 63636"/>
                <a:gd name="connsiteX2" fmla="*/ 21580 w 63636"/>
                <a:gd name="connsiteY2" fmla="*/ 40655 h 63636"/>
                <a:gd name="connsiteX3" fmla="*/ 23722 w 63636"/>
                <a:gd name="connsiteY3" fmla="*/ 37304 h 63636"/>
                <a:gd name="connsiteX4" fmla="*/ 46525 w 63636"/>
                <a:gd name="connsiteY4" fmla="*/ 59428 h 63636"/>
                <a:gd name="connsiteX5" fmla="*/ 67567 w 63636"/>
                <a:gd name="connsiteY5" fmla="*/ 54019 h 63636"/>
                <a:gd name="connsiteX6" fmla="*/ 46292 w 63636"/>
                <a:gd name="connsiteY6" fmla="*/ 16643 h 63636"/>
                <a:gd name="connsiteX7" fmla="*/ 16107 w 63636"/>
                <a:gd name="connsiteY7" fmla="*/ 19783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63636">
                  <a:moveTo>
                    <a:pt x="16107" y="19783"/>
                  </a:moveTo>
                  <a:cubicBezTo>
                    <a:pt x="16107" y="19783"/>
                    <a:pt x="15662" y="34801"/>
                    <a:pt x="16107" y="36880"/>
                  </a:cubicBezTo>
                  <a:cubicBezTo>
                    <a:pt x="16574" y="38980"/>
                    <a:pt x="21580" y="40655"/>
                    <a:pt x="21580" y="40655"/>
                  </a:cubicBezTo>
                  <a:lnTo>
                    <a:pt x="23722" y="37304"/>
                  </a:lnTo>
                  <a:cubicBezTo>
                    <a:pt x="23722" y="37304"/>
                    <a:pt x="36343" y="56543"/>
                    <a:pt x="46525" y="59428"/>
                  </a:cubicBezTo>
                  <a:cubicBezTo>
                    <a:pt x="56728" y="62355"/>
                    <a:pt x="70092" y="60276"/>
                    <a:pt x="67567" y="54019"/>
                  </a:cubicBezTo>
                  <a:cubicBezTo>
                    <a:pt x="65064" y="47740"/>
                    <a:pt x="48795" y="19380"/>
                    <a:pt x="46292" y="16643"/>
                  </a:cubicBezTo>
                  <a:cubicBezTo>
                    <a:pt x="43746" y="13886"/>
                    <a:pt x="16107" y="19783"/>
                    <a:pt x="16107" y="19783"/>
                  </a:cubicBezTo>
                  <a:close/>
                </a:path>
              </a:pathLst>
            </a:custGeom>
            <a:solidFill>
              <a:srgbClr val="5A4B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4" name="Freeform: Shape 874">
              <a:extLst>
                <a:ext uri="{FF2B5EF4-FFF2-40B4-BE49-F238E27FC236}">
                  <a16:creationId xmlns:a16="http://schemas.microsoft.com/office/drawing/2014/main" id="{992C6221-189F-F4F3-443F-2A414AD816C8}"/>
                </a:ext>
              </a:extLst>
            </p:cNvPr>
            <p:cNvSpPr/>
            <p:nvPr/>
          </p:nvSpPr>
          <p:spPr>
            <a:xfrm>
              <a:off x="8797826" y="2199822"/>
              <a:ext cx="189010" cy="113406"/>
            </a:xfrm>
            <a:custGeom>
              <a:avLst/>
              <a:gdLst>
                <a:gd name="connsiteX0" fmla="*/ 58108 w 106060"/>
                <a:gd name="connsiteY0" fmla="*/ 15909 h 63636"/>
                <a:gd name="connsiteX1" fmla="*/ 21750 w 106060"/>
                <a:gd name="connsiteY1" fmla="*/ 38203 h 63636"/>
                <a:gd name="connsiteX2" fmla="*/ 26374 w 106060"/>
                <a:gd name="connsiteY2" fmla="*/ 47876 h 63636"/>
                <a:gd name="connsiteX3" fmla="*/ 62308 w 106060"/>
                <a:gd name="connsiteY3" fmla="*/ 47876 h 63636"/>
                <a:gd name="connsiteX4" fmla="*/ 77771 w 106060"/>
                <a:gd name="connsiteY4" fmla="*/ 44970 h 63636"/>
                <a:gd name="connsiteX5" fmla="*/ 79871 w 106060"/>
                <a:gd name="connsiteY5" fmla="*/ 49191 h 63636"/>
                <a:gd name="connsiteX6" fmla="*/ 91156 w 106060"/>
                <a:gd name="connsiteY6" fmla="*/ 47048 h 63636"/>
                <a:gd name="connsiteX7" fmla="*/ 93786 w 106060"/>
                <a:gd name="connsiteY7" fmla="*/ 20597 h 63636"/>
                <a:gd name="connsiteX8" fmla="*/ 58108 w 106060"/>
                <a:gd name="connsiteY8" fmla="*/ 15909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060" h="63636">
                  <a:moveTo>
                    <a:pt x="58108" y="15909"/>
                  </a:moveTo>
                  <a:cubicBezTo>
                    <a:pt x="58108" y="15909"/>
                    <a:pt x="28029" y="36867"/>
                    <a:pt x="21750" y="38203"/>
                  </a:cubicBezTo>
                  <a:cubicBezTo>
                    <a:pt x="15493" y="39518"/>
                    <a:pt x="10890" y="47876"/>
                    <a:pt x="26374" y="47876"/>
                  </a:cubicBezTo>
                  <a:cubicBezTo>
                    <a:pt x="41817" y="47876"/>
                    <a:pt x="49771" y="50824"/>
                    <a:pt x="62308" y="47876"/>
                  </a:cubicBezTo>
                  <a:cubicBezTo>
                    <a:pt x="74865" y="44970"/>
                    <a:pt x="76541" y="44970"/>
                    <a:pt x="77771" y="44970"/>
                  </a:cubicBezTo>
                  <a:cubicBezTo>
                    <a:pt x="79002" y="44970"/>
                    <a:pt x="77771" y="49657"/>
                    <a:pt x="79871" y="49191"/>
                  </a:cubicBezTo>
                  <a:cubicBezTo>
                    <a:pt x="81950" y="48724"/>
                    <a:pt x="91156" y="47048"/>
                    <a:pt x="91156" y="47048"/>
                  </a:cubicBezTo>
                  <a:lnTo>
                    <a:pt x="93786" y="20597"/>
                  </a:lnTo>
                  <a:lnTo>
                    <a:pt x="58108" y="15909"/>
                  </a:lnTo>
                  <a:close/>
                </a:path>
              </a:pathLst>
            </a:custGeom>
            <a:solidFill>
              <a:srgbClr val="5A4B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5" name="Freeform: Shape 875">
              <a:extLst>
                <a:ext uri="{FF2B5EF4-FFF2-40B4-BE49-F238E27FC236}">
                  <a16:creationId xmlns:a16="http://schemas.microsoft.com/office/drawing/2014/main" id="{045E9B29-1F5D-4DFF-299B-1883D89756F1}"/>
                </a:ext>
              </a:extLst>
            </p:cNvPr>
            <p:cNvSpPr/>
            <p:nvPr/>
          </p:nvSpPr>
          <p:spPr>
            <a:xfrm>
              <a:off x="8903497" y="1324474"/>
              <a:ext cx="113406" cy="151209"/>
            </a:xfrm>
            <a:custGeom>
              <a:avLst/>
              <a:gdLst>
                <a:gd name="connsiteX0" fmla="*/ 36273 w 63636"/>
                <a:gd name="connsiteY0" fmla="*/ 55514 h 84848"/>
                <a:gd name="connsiteX1" fmla="*/ 32433 w 63636"/>
                <a:gd name="connsiteY1" fmla="*/ 71338 h 84848"/>
                <a:gd name="connsiteX2" fmla="*/ 24373 w 63636"/>
                <a:gd name="connsiteY2" fmla="*/ 72229 h 84848"/>
                <a:gd name="connsiteX3" fmla="*/ 15909 w 63636"/>
                <a:gd name="connsiteY3" fmla="*/ 67413 h 84848"/>
                <a:gd name="connsiteX4" fmla="*/ 20851 w 63636"/>
                <a:gd name="connsiteY4" fmla="*/ 52226 h 84848"/>
                <a:gd name="connsiteX5" fmla="*/ 20321 w 63636"/>
                <a:gd name="connsiteY5" fmla="*/ 40411 h 84848"/>
                <a:gd name="connsiteX6" fmla="*/ 30163 w 63636"/>
                <a:gd name="connsiteY6" fmla="*/ 17162 h 84848"/>
                <a:gd name="connsiteX7" fmla="*/ 32709 w 63636"/>
                <a:gd name="connsiteY7" fmla="*/ 16462 h 84848"/>
                <a:gd name="connsiteX8" fmla="*/ 30482 w 63636"/>
                <a:gd name="connsiteY8" fmla="*/ 25583 h 84848"/>
                <a:gd name="connsiteX9" fmla="*/ 36230 w 63636"/>
                <a:gd name="connsiteY9" fmla="*/ 19835 h 84848"/>
                <a:gd name="connsiteX10" fmla="*/ 42933 w 63636"/>
                <a:gd name="connsiteY10" fmla="*/ 17480 h 84848"/>
                <a:gd name="connsiteX11" fmla="*/ 47600 w 63636"/>
                <a:gd name="connsiteY11" fmla="*/ 22635 h 84848"/>
                <a:gd name="connsiteX12" fmla="*/ 40070 w 63636"/>
                <a:gd name="connsiteY12" fmla="*/ 35998 h 84848"/>
                <a:gd name="connsiteX13" fmla="*/ 39942 w 63636"/>
                <a:gd name="connsiteY13" fmla="*/ 44568 h 84848"/>
                <a:gd name="connsiteX14" fmla="*/ 47388 w 63636"/>
                <a:gd name="connsiteY14" fmla="*/ 35786 h 84848"/>
                <a:gd name="connsiteX15" fmla="*/ 50909 w 63636"/>
                <a:gd name="connsiteY15" fmla="*/ 38502 h 84848"/>
                <a:gd name="connsiteX16" fmla="*/ 47536 w 63636"/>
                <a:gd name="connsiteY16" fmla="*/ 44504 h 84848"/>
                <a:gd name="connsiteX17" fmla="*/ 36273 w 63636"/>
                <a:gd name="connsiteY17" fmla="*/ 55514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636" h="84848">
                  <a:moveTo>
                    <a:pt x="36273" y="55514"/>
                  </a:moveTo>
                  <a:cubicBezTo>
                    <a:pt x="33324" y="59544"/>
                    <a:pt x="32433" y="71338"/>
                    <a:pt x="32433" y="71338"/>
                  </a:cubicBezTo>
                  <a:cubicBezTo>
                    <a:pt x="32433" y="71338"/>
                    <a:pt x="29442" y="74732"/>
                    <a:pt x="24373" y="72229"/>
                  </a:cubicBezTo>
                  <a:cubicBezTo>
                    <a:pt x="19303" y="69726"/>
                    <a:pt x="15909" y="67413"/>
                    <a:pt x="15909" y="67413"/>
                  </a:cubicBezTo>
                  <a:cubicBezTo>
                    <a:pt x="15909" y="67413"/>
                    <a:pt x="20533" y="53456"/>
                    <a:pt x="20851" y="52226"/>
                  </a:cubicBezTo>
                  <a:cubicBezTo>
                    <a:pt x="21212" y="50974"/>
                    <a:pt x="17139" y="48004"/>
                    <a:pt x="20321" y="40411"/>
                  </a:cubicBezTo>
                  <a:cubicBezTo>
                    <a:pt x="23503" y="32859"/>
                    <a:pt x="30163" y="17162"/>
                    <a:pt x="30163" y="17162"/>
                  </a:cubicBezTo>
                  <a:cubicBezTo>
                    <a:pt x="30163" y="17162"/>
                    <a:pt x="32518" y="14892"/>
                    <a:pt x="32709" y="16462"/>
                  </a:cubicBezTo>
                  <a:cubicBezTo>
                    <a:pt x="32942" y="17989"/>
                    <a:pt x="30482" y="25583"/>
                    <a:pt x="30482" y="25583"/>
                  </a:cubicBezTo>
                  <a:cubicBezTo>
                    <a:pt x="30482" y="25583"/>
                    <a:pt x="33642" y="20577"/>
                    <a:pt x="36230" y="19835"/>
                  </a:cubicBezTo>
                  <a:cubicBezTo>
                    <a:pt x="38797" y="19135"/>
                    <a:pt x="42933" y="17480"/>
                    <a:pt x="42933" y="17480"/>
                  </a:cubicBezTo>
                  <a:cubicBezTo>
                    <a:pt x="42933" y="17480"/>
                    <a:pt x="48342" y="18753"/>
                    <a:pt x="47600" y="22635"/>
                  </a:cubicBezTo>
                  <a:cubicBezTo>
                    <a:pt x="46857" y="26517"/>
                    <a:pt x="41045" y="32986"/>
                    <a:pt x="40070" y="35998"/>
                  </a:cubicBezTo>
                  <a:cubicBezTo>
                    <a:pt x="39094" y="39053"/>
                    <a:pt x="39942" y="44568"/>
                    <a:pt x="39942" y="44568"/>
                  </a:cubicBezTo>
                  <a:cubicBezTo>
                    <a:pt x="39942" y="44568"/>
                    <a:pt x="46751" y="36911"/>
                    <a:pt x="47388" y="35786"/>
                  </a:cubicBezTo>
                  <a:cubicBezTo>
                    <a:pt x="48003" y="34705"/>
                    <a:pt x="51672" y="37144"/>
                    <a:pt x="50909" y="38502"/>
                  </a:cubicBezTo>
                  <a:cubicBezTo>
                    <a:pt x="50145" y="39901"/>
                    <a:pt x="49445" y="42383"/>
                    <a:pt x="47536" y="44504"/>
                  </a:cubicBezTo>
                  <a:cubicBezTo>
                    <a:pt x="39688" y="53244"/>
                    <a:pt x="41130" y="53944"/>
                    <a:pt x="36273" y="55514"/>
                  </a:cubicBezTo>
                  <a:close/>
                </a:path>
              </a:pathLst>
            </a:custGeom>
            <a:solidFill>
              <a:srgbClr val="F3DC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6" name="Freeform: Shape 876">
              <a:extLst>
                <a:ext uri="{FF2B5EF4-FFF2-40B4-BE49-F238E27FC236}">
                  <a16:creationId xmlns:a16="http://schemas.microsoft.com/office/drawing/2014/main" id="{42F4ACF1-769E-276F-273C-A290E573DB65}"/>
                </a:ext>
              </a:extLst>
            </p:cNvPr>
            <p:cNvSpPr/>
            <p:nvPr/>
          </p:nvSpPr>
          <p:spPr>
            <a:xfrm>
              <a:off x="8872196" y="1864216"/>
              <a:ext cx="151209" cy="378021"/>
            </a:xfrm>
            <a:custGeom>
              <a:avLst/>
              <a:gdLst>
                <a:gd name="connsiteX0" fmla="*/ 23164 w 84848"/>
                <a:gd name="connsiteY0" fmla="*/ 15909 h 212120"/>
                <a:gd name="connsiteX1" fmla="*/ 15909 w 84848"/>
                <a:gd name="connsiteY1" fmla="*/ 202808 h 212120"/>
                <a:gd name="connsiteX2" fmla="*/ 30164 w 84848"/>
                <a:gd name="connsiteY2" fmla="*/ 213626 h 212120"/>
                <a:gd name="connsiteX3" fmla="*/ 52033 w 84848"/>
                <a:gd name="connsiteY3" fmla="*/ 211972 h 212120"/>
                <a:gd name="connsiteX4" fmla="*/ 53942 w 84848"/>
                <a:gd name="connsiteY4" fmla="*/ 198629 h 212120"/>
                <a:gd name="connsiteX5" fmla="*/ 69406 w 84848"/>
                <a:gd name="connsiteY5" fmla="*/ 22209 h 212120"/>
                <a:gd name="connsiteX6" fmla="*/ 23164 w 84848"/>
                <a:gd name="connsiteY6" fmla="*/ 15909 h 21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848" h="212120">
                  <a:moveTo>
                    <a:pt x="23164" y="15909"/>
                  </a:moveTo>
                  <a:lnTo>
                    <a:pt x="15909" y="202808"/>
                  </a:lnTo>
                  <a:cubicBezTo>
                    <a:pt x="15909" y="202808"/>
                    <a:pt x="21806" y="211123"/>
                    <a:pt x="30164" y="213626"/>
                  </a:cubicBezTo>
                  <a:cubicBezTo>
                    <a:pt x="38542" y="216172"/>
                    <a:pt x="52033" y="211972"/>
                    <a:pt x="52033" y="211972"/>
                  </a:cubicBezTo>
                  <a:cubicBezTo>
                    <a:pt x="52033" y="211972"/>
                    <a:pt x="54367" y="204060"/>
                    <a:pt x="53942" y="198629"/>
                  </a:cubicBezTo>
                  <a:cubicBezTo>
                    <a:pt x="53518" y="193157"/>
                    <a:pt x="69003" y="23864"/>
                    <a:pt x="69406" y="22209"/>
                  </a:cubicBezTo>
                  <a:cubicBezTo>
                    <a:pt x="69851" y="20491"/>
                    <a:pt x="23164" y="15909"/>
                    <a:pt x="23164" y="15909"/>
                  </a:cubicBezTo>
                  <a:close/>
                </a:path>
              </a:pathLst>
            </a:custGeom>
            <a:solidFill>
              <a:srgbClr val="1836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7" name="Freeform: Shape 877">
              <a:extLst>
                <a:ext uri="{FF2B5EF4-FFF2-40B4-BE49-F238E27FC236}">
                  <a16:creationId xmlns:a16="http://schemas.microsoft.com/office/drawing/2014/main" id="{57D824F6-03F2-2DC8-B55C-60C9E0D8E9F7}"/>
                </a:ext>
              </a:extLst>
            </p:cNvPr>
            <p:cNvSpPr/>
            <p:nvPr/>
          </p:nvSpPr>
          <p:spPr>
            <a:xfrm>
              <a:off x="8922436" y="1877597"/>
              <a:ext cx="189010" cy="415823"/>
            </a:xfrm>
            <a:custGeom>
              <a:avLst/>
              <a:gdLst>
                <a:gd name="connsiteX0" fmla="*/ 15909 w 106060"/>
                <a:gd name="connsiteY0" fmla="*/ 15909 h 233332"/>
                <a:gd name="connsiteX1" fmla="*/ 39560 w 106060"/>
                <a:gd name="connsiteY1" fmla="*/ 109284 h 233332"/>
                <a:gd name="connsiteX2" fmla="*/ 65481 w 106060"/>
                <a:gd name="connsiteY2" fmla="*/ 222854 h 233332"/>
                <a:gd name="connsiteX3" fmla="*/ 87224 w 106060"/>
                <a:gd name="connsiteY3" fmla="*/ 231593 h 233332"/>
                <a:gd name="connsiteX4" fmla="*/ 95178 w 106060"/>
                <a:gd name="connsiteY4" fmla="*/ 206520 h 233332"/>
                <a:gd name="connsiteX5" fmla="*/ 80097 w 106060"/>
                <a:gd name="connsiteY5" fmla="*/ 95306 h 233332"/>
                <a:gd name="connsiteX6" fmla="*/ 77594 w 106060"/>
                <a:gd name="connsiteY6" fmla="*/ 26409 h 233332"/>
                <a:gd name="connsiteX7" fmla="*/ 15909 w 106060"/>
                <a:gd name="connsiteY7" fmla="*/ 15909 h 23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060" h="233332">
                  <a:moveTo>
                    <a:pt x="15909" y="15909"/>
                  </a:moveTo>
                  <a:cubicBezTo>
                    <a:pt x="15909" y="15909"/>
                    <a:pt x="38733" y="108606"/>
                    <a:pt x="39560" y="109284"/>
                  </a:cubicBezTo>
                  <a:cubicBezTo>
                    <a:pt x="40409" y="109984"/>
                    <a:pt x="65481" y="222854"/>
                    <a:pt x="65481" y="222854"/>
                  </a:cubicBezTo>
                  <a:cubicBezTo>
                    <a:pt x="65481" y="222854"/>
                    <a:pt x="76384" y="237066"/>
                    <a:pt x="87224" y="231593"/>
                  </a:cubicBezTo>
                  <a:cubicBezTo>
                    <a:pt x="98084" y="226184"/>
                    <a:pt x="96006" y="214899"/>
                    <a:pt x="95178" y="206520"/>
                  </a:cubicBezTo>
                  <a:cubicBezTo>
                    <a:pt x="94330" y="198163"/>
                    <a:pt x="82218" y="117090"/>
                    <a:pt x="80097" y="95306"/>
                  </a:cubicBezTo>
                  <a:cubicBezTo>
                    <a:pt x="78018" y="73563"/>
                    <a:pt x="77594" y="27745"/>
                    <a:pt x="77594" y="26409"/>
                  </a:cubicBezTo>
                  <a:cubicBezTo>
                    <a:pt x="77594" y="25136"/>
                    <a:pt x="15909" y="15909"/>
                    <a:pt x="15909" y="15909"/>
                  </a:cubicBez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8" name="Freeform: Shape 878">
              <a:extLst>
                <a:ext uri="{FF2B5EF4-FFF2-40B4-BE49-F238E27FC236}">
                  <a16:creationId xmlns:a16="http://schemas.microsoft.com/office/drawing/2014/main" id="{62925515-2EAD-1EC7-5E05-D680F066A717}"/>
                </a:ext>
              </a:extLst>
            </p:cNvPr>
            <p:cNvSpPr/>
            <p:nvPr/>
          </p:nvSpPr>
          <p:spPr>
            <a:xfrm>
              <a:off x="8866369" y="1400245"/>
              <a:ext cx="113406" cy="340219"/>
            </a:xfrm>
            <a:custGeom>
              <a:avLst/>
              <a:gdLst>
                <a:gd name="connsiteX0" fmla="*/ 26434 w 63636"/>
                <a:gd name="connsiteY0" fmla="*/ 175819 h 190908"/>
                <a:gd name="connsiteX1" fmla="*/ 17186 w 63636"/>
                <a:gd name="connsiteY1" fmla="*/ 89592 h 190908"/>
                <a:gd name="connsiteX2" fmla="*/ 36849 w 63636"/>
                <a:gd name="connsiteY2" fmla="*/ 16856 h 190908"/>
                <a:gd name="connsiteX3" fmla="*/ 56704 w 63636"/>
                <a:gd name="connsiteY3" fmla="*/ 22520 h 190908"/>
                <a:gd name="connsiteX4" fmla="*/ 49195 w 63636"/>
                <a:gd name="connsiteY4" fmla="*/ 73089 h 190908"/>
                <a:gd name="connsiteX5" fmla="*/ 49513 w 63636"/>
                <a:gd name="connsiteY5" fmla="*/ 128474 h 190908"/>
                <a:gd name="connsiteX6" fmla="*/ 48898 w 63636"/>
                <a:gd name="connsiteY6" fmla="*/ 145295 h 190908"/>
                <a:gd name="connsiteX7" fmla="*/ 26455 w 63636"/>
                <a:gd name="connsiteY7" fmla="*/ 177092 h 19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190908">
                  <a:moveTo>
                    <a:pt x="26434" y="175819"/>
                  </a:moveTo>
                  <a:cubicBezTo>
                    <a:pt x="26434" y="175819"/>
                    <a:pt x="11543" y="121262"/>
                    <a:pt x="17186" y="89592"/>
                  </a:cubicBezTo>
                  <a:cubicBezTo>
                    <a:pt x="22849" y="57944"/>
                    <a:pt x="36849" y="16856"/>
                    <a:pt x="36849" y="16856"/>
                  </a:cubicBezTo>
                  <a:cubicBezTo>
                    <a:pt x="36849" y="16856"/>
                    <a:pt x="55113" y="12486"/>
                    <a:pt x="56704" y="22520"/>
                  </a:cubicBezTo>
                  <a:cubicBezTo>
                    <a:pt x="58273" y="32532"/>
                    <a:pt x="51995" y="51559"/>
                    <a:pt x="49195" y="73089"/>
                  </a:cubicBezTo>
                  <a:cubicBezTo>
                    <a:pt x="46373" y="94641"/>
                    <a:pt x="46373" y="118759"/>
                    <a:pt x="49513" y="128474"/>
                  </a:cubicBezTo>
                  <a:cubicBezTo>
                    <a:pt x="52652" y="138189"/>
                    <a:pt x="48898" y="145295"/>
                    <a:pt x="48898" y="145295"/>
                  </a:cubicBezTo>
                  <a:lnTo>
                    <a:pt x="26455" y="177092"/>
                  </a:lnTo>
                </a:path>
              </a:pathLst>
            </a:custGeom>
            <a:solidFill>
              <a:srgbClr val="1836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9" name="Freeform: Shape 879">
              <a:extLst>
                <a:ext uri="{FF2B5EF4-FFF2-40B4-BE49-F238E27FC236}">
                  <a16:creationId xmlns:a16="http://schemas.microsoft.com/office/drawing/2014/main" id="{C2D7B054-5A14-BDD6-1EDE-15F59FC07EF5}"/>
                </a:ext>
              </a:extLst>
            </p:cNvPr>
            <p:cNvSpPr/>
            <p:nvPr/>
          </p:nvSpPr>
          <p:spPr>
            <a:xfrm>
              <a:off x="8863275" y="1758718"/>
              <a:ext cx="75604" cy="189010"/>
            </a:xfrm>
            <a:custGeom>
              <a:avLst/>
              <a:gdLst>
                <a:gd name="connsiteX0" fmla="*/ 22973 w 42424"/>
                <a:gd name="connsiteY0" fmla="*/ 93159 h 106060"/>
                <a:gd name="connsiteX1" fmla="*/ 32221 w 42424"/>
                <a:gd name="connsiteY1" fmla="*/ 78225 h 106060"/>
                <a:gd name="connsiteX2" fmla="*/ 34724 w 42424"/>
                <a:gd name="connsiteY2" fmla="*/ 16371 h 106060"/>
                <a:gd name="connsiteX3" fmla="*/ 28170 w 42424"/>
                <a:gd name="connsiteY3" fmla="*/ 16371 h 106060"/>
                <a:gd name="connsiteX4" fmla="*/ 23015 w 42424"/>
                <a:gd name="connsiteY4" fmla="*/ 25980 h 106060"/>
                <a:gd name="connsiteX5" fmla="*/ 15909 w 42424"/>
                <a:gd name="connsiteY5" fmla="*/ 66113 h 106060"/>
                <a:gd name="connsiteX6" fmla="*/ 22973 w 42424"/>
                <a:gd name="connsiteY6" fmla="*/ 93159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424" h="106060">
                  <a:moveTo>
                    <a:pt x="22973" y="93159"/>
                  </a:moveTo>
                  <a:cubicBezTo>
                    <a:pt x="23206" y="92522"/>
                    <a:pt x="22400" y="80113"/>
                    <a:pt x="32221" y="78225"/>
                  </a:cubicBezTo>
                  <a:cubicBezTo>
                    <a:pt x="42042" y="76337"/>
                    <a:pt x="34724" y="16371"/>
                    <a:pt x="34724" y="16371"/>
                  </a:cubicBezTo>
                  <a:cubicBezTo>
                    <a:pt x="34724" y="16371"/>
                    <a:pt x="28976" y="15332"/>
                    <a:pt x="28170" y="16371"/>
                  </a:cubicBezTo>
                  <a:cubicBezTo>
                    <a:pt x="27406" y="17410"/>
                    <a:pt x="24054" y="21186"/>
                    <a:pt x="23015" y="25980"/>
                  </a:cubicBezTo>
                  <a:cubicBezTo>
                    <a:pt x="21955" y="30816"/>
                    <a:pt x="15909" y="64013"/>
                    <a:pt x="15909" y="66113"/>
                  </a:cubicBezTo>
                  <a:cubicBezTo>
                    <a:pt x="15909" y="68192"/>
                    <a:pt x="22973" y="93159"/>
                    <a:pt x="22973" y="93159"/>
                  </a:cubicBezTo>
                  <a:close/>
                </a:path>
              </a:pathLst>
            </a:custGeom>
            <a:solidFill>
              <a:srgbClr val="1836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0" name="Freeform: Shape 880">
              <a:extLst>
                <a:ext uri="{FF2B5EF4-FFF2-40B4-BE49-F238E27FC236}">
                  <a16:creationId xmlns:a16="http://schemas.microsoft.com/office/drawing/2014/main" id="{C2F3E588-6F61-BB28-9F15-9A51A6D2D081}"/>
                </a:ext>
              </a:extLst>
            </p:cNvPr>
            <p:cNvSpPr/>
            <p:nvPr/>
          </p:nvSpPr>
          <p:spPr>
            <a:xfrm>
              <a:off x="8885464" y="1625911"/>
              <a:ext cx="151209" cy="302417"/>
            </a:xfrm>
            <a:custGeom>
              <a:avLst/>
              <a:gdLst>
                <a:gd name="connsiteX0" fmla="*/ 54515 w 84848"/>
                <a:gd name="connsiteY0" fmla="*/ 15909 h 169696"/>
                <a:gd name="connsiteX1" fmla="*/ 20194 w 84848"/>
                <a:gd name="connsiteY1" fmla="*/ 86503 h 169696"/>
                <a:gd name="connsiteX2" fmla="*/ 16015 w 84848"/>
                <a:gd name="connsiteY2" fmla="*/ 134993 h 169696"/>
                <a:gd name="connsiteX3" fmla="*/ 26876 w 84848"/>
                <a:gd name="connsiteY3" fmla="*/ 157584 h 169696"/>
                <a:gd name="connsiteX4" fmla="*/ 76682 w 84848"/>
                <a:gd name="connsiteY4" fmla="*/ 157160 h 169696"/>
                <a:gd name="connsiteX5" fmla="*/ 85145 w 84848"/>
                <a:gd name="connsiteY5" fmla="*/ 42127 h 169696"/>
                <a:gd name="connsiteX6" fmla="*/ 85145 w 84848"/>
                <a:gd name="connsiteY6" fmla="*/ 20215 h 169696"/>
                <a:gd name="connsiteX7" fmla="*/ 59055 w 84848"/>
                <a:gd name="connsiteY7" fmla="*/ 15930 h 169696"/>
                <a:gd name="connsiteX8" fmla="*/ 54515 w 84848"/>
                <a:gd name="connsiteY8" fmla="*/ 15930 h 16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848" h="169696">
                  <a:moveTo>
                    <a:pt x="54515" y="15909"/>
                  </a:moveTo>
                  <a:cubicBezTo>
                    <a:pt x="54515" y="15909"/>
                    <a:pt x="28955" y="34660"/>
                    <a:pt x="20194" y="86503"/>
                  </a:cubicBezTo>
                  <a:cubicBezTo>
                    <a:pt x="17203" y="104087"/>
                    <a:pt x="16015" y="118278"/>
                    <a:pt x="16015" y="134993"/>
                  </a:cubicBezTo>
                  <a:cubicBezTo>
                    <a:pt x="16015" y="151730"/>
                    <a:pt x="14064" y="151687"/>
                    <a:pt x="26876" y="157584"/>
                  </a:cubicBezTo>
                  <a:cubicBezTo>
                    <a:pt x="42361" y="164669"/>
                    <a:pt x="71824" y="157584"/>
                    <a:pt x="76682" y="157160"/>
                  </a:cubicBezTo>
                  <a:cubicBezTo>
                    <a:pt x="81539" y="156736"/>
                    <a:pt x="83618" y="58397"/>
                    <a:pt x="85145" y="42127"/>
                  </a:cubicBezTo>
                  <a:cubicBezTo>
                    <a:pt x="86673" y="25879"/>
                    <a:pt x="89070" y="22909"/>
                    <a:pt x="85145" y="20215"/>
                  </a:cubicBezTo>
                  <a:cubicBezTo>
                    <a:pt x="81242" y="17564"/>
                    <a:pt x="59055" y="15930"/>
                    <a:pt x="59055" y="15930"/>
                  </a:cubicBezTo>
                  <a:lnTo>
                    <a:pt x="54515" y="15930"/>
                  </a:lnTo>
                  <a:close/>
                </a:path>
              </a:pathLst>
            </a:custGeom>
            <a:solidFill>
              <a:srgbClr val="E7E7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1" name="Freeform: Shape 881">
              <a:extLst>
                <a:ext uri="{FF2B5EF4-FFF2-40B4-BE49-F238E27FC236}">
                  <a16:creationId xmlns:a16="http://schemas.microsoft.com/office/drawing/2014/main" id="{5DBA8B80-E409-D540-F6E0-BB16FA9FC815}"/>
                </a:ext>
              </a:extLst>
            </p:cNvPr>
            <p:cNvSpPr/>
            <p:nvPr/>
          </p:nvSpPr>
          <p:spPr>
            <a:xfrm>
              <a:off x="8954267" y="1608671"/>
              <a:ext cx="75604" cy="75604"/>
            </a:xfrm>
            <a:custGeom>
              <a:avLst/>
              <a:gdLst>
                <a:gd name="connsiteX0" fmla="*/ 15909 w 42424"/>
                <a:gd name="connsiteY0" fmla="*/ 15909 h 42424"/>
                <a:gd name="connsiteX1" fmla="*/ 18370 w 42424"/>
                <a:gd name="connsiteY1" fmla="*/ 40600 h 42424"/>
                <a:gd name="connsiteX2" fmla="*/ 36357 w 42424"/>
                <a:gd name="connsiteY2" fmla="*/ 34321 h 42424"/>
                <a:gd name="connsiteX3" fmla="*/ 43866 w 42424"/>
                <a:gd name="connsiteY3" fmla="*/ 21764 h 42424"/>
                <a:gd name="connsiteX4" fmla="*/ 41576 w 42424"/>
                <a:gd name="connsiteY4" fmla="*/ 16821 h 42424"/>
                <a:gd name="connsiteX5" fmla="*/ 15909 w 42424"/>
                <a:gd name="connsiteY5" fmla="*/ 15909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24" h="42424">
                  <a:moveTo>
                    <a:pt x="15909" y="15909"/>
                  </a:moveTo>
                  <a:lnTo>
                    <a:pt x="18370" y="40600"/>
                  </a:lnTo>
                  <a:cubicBezTo>
                    <a:pt x="18370" y="40600"/>
                    <a:pt x="29230" y="42679"/>
                    <a:pt x="36357" y="34321"/>
                  </a:cubicBezTo>
                  <a:cubicBezTo>
                    <a:pt x="43442" y="25942"/>
                    <a:pt x="43866" y="21764"/>
                    <a:pt x="43866" y="21764"/>
                  </a:cubicBezTo>
                  <a:lnTo>
                    <a:pt x="41576" y="16821"/>
                  </a:lnTo>
                  <a:lnTo>
                    <a:pt x="15909" y="15909"/>
                  </a:lnTo>
                  <a:close/>
                </a:path>
              </a:pathLst>
            </a:custGeom>
            <a:solidFill>
              <a:srgbClr val="D5B5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2" name="Freeform: Shape 882">
              <a:extLst>
                <a:ext uri="{FF2B5EF4-FFF2-40B4-BE49-F238E27FC236}">
                  <a16:creationId xmlns:a16="http://schemas.microsoft.com/office/drawing/2014/main" id="{7367C140-73FC-1F82-1B1E-5864F631F0F5}"/>
                </a:ext>
              </a:extLst>
            </p:cNvPr>
            <p:cNvSpPr/>
            <p:nvPr/>
          </p:nvSpPr>
          <p:spPr>
            <a:xfrm>
              <a:off x="8954267" y="1483509"/>
              <a:ext cx="151209" cy="189010"/>
            </a:xfrm>
            <a:custGeom>
              <a:avLst/>
              <a:gdLst>
                <a:gd name="connsiteX0" fmla="*/ 15909 w 84848"/>
                <a:gd name="connsiteY0" fmla="*/ 45012 h 106060"/>
                <a:gd name="connsiteX1" fmla="*/ 23842 w 84848"/>
                <a:gd name="connsiteY1" fmla="*/ 26324 h 106060"/>
                <a:gd name="connsiteX2" fmla="*/ 44694 w 84848"/>
                <a:gd name="connsiteY2" fmla="*/ 15909 h 106060"/>
                <a:gd name="connsiteX3" fmla="*/ 56912 w 84848"/>
                <a:gd name="connsiteY3" fmla="*/ 22612 h 106060"/>
                <a:gd name="connsiteX4" fmla="*/ 64315 w 84848"/>
                <a:gd name="connsiteY4" fmla="*/ 26345 h 106060"/>
                <a:gd name="connsiteX5" fmla="*/ 72693 w 84848"/>
                <a:gd name="connsiteY5" fmla="*/ 32200 h 106060"/>
                <a:gd name="connsiteX6" fmla="*/ 76469 w 84848"/>
                <a:gd name="connsiteY6" fmla="*/ 37206 h 106060"/>
                <a:gd name="connsiteX7" fmla="*/ 79800 w 84848"/>
                <a:gd name="connsiteY7" fmla="*/ 47663 h 106060"/>
                <a:gd name="connsiteX8" fmla="*/ 79800 w 84848"/>
                <a:gd name="connsiteY8" fmla="*/ 61069 h 106060"/>
                <a:gd name="connsiteX9" fmla="*/ 76045 w 84848"/>
                <a:gd name="connsiteY9" fmla="*/ 73606 h 106060"/>
                <a:gd name="connsiteX10" fmla="*/ 43421 w 84848"/>
                <a:gd name="connsiteY10" fmla="*/ 90278 h 106060"/>
                <a:gd name="connsiteX11" fmla="*/ 39985 w 84848"/>
                <a:gd name="connsiteY11" fmla="*/ 87839 h 106060"/>
                <a:gd name="connsiteX12" fmla="*/ 15909 w 84848"/>
                <a:gd name="connsiteY12" fmla="*/ 45012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848" h="106060">
                  <a:moveTo>
                    <a:pt x="15909" y="45012"/>
                  </a:moveTo>
                  <a:cubicBezTo>
                    <a:pt x="15909" y="45012"/>
                    <a:pt x="19239" y="34257"/>
                    <a:pt x="23842" y="26324"/>
                  </a:cubicBezTo>
                  <a:cubicBezTo>
                    <a:pt x="28445" y="18391"/>
                    <a:pt x="37566" y="15909"/>
                    <a:pt x="44694" y="15909"/>
                  </a:cubicBezTo>
                  <a:cubicBezTo>
                    <a:pt x="51778" y="15909"/>
                    <a:pt x="56912" y="22612"/>
                    <a:pt x="56912" y="22612"/>
                  </a:cubicBezTo>
                  <a:cubicBezTo>
                    <a:pt x="56912" y="22612"/>
                    <a:pt x="62215" y="25921"/>
                    <a:pt x="64315" y="26345"/>
                  </a:cubicBezTo>
                  <a:cubicBezTo>
                    <a:pt x="66436" y="26770"/>
                    <a:pt x="71442" y="30545"/>
                    <a:pt x="72693" y="32200"/>
                  </a:cubicBezTo>
                  <a:cubicBezTo>
                    <a:pt x="73966" y="33897"/>
                    <a:pt x="74369" y="35127"/>
                    <a:pt x="76469" y="37206"/>
                  </a:cubicBezTo>
                  <a:cubicBezTo>
                    <a:pt x="78548" y="39285"/>
                    <a:pt x="79800" y="41406"/>
                    <a:pt x="79800" y="47663"/>
                  </a:cubicBezTo>
                  <a:cubicBezTo>
                    <a:pt x="79800" y="53942"/>
                    <a:pt x="81454" y="54366"/>
                    <a:pt x="79800" y="61069"/>
                  </a:cubicBezTo>
                  <a:cubicBezTo>
                    <a:pt x="78145" y="67730"/>
                    <a:pt x="79800" y="68154"/>
                    <a:pt x="76045" y="73606"/>
                  </a:cubicBezTo>
                  <a:cubicBezTo>
                    <a:pt x="72291" y="79057"/>
                    <a:pt x="43421" y="90278"/>
                    <a:pt x="43421" y="90278"/>
                  </a:cubicBezTo>
                  <a:lnTo>
                    <a:pt x="39985" y="87839"/>
                  </a:lnTo>
                  <a:lnTo>
                    <a:pt x="15909" y="45012"/>
                  </a:lnTo>
                  <a:close/>
                </a:path>
              </a:pathLst>
            </a:custGeom>
            <a:solidFill>
              <a:srgbClr val="C399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3" name="Freeform: Shape 883">
              <a:extLst>
                <a:ext uri="{FF2B5EF4-FFF2-40B4-BE49-F238E27FC236}">
                  <a16:creationId xmlns:a16="http://schemas.microsoft.com/office/drawing/2014/main" id="{CE577245-4A54-AFA3-E946-EB7EBF4D5AF7}"/>
                </a:ext>
              </a:extLst>
            </p:cNvPr>
            <p:cNvSpPr/>
            <p:nvPr/>
          </p:nvSpPr>
          <p:spPr>
            <a:xfrm>
              <a:off x="8934747" y="1491817"/>
              <a:ext cx="113406" cy="151209"/>
            </a:xfrm>
            <a:custGeom>
              <a:avLst/>
              <a:gdLst>
                <a:gd name="connsiteX0" fmla="*/ 33925 w 63636"/>
                <a:gd name="connsiteY0" fmla="*/ 27538 h 84848"/>
                <a:gd name="connsiteX1" fmla="*/ 15937 w 63636"/>
                <a:gd name="connsiteY1" fmla="*/ 68520 h 84848"/>
                <a:gd name="connsiteX2" fmla="*/ 31400 w 63636"/>
                <a:gd name="connsiteY2" fmla="*/ 84832 h 84848"/>
                <a:gd name="connsiteX3" fmla="*/ 53970 w 63636"/>
                <a:gd name="connsiteY3" fmla="*/ 81480 h 84848"/>
                <a:gd name="connsiteX4" fmla="*/ 63176 w 63636"/>
                <a:gd name="connsiteY4" fmla="*/ 73950 h 84848"/>
                <a:gd name="connsiteX5" fmla="*/ 63176 w 63636"/>
                <a:gd name="connsiteY5" fmla="*/ 61859 h 84848"/>
                <a:gd name="connsiteX6" fmla="*/ 50640 w 63636"/>
                <a:gd name="connsiteY6" fmla="*/ 67714 h 84848"/>
                <a:gd name="connsiteX7" fmla="*/ 46461 w 63636"/>
                <a:gd name="connsiteY7" fmla="*/ 66441 h 84848"/>
                <a:gd name="connsiteX8" fmla="*/ 53970 w 63636"/>
                <a:gd name="connsiteY8" fmla="*/ 56598 h 84848"/>
                <a:gd name="connsiteX9" fmla="*/ 56473 w 63636"/>
                <a:gd name="connsiteY9" fmla="*/ 50129 h 84848"/>
                <a:gd name="connsiteX10" fmla="*/ 66167 w 63636"/>
                <a:gd name="connsiteY10" fmla="*/ 34856 h 84848"/>
                <a:gd name="connsiteX11" fmla="*/ 37255 w 63636"/>
                <a:gd name="connsiteY11" fmla="*/ 21683 h 84848"/>
                <a:gd name="connsiteX12" fmla="*/ 33925 w 63636"/>
                <a:gd name="connsiteY12" fmla="*/ 27538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636" h="84848">
                  <a:moveTo>
                    <a:pt x="33925" y="27538"/>
                  </a:moveTo>
                  <a:cubicBezTo>
                    <a:pt x="33925" y="27538"/>
                    <a:pt x="15089" y="59759"/>
                    <a:pt x="15937" y="68520"/>
                  </a:cubicBezTo>
                  <a:cubicBezTo>
                    <a:pt x="16764" y="77301"/>
                    <a:pt x="17188" y="81883"/>
                    <a:pt x="31400" y="84832"/>
                  </a:cubicBezTo>
                  <a:cubicBezTo>
                    <a:pt x="45634" y="87759"/>
                    <a:pt x="53970" y="81480"/>
                    <a:pt x="53970" y="81480"/>
                  </a:cubicBezTo>
                  <a:cubicBezTo>
                    <a:pt x="53970" y="81480"/>
                    <a:pt x="57322" y="81904"/>
                    <a:pt x="63176" y="73950"/>
                  </a:cubicBezTo>
                  <a:cubicBezTo>
                    <a:pt x="69031" y="66017"/>
                    <a:pt x="69879" y="62665"/>
                    <a:pt x="63176" y="61859"/>
                  </a:cubicBezTo>
                  <a:cubicBezTo>
                    <a:pt x="56494" y="61011"/>
                    <a:pt x="50640" y="67714"/>
                    <a:pt x="50640" y="67714"/>
                  </a:cubicBezTo>
                  <a:lnTo>
                    <a:pt x="46461" y="66441"/>
                  </a:lnTo>
                  <a:cubicBezTo>
                    <a:pt x="46461" y="66441"/>
                    <a:pt x="52316" y="58444"/>
                    <a:pt x="53970" y="56598"/>
                  </a:cubicBezTo>
                  <a:cubicBezTo>
                    <a:pt x="55667" y="54732"/>
                    <a:pt x="56897" y="52208"/>
                    <a:pt x="56473" y="50129"/>
                  </a:cubicBezTo>
                  <a:cubicBezTo>
                    <a:pt x="56070" y="48050"/>
                    <a:pt x="64364" y="37783"/>
                    <a:pt x="66167" y="34856"/>
                  </a:cubicBezTo>
                  <a:cubicBezTo>
                    <a:pt x="78343" y="14938"/>
                    <a:pt x="43322" y="11035"/>
                    <a:pt x="37255" y="21683"/>
                  </a:cubicBezTo>
                  <a:cubicBezTo>
                    <a:pt x="31188" y="32332"/>
                    <a:pt x="33925" y="27538"/>
                    <a:pt x="33925" y="27538"/>
                  </a:cubicBezTo>
                  <a:close/>
                </a:path>
              </a:pathLst>
            </a:custGeom>
            <a:solidFill>
              <a:srgbClr val="F3DC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4" name="Freeform: Shape 884">
              <a:extLst>
                <a:ext uri="{FF2B5EF4-FFF2-40B4-BE49-F238E27FC236}">
                  <a16:creationId xmlns:a16="http://schemas.microsoft.com/office/drawing/2014/main" id="{8920701C-A295-078B-0143-271A7DFEEB9D}"/>
                </a:ext>
              </a:extLst>
            </p:cNvPr>
            <p:cNvSpPr/>
            <p:nvPr/>
          </p:nvSpPr>
          <p:spPr>
            <a:xfrm>
              <a:off x="8942736" y="1549625"/>
              <a:ext cx="75604" cy="37803"/>
            </a:xfrm>
            <a:custGeom>
              <a:avLst/>
              <a:gdLst>
                <a:gd name="connsiteX0" fmla="*/ 26876 w 42424"/>
                <a:gd name="connsiteY0" fmla="*/ 15909 h 21212"/>
                <a:gd name="connsiteX1" fmla="*/ 15909 w 42424"/>
                <a:gd name="connsiteY1" fmla="*/ 21233 h 21212"/>
                <a:gd name="connsiteX2" fmla="*/ 22379 w 42424"/>
                <a:gd name="connsiteY2" fmla="*/ 26048 h 2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24" h="21212">
                  <a:moveTo>
                    <a:pt x="26876" y="15909"/>
                  </a:moveTo>
                  <a:lnTo>
                    <a:pt x="15909" y="21233"/>
                  </a:lnTo>
                  <a:lnTo>
                    <a:pt x="22379" y="26048"/>
                  </a:lnTo>
                  <a:close/>
                </a:path>
              </a:pathLst>
            </a:custGeom>
            <a:solidFill>
              <a:srgbClr val="D5B5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5" name="Freeform: Shape 885">
              <a:extLst>
                <a:ext uri="{FF2B5EF4-FFF2-40B4-BE49-F238E27FC236}">
                  <a16:creationId xmlns:a16="http://schemas.microsoft.com/office/drawing/2014/main" id="{545E29BF-CC71-5EAF-6A25-74CFF5653A22}"/>
                </a:ext>
              </a:extLst>
            </p:cNvPr>
            <p:cNvSpPr/>
            <p:nvPr/>
          </p:nvSpPr>
          <p:spPr>
            <a:xfrm>
              <a:off x="8946479" y="1650746"/>
              <a:ext cx="75604" cy="75604"/>
            </a:xfrm>
            <a:custGeom>
              <a:avLst/>
              <a:gdLst>
                <a:gd name="connsiteX0" fmla="*/ 23524 w 42424"/>
                <a:gd name="connsiteY0" fmla="*/ 15909 h 42424"/>
                <a:gd name="connsiteX1" fmla="*/ 15909 w 42424"/>
                <a:gd name="connsiteY1" fmla="*/ 25730 h 42424"/>
                <a:gd name="connsiteX2" fmla="*/ 22273 w 42424"/>
                <a:gd name="connsiteY2" fmla="*/ 29612 h 42424"/>
                <a:gd name="connsiteX3" fmla="*/ 28233 w 42424"/>
                <a:gd name="connsiteY3" fmla="*/ 27109 h 42424"/>
                <a:gd name="connsiteX4" fmla="*/ 24160 w 42424"/>
                <a:gd name="connsiteY4" fmla="*/ 15909 h 42424"/>
                <a:gd name="connsiteX5" fmla="*/ 23524 w 42424"/>
                <a:gd name="connsiteY5" fmla="*/ 15909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24" h="42424">
                  <a:moveTo>
                    <a:pt x="23524" y="15909"/>
                  </a:moveTo>
                  <a:lnTo>
                    <a:pt x="15909" y="25730"/>
                  </a:lnTo>
                  <a:cubicBezTo>
                    <a:pt x="15909" y="25730"/>
                    <a:pt x="16948" y="30588"/>
                    <a:pt x="22273" y="29612"/>
                  </a:cubicBezTo>
                  <a:cubicBezTo>
                    <a:pt x="27597" y="28679"/>
                    <a:pt x="28233" y="27109"/>
                    <a:pt x="28233" y="27109"/>
                  </a:cubicBezTo>
                  <a:lnTo>
                    <a:pt x="24160" y="15909"/>
                  </a:lnTo>
                  <a:lnTo>
                    <a:pt x="23524" y="15909"/>
                  </a:lnTo>
                  <a:close/>
                </a:path>
              </a:pathLst>
            </a:custGeom>
            <a:solidFill>
              <a:srgbClr val="BE20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6" name="Freeform: Shape 886">
              <a:extLst>
                <a:ext uri="{FF2B5EF4-FFF2-40B4-BE49-F238E27FC236}">
                  <a16:creationId xmlns:a16="http://schemas.microsoft.com/office/drawing/2014/main" id="{C909823F-1AE1-D79A-BD2E-C99A58467089}"/>
                </a:ext>
              </a:extLst>
            </p:cNvPr>
            <p:cNvSpPr/>
            <p:nvPr/>
          </p:nvSpPr>
          <p:spPr>
            <a:xfrm>
              <a:off x="8961145" y="1619031"/>
              <a:ext cx="75604" cy="113406"/>
            </a:xfrm>
            <a:custGeom>
              <a:avLst/>
              <a:gdLst>
                <a:gd name="connsiteX0" fmla="*/ 15909 w 42424"/>
                <a:gd name="connsiteY0" fmla="*/ 33706 h 63636"/>
                <a:gd name="connsiteX1" fmla="*/ 15909 w 42424"/>
                <a:gd name="connsiteY1" fmla="*/ 51482 h 63636"/>
                <a:gd name="connsiteX2" fmla="*/ 37545 w 42424"/>
                <a:gd name="connsiteY2" fmla="*/ 36888 h 63636"/>
                <a:gd name="connsiteX3" fmla="*/ 41936 w 42424"/>
                <a:gd name="connsiteY3" fmla="*/ 20427 h 63636"/>
                <a:gd name="connsiteX4" fmla="*/ 38797 w 42424"/>
                <a:gd name="connsiteY4" fmla="*/ 15909 h 63636"/>
                <a:gd name="connsiteX5" fmla="*/ 24882 w 42424"/>
                <a:gd name="connsiteY5" fmla="*/ 30312 h 63636"/>
                <a:gd name="connsiteX6" fmla="*/ 15909 w 42424"/>
                <a:gd name="connsiteY6" fmla="*/ 33706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424" h="63636">
                  <a:moveTo>
                    <a:pt x="15909" y="33706"/>
                  </a:moveTo>
                  <a:lnTo>
                    <a:pt x="15909" y="51482"/>
                  </a:lnTo>
                  <a:cubicBezTo>
                    <a:pt x="15909" y="51482"/>
                    <a:pt x="33303" y="42848"/>
                    <a:pt x="37545" y="36888"/>
                  </a:cubicBezTo>
                  <a:cubicBezTo>
                    <a:pt x="41788" y="30948"/>
                    <a:pt x="43888" y="24945"/>
                    <a:pt x="41936" y="20427"/>
                  </a:cubicBezTo>
                  <a:cubicBezTo>
                    <a:pt x="40006" y="15930"/>
                    <a:pt x="38797" y="15909"/>
                    <a:pt x="38797" y="15909"/>
                  </a:cubicBezTo>
                  <a:cubicBezTo>
                    <a:pt x="38797" y="15909"/>
                    <a:pt x="31754" y="27194"/>
                    <a:pt x="24882" y="30312"/>
                  </a:cubicBezTo>
                  <a:cubicBezTo>
                    <a:pt x="17945" y="33451"/>
                    <a:pt x="15909" y="33706"/>
                    <a:pt x="15909" y="337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7" name="Freeform: Shape 887">
              <a:extLst>
                <a:ext uri="{FF2B5EF4-FFF2-40B4-BE49-F238E27FC236}">
                  <a16:creationId xmlns:a16="http://schemas.microsoft.com/office/drawing/2014/main" id="{8C434028-01CE-FA3E-A4C0-506370541548}"/>
                </a:ext>
              </a:extLst>
            </p:cNvPr>
            <p:cNvSpPr/>
            <p:nvPr/>
          </p:nvSpPr>
          <p:spPr>
            <a:xfrm>
              <a:off x="8941738" y="1620958"/>
              <a:ext cx="37803" cy="75604"/>
            </a:xfrm>
            <a:custGeom>
              <a:avLst/>
              <a:gdLst>
                <a:gd name="connsiteX0" fmla="*/ 23617 w 21212"/>
                <a:gd name="connsiteY0" fmla="*/ 15909 h 42424"/>
                <a:gd name="connsiteX1" fmla="*/ 26184 w 21212"/>
                <a:gd name="connsiteY1" fmla="*/ 32603 h 42424"/>
                <a:gd name="connsiteX2" fmla="*/ 16469 w 21212"/>
                <a:gd name="connsiteY2" fmla="*/ 44885 h 42424"/>
                <a:gd name="connsiteX3" fmla="*/ 18187 w 21212"/>
                <a:gd name="connsiteY3" fmla="*/ 26409 h 42424"/>
                <a:gd name="connsiteX4" fmla="*/ 23617 w 21212"/>
                <a:gd name="connsiteY4" fmla="*/ 15909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12" h="42424">
                  <a:moveTo>
                    <a:pt x="23617" y="15909"/>
                  </a:moveTo>
                  <a:lnTo>
                    <a:pt x="26184" y="32603"/>
                  </a:lnTo>
                  <a:lnTo>
                    <a:pt x="16469" y="44885"/>
                  </a:lnTo>
                  <a:cubicBezTo>
                    <a:pt x="16469" y="44885"/>
                    <a:pt x="14411" y="35509"/>
                    <a:pt x="18187" y="26409"/>
                  </a:cubicBezTo>
                  <a:cubicBezTo>
                    <a:pt x="21941" y="17330"/>
                    <a:pt x="23617" y="15909"/>
                    <a:pt x="23617" y="159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8" name="Freeform: Shape 888">
              <a:extLst>
                <a:ext uri="{FF2B5EF4-FFF2-40B4-BE49-F238E27FC236}">
                  <a16:creationId xmlns:a16="http://schemas.microsoft.com/office/drawing/2014/main" id="{EB8452F7-393C-0BD7-A00B-6B47E1EE44B6}"/>
                </a:ext>
              </a:extLst>
            </p:cNvPr>
            <p:cNvSpPr/>
            <p:nvPr/>
          </p:nvSpPr>
          <p:spPr>
            <a:xfrm>
              <a:off x="8916994" y="1668136"/>
              <a:ext cx="75604" cy="151209"/>
            </a:xfrm>
            <a:custGeom>
              <a:avLst/>
              <a:gdLst>
                <a:gd name="connsiteX0" fmla="*/ 33260 w 42424"/>
                <a:gd name="connsiteY0" fmla="*/ 15909 h 84848"/>
                <a:gd name="connsiteX1" fmla="*/ 15909 w 42424"/>
                <a:gd name="connsiteY1" fmla="*/ 75663 h 84848"/>
                <a:gd name="connsiteX2" fmla="*/ 22188 w 42424"/>
                <a:gd name="connsiteY2" fmla="*/ 85866 h 84848"/>
                <a:gd name="connsiteX3" fmla="*/ 32221 w 42424"/>
                <a:gd name="connsiteY3" fmla="*/ 75960 h 84848"/>
                <a:gd name="connsiteX4" fmla="*/ 40685 w 42424"/>
                <a:gd name="connsiteY4" fmla="*/ 18433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24" h="84848">
                  <a:moveTo>
                    <a:pt x="33260" y="15909"/>
                  </a:moveTo>
                  <a:lnTo>
                    <a:pt x="15909" y="75663"/>
                  </a:lnTo>
                  <a:lnTo>
                    <a:pt x="22188" y="85866"/>
                  </a:lnTo>
                  <a:lnTo>
                    <a:pt x="32221" y="75960"/>
                  </a:lnTo>
                  <a:lnTo>
                    <a:pt x="40685" y="18433"/>
                  </a:lnTo>
                  <a:close/>
                </a:path>
              </a:pathLst>
            </a:custGeom>
            <a:solidFill>
              <a:srgbClr val="BE20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9" name="Freeform: Shape 889">
              <a:extLst>
                <a:ext uri="{FF2B5EF4-FFF2-40B4-BE49-F238E27FC236}">
                  <a16:creationId xmlns:a16="http://schemas.microsoft.com/office/drawing/2014/main" id="{C9319836-172D-CE06-43BD-D47A7A2281AE}"/>
                </a:ext>
              </a:extLst>
            </p:cNvPr>
            <p:cNvSpPr/>
            <p:nvPr/>
          </p:nvSpPr>
          <p:spPr>
            <a:xfrm>
              <a:off x="8851950" y="1611207"/>
              <a:ext cx="151209" cy="340219"/>
            </a:xfrm>
            <a:custGeom>
              <a:avLst/>
              <a:gdLst>
                <a:gd name="connsiteX0" fmla="*/ 74000 w 84848"/>
                <a:gd name="connsiteY0" fmla="*/ 21382 h 190908"/>
                <a:gd name="connsiteX1" fmla="*/ 58218 w 84848"/>
                <a:gd name="connsiteY1" fmla="*/ 15909 h 190908"/>
                <a:gd name="connsiteX2" fmla="*/ 34546 w 84848"/>
                <a:gd name="connsiteY2" fmla="*/ 54918 h 190908"/>
                <a:gd name="connsiteX3" fmla="*/ 17788 w 84848"/>
                <a:gd name="connsiteY3" fmla="*/ 144284 h 190908"/>
                <a:gd name="connsiteX4" fmla="*/ 22943 w 84848"/>
                <a:gd name="connsiteY4" fmla="*/ 170163 h 190908"/>
                <a:gd name="connsiteX5" fmla="*/ 33294 w 84848"/>
                <a:gd name="connsiteY5" fmla="*/ 179242 h 190908"/>
                <a:gd name="connsiteX6" fmla="*/ 32340 w 84848"/>
                <a:gd name="connsiteY6" fmla="*/ 128142 h 190908"/>
                <a:gd name="connsiteX7" fmla="*/ 51473 w 84848"/>
                <a:gd name="connsiteY7" fmla="*/ 64972 h 190908"/>
                <a:gd name="connsiteX8" fmla="*/ 74000 w 84848"/>
                <a:gd name="connsiteY8" fmla="*/ 21382 h 19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848" h="190908">
                  <a:moveTo>
                    <a:pt x="74000" y="21382"/>
                  </a:moveTo>
                  <a:lnTo>
                    <a:pt x="58218" y="15909"/>
                  </a:lnTo>
                  <a:cubicBezTo>
                    <a:pt x="58218" y="15909"/>
                    <a:pt x="40973" y="34533"/>
                    <a:pt x="34546" y="54918"/>
                  </a:cubicBezTo>
                  <a:cubicBezTo>
                    <a:pt x="28119" y="75303"/>
                    <a:pt x="21076" y="125618"/>
                    <a:pt x="17788" y="144284"/>
                  </a:cubicBezTo>
                  <a:cubicBezTo>
                    <a:pt x="14501" y="162908"/>
                    <a:pt x="15116" y="162908"/>
                    <a:pt x="22943" y="170163"/>
                  </a:cubicBezTo>
                  <a:cubicBezTo>
                    <a:pt x="30791" y="177333"/>
                    <a:pt x="33294" y="179242"/>
                    <a:pt x="33294" y="179242"/>
                  </a:cubicBezTo>
                  <a:cubicBezTo>
                    <a:pt x="33294" y="179242"/>
                    <a:pt x="32340" y="138939"/>
                    <a:pt x="32340" y="128142"/>
                  </a:cubicBezTo>
                  <a:cubicBezTo>
                    <a:pt x="32340" y="117324"/>
                    <a:pt x="42437" y="89578"/>
                    <a:pt x="51473" y="64972"/>
                  </a:cubicBezTo>
                  <a:cubicBezTo>
                    <a:pt x="60403" y="40685"/>
                    <a:pt x="74000" y="21382"/>
                    <a:pt x="74000" y="21382"/>
                  </a:cubicBez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0" name="Freeform: Shape 890">
              <a:extLst>
                <a:ext uri="{FF2B5EF4-FFF2-40B4-BE49-F238E27FC236}">
                  <a16:creationId xmlns:a16="http://schemas.microsoft.com/office/drawing/2014/main" id="{6925364B-EA55-9806-0FB8-6247B1FBE280}"/>
                </a:ext>
              </a:extLst>
            </p:cNvPr>
            <p:cNvSpPr/>
            <p:nvPr/>
          </p:nvSpPr>
          <p:spPr>
            <a:xfrm>
              <a:off x="8947460" y="1630825"/>
              <a:ext cx="151209" cy="340219"/>
            </a:xfrm>
            <a:custGeom>
              <a:avLst/>
              <a:gdLst>
                <a:gd name="connsiteX0" fmla="*/ 50336 w 84848"/>
                <a:gd name="connsiteY0" fmla="*/ 15909 h 190908"/>
                <a:gd name="connsiteX1" fmla="*/ 30757 w 84848"/>
                <a:gd name="connsiteY1" fmla="*/ 67454 h 190908"/>
                <a:gd name="connsiteX2" fmla="*/ 16715 w 84848"/>
                <a:gd name="connsiteY2" fmla="*/ 163396 h 190908"/>
                <a:gd name="connsiteX3" fmla="*/ 15909 w 84848"/>
                <a:gd name="connsiteY3" fmla="*/ 172984 h 190908"/>
                <a:gd name="connsiteX4" fmla="*/ 35572 w 84848"/>
                <a:gd name="connsiteY4" fmla="*/ 179687 h 190908"/>
                <a:gd name="connsiteX5" fmla="*/ 72778 w 84848"/>
                <a:gd name="connsiteY5" fmla="*/ 168233 h 190908"/>
                <a:gd name="connsiteX6" fmla="*/ 69427 w 84848"/>
                <a:gd name="connsiteY6" fmla="*/ 108181 h 190908"/>
                <a:gd name="connsiteX7" fmla="*/ 78209 w 84848"/>
                <a:gd name="connsiteY7" fmla="*/ 52776 h 190908"/>
                <a:gd name="connsiteX8" fmla="*/ 76130 w 84848"/>
                <a:gd name="connsiteY8" fmla="*/ 29803 h 190908"/>
                <a:gd name="connsiteX9" fmla="*/ 50336 w 84848"/>
                <a:gd name="connsiteY9" fmla="*/ 15909 h 19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848" h="190908">
                  <a:moveTo>
                    <a:pt x="50336" y="15909"/>
                  </a:moveTo>
                  <a:cubicBezTo>
                    <a:pt x="50336" y="15909"/>
                    <a:pt x="36803" y="40260"/>
                    <a:pt x="30757" y="67454"/>
                  </a:cubicBezTo>
                  <a:cubicBezTo>
                    <a:pt x="24691" y="94627"/>
                    <a:pt x="17500" y="153766"/>
                    <a:pt x="16715" y="163396"/>
                  </a:cubicBezTo>
                  <a:cubicBezTo>
                    <a:pt x="15909" y="172984"/>
                    <a:pt x="15909" y="172984"/>
                    <a:pt x="15909" y="172984"/>
                  </a:cubicBezTo>
                  <a:cubicBezTo>
                    <a:pt x="15909" y="172984"/>
                    <a:pt x="21573" y="180111"/>
                    <a:pt x="35572" y="179687"/>
                  </a:cubicBezTo>
                  <a:cubicBezTo>
                    <a:pt x="49572" y="179263"/>
                    <a:pt x="72778" y="168233"/>
                    <a:pt x="72778" y="168233"/>
                  </a:cubicBezTo>
                  <a:cubicBezTo>
                    <a:pt x="72778" y="168233"/>
                    <a:pt x="68812" y="124281"/>
                    <a:pt x="69427" y="108181"/>
                  </a:cubicBezTo>
                  <a:cubicBezTo>
                    <a:pt x="70063" y="92081"/>
                    <a:pt x="77827" y="55300"/>
                    <a:pt x="78209" y="52776"/>
                  </a:cubicBezTo>
                  <a:cubicBezTo>
                    <a:pt x="78633" y="50272"/>
                    <a:pt x="80924" y="36930"/>
                    <a:pt x="76130" y="29803"/>
                  </a:cubicBezTo>
                  <a:cubicBezTo>
                    <a:pt x="71315" y="22697"/>
                    <a:pt x="50336" y="15909"/>
                    <a:pt x="50336" y="15909"/>
                  </a:cubicBez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1" name="Freeform: Shape 891">
              <a:extLst>
                <a:ext uri="{FF2B5EF4-FFF2-40B4-BE49-F238E27FC236}">
                  <a16:creationId xmlns:a16="http://schemas.microsoft.com/office/drawing/2014/main" id="{1C981A07-3328-EFC5-38A0-D52EF1CF91C0}"/>
                </a:ext>
              </a:extLst>
            </p:cNvPr>
            <p:cNvSpPr/>
            <p:nvPr/>
          </p:nvSpPr>
          <p:spPr>
            <a:xfrm>
              <a:off x="8889435" y="1619031"/>
              <a:ext cx="113406" cy="189010"/>
            </a:xfrm>
            <a:custGeom>
              <a:avLst/>
              <a:gdLst>
                <a:gd name="connsiteX0" fmla="*/ 48470 w 63636"/>
                <a:gd name="connsiteY0" fmla="*/ 15909 h 106060"/>
                <a:gd name="connsiteX1" fmla="*/ 26536 w 63636"/>
                <a:gd name="connsiteY1" fmla="*/ 43463 h 106060"/>
                <a:gd name="connsiteX2" fmla="*/ 29018 w 63636"/>
                <a:gd name="connsiteY2" fmla="*/ 49169 h 106060"/>
                <a:gd name="connsiteX3" fmla="*/ 22654 w 63636"/>
                <a:gd name="connsiteY3" fmla="*/ 53369 h 106060"/>
                <a:gd name="connsiteX4" fmla="*/ 15909 w 63636"/>
                <a:gd name="connsiteY4" fmla="*/ 102412 h 106060"/>
                <a:gd name="connsiteX5" fmla="*/ 39179 w 63636"/>
                <a:gd name="connsiteY5" fmla="*/ 40642 h 106060"/>
                <a:gd name="connsiteX6" fmla="*/ 52966 w 63636"/>
                <a:gd name="connsiteY6" fmla="*/ 16991 h 106060"/>
                <a:gd name="connsiteX7" fmla="*/ 48470 w 63636"/>
                <a:gd name="connsiteY7" fmla="*/ 15909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106060">
                  <a:moveTo>
                    <a:pt x="48470" y="15909"/>
                  </a:moveTo>
                  <a:lnTo>
                    <a:pt x="26536" y="43463"/>
                  </a:lnTo>
                  <a:lnTo>
                    <a:pt x="29018" y="49169"/>
                  </a:lnTo>
                  <a:lnTo>
                    <a:pt x="22654" y="53369"/>
                  </a:lnTo>
                  <a:lnTo>
                    <a:pt x="15909" y="102412"/>
                  </a:lnTo>
                  <a:cubicBezTo>
                    <a:pt x="15909" y="102412"/>
                    <a:pt x="36103" y="46476"/>
                    <a:pt x="39179" y="40642"/>
                  </a:cubicBezTo>
                  <a:cubicBezTo>
                    <a:pt x="42233" y="34788"/>
                    <a:pt x="52966" y="16991"/>
                    <a:pt x="52966" y="16991"/>
                  </a:cubicBezTo>
                  <a:lnTo>
                    <a:pt x="48470" y="15909"/>
                  </a:lnTo>
                  <a:close/>
                </a:path>
              </a:pathLst>
            </a:custGeom>
            <a:solidFill>
              <a:srgbClr val="406B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2" name="Freeform: Shape 892">
              <a:extLst>
                <a:ext uri="{FF2B5EF4-FFF2-40B4-BE49-F238E27FC236}">
                  <a16:creationId xmlns:a16="http://schemas.microsoft.com/office/drawing/2014/main" id="{2209692D-AF03-B1D8-F0DD-EE7CBFC59BD3}"/>
                </a:ext>
              </a:extLst>
            </p:cNvPr>
            <p:cNvSpPr/>
            <p:nvPr/>
          </p:nvSpPr>
          <p:spPr>
            <a:xfrm>
              <a:off x="8961751" y="1630825"/>
              <a:ext cx="113406" cy="189010"/>
            </a:xfrm>
            <a:custGeom>
              <a:avLst/>
              <a:gdLst>
                <a:gd name="connsiteX0" fmla="*/ 42318 w 63636"/>
                <a:gd name="connsiteY0" fmla="*/ 15909 h 106060"/>
                <a:gd name="connsiteX1" fmla="*/ 22739 w 63636"/>
                <a:gd name="connsiteY1" fmla="*/ 67454 h 106060"/>
                <a:gd name="connsiteX2" fmla="*/ 15909 w 63636"/>
                <a:gd name="connsiteY2" fmla="*/ 106824 h 106060"/>
                <a:gd name="connsiteX3" fmla="*/ 38839 w 63636"/>
                <a:gd name="connsiteY3" fmla="*/ 61388 h 106060"/>
                <a:gd name="connsiteX4" fmla="*/ 35891 w 63636"/>
                <a:gd name="connsiteY4" fmla="*/ 56594 h 106060"/>
                <a:gd name="connsiteX5" fmla="*/ 42318 w 63636"/>
                <a:gd name="connsiteY5" fmla="*/ 52585 h 106060"/>
                <a:gd name="connsiteX6" fmla="*/ 48024 w 63636"/>
                <a:gd name="connsiteY6" fmla="*/ 18030 h 106060"/>
                <a:gd name="connsiteX7" fmla="*/ 42318 w 63636"/>
                <a:gd name="connsiteY7" fmla="*/ 15909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106060">
                  <a:moveTo>
                    <a:pt x="42318" y="15909"/>
                  </a:moveTo>
                  <a:cubicBezTo>
                    <a:pt x="42318" y="15909"/>
                    <a:pt x="26727" y="46370"/>
                    <a:pt x="22739" y="67454"/>
                  </a:cubicBezTo>
                  <a:cubicBezTo>
                    <a:pt x="18751" y="88560"/>
                    <a:pt x="15909" y="106824"/>
                    <a:pt x="15909" y="106824"/>
                  </a:cubicBezTo>
                  <a:lnTo>
                    <a:pt x="38839" y="61388"/>
                  </a:lnTo>
                  <a:lnTo>
                    <a:pt x="35891" y="56594"/>
                  </a:lnTo>
                  <a:lnTo>
                    <a:pt x="42318" y="52585"/>
                  </a:lnTo>
                  <a:lnTo>
                    <a:pt x="48024" y="18030"/>
                  </a:lnTo>
                  <a:lnTo>
                    <a:pt x="42318" y="15909"/>
                  </a:lnTo>
                  <a:close/>
                </a:path>
              </a:pathLst>
            </a:custGeom>
            <a:solidFill>
              <a:srgbClr val="406B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3" name="Freeform: Shape 893">
              <a:extLst>
                <a:ext uri="{FF2B5EF4-FFF2-40B4-BE49-F238E27FC236}">
                  <a16:creationId xmlns:a16="http://schemas.microsoft.com/office/drawing/2014/main" id="{DE3D5FDA-5110-50DD-1B99-10F991F7BF50}"/>
                </a:ext>
              </a:extLst>
            </p:cNvPr>
            <p:cNvSpPr/>
            <p:nvPr/>
          </p:nvSpPr>
          <p:spPr>
            <a:xfrm>
              <a:off x="8924213" y="1350900"/>
              <a:ext cx="189010" cy="75604"/>
            </a:xfrm>
            <a:custGeom>
              <a:avLst/>
              <a:gdLst>
                <a:gd name="connsiteX0" fmla="*/ 70742 w 106060"/>
                <a:gd name="connsiteY0" fmla="*/ 19706 h 42424"/>
                <a:gd name="connsiteX1" fmla="*/ 91636 w 106060"/>
                <a:gd name="connsiteY1" fmla="*/ 15909 h 42424"/>
                <a:gd name="connsiteX2" fmla="*/ 36782 w 106060"/>
                <a:gd name="connsiteY2" fmla="*/ 33260 h 42424"/>
                <a:gd name="connsiteX3" fmla="*/ 15909 w 106060"/>
                <a:gd name="connsiteY3" fmla="*/ 37057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060" h="42424">
                  <a:moveTo>
                    <a:pt x="70742" y="19706"/>
                  </a:moveTo>
                  <a:lnTo>
                    <a:pt x="91636" y="15909"/>
                  </a:lnTo>
                  <a:lnTo>
                    <a:pt x="36782" y="33260"/>
                  </a:lnTo>
                  <a:lnTo>
                    <a:pt x="15909" y="37057"/>
                  </a:lnTo>
                  <a:close/>
                </a:path>
              </a:pathLst>
            </a:custGeom>
            <a:solidFill>
              <a:srgbClr val="6A45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4" name="Freeform: Shape 894">
              <a:extLst>
                <a:ext uri="{FF2B5EF4-FFF2-40B4-BE49-F238E27FC236}">
                  <a16:creationId xmlns:a16="http://schemas.microsoft.com/office/drawing/2014/main" id="{6621F9BE-532F-57EE-CA53-4C7845BA820E}"/>
                </a:ext>
              </a:extLst>
            </p:cNvPr>
            <p:cNvSpPr/>
            <p:nvPr/>
          </p:nvSpPr>
          <p:spPr>
            <a:xfrm>
              <a:off x="8895483" y="1154065"/>
              <a:ext cx="189010" cy="75604"/>
            </a:xfrm>
            <a:custGeom>
              <a:avLst/>
              <a:gdLst>
                <a:gd name="connsiteX0" fmla="*/ 15909 w 106060"/>
                <a:gd name="connsiteY0" fmla="*/ 19706 h 42424"/>
                <a:gd name="connsiteX1" fmla="*/ 36782 w 106060"/>
                <a:gd name="connsiteY1" fmla="*/ 15909 h 42424"/>
                <a:gd name="connsiteX2" fmla="*/ 94669 w 106060"/>
                <a:gd name="connsiteY2" fmla="*/ 22845 h 42424"/>
                <a:gd name="connsiteX3" fmla="*/ 73775 w 106060"/>
                <a:gd name="connsiteY3" fmla="*/ 26642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060" h="42424">
                  <a:moveTo>
                    <a:pt x="15909" y="19706"/>
                  </a:moveTo>
                  <a:lnTo>
                    <a:pt x="36782" y="15909"/>
                  </a:lnTo>
                  <a:lnTo>
                    <a:pt x="94669" y="22845"/>
                  </a:lnTo>
                  <a:lnTo>
                    <a:pt x="73775" y="26642"/>
                  </a:lnTo>
                  <a:close/>
                </a:path>
              </a:pathLst>
            </a:custGeom>
            <a:solidFill>
              <a:srgbClr val="85562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5" name="Freeform: Shape 895">
              <a:extLst>
                <a:ext uri="{FF2B5EF4-FFF2-40B4-BE49-F238E27FC236}">
                  <a16:creationId xmlns:a16="http://schemas.microsoft.com/office/drawing/2014/main" id="{DAA88891-B744-13AB-4141-75D4D91BB809}"/>
                </a:ext>
              </a:extLst>
            </p:cNvPr>
            <p:cNvSpPr/>
            <p:nvPr/>
          </p:nvSpPr>
          <p:spPr>
            <a:xfrm>
              <a:off x="9103206" y="1307768"/>
              <a:ext cx="75604" cy="189010"/>
            </a:xfrm>
            <a:custGeom>
              <a:avLst/>
              <a:gdLst>
                <a:gd name="connsiteX0" fmla="*/ 15909 w 42424"/>
                <a:gd name="connsiteY0" fmla="*/ 19706 h 106060"/>
                <a:gd name="connsiteX1" fmla="*/ 36782 w 42424"/>
                <a:gd name="connsiteY1" fmla="*/ 15909 h 106060"/>
                <a:gd name="connsiteX2" fmla="*/ 37651 w 42424"/>
                <a:gd name="connsiteY2" fmla="*/ 88094 h 106060"/>
                <a:gd name="connsiteX3" fmla="*/ 16779 w 42424"/>
                <a:gd name="connsiteY3" fmla="*/ 91890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24" h="106060">
                  <a:moveTo>
                    <a:pt x="15909" y="19706"/>
                  </a:moveTo>
                  <a:lnTo>
                    <a:pt x="36782" y="15909"/>
                  </a:lnTo>
                  <a:lnTo>
                    <a:pt x="37651" y="88094"/>
                  </a:lnTo>
                  <a:lnTo>
                    <a:pt x="16779" y="91890"/>
                  </a:lnTo>
                  <a:close/>
                </a:path>
              </a:pathLst>
            </a:custGeom>
            <a:solidFill>
              <a:srgbClr val="BB77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7" name="Freeform: Shape 896">
              <a:extLst>
                <a:ext uri="{FF2B5EF4-FFF2-40B4-BE49-F238E27FC236}">
                  <a16:creationId xmlns:a16="http://schemas.microsoft.com/office/drawing/2014/main" id="{0808E9EC-5C0D-A5A4-887A-E080680EB9CB}"/>
                </a:ext>
              </a:extLst>
            </p:cNvPr>
            <p:cNvSpPr/>
            <p:nvPr/>
          </p:nvSpPr>
          <p:spPr>
            <a:xfrm>
              <a:off x="9058223" y="1067686"/>
              <a:ext cx="113406" cy="189010"/>
            </a:xfrm>
            <a:custGeom>
              <a:avLst/>
              <a:gdLst>
                <a:gd name="connsiteX0" fmla="*/ 15909 w 63636"/>
                <a:gd name="connsiteY0" fmla="*/ 19706 h 106060"/>
                <a:gd name="connsiteX1" fmla="*/ 36782 w 63636"/>
                <a:gd name="connsiteY1" fmla="*/ 15909 h 106060"/>
                <a:gd name="connsiteX2" fmla="*/ 54006 w 63636"/>
                <a:gd name="connsiteY2" fmla="*/ 86630 h 106060"/>
                <a:gd name="connsiteX3" fmla="*/ 33112 w 63636"/>
                <a:gd name="connsiteY3" fmla="*/ 90406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636" h="106060">
                  <a:moveTo>
                    <a:pt x="15909" y="19706"/>
                  </a:moveTo>
                  <a:lnTo>
                    <a:pt x="36782" y="15909"/>
                  </a:lnTo>
                  <a:lnTo>
                    <a:pt x="54006" y="86630"/>
                  </a:lnTo>
                  <a:lnTo>
                    <a:pt x="33112" y="90406"/>
                  </a:lnTo>
                  <a:close/>
                </a:path>
              </a:pathLst>
            </a:custGeom>
            <a:solidFill>
              <a:srgbClr val="C9802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8" name="Freeform: Shape 897">
              <a:extLst>
                <a:ext uri="{FF2B5EF4-FFF2-40B4-BE49-F238E27FC236}">
                  <a16:creationId xmlns:a16="http://schemas.microsoft.com/office/drawing/2014/main" id="{75C26C42-84B4-D6BC-D340-0B4DC02935D6}"/>
                </a:ext>
              </a:extLst>
            </p:cNvPr>
            <p:cNvSpPr/>
            <p:nvPr/>
          </p:nvSpPr>
          <p:spPr>
            <a:xfrm>
              <a:off x="9103206" y="1242333"/>
              <a:ext cx="151209" cy="113406"/>
            </a:xfrm>
            <a:custGeom>
              <a:avLst/>
              <a:gdLst>
                <a:gd name="connsiteX0" fmla="*/ 63212 w 84848"/>
                <a:gd name="connsiteY0" fmla="*/ 19727 h 63636"/>
                <a:gd name="connsiteX1" fmla="*/ 84106 w 84848"/>
                <a:gd name="connsiteY1" fmla="*/ 15909 h 63636"/>
                <a:gd name="connsiteX2" fmla="*/ 36782 w 84848"/>
                <a:gd name="connsiteY2" fmla="*/ 52627 h 63636"/>
                <a:gd name="connsiteX3" fmla="*/ 15909 w 84848"/>
                <a:gd name="connsiteY3" fmla="*/ 56424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48" h="63636">
                  <a:moveTo>
                    <a:pt x="63212" y="19727"/>
                  </a:moveTo>
                  <a:lnTo>
                    <a:pt x="84106" y="15909"/>
                  </a:lnTo>
                  <a:lnTo>
                    <a:pt x="36782" y="52627"/>
                  </a:lnTo>
                  <a:lnTo>
                    <a:pt x="15909" y="56424"/>
                  </a:lnTo>
                  <a:close/>
                </a:path>
              </a:pathLst>
            </a:custGeom>
            <a:solidFill>
              <a:srgbClr val="6D47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9" name="Freeform: Shape 898">
              <a:extLst>
                <a:ext uri="{FF2B5EF4-FFF2-40B4-BE49-F238E27FC236}">
                  <a16:creationId xmlns:a16="http://schemas.microsoft.com/office/drawing/2014/main" id="{A6D72A92-72F6-3DF5-41D5-51A757C6F5FD}"/>
                </a:ext>
              </a:extLst>
            </p:cNvPr>
            <p:cNvSpPr/>
            <p:nvPr/>
          </p:nvSpPr>
          <p:spPr>
            <a:xfrm>
              <a:off x="9088880" y="1193718"/>
              <a:ext cx="189010" cy="75604"/>
            </a:xfrm>
            <a:custGeom>
              <a:avLst/>
              <a:gdLst>
                <a:gd name="connsiteX0" fmla="*/ 15909 w 106060"/>
                <a:gd name="connsiteY0" fmla="*/ 19685 h 42424"/>
                <a:gd name="connsiteX1" fmla="*/ 36803 w 106060"/>
                <a:gd name="connsiteY1" fmla="*/ 15909 h 42424"/>
                <a:gd name="connsiteX2" fmla="*/ 92145 w 106060"/>
                <a:gd name="connsiteY2" fmla="*/ 43188 h 42424"/>
                <a:gd name="connsiteX3" fmla="*/ 71251 w 106060"/>
                <a:gd name="connsiteY3" fmla="*/ 47006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060" h="42424">
                  <a:moveTo>
                    <a:pt x="15909" y="19685"/>
                  </a:moveTo>
                  <a:lnTo>
                    <a:pt x="36803" y="15909"/>
                  </a:lnTo>
                  <a:lnTo>
                    <a:pt x="92145" y="43188"/>
                  </a:lnTo>
                  <a:lnTo>
                    <a:pt x="71251" y="47006"/>
                  </a:lnTo>
                  <a:close/>
                </a:path>
              </a:pathLst>
            </a:custGeom>
            <a:solidFill>
              <a:srgbClr val="A56A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30" name="Freeform: Shape 899">
              <a:extLst>
                <a:ext uri="{FF2B5EF4-FFF2-40B4-BE49-F238E27FC236}">
                  <a16:creationId xmlns:a16="http://schemas.microsoft.com/office/drawing/2014/main" id="{816F44D0-F0C8-7DD3-1F2A-DA5D1A5CC766}"/>
                </a:ext>
              </a:extLst>
            </p:cNvPr>
            <p:cNvSpPr/>
            <p:nvPr/>
          </p:nvSpPr>
          <p:spPr>
            <a:xfrm>
              <a:off x="8895483" y="1074453"/>
              <a:ext cx="340219" cy="415823"/>
            </a:xfrm>
            <a:custGeom>
              <a:avLst/>
              <a:gdLst>
                <a:gd name="connsiteX0" fmla="*/ 107227 w 190908"/>
                <a:gd name="connsiteY0" fmla="*/ 15909 h 233332"/>
                <a:gd name="connsiteX1" fmla="*/ 124430 w 190908"/>
                <a:gd name="connsiteY1" fmla="*/ 86609 h 233332"/>
                <a:gd name="connsiteX2" fmla="*/ 179772 w 190908"/>
                <a:gd name="connsiteY2" fmla="*/ 113930 h 233332"/>
                <a:gd name="connsiteX3" fmla="*/ 132469 w 190908"/>
                <a:gd name="connsiteY3" fmla="*/ 150627 h 233332"/>
                <a:gd name="connsiteX4" fmla="*/ 133339 w 190908"/>
                <a:gd name="connsiteY4" fmla="*/ 222811 h 233332"/>
                <a:gd name="connsiteX5" fmla="*/ 86863 w 190908"/>
                <a:gd name="connsiteY5" fmla="*/ 174830 h 233332"/>
                <a:gd name="connsiteX6" fmla="*/ 32030 w 190908"/>
                <a:gd name="connsiteY6" fmla="*/ 192181 h 233332"/>
                <a:gd name="connsiteX7" fmla="*/ 50548 w 190908"/>
                <a:gd name="connsiteY7" fmla="*/ 125872 h 233332"/>
                <a:gd name="connsiteX8" fmla="*/ 15909 w 190908"/>
                <a:gd name="connsiteY8" fmla="*/ 64378 h 233332"/>
                <a:gd name="connsiteX9" fmla="*/ 73775 w 190908"/>
                <a:gd name="connsiteY9" fmla="*/ 71315 h 23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908" h="233332">
                  <a:moveTo>
                    <a:pt x="107227" y="15909"/>
                  </a:moveTo>
                  <a:lnTo>
                    <a:pt x="124430" y="86609"/>
                  </a:lnTo>
                  <a:lnTo>
                    <a:pt x="179772" y="113930"/>
                  </a:lnTo>
                  <a:lnTo>
                    <a:pt x="132469" y="150627"/>
                  </a:lnTo>
                  <a:lnTo>
                    <a:pt x="133339" y="222811"/>
                  </a:lnTo>
                  <a:lnTo>
                    <a:pt x="86863" y="174830"/>
                  </a:lnTo>
                  <a:lnTo>
                    <a:pt x="32030" y="192181"/>
                  </a:lnTo>
                  <a:lnTo>
                    <a:pt x="50548" y="125872"/>
                  </a:lnTo>
                  <a:lnTo>
                    <a:pt x="15909" y="64378"/>
                  </a:lnTo>
                  <a:lnTo>
                    <a:pt x="73775" y="71315"/>
                  </a:lnTo>
                  <a:close/>
                </a:path>
              </a:pathLst>
            </a:custGeom>
            <a:solidFill>
              <a:srgbClr val="FBB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31" name="Freeform: Shape 900">
              <a:extLst>
                <a:ext uri="{FF2B5EF4-FFF2-40B4-BE49-F238E27FC236}">
                  <a16:creationId xmlns:a16="http://schemas.microsoft.com/office/drawing/2014/main" id="{1BB991B9-247C-1AC1-1D5D-FC0C78E28B18}"/>
                </a:ext>
              </a:extLst>
            </p:cNvPr>
            <p:cNvSpPr/>
            <p:nvPr/>
          </p:nvSpPr>
          <p:spPr>
            <a:xfrm>
              <a:off x="9168945" y="1501119"/>
              <a:ext cx="75604" cy="151209"/>
            </a:xfrm>
            <a:custGeom>
              <a:avLst/>
              <a:gdLst>
                <a:gd name="connsiteX0" fmla="*/ 17924 w 42424"/>
                <a:gd name="connsiteY0" fmla="*/ 63513 h 84848"/>
                <a:gd name="connsiteX1" fmla="*/ 21000 w 42424"/>
                <a:gd name="connsiteY1" fmla="*/ 51125 h 84848"/>
                <a:gd name="connsiteX2" fmla="*/ 15909 w 42424"/>
                <a:gd name="connsiteY2" fmla="*/ 43213 h 84848"/>
                <a:gd name="connsiteX3" fmla="*/ 15909 w 42424"/>
                <a:gd name="connsiteY3" fmla="*/ 33243 h 84848"/>
                <a:gd name="connsiteX4" fmla="*/ 19897 w 42424"/>
                <a:gd name="connsiteY4" fmla="*/ 27813 h 84848"/>
                <a:gd name="connsiteX5" fmla="*/ 22803 w 42424"/>
                <a:gd name="connsiteY5" fmla="*/ 16061 h 84848"/>
                <a:gd name="connsiteX6" fmla="*/ 40982 w 42424"/>
                <a:gd name="connsiteY6" fmla="*/ 25352 h 84848"/>
                <a:gd name="connsiteX7" fmla="*/ 34767 w 42424"/>
                <a:gd name="connsiteY7" fmla="*/ 50679 h 84848"/>
                <a:gd name="connsiteX8" fmla="*/ 29845 w 42424"/>
                <a:gd name="connsiteY8" fmla="*/ 70364 h 84848"/>
                <a:gd name="connsiteX9" fmla="*/ 18264 w 42424"/>
                <a:gd name="connsiteY9" fmla="*/ 67522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24" h="84848">
                  <a:moveTo>
                    <a:pt x="17924" y="63513"/>
                  </a:moveTo>
                  <a:lnTo>
                    <a:pt x="21000" y="51125"/>
                  </a:lnTo>
                  <a:lnTo>
                    <a:pt x="15909" y="43213"/>
                  </a:lnTo>
                  <a:lnTo>
                    <a:pt x="15909" y="33243"/>
                  </a:lnTo>
                  <a:cubicBezTo>
                    <a:pt x="16355" y="31122"/>
                    <a:pt x="19897" y="27813"/>
                    <a:pt x="19897" y="27813"/>
                  </a:cubicBezTo>
                  <a:lnTo>
                    <a:pt x="22803" y="16061"/>
                  </a:lnTo>
                  <a:cubicBezTo>
                    <a:pt x="22803" y="16061"/>
                    <a:pt x="40897" y="13961"/>
                    <a:pt x="40982" y="25352"/>
                  </a:cubicBezTo>
                  <a:cubicBezTo>
                    <a:pt x="41130" y="36722"/>
                    <a:pt x="42000" y="36955"/>
                    <a:pt x="34767" y="50679"/>
                  </a:cubicBezTo>
                  <a:cubicBezTo>
                    <a:pt x="27533" y="64404"/>
                    <a:pt x="29845" y="70364"/>
                    <a:pt x="29845" y="70364"/>
                  </a:cubicBezTo>
                  <a:lnTo>
                    <a:pt x="18264" y="67522"/>
                  </a:lnTo>
                </a:path>
              </a:pathLst>
            </a:custGeom>
            <a:solidFill>
              <a:srgbClr val="F3DC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32" name="Freeform: Shape 901">
              <a:extLst>
                <a:ext uri="{FF2B5EF4-FFF2-40B4-BE49-F238E27FC236}">
                  <a16:creationId xmlns:a16="http://schemas.microsoft.com/office/drawing/2014/main" id="{938B8AF2-6EB0-FF9B-2D2C-C3C1592ED018}"/>
                </a:ext>
              </a:extLst>
            </p:cNvPr>
            <p:cNvSpPr/>
            <p:nvPr/>
          </p:nvSpPr>
          <p:spPr>
            <a:xfrm>
              <a:off x="9006887" y="1563176"/>
              <a:ext cx="226813" cy="189010"/>
            </a:xfrm>
            <a:custGeom>
              <a:avLst/>
              <a:gdLst>
                <a:gd name="connsiteX0" fmla="*/ 28679 w 127272"/>
                <a:gd name="connsiteY0" fmla="*/ 63287 h 106060"/>
                <a:gd name="connsiteX1" fmla="*/ 72545 w 127272"/>
                <a:gd name="connsiteY1" fmla="*/ 67954 h 106060"/>
                <a:gd name="connsiteX2" fmla="*/ 79227 w 127272"/>
                <a:gd name="connsiteY2" fmla="*/ 69778 h 106060"/>
                <a:gd name="connsiteX3" fmla="*/ 109730 w 127272"/>
                <a:gd name="connsiteY3" fmla="*/ 16557 h 106060"/>
                <a:gd name="connsiteX4" fmla="*/ 130454 w 127272"/>
                <a:gd name="connsiteY4" fmla="*/ 22242 h 106060"/>
                <a:gd name="connsiteX5" fmla="*/ 99315 w 127272"/>
                <a:gd name="connsiteY5" fmla="*/ 93938 h 106060"/>
                <a:gd name="connsiteX6" fmla="*/ 15909 w 127272"/>
                <a:gd name="connsiteY6" fmla="*/ 109763 h 106060"/>
                <a:gd name="connsiteX7" fmla="*/ 28679 w 127272"/>
                <a:gd name="connsiteY7" fmla="*/ 63287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272" h="106060">
                  <a:moveTo>
                    <a:pt x="28679" y="63287"/>
                  </a:moveTo>
                  <a:lnTo>
                    <a:pt x="72545" y="67954"/>
                  </a:lnTo>
                  <a:lnTo>
                    <a:pt x="79227" y="69778"/>
                  </a:lnTo>
                  <a:lnTo>
                    <a:pt x="109730" y="16557"/>
                  </a:lnTo>
                  <a:cubicBezTo>
                    <a:pt x="109730" y="16557"/>
                    <a:pt x="132130" y="13078"/>
                    <a:pt x="130454" y="22242"/>
                  </a:cubicBezTo>
                  <a:cubicBezTo>
                    <a:pt x="128778" y="31405"/>
                    <a:pt x="99315" y="93938"/>
                    <a:pt x="99315" y="93938"/>
                  </a:cubicBezTo>
                  <a:lnTo>
                    <a:pt x="15909" y="109763"/>
                  </a:lnTo>
                  <a:lnTo>
                    <a:pt x="28679" y="63287"/>
                  </a:ln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6" name="BJPseudoFooter">
            <a:extLst>
              <a:ext uri="{FF2B5EF4-FFF2-40B4-BE49-F238E27FC236}">
                <a16:creationId xmlns:a16="http://schemas.microsoft.com/office/drawing/2014/main" id="{74FBFD3F-444C-D94A-C2C4-D645F18CBAA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30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Freeform: Shape 65">
            <a:extLst>
              <a:ext uri="{FF2B5EF4-FFF2-40B4-BE49-F238E27FC236}">
                <a16:creationId xmlns:a16="http://schemas.microsoft.com/office/drawing/2014/main" id="{CFCC7798-86E0-08FB-D410-790FD8A67D74}"/>
              </a:ext>
            </a:extLst>
          </p:cNvPr>
          <p:cNvSpPr/>
          <p:nvPr/>
        </p:nvSpPr>
        <p:spPr>
          <a:xfrm flipH="1">
            <a:off x="19987" y="7136505"/>
            <a:ext cx="18248026" cy="3147275"/>
          </a:xfrm>
          <a:custGeom>
            <a:avLst/>
            <a:gdLst>
              <a:gd name="connsiteX0" fmla="*/ 0 w 12191999"/>
              <a:gd name="connsiteY0" fmla="*/ 0 h 1401962"/>
              <a:gd name="connsiteX1" fmla="*/ 0 w 12191999"/>
              <a:gd name="connsiteY1" fmla="*/ 1401962 h 1401962"/>
              <a:gd name="connsiteX2" fmla="*/ 12191999 w 12191999"/>
              <a:gd name="connsiteY2" fmla="*/ 1394551 h 1401962"/>
              <a:gd name="connsiteX3" fmla="*/ 12191999 w 12191999"/>
              <a:gd name="connsiteY3" fmla="*/ 1185313 h 1401962"/>
              <a:gd name="connsiteX4" fmla="*/ 11968307 w 12191999"/>
              <a:gd name="connsiteY4" fmla="*/ 1160642 h 1401962"/>
              <a:gd name="connsiteX5" fmla="*/ 8252097 w 12191999"/>
              <a:gd name="connsiteY5" fmla="*/ 1098674 h 1401962"/>
              <a:gd name="connsiteX6" fmla="*/ 4581278 w 12191999"/>
              <a:gd name="connsiteY6" fmla="*/ 108189 h 1401962"/>
              <a:gd name="connsiteX7" fmla="*/ 0 w 12191999"/>
              <a:gd name="connsiteY7" fmla="*/ 0 h 140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1401962">
                <a:moveTo>
                  <a:pt x="0" y="0"/>
                </a:moveTo>
                <a:lnTo>
                  <a:pt x="0" y="1401962"/>
                </a:lnTo>
                <a:lnTo>
                  <a:pt x="12191999" y="1394551"/>
                </a:lnTo>
                <a:lnTo>
                  <a:pt x="12191999" y="1185313"/>
                </a:lnTo>
                <a:lnTo>
                  <a:pt x="11968307" y="1160642"/>
                </a:lnTo>
                <a:cubicBezTo>
                  <a:pt x="9885167" y="956057"/>
                  <a:pt x="9514105" y="1250515"/>
                  <a:pt x="8252097" y="1098674"/>
                </a:cubicBezTo>
                <a:cubicBezTo>
                  <a:pt x="6698856" y="911793"/>
                  <a:pt x="6443628" y="315924"/>
                  <a:pt x="4581278" y="108189"/>
                </a:cubicBezTo>
                <a:cubicBezTo>
                  <a:pt x="2718928" y="-99546"/>
                  <a:pt x="2815321" y="793901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3480">
                  <a:shade val="30000"/>
                  <a:satMod val="115000"/>
                </a:srgbClr>
              </a:gs>
              <a:gs pos="50000">
                <a:srgbClr val="163480">
                  <a:shade val="67500"/>
                  <a:satMod val="115000"/>
                </a:srgbClr>
              </a:gs>
              <a:gs pos="100000">
                <a:srgbClr val="16348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CC7EA901-AE2C-2FE3-CFD9-1FFDCA893139}"/>
              </a:ext>
            </a:extLst>
          </p:cNvPr>
          <p:cNvGrpSpPr/>
          <p:nvPr/>
        </p:nvGrpSpPr>
        <p:grpSpPr>
          <a:xfrm flipH="1">
            <a:off x="570376" y="1406287"/>
            <a:ext cx="3919741" cy="9054621"/>
            <a:chOff x="8716649" y="1067686"/>
            <a:chExt cx="561241" cy="1359946"/>
          </a:xfrm>
        </p:grpSpPr>
        <p:sp>
          <p:nvSpPr>
            <p:cNvPr id="42" name="Freeform: Shape 872">
              <a:extLst>
                <a:ext uri="{FF2B5EF4-FFF2-40B4-BE49-F238E27FC236}">
                  <a16:creationId xmlns:a16="http://schemas.microsoft.com/office/drawing/2014/main" id="{1527D18A-C131-E367-A86E-74E55A642511}"/>
                </a:ext>
              </a:extLst>
            </p:cNvPr>
            <p:cNvSpPr/>
            <p:nvPr/>
          </p:nvSpPr>
          <p:spPr>
            <a:xfrm>
              <a:off x="8716649" y="2125215"/>
              <a:ext cx="529230" cy="302417"/>
            </a:xfrm>
            <a:custGeom>
              <a:avLst/>
              <a:gdLst>
                <a:gd name="connsiteX0" fmla="*/ 224780 w 296968"/>
                <a:gd name="connsiteY0" fmla="*/ 66110 h 169696"/>
                <a:gd name="connsiteX1" fmla="*/ 64056 w 296968"/>
                <a:gd name="connsiteY1" fmla="*/ 39595 h 169696"/>
                <a:gd name="connsiteX2" fmla="*/ 53344 w 296968"/>
                <a:gd name="connsiteY2" fmla="*/ 91077 h 169696"/>
                <a:gd name="connsiteX3" fmla="*/ 147356 w 296968"/>
                <a:gd name="connsiteY3" fmla="*/ 124910 h 169696"/>
                <a:gd name="connsiteX4" fmla="*/ 262898 w 296968"/>
                <a:gd name="connsiteY4" fmla="*/ 124910 h 169696"/>
                <a:gd name="connsiteX5" fmla="*/ 224780 w 296968"/>
                <a:gd name="connsiteY5" fmla="*/ 66110 h 16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6968" h="169696">
                  <a:moveTo>
                    <a:pt x="224780" y="66110"/>
                  </a:moveTo>
                  <a:cubicBezTo>
                    <a:pt x="224780" y="66110"/>
                    <a:pt x="94241" y="21926"/>
                    <a:pt x="64056" y="39595"/>
                  </a:cubicBezTo>
                  <a:cubicBezTo>
                    <a:pt x="33893" y="57265"/>
                    <a:pt x="23287" y="78922"/>
                    <a:pt x="53344" y="91077"/>
                  </a:cubicBezTo>
                  <a:cubicBezTo>
                    <a:pt x="83402" y="103231"/>
                    <a:pt x="112293" y="109468"/>
                    <a:pt x="147356" y="124910"/>
                  </a:cubicBezTo>
                  <a:cubicBezTo>
                    <a:pt x="182377" y="140352"/>
                    <a:pt x="281565" y="151892"/>
                    <a:pt x="262898" y="124910"/>
                  </a:cubicBezTo>
                  <a:cubicBezTo>
                    <a:pt x="244253" y="97928"/>
                    <a:pt x="224780" y="66110"/>
                    <a:pt x="224780" y="6611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1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3" name="Freeform: Shape 873">
              <a:extLst>
                <a:ext uri="{FF2B5EF4-FFF2-40B4-BE49-F238E27FC236}">
                  <a16:creationId xmlns:a16="http://schemas.microsoft.com/office/drawing/2014/main" id="{089F1850-676E-4C34-2DB8-C00B6FC10E26}"/>
                </a:ext>
              </a:extLst>
            </p:cNvPr>
            <p:cNvSpPr/>
            <p:nvPr/>
          </p:nvSpPr>
          <p:spPr>
            <a:xfrm>
              <a:off x="9010428" y="2239530"/>
              <a:ext cx="113406" cy="113406"/>
            </a:xfrm>
            <a:custGeom>
              <a:avLst/>
              <a:gdLst>
                <a:gd name="connsiteX0" fmla="*/ 16107 w 63636"/>
                <a:gd name="connsiteY0" fmla="*/ 19783 h 63636"/>
                <a:gd name="connsiteX1" fmla="*/ 16107 w 63636"/>
                <a:gd name="connsiteY1" fmla="*/ 36880 h 63636"/>
                <a:gd name="connsiteX2" fmla="*/ 21580 w 63636"/>
                <a:gd name="connsiteY2" fmla="*/ 40655 h 63636"/>
                <a:gd name="connsiteX3" fmla="*/ 23722 w 63636"/>
                <a:gd name="connsiteY3" fmla="*/ 37304 h 63636"/>
                <a:gd name="connsiteX4" fmla="*/ 46525 w 63636"/>
                <a:gd name="connsiteY4" fmla="*/ 59428 h 63636"/>
                <a:gd name="connsiteX5" fmla="*/ 67567 w 63636"/>
                <a:gd name="connsiteY5" fmla="*/ 54019 h 63636"/>
                <a:gd name="connsiteX6" fmla="*/ 46292 w 63636"/>
                <a:gd name="connsiteY6" fmla="*/ 16643 h 63636"/>
                <a:gd name="connsiteX7" fmla="*/ 16107 w 63636"/>
                <a:gd name="connsiteY7" fmla="*/ 19783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63636">
                  <a:moveTo>
                    <a:pt x="16107" y="19783"/>
                  </a:moveTo>
                  <a:cubicBezTo>
                    <a:pt x="16107" y="19783"/>
                    <a:pt x="15662" y="34801"/>
                    <a:pt x="16107" y="36880"/>
                  </a:cubicBezTo>
                  <a:cubicBezTo>
                    <a:pt x="16574" y="38980"/>
                    <a:pt x="21580" y="40655"/>
                    <a:pt x="21580" y="40655"/>
                  </a:cubicBezTo>
                  <a:lnTo>
                    <a:pt x="23722" y="37304"/>
                  </a:lnTo>
                  <a:cubicBezTo>
                    <a:pt x="23722" y="37304"/>
                    <a:pt x="36343" y="56543"/>
                    <a:pt x="46525" y="59428"/>
                  </a:cubicBezTo>
                  <a:cubicBezTo>
                    <a:pt x="56728" y="62355"/>
                    <a:pt x="70092" y="60276"/>
                    <a:pt x="67567" y="54019"/>
                  </a:cubicBezTo>
                  <a:cubicBezTo>
                    <a:pt x="65064" y="47740"/>
                    <a:pt x="48795" y="19380"/>
                    <a:pt x="46292" y="16643"/>
                  </a:cubicBezTo>
                  <a:cubicBezTo>
                    <a:pt x="43746" y="13886"/>
                    <a:pt x="16107" y="19783"/>
                    <a:pt x="16107" y="19783"/>
                  </a:cubicBezTo>
                  <a:close/>
                </a:path>
              </a:pathLst>
            </a:custGeom>
            <a:solidFill>
              <a:srgbClr val="5A4B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4" name="Freeform: Shape 874">
              <a:extLst>
                <a:ext uri="{FF2B5EF4-FFF2-40B4-BE49-F238E27FC236}">
                  <a16:creationId xmlns:a16="http://schemas.microsoft.com/office/drawing/2014/main" id="{992C6221-189F-F4F3-443F-2A414AD816C8}"/>
                </a:ext>
              </a:extLst>
            </p:cNvPr>
            <p:cNvSpPr/>
            <p:nvPr/>
          </p:nvSpPr>
          <p:spPr>
            <a:xfrm>
              <a:off x="8797826" y="2199822"/>
              <a:ext cx="189010" cy="113406"/>
            </a:xfrm>
            <a:custGeom>
              <a:avLst/>
              <a:gdLst>
                <a:gd name="connsiteX0" fmla="*/ 58108 w 106060"/>
                <a:gd name="connsiteY0" fmla="*/ 15909 h 63636"/>
                <a:gd name="connsiteX1" fmla="*/ 21750 w 106060"/>
                <a:gd name="connsiteY1" fmla="*/ 38203 h 63636"/>
                <a:gd name="connsiteX2" fmla="*/ 26374 w 106060"/>
                <a:gd name="connsiteY2" fmla="*/ 47876 h 63636"/>
                <a:gd name="connsiteX3" fmla="*/ 62308 w 106060"/>
                <a:gd name="connsiteY3" fmla="*/ 47876 h 63636"/>
                <a:gd name="connsiteX4" fmla="*/ 77771 w 106060"/>
                <a:gd name="connsiteY4" fmla="*/ 44970 h 63636"/>
                <a:gd name="connsiteX5" fmla="*/ 79871 w 106060"/>
                <a:gd name="connsiteY5" fmla="*/ 49191 h 63636"/>
                <a:gd name="connsiteX6" fmla="*/ 91156 w 106060"/>
                <a:gd name="connsiteY6" fmla="*/ 47048 h 63636"/>
                <a:gd name="connsiteX7" fmla="*/ 93786 w 106060"/>
                <a:gd name="connsiteY7" fmla="*/ 20597 h 63636"/>
                <a:gd name="connsiteX8" fmla="*/ 58108 w 106060"/>
                <a:gd name="connsiteY8" fmla="*/ 15909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060" h="63636">
                  <a:moveTo>
                    <a:pt x="58108" y="15909"/>
                  </a:moveTo>
                  <a:cubicBezTo>
                    <a:pt x="58108" y="15909"/>
                    <a:pt x="28029" y="36867"/>
                    <a:pt x="21750" y="38203"/>
                  </a:cubicBezTo>
                  <a:cubicBezTo>
                    <a:pt x="15493" y="39518"/>
                    <a:pt x="10890" y="47876"/>
                    <a:pt x="26374" y="47876"/>
                  </a:cubicBezTo>
                  <a:cubicBezTo>
                    <a:pt x="41817" y="47876"/>
                    <a:pt x="49771" y="50824"/>
                    <a:pt x="62308" y="47876"/>
                  </a:cubicBezTo>
                  <a:cubicBezTo>
                    <a:pt x="74865" y="44970"/>
                    <a:pt x="76541" y="44970"/>
                    <a:pt x="77771" y="44970"/>
                  </a:cubicBezTo>
                  <a:cubicBezTo>
                    <a:pt x="79002" y="44970"/>
                    <a:pt x="77771" y="49657"/>
                    <a:pt x="79871" y="49191"/>
                  </a:cubicBezTo>
                  <a:cubicBezTo>
                    <a:pt x="81950" y="48724"/>
                    <a:pt x="91156" y="47048"/>
                    <a:pt x="91156" y="47048"/>
                  </a:cubicBezTo>
                  <a:lnTo>
                    <a:pt x="93786" y="20597"/>
                  </a:lnTo>
                  <a:lnTo>
                    <a:pt x="58108" y="15909"/>
                  </a:lnTo>
                  <a:close/>
                </a:path>
              </a:pathLst>
            </a:custGeom>
            <a:solidFill>
              <a:srgbClr val="5A4B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5" name="Freeform: Shape 875">
              <a:extLst>
                <a:ext uri="{FF2B5EF4-FFF2-40B4-BE49-F238E27FC236}">
                  <a16:creationId xmlns:a16="http://schemas.microsoft.com/office/drawing/2014/main" id="{045E9B29-1F5D-4DFF-299B-1883D89756F1}"/>
                </a:ext>
              </a:extLst>
            </p:cNvPr>
            <p:cNvSpPr/>
            <p:nvPr/>
          </p:nvSpPr>
          <p:spPr>
            <a:xfrm>
              <a:off x="8903497" y="1324474"/>
              <a:ext cx="113406" cy="151209"/>
            </a:xfrm>
            <a:custGeom>
              <a:avLst/>
              <a:gdLst>
                <a:gd name="connsiteX0" fmla="*/ 36273 w 63636"/>
                <a:gd name="connsiteY0" fmla="*/ 55514 h 84848"/>
                <a:gd name="connsiteX1" fmla="*/ 32433 w 63636"/>
                <a:gd name="connsiteY1" fmla="*/ 71338 h 84848"/>
                <a:gd name="connsiteX2" fmla="*/ 24373 w 63636"/>
                <a:gd name="connsiteY2" fmla="*/ 72229 h 84848"/>
                <a:gd name="connsiteX3" fmla="*/ 15909 w 63636"/>
                <a:gd name="connsiteY3" fmla="*/ 67413 h 84848"/>
                <a:gd name="connsiteX4" fmla="*/ 20851 w 63636"/>
                <a:gd name="connsiteY4" fmla="*/ 52226 h 84848"/>
                <a:gd name="connsiteX5" fmla="*/ 20321 w 63636"/>
                <a:gd name="connsiteY5" fmla="*/ 40411 h 84848"/>
                <a:gd name="connsiteX6" fmla="*/ 30163 w 63636"/>
                <a:gd name="connsiteY6" fmla="*/ 17162 h 84848"/>
                <a:gd name="connsiteX7" fmla="*/ 32709 w 63636"/>
                <a:gd name="connsiteY7" fmla="*/ 16462 h 84848"/>
                <a:gd name="connsiteX8" fmla="*/ 30482 w 63636"/>
                <a:gd name="connsiteY8" fmla="*/ 25583 h 84848"/>
                <a:gd name="connsiteX9" fmla="*/ 36230 w 63636"/>
                <a:gd name="connsiteY9" fmla="*/ 19835 h 84848"/>
                <a:gd name="connsiteX10" fmla="*/ 42933 w 63636"/>
                <a:gd name="connsiteY10" fmla="*/ 17480 h 84848"/>
                <a:gd name="connsiteX11" fmla="*/ 47600 w 63636"/>
                <a:gd name="connsiteY11" fmla="*/ 22635 h 84848"/>
                <a:gd name="connsiteX12" fmla="*/ 40070 w 63636"/>
                <a:gd name="connsiteY12" fmla="*/ 35998 h 84848"/>
                <a:gd name="connsiteX13" fmla="*/ 39942 w 63636"/>
                <a:gd name="connsiteY13" fmla="*/ 44568 h 84848"/>
                <a:gd name="connsiteX14" fmla="*/ 47388 w 63636"/>
                <a:gd name="connsiteY14" fmla="*/ 35786 h 84848"/>
                <a:gd name="connsiteX15" fmla="*/ 50909 w 63636"/>
                <a:gd name="connsiteY15" fmla="*/ 38502 h 84848"/>
                <a:gd name="connsiteX16" fmla="*/ 47536 w 63636"/>
                <a:gd name="connsiteY16" fmla="*/ 44504 h 84848"/>
                <a:gd name="connsiteX17" fmla="*/ 36273 w 63636"/>
                <a:gd name="connsiteY17" fmla="*/ 55514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636" h="84848">
                  <a:moveTo>
                    <a:pt x="36273" y="55514"/>
                  </a:moveTo>
                  <a:cubicBezTo>
                    <a:pt x="33324" y="59544"/>
                    <a:pt x="32433" y="71338"/>
                    <a:pt x="32433" y="71338"/>
                  </a:cubicBezTo>
                  <a:cubicBezTo>
                    <a:pt x="32433" y="71338"/>
                    <a:pt x="29442" y="74732"/>
                    <a:pt x="24373" y="72229"/>
                  </a:cubicBezTo>
                  <a:cubicBezTo>
                    <a:pt x="19303" y="69726"/>
                    <a:pt x="15909" y="67413"/>
                    <a:pt x="15909" y="67413"/>
                  </a:cubicBezTo>
                  <a:cubicBezTo>
                    <a:pt x="15909" y="67413"/>
                    <a:pt x="20533" y="53456"/>
                    <a:pt x="20851" y="52226"/>
                  </a:cubicBezTo>
                  <a:cubicBezTo>
                    <a:pt x="21212" y="50974"/>
                    <a:pt x="17139" y="48004"/>
                    <a:pt x="20321" y="40411"/>
                  </a:cubicBezTo>
                  <a:cubicBezTo>
                    <a:pt x="23503" y="32859"/>
                    <a:pt x="30163" y="17162"/>
                    <a:pt x="30163" y="17162"/>
                  </a:cubicBezTo>
                  <a:cubicBezTo>
                    <a:pt x="30163" y="17162"/>
                    <a:pt x="32518" y="14892"/>
                    <a:pt x="32709" y="16462"/>
                  </a:cubicBezTo>
                  <a:cubicBezTo>
                    <a:pt x="32942" y="17989"/>
                    <a:pt x="30482" y="25583"/>
                    <a:pt x="30482" y="25583"/>
                  </a:cubicBezTo>
                  <a:cubicBezTo>
                    <a:pt x="30482" y="25583"/>
                    <a:pt x="33642" y="20577"/>
                    <a:pt x="36230" y="19835"/>
                  </a:cubicBezTo>
                  <a:cubicBezTo>
                    <a:pt x="38797" y="19135"/>
                    <a:pt x="42933" y="17480"/>
                    <a:pt x="42933" y="17480"/>
                  </a:cubicBezTo>
                  <a:cubicBezTo>
                    <a:pt x="42933" y="17480"/>
                    <a:pt x="48342" y="18753"/>
                    <a:pt x="47600" y="22635"/>
                  </a:cubicBezTo>
                  <a:cubicBezTo>
                    <a:pt x="46857" y="26517"/>
                    <a:pt x="41045" y="32986"/>
                    <a:pt x="40070" y="35998"/>
                  </a:cubicBezTo>
                  <a:cubicBezTo>
                    <a:pt x="39094" y="39053"/>
                    <a:pt x="39942" y="44568"/>
                    <a:pt x="39942" y="44568"/>
                  </a:cubicBezTo>
                  <a:cubicBezTo>
                    <a:pt x="39942" y="44568"/>
                    <a:pt x="46751" y="36911"/>
                    <a:pt x="47388" y="35786"/>
                  </a:cubicBezTo>
                  <a:cubicBezTo>
                    <a:pt x="48003" y="34705"/>
                    <a:pt x="51672" y="37144"/>
                    <a:pt x="50909" y="38502"/>
                  </a:cubicBezTo>
                  <a:cubicBezTo>
                    <a:pt x="50145" y="39901"/>
                    <a:pt x="49445" y="42383"/>
                    <a:pt x="47536" y="44504"/>
                  </a:cubicBezTo>
                  <a:cubicBezTo>
                    <a:pt x="39688" y="53244"/>
                    <a:pt x="41130" y="53944"/>
                    <a:pt x="36273" y="55514"/>
                  </a:cubicBezTo>
                  <a:close/>
                </a:path>
              </a:pathLst>
            </a:custGeom>
            <a:solidFill>
              <a:srgbClr val="F3DC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6" name="Freeform: Shape 876">
              <a:extLst>
                <a:ext uri="{FF2B5EF4-FFF2-40B4-BE49-F238E27FC236}">
                  <a16:creationId xmlns:a16="http://schemas.microsoft.com/office/drawing/2014/main" id="{42F4ACF1-769E-276F-273C-A290E573DB65}"/>
                </a:ext>
              </a:extLst>
            </p:cNvPr>
            <p:cNvSpPr/>
            <p:nvPr/>
          </p:nvSpPr>
          <p:spPr>
            <a:xfrm>
              <a:off x="8872196" y="1864216"/>
              <a:ext cx="151209" cy="378021"/>
            </a:xfrm>
            <a:custGeom>
              <a:avLst/>
              <a:gdLst>
                <a:gd name="connsiteX0" fmla="*/ 23164 w 84848"/>
                <a:gd name="connsiteY0" fmla="*/ 15909 h 212120"/>
                <a:gd name="connsiteX1" fmla="*/ 15909 w 84848"/>
                <a:gd name="connsiteY1" fmla="*/ 202808 h 212120"/>
                <a:gd name="connsiteX2" fmla="*/ 30164 w 84848"/>
                <a:gd name="connsiteY2" fmla="*/ 213626 h 212120"/>
                <a:gd name="connsiteX3" fmla="*/ 52033 w 84848"/>
                <a:gd name="connsiteY3" fmla="*/ 211972 h 212120"/>
                <a:gd name="connsiteX4" fmla="*/ 53942 w 84848"/>
                <a:gd name="connsiteY4" fmla="*/ 198629 h 212120"/>
                <a:gd name="connsiteX5" fmla="*/ 69406 w 84848"/>
                <a:gd name="connsiteY5" fmla="*/ 22209 h 212120"/>
                <a:gd name="connsiteX6" fmla="*/ 23164 w 84848"/>
                <a:gd name="connsiteY6" fmla="*/ 15909 h 21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848" h="212120">
                  <a:moveTo>
                    <a:pt x="23164" y="15909"/>
                  </a:moveTo>
                  <a:lnTo>
                    <a:pt x="15909" y="202808"/>
                  </a:lnTo>
                  <a:cubicBezTo>
                    <a:pt x="15909" y="202808"/>
                    <a:pt x="21806" y="211123"/>
                    <a:pt x="30164" y="213626"/>
                  </a:cubicBezTo>
                  <a:cubicBezTo>
                    <a:pt x="38542" y="216172"/>
                    <a:pt x="52033" y="211972"/>
                    <a:pt x="52033" y="211972"/>
                  </a:cubicBezTo>
                  <a:cubicBezTo>
                    <a:pt x="52033" y="211972"/>
                    <a:pt x="54367" y="204060"/>
                    <a:pt x="53942" y="198629"/>
                  </a:cubicBezTo>
                  <a:cubicBezTo>
                    <a:pt x="53518" y="193157"/>
                    <a:pt x="69003" y="23864"/>
                    <a:pt x="69406" y="22209"/>
                  </a:cubicBezTo>
                  <a:cubicBezTo>
                    <a:pt x="69851" y="20491"/>
                    <a:pt x="23164" y="15909"/>
                    <a:pt x="23164" y="15909"/>
                  </a:cubicBezTo>
                  <a:close/>
                </a:path>
              </a:pathLst>
            </a:custGeom>
            <a:solidFill>
              <a:srgbClr val="1836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7" name="Freeform: Shape 877">
              <a:extLst>
                <a:ext uri="{FF2B5EF4-FFF2-40B4-BE49-F238E27FC236}">
                  <a16:creationId xmlns:a16="http://schemas.microsoft.com/office/drawing/2014/main" id="{57D824F6-03F2-2DC8-B55C-60C9E0D8E9F7}"/>
                </a:ext>
              </a:extLst>
            </p:cNvPr>
            <p:cNvSpPr/>
            <p:nvPr/>
          </p:nvSpPr>
          <p:spPr>
            <a:xfrm>
              <a:off x="8922436" y="1877597"/>
              <a:ext cx="189010" cy="415823"/>
            </a:xfrm>
            <a:custGeom>
              <a:avLst/>
              <a:gdLst>
                <a:gd name="connsiteX0" fmla="*/ 15909 w 106060"/>
                <a:gd name="connsiteY0" fmla="*/ 15909 h 233332"/>
                <a:gd name="connsiteX1" fmla="*/ 39560 w 106060"/>
                <a:gd name="connsiteY1" fmla="*/ 109284 h 233332"/>
                <a:gd name="connsiteX2" fmla="*/ 65481 w 106060"/>
                <a:gd name="connsiteY2" fmla="*/ 222854 h 233332"/>
                <a:gd name="connsiteX3" fmla="*/ 87224 w 106060"/>
                <a:gd name="connsiteY3" fmla="*/ 231593 h 233332"/>
                <a:gd name="connsiteX4" fmla="*/ 95178 w 106060"/>
                <a:gd name="connsiteY4" fmla="*/ 206520 h 233332"/>
                <a:gd name="connsiteX5" fmla="*/ 80097 w 106060"/>
                <a:gd name="connsiteY5" fmla="*/ 95306 h 233332"/>
                <a:gd name="connsiteX6" fmla="*/ 77594 w 106060"/>
                <a:gd name="connsiteY6" fmla="*/ 26409 h 233332"/>
                <a:gd name="connsiteX7" fmla="*/ 15909 w 106060"/>
                <a:gd name="connsiteY7" fmla="*/ 15909 h 23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060" h="233332">
                  <a:moveTo>
                    <a:pt x="15909" y="15909"/>
                  </a:moveTo>
                  <a:cubicBezTo>
                    <a:pt x="15909" y="15909"/>
                    <a:pt x="38733" y="108606"/>
                    <a:pt x="39560" y="109284"/>
                  </a:cubicBezTo>
                  <a:cubicBezTo>
                    <a:pt x="40409" y="109984"/>
                    <a:pt x="65481" y="222854"/>
                    <a:pt x="65481" y="222854"/>
                  </a:cubicBezTo>
                  <a:cubicBezTo>
                    <a:pt x="65481" y="222854"/>
                    <a:pt x="76384" y="237066"/>
                    <a:pt x="87224" y="231593"/>
                  </a:cubicBezTo>
                  <a:cubicBezTo>
                    <a:pt x="98084" y="226184"/>
                    <a:pt x="96006" y="214899"/>
                    <a:pt x="95178" y="206520"/>
                  </a:cubicBezTo>
                  <a:cubicBezTo>
                    <a:pt x="94330" y="198163"/>
                    <a:pt x="82218" y="117090"/>
                    <a:pt x="80097" y="95306"/>
                  </a:cubicBezTo>
                  <a:cubicBezTo>
                    <a:pt x="78018" y="73563"/>
                    <a:pt x="77594" y="27745"/>
                    <a:pt x="77594" y="26409"/>
                  </a:cubicBezTo>
                  <a:cubicBezTo>
                    <a:pt x="77594" y="25136"/>
                    <a:pt x="15909" y="15909"/>
                    <a:pt x="15909" y="15909"/>
                  </a:cubicBez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8" name="Freeform: Shape 878">
              <a:extLst>
                <a:ext uri="{FF2B5EF4-FFF2-40B4-BE49-F238E27FC236}">
                  <a16:creationId xmlns:a16="http://schemas.microsoft.com/office/drawing/2014/main" id="{62925515-2EAD-1EC7-5E05-D680F066A717}"/>
                </a:ext>
              </a:extLst>
            </p:cNvPr>
            <p:cNvSpPr/>
            <p:nvPr/>
          </p:nvSpPr>
          <p:spPr>
            <a:xfrm>
              <a:off x="8866369" y="1400245"/>
              <a:ext cx="113406" cy="340219"/>
            </a:xfrm>
            <a:custGeom>
              <a:avLst/>
              <a:gdLst>
                <a:gd name="connsiteX0" fmla="*/ 26434 w 63636"/>
                <a:gd name="connsiteY0" fmla="*/ 175819 h 190908"/>
                <a:gd name="connsiteX1" fmla="*/ 17186 w 63636"/>
                <a:gd name="connsiteY1" fmla="*/ 89592 h 190908"/>
                <a:gd name="connsiteX2" fmla="*/ 36849 w 63636"/>
                <a:gd name="connsiteY2" fmla="*/ 16856 h 190908"/>
                <a:gd name="connsiteX3" fmla="*/ 56704 w 63636"/>
                <a:gd name="connsiteY3" fmla="*/ 22520 h 190908"/>
                <a:gd name="connsiteX4" fmla="*/ 49195 w 63636"/>
                <a:gd name="connsiteY4" fmla="*/ 73089 h 190908"/>
                <a:gd name="connsiteX5" fmla="*/ 49513 w 63636"/>
                <a:gd name="connsiteY5" fmla="*/ 128474 h 190908"/>
                <a:gd name="connsiteX6" fmla="*/ 48898 w 63636"/>
                <a:gd name="connsiteY6" fmla="*/ 145295 h 190908"/>
                <a:gd name="connsiteX7" fmla="*/ 26455 w 63636"/>
                <a:gd name="connsiteY7" fmla="*/ 177092 h 19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190908">
                  <a:moveTo>
                    <a:pt x="26434" y="175819"/>
                  </a:moveTo>
                  <a:cubicBezTo>
                    <a:pt x="26434" y="175819"/>
                    <a:pt x="11543" y="121262"/>
                    <a:pt x="17186" y="89592"/>
                  </a:cubicBezTo>
                  <a:cubicBezTo>
                    <a:pt x="22849" y="57944"/>
                    <a:pt x="36849" y="16856"/>
                    <a:pt x="36849" y="16856"/>
                  </a:cubicBezTo>
                  <a:cubicBezTo>
                    <a:pt x="36849" y="16856"/>
                    <a:pt x="55113" y="12486"/>
                    <a:pt x="56704" y="22520"/>
                  </a:cubicBezTo>
                  <a:cubicBezTo>
                    <a:pt x="58273" y="32532"/>
                    <a:pt x="51995" y="51559"/>
                    <a:pt x="49195" y="73089"/>
                  </a:cubicBezTo>
                  <a:cubicBezTo>
                    <a:pt x="46373" y="94641"/>
                    <a:pt x="46373" y="118759"/>
                    <a:pt x="49513" y="128474"/>
                  </a:cubicBezTo>
                  <a:cubicBezTo>
                    <a:pt x="52652" y="138189"/>
                    <a:pt x="48898" y="145295"/>
                    <a:pt x="48898" y="145295"/>
                  </a:cubicBezTo>
                  <a:lnTo>
                    <a:pt x="26455" y="177092"/>
                  </a:lnTo>
                </a:path>
              </a:pathLst>
            </a:custGeom>
            <a:solidFill>
              <a:srgbClr val="1836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9" name="Freeform: Shape 879">
              <a:extLst>
                <a:ext uri="{FF2B5EF4-FFF2-40B4-BE49-F238E27FC236}">
                  <a16:creationId xmlns:a16="http://schemas.microsoft.com/office/drawing/2014/main" id="{C2D7B054-5A14-BDD6-1EDE-15F59FC07EF5}"/>
                </a:ext>
              </a:extLst>
            </p:cNvPr>
            <p:cNvSpPr/>
            <p:nvPr/>
          </p:nvSpPr>
          <p:spPr>
            <a:xfrm>
              <a:off x="8863275" y="1758718"/>
              <a:ext cx="75604" cy="189010"/>
            </a:xfrm>
            <a:custGeom>
              <a:avLst/>
              <a:gdLst>
                <a:gd name="connsiteX0" fmla="*/ 22973 w 42424"/>
                <a:gd name="connsiteY0" fmla="*/ 93159 h 106060"/>
                <a:gd name="connsiteX1" fmla="*/ 32221 w 42424"/>
                <a:gd name="connsiteY1" fmla="*/ 78225 h 106060"/>
                <a:gd name="connsiteX2" fmla="*/ 34724 w 42424"/>
                <a:gd name="connsiteY2" fmla="*/ 16371 h 106060"/>
                <a:gd name="connsiteX3" fmla="*/ 28170 w 42424"/>
                <a:gd name="connsiteY3" fmla="*/ 16371 h 106060"/>
                <a:gd name="connsiteX4" fmla="*/ 23015 w 42424"/>
                <a:gd name="connsiteY4" fmla="*/ 25980 h 106060"/>
                <a:gd name="connsiteX5" fmla="*/ 15909 w 42424"/>
                <a:gd name="connsiteY5" fmla="*/ 66113 h 106060"/>
                <a:gd name="connsiteX6" fmla="*/ 22973 w 42424"/>
                <a:gd name="connsiteY6" fmla="*/ 93159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424" h="106060">
                  <a:moveTo>
                    <a:pt x="22973" y="93159"/>
                  </a:moveTo>
                  <a:cubicBezTo>
                    <a:pt x="23206" y="92522"/>
                    <a:pt x="22400" y="80113"/>
                    <a:pt x="32221" y="78225"/>
                  </a:cubicBezTo>
                  <a:cubicBezTo>
                    <a:pt x="42042" y="76337"/>
                    <a:pt x="34724" y="16371"/>
                    <a:pt x="34724" y="16371"/>
                  </a:cubicBezTo>
                  <a:cubicBezTo>
                    <a:pt x="34724" y="16371"/>
                    <a:pt x="28976" y="15332"/>
                    <a:pt x="28170" y="16371"/>
                  </a:cubicBezTo>
                  <a:cubicBezTo>
                    <a:pt x="27406" y="17410"/>
                    <a:pt x="24054" y="21186"/>
                    <a:pt x="23015" y="25980"/>
                  </a:cubicBezTo>
                  <a:cubicBezTo>
                    <a:pt x="21955" y="30816"/>
                    <a:pt x="15909" y="64013"/>
                    <a:pt x="15909" y="66113"/>
                  </a:cubicBezTo>
                  <a:cubicBezTo>
                    <a:pt x="15909" y="68192"/>
                    <a:pt x="22973" y="93159"/>
                    <a:pt x="22973" y="93159"/>
                  </a:cubicBezTo>
                  <a:close/>
                </a:path>
              </a:pathLst>
            </a:custGeom>
            <a:solidFill>
              <a:srgbClr val="1836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0" name="Freeform: Shape 880">
              <a:extLst>
                <a:ext uri="{FF2B5EF4-FFF2-40B4-BE49-F238E27FC236}">
                  <a16:creationId xmlns:a16="http://schemas.microsoft.com/office/drawing/2014/main" id="{C2F3E588-6F61-BB28-9F15-9A51A6D2D081}"/>
                </a:ext>
              </a:extLst>
            </p:cNvPr>
            <p:cNvSpPr/>
            <p:nvPr/>
          </p:nvSpPr>
          <p:spPr>
            <a:xfrm>
              <a:off x="8885464" y="1625911"/>
              <a:ext cx="151209" cy="302417"/>
            </a:xfrm>
            <a:custGeom>
              <a:avLst/>
              <a:gdLst>
                <a:gd name="connsiteX0" fmla="*/ 54515 w 84848"/>
                <a:gd name="connsiteY0" fmla="*/ 15909 h 169696"/>
                <a:gd name="connsiteX1" fmla="*/ 20194 w 84848"/>
                <a:gd name="connsiteY1" fmla="*/ 86503 h 169696"/>
                <a:gd name="connsiteX2" fmla="*/ 16015 w 84848"/>
                <a:gd name="connsiteY2" fmla="*/ 134993 h 169696"/>
                <a:gd name="connsiteX3" fmla="*/ 26876 w 84848"/>
                <a:gd name="connsiteY3" fmla="*/ 157584 h 169696"/>
                <a:gd name="connsiteX4" fmla="*/ 76682 w 84848"/>
                <a:gd name="connsiteY4" fmla="*/ 157160 h 169696"/>
                <a:gd name="connsiteX5" fmla="*/ 85145 w 84848"/>
                <a:gd name="connsiteY5" fmla="*/ 42127 h 169696"/>
                <a:gd name="connsiteX6" fmla="*/ 85145 w 84848"/>
                <a:gd name="connsiteY6" fmla="*/ 20215 h 169696"/>
                <a:gd name="connsiteX7" fmla="*/ 59055 w 84848"/>
                <a:gd name="connsiteY7" fmla="*/ 15930 h 169696"/>
                <a:gd name="connsiteX8" fmla="*/ 54515 w 84848"/>
                <a:gd name="connsiteY8" fmla="*/ 15930 h 16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848" h="169696">
                  <a:moveTo>
                    <a:pt x="54515" y="15909"/>
                  </a:moveTo>
                  <a:cubicBezTo>
                    <a:pt x="54515" y="15909"/>
                    <a:pt x="28955" y="34660"/>
                    <a:pt x="20194" y="86503"/>
                  </a:cubicBezTo>
                  <a:cubicBezTo>
                    <a:pt x="17203" y="104087"/>
                    <a:pt x="16015" y="118278"/>
                    <a:pt x="16015" y="134993"/>
                  </a:cubicBezTo>
                  <a:cubicBezTo>
                    <a:pt x="16015" y="151730"/>
                    <a:pt x="14064" y="151687"/>
                    <a:pt x="26876" y="157584"/>
                  </a:cubicBezTo>
                  <a:cubicBezTo>
                    <a:pt x="42361" y="164669"/>
                    <a:pt x="71824" y="157584"/>
                    <a:pt x="76682" y="157160"/>
                  </a:cubicBezTo>
                  <a:cubicBezTo>
                    <a:pt x="81539" y="156736"/>
                    <a:pt x="83618" y="58397"/>
                    <a:pt x="85145" y="42127"/>
                  </a:cubicBezTo>
                  <a:cubicBezTo>
                    <a:pt x="86673" y="25879"/>
                    <a:pt x="89070" y="22909"/>
                    <a:pt x="85145" y="20215"/>
                  </a:cubicBezTo>
                  <a:cubicBezTo>
                    <a:pt x="81242" y="17564"/>
                    <a:pt x="59055" y="15930"/>
                    <a:pt x="59055" y="15930"/>
                  </a:cubicBezTo>
                  <a:lnTo>
                    <a:pt x="54515" y="15930"/>
                  </a:lnTo>
                  <a:close/>
                </a:path>
              </a:pathLst>
            </a:custGeom>
            <a:solidFill>
              <a:srgbClr val="E7E7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1" name="Freeform: Shape 881">
              <a:extLst>
                <a:ext uri="{FF2B5EF4-FFF2-40B4-BE49-F238E27FC236}">
                  <a16:creationId xmlns:a16="http://schemas.microsoft.com/office/drawing/2014/main" id="{5DBA8B80-E409-D540-F6E0-BB16FA9FC815}"/>
                </a:ext>
              </a:extLst>
            </p:cNvPr>
            <p:cNvSpPr/>
            <p:nvPr/>
          </p:nvSpPr>
          <p:spPr>
            <a:xfrm>
              <a:off x="8954267" y="1608671"/>
              <a:ext cx="75604" cy="75604"/>
            </a:xfrm>
            <a:custGeom>
              <a:avLst/>
              <a:gdLst>
                <a:gd name="connsiteX0" fmla="*/ 15909 w 42424"/>
                <a:gd name="connsiteY0" fmla="*/ 15909 h 42424"/>
                <a:gd name="connsiteX1" fmla="*/ 18370 w 42424"/>
                <a:gd name="connsiteY1" fmla="*/ 40600 h 42424"/>
                <a:gd name="connsiteX2" fmla="*/ 36357 w 42424"/>
                <a:gd name="connsiteY2" fmla="*/ 34321 h 42424"/>
                <a:gd name="connsiteX3" fmla="*/ 43866 w 42424"/>
                <a:gd name="connsiteY3" fmla="*/ 21764 h 42424"/>
                <a:gd name="connsiteX4" fmla="*/ 41576 w 42424"/>
                <a:gd name="connsiteY4" fmla="*/ 16821 h 42424"/>
                <a:gd name="connsiteX5" fmla="*/ 15909 w 42424"/>
                <a:gd name="connsiteY5" fmla="*/ 15909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24" h="42424">
                  <a:moveTo>
                    <a:pt x="15909" y="15909"/>
                  </a:moveTo>
                  <a:lnTo>
                    <a:pt x="18370" y="40600"/>
                  </a:lnTo>
                  <a:cubicBezTo>
                    <a:pt x="18370" y="40600"/>
                    <a:pt x="29230" y="42679"/>
                    <a:pt x="36357" y="34321"/>
                  </a:cubicBezTo>
                  <a:cubicBezTo>
                    <a:pt x="43442" y="25942"/>
                    <a:pt x="43866" y="21764"/>
                    <a:pt x="43866" y="21764"/>
                  </a:cubicBezTo>
                  <a:lnTo>
                    <a:pt x="41576" y="16821"/>
                  </a:lnTo>
                  <a:lnTo>
                    <a:pt x="15909" y="15909"/>
                  </a:lnTo>
                  <a:close/>
                </a:path>
              </a:pathLst>
            </a:custGeom>
            <a:solidFill>
              <a:srgbClr val="D5B5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2" name="Freeform: Shape 882">
              <a:extLst>
                <a:ext uri="{FF2B5EF4-FFF2-40B4-BE49-F238E27FC236}">
                  <a16:creationId xmlns:a16="http://schemas.microsoft.com/office/drawing/2014/main" id="{7367C140-73FC-1F82-1B1E-5864F631F0F5}"/>
                </a:ext>
              </a:extLst>
            </p:cNvPr>
            <p:cNvSpPr/>
            <p:nvPr/>
          </p:nvSpPr>
          <p:spPr>
            <a:xfrm>
              <a:off x="8954267" y="1483509"/>
              <a:ext cx="151209" cy="189010"/>
            </a:xfrm>
            <a:custGeom>
              <a:avLst/>
              <a:gdLst>
                <a:gd name="connsiteX0" fmla="*/ 15909 w 84848"/>
                <a:gd name="connsiteY0" fmla="*/ 45012 h 106060"/>
                <a:gd name="connsiteX1" fmla="*/ 23842 w 84848"/>
                <a:gd name="connsiteY1" fmla="*/ 26324 h 106060"/>
                <a:gd name="connsiteX2" fmla="*/ 44694 w 84848"/>
                <a:gd name="connsiteY2" fmla="*/ 15909 h 106060"/>
                <a:gd name="connsiteX3" fmla="*/ 56912 w 84848"/>
                <a:gd name="connsiteY3" fmla="*/ 22612 h 106060"/>
                <a:gd name="connsiteX4" fmla="*/ 64315 w 84848"/>
                <a:gd name="connsiteY4" fmla="*/ 26345 h 106060"/>
                <a:gd name="connsiteX5" fmla="*/ 72693 w 84848"/>
                <a:gd name="connsiteY5" fmla="*/ 32200 h 106060"/>
                <a:gd name="connsiteX6" fmla="*/ 76469 w 84848"/>
                <a:gd name="connsiteY6" fmla="*/ 37206 h 106060"/>
                <a:gd name="connsiteX7" fmla="*/ 79800 w 84848"/>
                <a:gd name="connsiteY7" fmla="*/ 47663 h 106060"/>
                <a:gd name="connsiteX8" fmla="*/ 79800 w 84848"/>
                <a:gd name="connsiteY8" fmla="*/ 61069 h 106060"/>
                <a:gd name="connsiteX9" fmla="*/ 76045 w 84848"/>
                <a:gd name="connsiteY9" fmla="*/ 73606 h 106060"/>
                <a:gd name="connsiteX10" fmla="*/ 43421 w 84848"/>
                <a:gd name="connsiteY10" fmla="*/ 90278 h 106060"/>
                <a:gd name="connsiteX11" fmla="*/ 39985 w 84848"/>
                <a:gd name="connsiteY11" fmla="*/ 87839 h 106060"/>
                <a:gd name="connsiteX12" fmla="*/ 15909 w 84848"/>
                <a:gd name="connsiteY12" fmla="*/ 45012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848" h="106060">
                  <a:moveTo>
                    <a:pt x="15909" y="45012"/>
                  </a:moveTo>
                  <a:cubicBezTo>
                    <a:pt x="15909" y="45012"/>
                    <a:pt x="19239" y="34257"/>
                    <a:pt x="23842" y="26324"/>
                  </a:cubicBezTo>
                  <a:cubicBezTo>
                    <a:pt x="28445" y="18391"/>
                    <a:pt x="37566" y="15909"/>
                    <a:pt x="44694" y="15909"/>
                  </a:cubicBezTo>
                  <a:cubicBezTo>
                    <a:pt x="51778" y="15909"/>
                    <a:pt x="56912" y="22612"/>
                    <a:pt x="56912" y="22612"/>
                  </a:cubicBezTo>
                  <a:cubicBezTo>
                    <a:pt x="56912" y="22612"/>
                    <a:pt x="62215" y="25921"/>
                    <a:pt x="64315" y="26345"/>
                  </a:cubicBezTo>
                  <a:cubicBezTo>
                    <a:pt x="66436" y="26770"/>
                    <a:pt x="71442" y="30545"/>
                    <a:pt x="72693" y="32200"/>
                  </a:cubicBezTo>
                  <a:cubicBezTo>
                    <a:pt x="73966" y="33897"/>
                    <a:pt x="74369" y="35127"/>
                    <a:pt x="76469" y="37206"/>
                  </a:cubicBezTo>
                  <a:cubicBezTo>
                    <a:pt x="78548" y="39285"/>
                    <a:pt x="79800" y="41406"/>
                    <a:pt x="79800" y="47663"/>
                  </a:cubicBezTo>
                  <a:cubicBezTo>
                    <a:pt x="79800" y="53942"/>
                    <a:pt x="81454" y="54366"/>
                    <a:pt x="79800" y="61069"/>
                  </a:cubicBezTo>
                  <a:cubicBezTo>
                    <a:pt x="78145" y="67730"/>
                    <a:pt x="79800" y="68154"/>
                    <a:pt x="76045" y="73606"/>
                  </a:cubicBezTo>
                  <a:cubicBezTo>
                    <a:pt x="72291" y="79057"/>
                    <a:pt x="43421" y="90278"/>
                    <a:pt x="43421" y="90278"/>
                  </a:cubicBezTo>
                  <a:lnTo>
                    <a:pt x="39985" y="87839"/>
                  </a:lnTo>
                  <a:lnTo>
                    <a:pt x="15909" y="45012"/>
                  </a:lnTo>
                  <a:close/>
                </a:path>
              </a:pathLst>
            </a:custGeom>
            <a:solidFill>
              <a:srgbClr val="C399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3" name="Freeform: Shape 883">
              <a:extLst>
                <a:ext uri="{FF2B5EF4-FFF2-40B4-BE49-F238E27FC236}">
                  <a16:creationId xmlns:a16="http://schemas.microsoft.com/office/drawing/2014/main" id="{CE577245-4A54-AFA3-E946-EB7EBF4D5AF7}"/>
                </a:ext>
              </a:extLst>
            </p:cNvPr>
            <p:cNvSpPr/>
            <p:nvPr/>
          </p:nvSpPr>
          <p:spPr>
            <a:xfrm>
              <a:off x="8934747" y="1491817"/>
              <a:ext cx="113406" cy="151209"/>
            </a:xfrm>
            <a:custGeom>
              <a:avLst/>
              <a:gdLst>
                <a:gd name="connsiteX0" fmla="*/ 33925 w 63636"/>
                <a:gd name="connsiteY0" fmla="*/ 27538 h 84848"/>
                <a:gd name="connsiteX1" fmla="*/ 15937 w 63636"/>
                <a:gd name="connsiteY1" fmla="*/ 68520 h 84848"/>
                <a:gd name="connsiteX2" fmla="*/ 31400 w 63636"/>
                <a:gd name="connsiteY2" fmla="*/ 84832 h 84848"/>
                <a:gd name="connsiteX3" fmla="*/ 53970 w 63636"/>
                <a:gd name="connsiteY3" fmla="*/ 81480 h 84848"/>
                <a:gd name="connsiteX4" fmla="*/ 63176 w 63636"/>
                <a:gd name="connsiteY4" fmla="*/ 73950 h 84848"/>
                <a:gd name="connsiteX5" fmla="*/ 63176 w 63636"/>
                <a:gd name="connsiteY5" fmla="*/ 61859 h 84848"/>
                <a:gd name="connsiteX6" fmla="*/ 50640 w 63636"/>
                <a:gd name="connsiteY6" fmla="*/ 67714 h 84848"/>
                <a:gd name="connsiteX7" fmla="*/ 46461 w 63636"/>
                <a:gd name="connsiteY7" fmla="*/ 66441 h 84848"/>
                <a:gd name="connsiteX8" fmla="*/ 53970 w 63636"/>
                <a:gd name="connsiteY8" fmla="*/ 56598 h 84848"/>
                <a:gd name="connsiteX9" fmla="*/ 56473 w 63636"/>
                <a:gd name="connsiteY9" fmla="*/ 50129 h 84848"/>
                <a:gd name="connsiteX10" fmla="*/ 66167 w 63636"/>
                <a:gd name="connsiteY10" fmla="*/ 34856 h 84848"/>
                <a:gd name="connsiteX11" fmla="*/ 37255 w 63636"/>
                <a:gd name="connsiteY11" fmla="*/ 21683 h 84848"/>
                <a:gd name="connsiteX12" fmla="*/ 33925 w 63636"/>
                <a:gd name="connsiteY12" fmla="*/ 27538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636" h="84848">
                  <a:moveTo>
                    <a:pt x="33925" y="27538"/>
                  </a:moveTo>
                  <a:cubicBezTo>
                    <a:pt x="33925" y="27538"/>
                    <a:pt x="15089" y="59759"/>
                    <a:pt x="15937" y="68520"/>
                  </a:cubicBezTo>
                  <a:cubicBezTo>
                    <a:pt x="16764" y="77301"/>
                    <a:pt x="17188" y="81883"/>
                    <a:pt x="31400" y="84832"/>
                  </a:cubicBezTo>
                  <a:cubicBezTo>
                    <a:pt x="45634" y="87759"/>
                    <a:pt x="53970" y="81480"/>
                    <a:pt x="53970" y="81480"/>
                  </a:cubicBezTo>
                  <a:cubicBezTo>
                    <a:pt x="53970" y="81480"/>
                    <a:pt x="57322" y="81904"/>
                    <a:pt x="63176" y="73950"/>
                  </a:cubicBezTo>
                  <a:cubicBezTo>
                    <a:pt x="69031" y="66017"/>
                    <a:pt x="69879" y="62665"/>
                    <a:pt x="63176" y="61859"/>
                  </a:cubicBezTo>
                  <a:cubicBezTo>
                    <a:pt x="56494" y="61011"/>
                    <a:pt x="50640" y="67714"/>
                    <a:pt x="50640" y="67714"/>
                  </a:cubicBezTo>
                  <a:lnTo>
                    <a:pt x="46461" y="66441"/>
                  </a:lnTo>
                  <a:cubicBezTo>
                    <a:pt x="46461" y="66441"/>
                    <a:pt x="52316" y="58444"/>
                    <a:pt x="53970" y="56598"/>
                  </a:cubicBezTo>
                  <a:cubicBezTo>
                    <a:pt x="55667" y="54732"/>
                    <a:pt x="56897" y="52208"/>
                    <a:pt x="56473" y="50129"/>
                  </a:cubicBezTo>
                  <a:cubicBezTo>
                    <a:pt x="56070" y="48050"/>
                    <a:pt x="64364" y="37783"/>
                    <a:pt x="66167" y="34856"/>
                  </a:cubicBezTo>
                  <a:cubicBezTo>
                    <a:pt x="78343" y="14938"/>
                    <a:pt x="43322" y="11035"/>
                    <a:pt x="37255" y="21683"/>
                  </a:cubicBezTo>
                  <a:cubicBezTo>
                    <a:pt x="31188" y="32332"/>
                    <a:pt x="33925" y="27538"/>
                    <a:pt x="33925" y="27538"/>
                  </a:cubicBezTo>
                  <a:close/>
                </a:path>
              </a:pathLst>
            </a:custGeom>
            <a:solidFill>
              <a:srgbClr val="F3DC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4" name="Freeform: Shape 884">
              <a:extLst>
                <a:ext uri="{FF2B5EF4-FFF2-40B4-BE49-F238E27FC236}">
                  <a16:creationId xmlns:a16="http://schemas.microsoft.com/office/drawing/2014/main" id="{8920701C-A295-078B-0143-271A7DFEEB9D}"/>
                </a:ext>
              </a:extLst>
            </p:cNvPr>
            <p:cNvSpPr/>
            <p:nvPr/>
          </p:nvSpPr>
          <p:spPr>
            <a:xfrm>
              <a:off x="8942736" y="1549625"/>
              <a:ext cx="75604" cy="37803"/>
            </a:xfrm>
            <a:custGeom>
              <a:avLst/>
              <a:gdLst>
                <a:gd name="connsiteX0" fmla="*/ 26876 w 42424"/>
                <a:gd name="connsiteY0" fmla="*/ 15909 h 21212"/>
                <a:gd name="connsiteX1" fmla="*/ 15909 w 42424"/>
                <a:gd name="connsiteY1" fmla="*/ 21233 h 21212"/>
                <a:gd name="connsiteX2" fmla="*/ 22379 w 42424"/>
                <a:gd name="connsiteY2" fmla="*/ 26048 h 2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24" h="21212">
                  <a:moveTo>
                    <a:pt x="26876" y="15909"/>
                  </a:moveTo>
                  <a:lnTo>
                    <a:pt x="15909" y="21233"/>
                  </a:lnTo>
                  <a:lnTo>
                    <a:pt x="22379" y="26048"/>
                  </a:lnTo>
                  <a:close/>
                </a:path>
              </a:pathLst>
            </a:custGeom>
            <a:solidFill>
              <a:srgbClr val="D5B5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5" name="Freeform: Shape 885">
              <a:extLst>
                <a:ext uri="{FF2B5EF4-FFF2-40B4-BE49-F238E27FC236}">
                  <a16:creationId xmlns:a16="http://schemas.microsoft.com/office/drawing/2014/main" id="{545E29BF-CC71-5EAF-6A25-74CFF5653A22}"/>
                </a:ext>
              </a:extLst>
            </p:cNvPr>
            <p:cNvSpPr/>
            <p:nvPr/>
          </p:nvSpPr>
          <p:spPr>
            <a:xfrm>
              <a:off x="8946479" y="1650746"/>
              <a:ext cx="75604" cy="75604"/>
            </a:xfrm>
            <a:custGeom>
              <a:avLst/>
              <a:gdLst>
                <a:gd name="connsiteX0" fmla="*/ 23524 w 42424"/>
                <a:gd name="connsiteY0" fmla="*/ 15909 h 42424"/>
                <a:gd name="connsiteX1" fmla="*/ 15909 w 42424"/>
                <a:gd name="connsiteY1" fmla="*/ 25730 h 42424"/>
                <a:gd name="connsiteX2" fmla="*/ 22273 w 42424"/>
                <a:gd name="connsiteY2" fmla="*/ 29612 h 42424"/>
                <a:gd name="connsiteX3" fmla="*/ 28233 w 42424"/>
                <a:gd name="connsiteY3" fmla="*/ 27109 h 42424"/>
                <a:gd name="connsiteX4" fmla="*/ 24160 w 42424"/>
                <a:gd name="connsiteY4" fmla="*/ 15909 h 42424"/>
                <a:gd name="connsiteX5" fmla="*/ 23524 w 42424"/>
                <a:gd name="connsiteY5" fmla="*/ 15909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24" h="42424">
                  <a:moveTo>
                    <a:pt x="23524" y="15909"/>
                  </a:moveTo>
                  <a:lnTo>
                    <a:pt x="15909" y="25730"/>
                  </a:lnTo>
                  <a:cubicBezTo>
                    <a:pt x="15909" y="25730"/>
                    <a:pt x="16948" y="30588"/>
                    <a:pt x="22273" y="29612"/>
                  </a:cubicBezTo>
                  <a:cubicBezTo>
                    <a:pt x="27597" y="28679"/>
                    <a:pt x="28233" y="27109"/>
                    <a:pt x="28233" y="27109"/>
                  </a:cubicBezTo>
                  <a:lnTo>
                    <a:pt x="24160" y="15909"/>
                  </a:lnTo>
                  <a:lnTo>
                    <a:pt x="23524" y="15909"/>
                  </a:lnTo>
                  <a:close/>
                </a:path>
              </a:pathLst>
            </a:custGeom>
            <a:solidFill>
              <a:srgbClr val="BE20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6" name="Freeform: Shape 886">
              <a:extLst>
                <a:ext uri="{FF2B5EF4-FFF2-40B4-BE49-F238E27FC236}">
                  <a16:creationId xmlns:a16="http://schemas.microsoft.com/office/drawing/2014/main" id="{C909823F-1AE1-D79A-BD2E-C99A58467089}"/>
                </a:ext>
              </a:extLst>
            </p:cNvPr>
            <p:cNvSpPr/>
            <p:nvPr/>
          </p:nvSpPr>
          <p:spPr>
            <a:xfrm>
              <a:off x="8961145" y="1619031"/>
              <a:ext cx="75604" cy="113406"/>
            </a:xfrm>
            <a:custGeom>
              <a:avLst/>
              <a:gdLst>
                <a:gd name="connsiteX0" fmla="*/ 15909 w 42424"/>
                <a:gd name="connsiteY0" fmla="*/ 33706 h 63636"/>
                <a:gd name="connsiteX1" fmla="*/ 15909 w 42424"/>
                <a:gd name="connsiteY1" fmla="*/ 51482 h 63636"/>
                <a:gd name="connsiteX2" fmla="*/ 37545 w 42424"/>
                <a:gd name="connsiteY2" fmla="*/ 36888 h 63636"/>
                <a:gd name="connsiteX3" fmla="*/ 41936 w 42424"/>
                <a:gd name="connsiteY3" fmla="*/ 20427 h 63636"/>
                <a:gd name="connsiteX4" fmla="*/ 38797 w 42424"/>
                <a:gd name="connsiteY4" fmla="*/ 15909 h 63636"/>
                <a:gd name="connsiteX5" fmla="*/ 24882 w 42424"/>
                <a:gd name="connsiteY5" fmla="*/ 30312 h 63636"/>
                <a:gd name="connsiteX6" fmla="*/ 15909 w 42424"/>
                <a:gd name="connsiteY6" fmla="*/ 33706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424" h="63636">
                  <a:moveTo>
                    <a:pt x="15909" y="33706"/>
                  </a:moveTo>
                  <a:lnTo>
                    <a:pt x="15909" y="51482"/>
                  </a:lnTo>
                  <a:cubicBezTo>
                    <a:pt x="15909" y="51482"/>
                    <a:pt x="33303" y="42848"/>
                    <a:pt x="37545" y="36888"/>
                  </a:cubicBezTo>
                  <a:cubicBezTo>
                    <a:pt x="41788" y="30948"/>
                    <a:pt x="43888" y="24945"/>
                    <a:pt x="41936" y="20427"/>
                  </a:cubicBezTo>
                  <a:cubicBezTo>
                    <a:pt x="40006" y="15930"/>
                    <a:pt x="38797" y="15909"/>
                    <a:pt x="38797" y="15909"/>
                  </a:cubicBezTo>
                  <a:cubicBezTo>
                    <a:pt x="38797" y="15909"/>
                    <a:pt x="31754" y="27194"/>
                    <a:pt x="24882" y="30312"/>
                  </a:cubicBezTo>
                  <a:cubicBezTo>
                    <a:pt x="17945" y="33451"/>
                    <a:pt x="15909" y="33706"/>
                    <a:pt x="15909" y="337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7" name="Freeform: Shape 887">
              <a:extLst>
                <a:ext uri="{FF2B5EF4-FFF2-40B4-BE49-F238E27FC236}">
                  <a16:creationId xmlns:a16="http://schemas.microsoft.com/office/drawing/2014/main" id="{8C434028-01CE-FA3E-A4C0-506370541548}"/>
                </a:ext>
              </a:extLst>
            </p:cNvPr>
            <p:cNvSpPr/>
            <p:nvPr/>
          </p:nvSpPr>
          <p:spPr>
            <a:xfrm>
              <a:off x="8941738" y="1620958"/>
              <a:ext cx="37803" cy="75604"/>
            </a:xfrm>
            <a:custGeom>
              <a:avLst/>
              <a:gdLst>
                <a:gd name="connsiteX0" fmla="*/ 23617 w 21212"/>
                <a:gd name="connsiteY0" fmla="*/ 15909 h 42424"/>
                <a:gd name="connsiteX1" fmla="*/ 26184 w 21212"/>
                <a:gd name="connsiteY1" fmla="*/ 32603 h 42424"/>
                <a:gd name="connsiteX2" fmla="*/ 16469 w 21212"/>
                <a:gd name="connsiteY2" fmla="*/ 44885 h 42424"/>
                <a:gd name="connsiteX3" fmla="*/ 18187 w 21212"/>
                <a:gd name="connsiteY3" fmla="*/ 26409 h 42424"/>
                <a:gd name="connsiteX4" fmla="*/ 23617 w 21212"/>
                <a:gd name="connsiteY4" fmla="*/ 15909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12" h="42424">
                  <a:moveTo>
                    <a:pt x="23617" y="15909"/>
                  </a:moveTo>
                  <a:lnTo>
                    <a:pt x="26184" y="32603"/>
                  </a:lnTo>
                  <a:lnTo>
                    <a:pt x="16469" y="44885"/>
                  </a:lnTo>
                  <a:cubicBezTo>
                    <a:pt x="16469" y="44885"/>
                    <a:pt x="14411" y="35509"/>
                    <a:pt x="18187" y="26409"/>
                  </a:cubicBezTo>
                  <a:cubicBezTo>
                    <a:pt x="21941" y="17330"/>
                    <a:pt x="23617" y="15909"/>
                    <a:pt x="23617" y="159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8" name="Freeform: Shape 888">
              <a:extLst>
                <a:ext uri="{FF2B5EF4-FFF2-40B4-BE49-F238E27FC236}">
                  <a16:creationId xmlns:a16="http://schemas.microsoft.com/office/drawing/2014/main" id="{EB8452F7-393C-0BD7-A00B-6B47E1EE44B6}"/>
                </a:ext>
              </a:extLst>
            </p:cNvPr>
            <p:cNvSpPr/>
            <p:nvPr/>
          </p:nvSpPr>
          <p:spPr>
            <a:xfrm>
              <a:off x="8916994" y="1668136"/>
              <a:ext cx="75604" cy="151209"/>
            </a:xfrm>
            <a:custGeom>
              <a:avLst/>
              <a:gdLst>
                <a:gd name="connsiteX0" fmla="*/ 33260 w 42424"/>
                <a:gd name="connsiteY0" fmla="*/ 15909 h 84848"/>
                <a:gd name="connsiteX1" fmla="*/ 15909 w 42424"/>
                <a:gd name="connsiteY1" fmla="*/ 75663 h 84848"/>
                <a:gd name="connsiteX2" fmla="*/ 22188 w 42424"/>
                <a:gd name="connsiteY2" fmla="*/ 85866 h 84848"/>
                <a:gd name="connsiteX3" fmla="*/ 32221 w 42424"/>
                <a:gd name="connsiteY3" fmla="*/ 75960 h 84848"/>
                <a:gd name="connsiteX4" fmla="*/ 40685 w 42424"/>
                <a:gd name="connsiteY4" fmla="*/ 18433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24" h="84848">
                  <a:moveTo>
                    <a:pt x="33260" y="15909"/>
                  </a:moveTo>
                  <a:lnTo>
                    <a:pt x="15909" y="75663"/>
                  </a:lnTo>
                  <a:lnTo>
                    <a:pt x="22188" y="85866"/>
                  </a:lnTo>
                  <a:lnTo>
                    <a:pt x="32221" y="75960"/>
                  </a:lnTo>
                  <a:lnTo>
                    <a:pt x="40685" y="18433"/>
                  </a:lnTo>
                  <a:close/>
                </a:path>
              </a:pathLst>
            </a:custGeom>
            <a:solidFill>
              <a:srgbClr val="BE20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59" name="Freeform: Shape 889">
              <a:extLst>
                <a:ext uri="{FF2B5EF4-FFF2-40B4-BE49-F238E27FC236}">
                  <a16:creationId xmlns:a16="http://schemas.microsoft.com/office/drawing/2014/main" id="{C9319836-172D-CE06-43BD-D47A7A2281AE}"/>
                </a:ext>
              </a:extLst>
            </p:cNvPr>
            <p:cNvSpPr/>
            <p:nvPr/>
          </p:nvSpPr>
          <p:spPr>
            <a:xfrm>
              <a:off x="8851950" y="1611207"/>
              <a:ext cx="151209" cy="340219"/>
            </a:xfrm>
            <a:custGeom>
              <a:avLst/>
              <a:gdLst>
                <a:gd name="connsiteX0" fmla="*/ 74000 w 84848"/>
                <a:gd name="connsiteY0" fmla="*/ 21382 h 190908"/>
                <a:gd name="connsiteX1" fmla="*/ 58218 w 84848"/>
                <a:gd name="connsiteY1" fmla="*/ 15909 h 190908"/>
                <a:gd name="connsiteX2" fmla="*/ 34546 w 84848"/>
                <a:gd name="connsiteY2" fmla="*/ 54918 h 190908"/>
                <a:gd name="connsiteX3" fmla="*/ 17788 w 84848"/>
                <a:gd name="connsiteY3" fmla="*/ 144284 h 190908"/>
                <a:gd name="connsiteX4" fmla="*/ 22943 w 84848"/>
                <a:gd name="connsiteY4" fmla="*/ 170163 h 190908"/>
                <a:gd name="connsiteX5" fmla="*/ 33294 w 84848"/>
                <a:gd name="connsiteY5" fmla="*/ 179242 h 190908"/>
                <a:gd name="connsiteX6" fmla="*/ 32340 w 84848"/>
                <a:gd name="connsiteY6" fmla="*/ 128142 h 190908"/>
                <a:gd name="connsiteX7" fmla="*/ 51473 w 84848"/>
                <a:gd name="connsiteY7" fmla="*/ 64972 h 190908"/>
                <a:gd name="connsiteX8" fmla="*/ 74000 w 84848"/>
                <a:gd name="connsiteY8" fmla="*/ 21382 h 19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848" h="190908">
                  <a:moveTo>
                    <a:pt x="74000" y="21382"/>
                  </a:moveTo>
                  <a:lnTo>
                    <a:pt x="58218" y="15909"/>
                  </a:lnTo>
                  <a:cubicBezTo>
                    <a:pt x="58218" y="15909"/>
                    <a:pt x="40973" y="34533"/>
                    <a:pt x="34546" y="54918"/>
                  </a:cubicBezTo>
                  <a:cubicBezTo>
                    <a:pt x="28119" y="75303"/>
                    <a:pt x="21076" y="125618"/>
                    <a:pt x="17788" y="144284"/>
                  </a:cubicBezTo>
                  <a:cubicBezTo>
                    <a:pt x="14501" y="162908"/>
                    <a:pt x="15116" y="162908"/>
                    <a:pt x="22943" y="170163"/>
                  </a:cubicBezTo>
                  <a:cubicBezTo>
                    <a:pt x="30791" y="177333"/>
                    <a:pt x="33294" y="179242"/>
                    <a:pt x="33294" y="179242"/>
                  </a:cubicBezTo>
                  <a:cubicBezTo>
                    <a:pt x="33294" y="179242"/>
                    <a:pt x="32340" y="138939"/>
                    <a:pt x="32340" y="128142"/>
                  </a:cubicBezTo>
                  <a:cubicBezTo>
                    <a:pt x="32340" y="117324"/>
                    <a:pt x="42437" y="89578"/>
                    <a:pt x="51473" y="64972"/>
                  </a:cubicBezTo>
                  <a:cubicBezTo>
                    <a:pt x="60403" y="40685"/>
                    <a:pt x="74000" y="21382"/>
                    <a:pt x="74000" y="21382"/>
                  </a:cubicBez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0" name="Freeform: Shape 890">
              <a:extLst>
                <a:ext uri="{FF2B5EF4-FFF2-40B4-BE49-F238E27FC236}">
                  <a16:creationId xmlns:a16="http://schemas.microsoft.com/office/drawing/2014/main" id="{6925364B-EA55-9806-0FB8-6247B1FBE280}"/>
                </a:ext>
              </a:extLst>
            </p:cNvPr>
            <p:cNvSpPr/>
            <p:nvPr/>
          </p:nvSpPr>
          <p:spPr>
            <a:xfrm>
              <a:off x="8947460" y="1630825"/>
              <a:ext cx="151209" cy="340219"/>
            </a:xfrm>
            <a:custGeom>
              <a:avLst/>
              <a:gdLst>
                <a:gd name="connsiteX0" fmla="*/ 50336 w 84848"/>
                <a:gd name="connsiteY0" fmla="*/ 15909 h 190908"/>
                <a:gd name="connsiteX1" fmla="*/ 30757 w 84848"/>
                <a:gd name="connsiteY1" fmla="*/ 67454 h 190908"/>
                <a:gd name="connsiteX2" fmla="*/ 16715 w 84848"/>
                <a:gd name="connsiteY2" fmla="*/ 163396 h 190908"/>
                <a:gd name="connsiteX3" fmla="*/ 15909 w 84848"/>
                <a:gd name="connsiteY3" fmla="*/ 172984 h 190908"/>
                <a:gd name="connsiteX4" fmla="*/ 35572 w 84848"/>
                <a:gd name="connsiteY4" fmla="*/ 179687 h 190908"/>
                <a:gd name="connsiteX5" fmla="*/ 72778 w 84848"/>
                <a:gd name="connsiteY5" fmla="*/ 168233 h 190908"/>
                <a:gd name="connsiteX6" fmla="*/ 69427 w 84848"/>
                <a:gd name="connsiteY6" fmla="*/ 108181 h 190908"/>
                <a:gd name="connsiteX7" fmla="*/ 78209 w 84848"/>
                <a:gd name="connsiteY7" fmla="*/ 52776 h 190908"/>
                <a:gd name="connsiteX8" fmla="*/ 76130 w 84848"/>
                <a:gd name="connsiteY8" fmla="*/ 29803 h 190908"/>
                <a:gd name="connsiteX9" fmla="*/ 50336 w 84848"/>
                <a:gd name="connsiteY9" fmla="*/ 15909 h 19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848" h="190908">
                  <a:moveTo>
                    <a:pt x="50336" y="15909"/>
                  </a:moveTo>
                  <a:cubicBezTo>
                    <a:pt x="50336" y="15909"/>
                    <a:pt x="36803" y="40260"/>
                    <a:pt x="30757" y="67454"/>
                  </a:cubicBezTo>
                  <a:cubicBezTo>
                    <a:pt x="24691" y="94627"/>
                    <a:pt x="17500" y="153766"/>
                    <a:pt x="16715" y="163396"/>
                  </a:cubicBezTo>
                  <a:cubicBezTo>
                    <a:pt x="15909" y="172984"/>
                    <a:pt x="15909" y="172984"/>
                    <a:pt x="15909" y="172984"/>
                  </a:cubicBezTo>
                  <a:cubicBezTo>
                    <a:pt x="15909" y="172984"/>
                    <a:pt x="21573" y="180111"/>
                    <a:pt x="35572" y="179687"/>
                  </a:cubicBezTo>
                  <a:cubicBezTo>
                    <a:pt x="49572" y="179263"/>
                    <a:pt x="72778" y="168233"/>
                    <a:pt x="72778" y="168233"/>
                  </a:cubicBezTo>
                  <a:cubicBezTo>
                    <a:pt x="72778" y="168233"/>
                    <a:pt x="68812" y="124281"/>
                    <a:pt x="69427" y="108181"/>
                  </a:cubicBezTo>
                  <a:cubicBezTo>
                    <a:pt x="70063" y="92081"/>
                    <a:pt x="77827" y="55300"/>
                    <a:pt x="78209" y="52776"/>
                  </a:cubicBezTo>
                  <a:cubicBezTo>
                    <a:pt x="78633" y="50272"/>
                    <a:pt x="80924" y="36930"/>
                    <a:pt x="76130" y="29803"/>
                  </a:cubicBezTo>
                  <a:cubicBezTo>
                    <a:pt x="71315" y="22697"/>
                    <a:pt x="50336" y="15909"/>
                    <a:pt x="50336" y="15909"/>
                  </a:cubicBez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1" name="Freeform: Shape 891">
              <a:extLst>
                <a:ext uri="{FF2B5EF4-FFF2-40B4-BE49-F238E27FC236}">
                  <a16:creationId xmlns:a16="http://schemas.microsoft.com/office/drawing/2014/main" id="{1C981A07-3328-EFC5-38A0-D52EF1CF91C0}"/>
                </a:ext>
              </a:extLst>
            </p:cNvPr>
            <p:cNvSpPr/>
            <p:nvPr/>
          </p:nvSpPr>
          <p:spPr>
            <a:xfrm>
              <a:off x="8889435" y="1619031"/>
              <a:ext cx="113406" cy="189010"/>
            </a:xfrm>
            <a:custGeom>
              <a:avLst/>
              <a:gdLst>
                <a:gd name="connsiteX0" fmla="*/ 48470 w 63636"/>
                <a:gd name="connsiteY0" fmla="*/ 15909 h 106060"/>
                <a:gd name="connsiteX1" fmla="*/ 26536 w 63636"/>
                <a:gd name="connsiteY1" fmla="*/ 43463 h 106060"/>
                <a:gd name="connsiteX2" fmla="*/ 29018 w 63636"/>
                <a:gd name="connsiteY2" fmla="*/ 49169 h 106060"/>
                <a:gd name="connsiteX3" fmla="*/ 22654 w 63636"/>
                <a:gd name="connsiteY3" fmla="*/ 53369 h 106060"/>
                <a:gd name="connsiteX4" fmla="*/ 15909 w 63636"/>
                <a:gd name="connsiteY4" fmla="*/ 102412 h 106060"/>
                <a:gd name="connsiteX5" fmla="*/ 39179 w 63636"/>
                <a:gd name="connsiteY5" fmla="*/ 40642 h 106060"/>
                <a:gd name="connsiteX6" fmla="*/ 52966 w 63636"/>
                <a:gd name="connsiteY6" fmla="*/ 16991 h 106060"/>
                <a:gd name="connsiteX7" fmla="*/ 48470 w 63636"/>
                <a:gd name="connsiteY7" fmla="*/ 15909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106060">
                  <a:moveTo>
                    <a:pt x="48470" y="15909"/>
                  </a:moveTo>
                  <a:lnTo>
                    <a:pt x="26536" y="43463"/>
                  </a:lnTo>
                  <a:lnTo>
                    <a:pt x="29018" y="49169"/>
                  </a:lnTo>
                  <a:lnTo>
                    <a:pt x="22654" y="53369"/>
                  </a:lnTo>
                  <a:lnTo>
                    <a:pt x="15909" y="102412"/>
                  </a:lnTo>
                  <a:cubicBezTo>
                    <a:pt x="15909" y="102412"/>
                    <a:pt x="36103" y="46476"/>
                    <a:pt x="39179" y="40642"/>
                  </a:cubicBezTo>
                  <a:cubicBezTo>
                    <a:pt x="42233" y="34788"/>
                    <a:pt x="52966" y="16991"/>
                    <a:pt x="52966" y="16991"/>
                  </a:cubicBezTo>
                  <a:lnTo>
                    <a:pt x="48470" y="15909"/>
                  </a:lnTo>
                  <a:close/>
                </a:path>
              </a:pathLst>
            </a:custGeom>
            <a:solidFill>
              <a:srgbClr val="406B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2" name="Freeform: Shape 892">
              <a:extLst>
                <a:ext uri="{FF2B5EF4-FFF2-40B4-BE49-F238E27FC236}">
                  <a16:creationId xmlns:a16="http://schemas.microsoft.com/office/drawing/2014/main" id="{2209692D-AF03-B1D8-F0DD-EE7CBFC59BD3}"/>
                </a:ext>
              </a:extLst>
            </p:cNvPr>
            <p:cNvSpPr/>
            <p:nvPr/>
          </p:nvSpPr>
          <p:spPr>
            <a:xfrm>
              <a:off x="8961751" y="1630825"/>
              <a:ext cx="113406" cy="189010"/>
            </a:xfrm>
            <a:custGeom>
              <a:avLst/>
              <a:gdLst>
                <a:gd name="connsiteX0" fmla="*/ 42318 w 63636"/>
                <a:gd name="connsiteY0" fmla="*/ 15909 h 106060"/>
                <a:gd name="connsiteX1" fmla="*/ 22739 w 63636"/>
                <a:gd name="connsiteY1" fmla="*/ 67454 h 106060"/>
                <a:gd name="connsiteX2" fmla="*/ 15909 w 63636"/>
                <a:gd name="connsiteY2" fmla="*/ 106824 h 106060"/>
                <a:gd name="connsiteX3" fmla="*/ 38839 w 63636"/>
                <a:gd name="connsiteY3" fmla="*/ 61388 h 106060"/>
                <a:gd name="connsiteX4" fmla="*/ 35891 w 63636"/>
                <a:gd name="connsiteY4" fmla="*/ 56594 h 106060"/>
                <a:gd name="connsiteX5" fmla="*/ 42318 w 63636"/>
                <a:gd name="connsiteY5" fmla="*/ 52585 h 106060"/>
                <a:gd name="connsiteX6" fmla="*/ 48024 w 63636"/>
                <a:gd name="connsiteY6" fmla="*/ 18030 h 106060"/>
                <a:gd name="connsiteX7" fmla="*/ 42318 w 63636"/>
                <a:gd name="connsiteY7" fmla="*/ 15909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636" h="106060">
                  <a:moveTo>
                    <a:pt x="42318" y="15909"/>
                  </a:moveTo>
                  <a:cubicBezTo>
                    <a:pt x="42318" y="15909"/>
                    <a:pt x="26727" y="46370"/>
                    <a:pt x="22739" y="67454"/>
                  </a:cubicBezTo>
                  <a:cubicBezTo>
                    <a:pt x="18751" y="88560"/>
                    <a:pt x="15909" y="106824"/>
                    <a:pt x="15909" y="106824"/>
                  </a:cubicBezTo>
                  <a:lnTo>
                    <a:pt x="38839" y="61388"/>
                  </a:lnTo>
                  <a:lnTo>
                    <a:pt x="35891" y="56594"/>
                  </a:lnTo>
                  <a:lnTo>
                    <a:pt x="42318" y="52585"/>
                  </a:lnTo>
                  <a:lnTo>
                    <a:pt x="48024" y="18030"/>
                  </a:lnTo>
                  <a:lnTo>
                    <a:pt x="42318" y="15909"/>
                  </a:lnTo>
                  <a:close/>
                </a:path>
              </a:pathLst>
            </a:custGeom>
            <a:solidFill>
              <a:srgbClr val="406B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3" name="Freeform: Shape 893">
              <a:extLst>
                <a:ext uri="{FF2B5EF4-FFF2-40B4-BE49-F238E27FC236}">
                  <a16:creationId xmlns:a16="http://schemas.microsoft.com/office/drawing/2014/main" id="{DE3D5FDA-5110-50DD-1B99-10F991F7BF50}"/>
                </a:ext>
              </a:extLst>
            </p:cNvPr>
            <p:cNvSpPr/>
            <p:nvPr/>
          </p:nvSpPr>
          <p:spPr>
            <a:xfrm>
              <a:off x="8924213" y="1350900"/>
              <a:ext cx="189010" cy="75604"/>
            </a:xfrm>
            <a:custGeom>
              <a:avLst/>
              <a:gdLst>
                <a:gd name="connsiteX0" fmla="*/ 70742 w 106060"/>
                <a:gd name="connsiteY0" fmla="*/ 19706 h 42424"/>
                <a:gd name="connsiteX1" fmla="*/ 91636 w 106060"/>
                <a:gd name="connsiteY1" fmla="*/ 15909 h 42424"/>
                <a:gd name="connsiteX2" fmla="*/ 36782 w 106060"/>
                <a:gd name="connsiteY2" fmla="*/ 33260 h 42424"/>
                <a:gd name="connsiteX3" fmla="*/ 15909 w 106060"/>
                <a:gd name="connsiteY3" fmla="*/ 37057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060" h="42424">
                  <a:moveTo>
                    <a:pt x="70742" y="19706"/>
                  </a:moveTo>
                  <a:lnTo>
                    <a:pt x="91636" y="15909"/>
                  </a:lnTo>
                  <a:lnTo>
                    <a:pt x="36782" y="33260"/>
                  </a:lnTo>
                  <a:lnTo>
                    <a:pt x="15909" y="37057"/>
                  </a:lnTo>
                  <a:close/>
                </a:path>
              </a:pathLst>
            </a:custGeom>
            <a:solidFill>
              <a:srgbClr val="6A45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4" name="Freeform: Shape 894">
              <a:extLst>
                <a:ext uri="{FF2B5EF4-FFF2-40B4-BE49-F238E27FC236}">
                  <a16:creationId xmlns:a16="http://schemas.microsoft.com/office/drawing/2014/main" id="{6621F9BE-532F-57EE-CA53-4C7845BA820E}"/>
                </a:ext>
              </a:extLst>
            </p:cNvPr>
            <p:cNvSpPr/>
            <p:nvPr/>
          </p:nvSpPr>
          <p:spPr>
            <a:xfrm>
              <a:off x="8895483" y="1154065"/>
              <a:ext cx="189010" cy="75604"/>
            </a:xfrm>
            <a:custGeom>
              <a:avLst/>
              <a:gdLst>
                <a:gd name="connsiteX0" fmla="*/ 15909 w 106060"/>
                <a:gd name="connsiteY0" fmla="*/ 19706 h 42424"/>
                <a:gd name="connsiteX1" fmla="*/ 36782 w 106060"/>
                <a:gd name="connsiteY1" fmla="*/ 15909 h 42424"/>
                <a:gd name="connsiteX2" fmla="*/ 94669 w 106060"/>
                <a:gd name="connsiteY2" fmla="*/ 22845 h 42424"/>
                <a:gd name="connsiteX3" fmla="*/ 73775 w 106060"/>
                <a:gd name="connsiteY3" fmla="*/ 26642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060" h="42424">
                  <a:moveTo>
                    <a:pt x="15909" y="19706"/>
                  </a:moveTo>
                  <a:lnTo>
                    <a:pt x="36782" y="15909"/>
                  </a:lnTo>
                  <a:lnTo>
                    <a:pt x="94669" y="22845"/>
                  </a:lnTo>
                  <a:lnTo>
                    <a:pt x="73775" y="26642"/>
                  </a:lnTo>
                  <a:close/>
                </a:path>
              </a:pathLst>
            </a:custGeom>
            <a:solidFill>
              <a:srgbClr val="85562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5" name="Freeform: Shape 895">
              <a:extLst>
                <a:ext uri="{FF2B5EF4-FFF2-40B4-BE49-F238E27FC236}">
                  <a16:creationId xmlns:a16="http://schemas.microsoft.com/office/drawing/2014/main" id="{DAA88891-B744-13AB-4141-75D4D91BB809}"/>
                </a:ext>
              </a:extLst>
            </p:cNvPr>
            <p:cNvSpPr/>
            <p:nvPr/>
          </p:nvSpPr>
          <p:spPr>
            <a:xfrm>
              <a:off x="9103206" y="1307768"/>
              <a:ext cx="75604" cy="189010"/>
            </a:xfrm>
            <a:custGeom>
              <a:avLst/>
              <a:gdLst>
                <a:gd name="connsiteX0" fmla="*/ 15909 w 42424"/>
                <a:gd name="connsiteY0" fmla="*/ 19706 h 106060"/>
                <a:gd name="connsiteX1" fmla="*/ 36782 w 42424"/>
                <a:gd name="connsiteY1" fmla="*/ 15909 h 106060"/>
                <a:gd name="connsiteX2" fmla="*/ 37651 w 42424"/>
                <a:gd name="connsiteY2" fmla="*/ 88094 h 106060"/>
                <a:gd name="connsiteX3" fmla="*/ 16779 w 42424"/>
                <a:gd name="connsiteY3" fmla="*/ 91890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24" h="106060">
                  <a:moveTo>
                    <a:pt x="15909" y="19706"/>
                  </a:moveTo>
                  <a:lnTo>
                    <a:pt x="36782" y="15909"/>
                  </a:lnTo>
                  <a:lnTo>
                    <a:pt x="37651" y="88094"/>
                  </a:lnTo>
                  <a:lnTo>
                    <a:pt x="16779" y="91890"/>
                  </a:lnTo>
                  <a:close/>
                </a:path>
              </a:pathLst>
            </a:custGeom>
            <a:solidFill>
              <a:srgbClr val="BB77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7" name="Freeform: Shape 896">
              <a:extLst>
                <a:ext uri="{FF2B5EF4-FFF2-40B4-BE49-F238E27FC236}">
                  <a16:creationId xmlns:a16="http://schemas.microsoft.com/office/drawing/2014/main" id="{0808E9EC-5C0D-A5A4-887A-E080680EB9CB}"/>
                </a:ext>
              </a:extLst>
            </p:cNvPr>
            <p:cNvSpPr/>
            <p:nvPr/>
          </p:nvSpPr>
          <p:spPr>
            <a:xfrm>
              <a:off x="9058223" y="1067686"/>
              <a:ext cx="113406" cy="189010"/>
            </a:xfrm>
            <a:custGeom>
              <a:avLst/>
              <a:gdLst>
                <a:gd name="connsiteX0" fmla="*/ 15909 w 63636"/>
                <a:gd name="connsiteY0" fmla="*/ 19706 h 106060"/>
                <a:gd name="connsiteX1" fmla="*/ 36782 w 63636"/>
                <a:gd name="connsiteY1" fmla="*/ 15909 h 106060"/>
                <a:gd name="connsiteX2" fmla="*/ 54006 w 63636"/>
                <a:gd name="connsiteY2" fmla="*/ 86630 h 106060"/>
                <a:gd name="connsiteX3" fmla="*/ 33112 w 63636"/>
                <a:gd name="connsiteY3" fmla="*/ 90406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636" h="106060">
                  <a:moveTo>
                    <a:pt x="15909" y="19706"/>
                  </a:moveTo>
                  <a:lnTo>
                    <a:pt x="36782" y="15909"/>
                  </a:lnTo>
                  <a:lnTo>
                    <a:pt x="54006" y="86630"/>
                  </a:lnTo>
                  <a:lnTo>
                    <a:pt x="33112" y="90406"/>
                  </a:lnTo>
                  <a:close/>
                </a:path>
              </a:pathLst>
            </a:custGeom>
            <a:solidFill>
              <a:srgbClr val="C9802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8" name="Freeform: Shape 897">
              <a:extLst>
                <a:ext uri="{FF2B5EF4-FFF2-40B4-BE49-F238E27FC236}">
                  <a16:creationId xmlns:a16="http://schemas.microsoft.com/office/drawing/2014/main" id="{75C26C42-84B4-D6BC-D340-0B4DC02935D6}"/>
                </a:ext>
              </a:extLst>
            </p:cNvPr>
            <p:cNvSpPr/>
            <p:nvPr/>
          </p:nvSpPr>
          <p:spPr>
            <a:xfrm>
              <a:off x="9103206" y="1242333"/>
              <a:ext cx="151209" cy="113406"/>
            </a:xfrm>
            <a:custGeom>
              <a:avLst/>
              <a:gdLst>
                <a:gd name="connsiteX0" fmla="*/ 63212 w 84848"/>
                <a:gd name="connsiteY0" fmla="*/ 19727 h 63636"/>
                <a:gd name="connsiteX1" fmla="*/ 84106 w 84848"/>
                <a:gd name="connsiteY1" fmla="*/ 15909 h 63636"/>
                <a:gd name="connsiteX2" fmla="*/ 36782 w 84848"/>
                <a:gd name="connsiteY2" fmla="*/ 52627 h 63636"/>
                <a:gd name="connsiteX3" fmla="*/ 15909 w 84848"/>
                <a:gd name="connsiteY3" fmla="*/ 56424 h 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48" h="63636">
                  <a:moveTo>
                    <a:pt x="63212" y="19727"/>
                  </a:moveTo>
                  <a:lnTo>
                    <a:pt x="84106" y="15909"/>
                  </a:lnTo>
                  <a:lnTo>
                    <a:pt x="36782" y="52627"/>
                  </a:lnTo>
                  <a:lnTo>
                    <a:pt x="15909" y="56424"/>
                  </a:lnTo>
                  <a:close/>
                </a:path>
              </a:pathLst>
            </a:custGeom>
            <a:solidFill>
              <a:srgbClr val="6D47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29" name="Freeform: Shape 898">
              <a:extLst>
                <a:ext uri="{FF2B5EF4-FFF2-40B4-BE49-F238E27FC236}">
                  <a16:creationId xmlns:a16="http://schemas.microsoft.com/office/drawing/2014/main" id="{A6D72A92-72F6-3DF5-41D5-51A757C6F5FD}"/>
                </a:ext>
              </a:extLst>
            </p:cNvPr>
            <p:cNvSpPr/>
            <p:nvPr/>
          </p:nvSpPr>
          <p:spPr>
            <a:xfrm>
              <a:off x="9088880" y="1193718"/>
              <a:ext cx="189010" cy="75604"/>
            </a:xfrm>
            <a:custGeom>
              <a:avLst/>
              <a:gdLst>
                <a:gd name="connsiteX0" fmla="*/ 15909 w 106060"/>
                <a:gd name="connsiteY0" fmla="*/ 19685 h 42424"/>
                <a:gd name="connsiteX1" fmla="*/ 36803 w 106060"/>
                <a:gd name="connsiteY1" fmla="*/ 15909 h 42424"/>
                <a:gd name="connsiteX2" fmla="*/ 92145 w 106060"/>
                <a:gd name="connsiteY2" fmla="*/ 43188 h 42424"/>
                <a:gd name="connsiteX3" fmla="*/ 71251 w 106060"/>
                <a:gd name="connsiteY3" fmla="*/ 47006 h 4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060" h="42424">
                  <a:moveTo>
                    <a:pt x="15909" y="19685"/>
                  </a:moveTo>
                  <a:lnTo>
                    <a:pt x="36803" y="15909"/>
                  </a:lnTo>
                  <a:lnTo>
                    <a:pt x="92145" y="43188"/>
                  </a:lnTo>
                  <a:lnTo>
                    <a:pt x="71251" y="47006"/>
                  </a:lnTo>
                  <a:close/>
                </a:path>
              </a:pathLst>
            </a:custGeom>
            <a:solidFill>
              <a:srgbClr val="A56A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30" name="Freeform: Shape 899">
              <a:extLst>
                <a:ext uri="{FF2B5EF4-FFF2-40B4-BE49-F238E27FC236}">
                  <a16:creationId xmlns:a16="http://schemas.microsoft.com/office/drawing/2014/main" id="{816F44D0-F0C8-7DD3-1F2A-DA5D1A5CC766}"/>
                </a:ext>
              </a:extLst>
            </p:cNvPr>
            <p:cNvSpPr/>
            <p:nvPr/>
          </p:nvSpPr>
          <p:spPr>
            <a:xfrm>
              <a:off x="8895483" y="1074453"/>
              <a:ext cx="340219" cy="415823"/>
            </a:xfrm>
            <a:custGeom>
              <a:avLst/>
              <a:gdLst>
                <a:gd name="connsiteX0" fmla="*/ 107227 w 190908"/>
                <a:gd name="connsiteY0" fmla="*/ 15909 h 233332"/>
                <a:gd name="connsiteX1" fmla="*/ 124430 w 190908"/>
                <a:gd name="connsiteY1" fmla="*/ 86609 h 233332"/>
                <a:gd name="connsiteX2" fmla="*/ 179772 w 190908"/>
                <a:gd name="connsiteY2" fmla="*/ 113930 h 233332"/>
                <a:gd name="connsiteX3" fmla="*/ 132469 w 190908"/>
                <a:gd name="connsiteY3" fmla="*/ 150627 h 233332"/>
                <a:gd name="connsiteX4" fmla="*/ 133339 w 190908"/>
                <a:gd name="connsiteY4" fmla="*/ 222811 h 233332"/>
                <a:gd name="connsiteX5" fmla="*/ 86863 w 190908"/>
                <a:gd name="connsiteY5" fmla="*/ 174830 h 233332"/>
                <a:gd name="connsiteX6" fmla="*/ 32030 w 190908"/>
                <a:gd name="connsiteY6" fmla="*/ 192181 h 233332"/>
                <a:gd name="connsiteX7" fmla="*/ 50548 w 190908"/>
                <a:gd name="connsiteY7" fmla="*/ 125872 h 233332"/>
                <a:gd name="connsiteX8" fmla="*/ 15909 w 190908"/>
                <a:gd name="connsiteY8" fmla="*/ 64378 h 233332"/>
                <a:gd name="connsiteX9" fmla="*/ 73775 w 190908"/>
                <a:gd name="connsiteY9" fmla="*/ 71315 h 23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908" h="233332">
                  <a:moveTo>
                    <a:pt x="107227" y="15909"/>
                  </a:moveTo>
                  <a:lnTo>
                    <a:pt x="124430" y="86609"/>
                  </a:lnTo>
                  <a:lnTo>
                    <a:pt x="179772" y="113930"/>
                  </a:lnTo>
                  <a:lnTo>
                    <a:pt x="132469" y="150627"/>
                  </a:lnTo>
                  <a:lnTo>
                    <a:pt x="133339" y="222811"/>
                  </a:lnTo>
                  <a:lnTo>
                    <a:pt x="86863" y="174830"/>
                  </a:lnTo>
                  <a:lnTo>
                    <a:pt x="32030" y="192181"/>
                  </a:lnTo>
                  <a:lnTo>
                    <a:pt x="50548" y="125872"/>
                  </a:lnTo>
                  <a:lnTo>
                    <a:pt x="15909" y="64378"/>
                  </a:lnTo>
                  <a:lnTo>
                    <a:pt x="73775" y="71315"/>
                  </a:lnTo>
                  <a:close/>
                </a:path>
              </a:pathLst>
            </a:custGeom>
            <a:solidFill>
              <a:srgbClr val="FBB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31" name="Freeform: Shape 900">
              <a:extLst>
                <a:ext uri="{FF2B5EF4-FFF2-40B4-BE49-F238E27FC236}">
                  <a16:creationId xmlns:a16="http://schemas.microsoft.com/office/drawing/2014/main" id="{1BB991B9-247C-1AC1-1D5D-FC0C78E28B18}"/>
                </a:ext>
              </a:extLst>
            </p:cNvPr>
            <p:cNvSpPr/>
            <p:nvPr/>
          </p:nvSpPr>
          <p:spPr>
            <a:xfrm>
              <a:off x="9168945" y="1501119"/>
              <a:ext cx="75604" cy="151209"/>
            </a:xfrm>
            <a:custGeom>
              <a:avLst/>
              <a:gdLst>
                <a:gd name="connsiteX0" fmla="*/ 17924 w 42424"/>
                <a:gd name="connsiteY0" fmla="*/ 63513 h 84848"/>
                <a:gd name="connsiteX1" fmla="*/ 21000 w 42424"/>
                <a:gd name="connsiteY1" fmla="*/ 51125 h 84848"/>
                <a:gd name="connsiteX2" fmla="*/ 15909 w 42424"/>
                <a:gd name="connsiteY2" fmla="*/ 43213 h 84848"/>
                <a:gd name="connsiteX3" fmla="*/ 15909 w 42424"/>
                <a:gd name="connsiteY3" fmla="*/ 33243 h 84848"/>
                <a:gd name="connsiteX4" fmla="*/ 19897 w 42424"/>
                <a:gd name="connsiteY4" fmla="*/ 27813 h 84848"/>
                <a:gd name="connsiteX5" fmla="*/ 22803 w 42424"/>
                <a:gd name="connsiteY5" fmla="*/ 16061 h 84848"/>
                <a:gd name="connsiteX6" fmla="*/ 40982 w 42424"/>
                <a:gd name="connsiteY6" fmla="*/ 25352 h 84848"/>
                <a:gd name="connsiteX7" fmla="*/ 34767 w 42424"/>
                <a:gd name="connsiteY7" fmla="*/ 50679 h 84848"/>
                <a:gd name="connsiteX8" fmla="*/ 29845 w 42424"/>
                <a:gd name="connsiteY8" fmla="*/ 70364 h 84848"/>
                <a:gd name="connsiteX9" fmla="*/ 18264 w 42424"/>
                <a:gd name="connsiteY9" fmla="*/ 67522 h 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24" h="84848">
                  <a:moveTo>
                    <a:pt x="17924" y="63513"/>
                  </a:moveTo>
                  <a:lnTo>
                    <a:pt x="21000" y="51125"/>
                  </a:lnTo>
                  <a:lnTo>
                    <a:pt x="15909" y="43213"/>
                  </a:lnTo>
                  <a:lnTo>
                    <a:pt x="15909" y="33243"/>
                  </a:lnTo>
                  <a:cubicBezTo>
                    <a:pt x="16355" y="31122"/>
                    <a:pt x="19897" y="27813"/>
                    <a:pt x="19897" y="27813"/>
                  </a:cubicBezTo>
                  <a:lnTo>
                    <a:pt x="22803" y="16061"/>
                  </a:lnTo>
                  <a:cubicBezTo>
                    <a:pt x="22803" y="16061"/>
                    <a:pt x="40897" y="13961"/>
                    <a:pt x="40982" y="25352"/>
                  </a:cubicBezTo>
                  <a:cubicBezTo>
                    <a:pt x="41130" y="36722"/>
                    <a:pt x="42000" y="36955"/>
                    <a:pt x="34767" y="50679"/>
                  </a:cubicBezTo>
                  <a:cubicBezTo>
                    <a:pt x="27533" y="64404"/>
                    <a:pt x="29845" y="70364"/>
                    <a:pt x="29845" y="70364"/>
                  </a:cubicBezTo>
                  <a:lnTo>
                    <a:pt x="18264" y="67522"/>
                  </a:lnTo>
                </a:path>
              </a:pathLst>
            </a:custGeom>
            <a:solidFill>
              <a:srgbClr val="F3DC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32" name="Freeform: Shape 901">
              <a:extLst>
                <a:ext uri="{FF2B5EF4-FFF2-40B4-BE49-F238E27FC236}">
                  <a16:creationId xmlns:a16="http://schemas.microsoft.com/office/drawing/2014/main" id="{938B8AF2-6EB0-FF9B-2D2C-C3C1592ED018}"/>
                </a:ext>
              </a:extLst>
            </p:cNvPr>
            <p:cNvSpPr/>
            <p:nvPr/>
          </p:nvSpPr>
          <p:spPr>
            <a:xfrm>
              <a:off x="9006887" y="1563176"/>
              <a:ext cx="226813" cy="189010"/>
            </a:xfrm>
            <a:custGeom>
              <a:avLst/>
              <a:gdLst>
                <a:gd name="connsiteX0" fmla="*/ 28679 w 127272"/>
                <a:gd name="connsiteY0" fmla="*/ 63287 h 106060"/>
                <a:gd name="connsiteX1" fmla="*/ 72545 w 127272"/>
                <a:gd name="connsiteY1" fmla="*/ 67954 h 106060"/>
                <a:gd name="connsiteX2" fmla="*/ 79227 w 127272"/>
                <a:gd name="connsiteY2" fmla="*/ 69778 h 106060"/>
                <a:gd name="connsiteX3" fmla="*/ 109730 w 127272"/>
                <a:gd name="connsiteY3" fmla="*/ 16557 h 106060"/>
                <a:gd name="connsiteX4" fmla="*/ 130454 w 127272"/>
                <a:gd name="connsiteY4" fmla="*/ 22242 h 106060"/>
                <a:gd name="connsiteX5" fmla="*/ 99315 w 127272"/>
                <a:gd name="connsiteY5" fmla="*/ 93938 h 106060"/>
                <a:gd name="connsiteX6" fmla="*/ 15909 w 127272"/>
                <a:gd name="connsiteY6" fmla="*/ 109763 h 106060"/>
                <a:gd name="connsiteX7" fmla="*/ 28679 w 127272"/>
                <a:gd name="connsiteY7" fmla="*/ 63287 h 1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272" h="106060">
                  <a:moveTo>
                    <a:pt x="28679" y="63287"/>
                  </a:moveTo>
                  <a:lnTo>
                    <a:pt x="72545" y="67954"/>
                  </a:lnTo>
                  <a:lnTo>
                    <a:pt x="79227" y="69778"/>
                  </a:lnTo>
                  <a:lnTo>
                    <a:pt x="109730" y="16557"/>
                  </a:lnTo>
                  <a:cubicBezTo>
                    <a:pt x="109730" y="16557"/>
                    <a:pt x="132130" y="13078"/>
                    <a:pt x="130454" y="22242"/>
                  </a:cubicBezTo>
                  <a:cubicBezTo>
                    <a:pt x="128778" y="31405"/>
                    <a:pt x="99315" y="93938"/>
                    <a:pt x="99315" y="93938"/>
                  </a:cubicBezTo>
                  <a:lnTo>
                    <a:pt x="15909" y="109763"/>
                  </a:lnTo>
                  <a:lnTo>
                    <a:pt x="28679" y="63287"/>
                  </a:lnTo>
                  <a:close/>
                </a:path>
              </a:pathLst>
            </a:custGeom>
            <a:solidFill>
              <a:srgbClr val="204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8A19B0C4-3C1C-FA9F-A9F0-DC351F9B62FA}"/>
              </a:ext>
            </a:extLst>
          </p:cNvPr>
          <p:cNvGrpSpPr/>
          <p:nvPr/>
        </p:nvGrpSpPr>
        <p:grpSpPr>
          <a:xfrm>
            <a:off x="4515373" y="3709357"/>
            <a:ext cx="11776023" cy="783758"/>
            <a:chOff x="4270842" y="4876864"/>
            <a:chExt cx="13259044" cy="783758"/>
          </a:xfrm>
          <a:gradFill flip="none" rotWithShape="1">
            <a:gsLst>
              <a:gs pos="0">
                <a:srgbClr val="002060"/>
              </a:gs>
              <a:gs pos="36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BA81F45-0079-EE9B-3D36-F1E5D8828AA4}"/>
                </a:ext>
              </a:extLst>
            </p:cNvPr>
            <p:cNvSpPr/>
            <p:nvPr/>
          </p:nvSpPr>
          <p:spPr>
            <a:xfrm>
              <a:off x="4270842" y="5147003"/>
              <a:ext cx="12474597" cy="2168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Triângulo isósceles 16">
              <a:extLst>
                <a:ext uri="{FF2B5EF4-FFF2-40B4-BE49-F238E27FC236}">
                  <a16:creationId xmlns:a16="http://schemas.microsoft.com/office/drawing/2014/main" id="{9DEA081F-1F2A-4ADC-37F8-77424ED9B63F}"/>
                </a:ext>
              </a:extLst>
            </p:cNvPr>
            <p:cNvSpPr/>
            <p:nvPr/>
          </p:nvSpPr>
          <p:spPr>
            <a:xfrm rot="5400000">
              <a:off x="16696257" y="4826993"/>
              <a:ext cx="783758" cy="8835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C83D066-7D2E-73D3-588C-75821B3C8F5C}"/>
              </a:ext>
            </a:extLst>
          </p:cNvPr>
          <p:cNvSpPr txBox="1"/>
          <p:nvPr/>
        </p:nvSpPr>
        <p:spPr>
          <a:xfrm>
            <a:off x="5277612" y="1640585"/>
            <a:ext cx="107899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cliente de </a:t>
            </a:r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2026</a:t>
            </a:r>
            <a:r>
              <a:rPr lang="pt-BR" sz="4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não aceita experiências de </a:t>
            </a:r>
            <a:r>
              <a:rPr lang="pt-BR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2016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33" name="CaixaDeTexto 1032">
            <a:extLst>
              <a:ext uri="{FF2B5EF4-FFF2-40B4-BE49-F238E27FC236}">
                <a16:creationId xmlns:a16="http://schemas.microsoft.com/office/drawing/2014/main" id="{90EF64AD-54E5-61AE-6147-8DDD6CD6500D}"/>
              </a:ext>
            </a:extLst>
          </p:cNvPr>
          <p:cNvSpPr txBox="1"/>
          <p:nvPr/>
        </p:nvSpPr>
        <p:spPr>
          <a:xfrm>
            <a:off x="5692992" y="4438855"/>
            <a:ext cx="14589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2016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34" name="CaixaDeTexto 1033">
            <a:extLst>
              <a:ext uri="{FF2B5EF4-FFF2-40B4-BE49-F238E27FC236}">
                <a16:creationId xmlns:a16="http://schemas.microsoft.com/office/drawing/2014/main" id="{1FFC6798-60AC-4F58-E961-6D8EEC0A2546}"/>
              </a:ext>
            </a:extLst>
          </p:cNvPr>
          <p:cNvSpPr txBox="1"/>
          <p:nvPr/>
        </p:nvSpPr>
        <p:spPr>
          <a:xfrm>
            <a:off x="12105342" y="4438855"/>
            <a:ext cx="16784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2026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46" name="Retângulo 1045">
            <a:extLst>
              <a:ext uri="{FF2B5EF4-FFF2-40B4-BE49-F238E27FC236}">
                <a16:creationId xmlns:a16="http://schemas.microsoft.com/office/drawing/2014/main" id="{5176F097-5E0B-2BAA-0881-2B757F5E74DB}"/>
              </a:ext>
            </a:extLst>
          </p:cNvPr>
          <p:cNvSpPr/>
          <p:nvPr/>
        </p:nvSpPr>
        <p:spPr>
          <a:xfrm>
            <a:off x="6422462" y="4212308"/>
            <a:ext cx="45719" cy="37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0" name="Retângulo 1049">
            <a:extLst>
              <a:ext uri="{FF2B5EF4-FFF2-40B4-BE49-F238E27FC236}">
                <a16:creationId xmlns:a16="http://schemas.microsoft.com/office/drawing/2014/main" id="{DA44C20F-D9B0-DE27-1F0F-68C635FDC8E3}"/>
              </a:ext>
            </a:extLst>
          </p:cNvPr>
          <p:cNvSpPr/>
          <p:nvPr/>
        </p:nvSpPr>
        <p:spPr>
          <a:xfrm>
            <a:off x="12921706" y="4197068"/>
            <a:ext cx="45719" cy="37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6" name="CaixaDeTexto 1055">
            <a:extLst>
              <a:ext uri="{FF2B5EF4-FFF2-40B4-BE49-F238E27FC236}">
                <a16:creationId xmlns:a16="http://schemas.microsoft.com/office/drawing/2014/main" id="{0DB36A66-B172-0601-B311-0EA766360286}"/>
              </a:ext>
            </a:extLst>
          </p:cNvPr>
          <p:cNvSpPr txBox="1"/>
          <p:nvPr/>
        </p:nvSpPr>
        <p:spPr>
          <a:xfrm>
            <a:off x="4994602" y="3268224"/>
            <a:ext cx="28557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Atendimento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60" name="CaixaDeTexto 1059">
            <a:extLst>
              <a:ext uri="{FF2B5EF4-FFF2-40B4-BE49-F238E27FC236}">
                <a16:creationId xmlns:a16="http://schemas.microsoft.com/office/drawing/2014/main" id="{7D8539DD-3A1E-B9E4-F2FF-E4CADE1917C8}"/>
              </a:ext>
            </a:extLst>
          </p:cNvPr>
          <p:cNvSpPr txBox="1"/>
          <p:nvPr/>
        </p:nvSpPr>
        <p:spPr>
          <a:xfrm>
            <a:off x="11460864" y="3259651"/>
            <a:ext cx="28557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Experiência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68" name="CaixaDeTexto 1067">
            <a:extLst>
              <a:ext uri="{FF2B5EF4-FFF2-40B4-BE49-F238E27FC236}">
                <a16:creationId xmlns:a16="http://schemas.microsoft.com/office/drawing/2014/main" id="{F04F9B75-6110-2C69-5503-4F6CDDE5F0CB}"/>
              </a:ext>
            </a:extLst>
          </p:cNvPr>
          <p:cNvSpPr txBox="1"/>
          <p:nvPr/>
        </p:nvSpPr>
        <p:spPr>
          <a:xfrm>
            <a:off x="9714376" y="8163342"/>
            <a:ext cx="82618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O padrão de comparação do cliente não é outra concessionária.</a:t>
            </a:r>
          </a:p>
          <a:p>
            <a:pPr algn="ctr"/>
            <a:r>
              <a:rPr lang="pt-BR" sz="36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É a melhor experiência que ele já teve.</a:t>
            </a:r>
          </a:p>
        </p:txBody>
      </p:sp>
      <p:sp>
        <p:nvSpPr>
          <p:cNvPr id="1095" name="Shape 0">
            <a:extLst>
              <a:ext uri="{FF2B5EF4-FFF2-40B4-BE49-F238E27FC236}">
                <a16:creationId xmlns:a16="http://schemas.microsoft.com/office/drawing/2014/main" id="{FE8BA59E-6B21-69A0-C4EC-9D86B26A37CC}"/>
              </a:ext>
            </a:extLst>
          </p:cNvPr>
          <p:cNvSpPr/>
          <p:nvPr/>
        </p:nvSpPr>
        <p:spPr>
          <a:xfrm>
            <a:off x="14751050" y="-1018750"/>
            <a:ext cx="4165600" cy="4165600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7" name="Shape 0">
            <a:extLst>
              <a:ext uri="{FF2B5EF4-FFF2-40B4-BE49-F238E27FC236}">
                <a16:creationId xmlns:a16="http://schemas.microsoft.com/office/drawing/2014/main" id="{25D717F7-8C1B-11FB-DE88-A3F560E43B12}"/>
              </a:ext>
            </a:extLst>
          </p:cNvPr>
          <p:cNvSpPr/>
          <p:nvPr/>
        </p:nvSpPr>
        <p:spPr>
          <a:xfrm>
            <a:off x="15382013" y="-490962"/>
            <a:ext cx="3040797" cy="3040797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4F398C50-8F86-B4A7-98DD-ED47CF97580C}"/>
              </a:ext>
            </a:extLst>
          </p:cNvPr>
          <p:cNvSpPr/>
          <p:nvPr/>
        </p:nvSpPr>
        <p:spPr>
          <a:xfrm>
            <a:off x="4221044" y="5018471"/>
            <a:ext cx="44028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Esperar na loja, esperar no telefone, esperar o retorno que não vem. O cliente se adapta ao processo da concessionária.</a:t>
            </a:r>
            <a:endParaRPr lang="en-US" sz="1600" dirty="0">
              <a:solidFill>
                <a:schemeClr val="bg1"/>
              </a:solidFill>
              <a:latin typeface="Grandview" panose="020B0502040204020203" pitchFamily="34" charset="0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EE646181-6ABC-6059-E009-6340F282687C}"/>
              </a:ext>
            </a:extLst>
          </p:cNvPr>
          <p:cNvSpPr/>
          <p:nvPr/>
        </p:nvSpPr>
        <p:spPr>
          <a:xfrm>
            <a:off x="10766007" y="4982407"/>
            <a:ext cx="44028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chemeClr val="bg1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Resposta em minutos, oferta certa, crédito transparente, a loja que lembra dele. O processo se adapta ao </a:t>
            </a:r>
            <a:r>
              <a:rPr lang="en-US" sz="1600" dirty="0" err="1">
                <a:solidFill>
                  <a:schemeClr val="bg1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600" dirty="0">
                <a:solidFill>
                  <a:schemeClr val="bg1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7B051D-BA3F-9946-A63E-223B7B89878B}"/>
              </a:ext>
            </a:extLst>
          </p:cNvPr>
          <p:cNvSpPr txBox="1"/>
          <p:nvPr/>
        </p:nvSpPr>
        <p:spPr>
          <a:xfrm>
            <a:off x="298009" y="106218"/>
            <a:ext cx="107899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O CONTEXTO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BJPseudoFooter">
            <a:extLst>
              <a:ext uri="{FF2B5EF4-FFF2-40B4-BE49-F238E27FC236}">
                <a16:creationId xmlns:a16="http://schemas.microsoft.com/office/drawing/2014/main" id="{248899E9-4B98-E583-395A-AB06102A8AE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268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7" name="Group 17">
            <a:extLst>
              <a:ext uri="{FF2B5EF4-FFF2-40B4-BE49-F238E27FC236}">
                <a16:creationId xmlns:a16="http://schemas.microsoft.com/office/drawing/2014/main" id="{8880F247-5DA2-A653-35BF-A2322BDC9360}"/>
              </a:ext>
            </a:extLst>
          </p:cNvPr>
          <p:cNvGrpSpPr/>
          <p:nvPr/>
        </p:nvGrpSpPr>
        <p:grpSpPr>
          <a:xfrm>
            <a:off x="0" y="6690334"/>
            <a:ext cx="3108625" cy="3567001"/>
            <a:chOff x="-2861" y="5931257"/>
            <a:chExt cx="4014423" cy="5041543"/>
          </a:xfrm>
          <a:gradFill flip="none" rotWithShape="1">
            <a:gsLst>
              <a:gs pos="0">
                <a:srgbClr val="0A2D82">
                  <a:shade val="30000"/>
                  <a:satMod val="115000"/>
                </a:srgbClr>
              </a:gs>
              <a:gs pos="25000">
                <a:srgbClr val="0A2D82">
                  <a:shade val="67500"/>
                  <a:satMod val="115000"/>
                </a:srgbClr>
              </a:gs>
              <a:gs pos="100000">
                <a:sysClr val="window" lastClr="FFFFFF"/>
              </a:gs>
            </a:gsLst>
            <a:lin ang="18900000" scaled="1"/>
            <a:tileRect/>
          </a:gradFill>
        </p:grpSpPr>
        <p:sp>
          <p:nvSpPr>
            <p:cNvPr id="1368" name="Freeform: Shape 18">
              <a:extLst>
                <a:ext uri="{FF2B5EF4-FFF2-40B4-BE49-F238E27FC236}">
                  <a16:creationId xmlns:a16="http://schemas.microsoft.com/office/drawing/2014/main" id="{7C6F2F21-2619-620D-924D-B2D572CDB3FB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A2D82">
                    <a:shade val="30000"/>
                    <a:satMod val="115000"/>
                  </a:srgbClr>
                </a:gs>
                <a:gs pos="34000">
                  <a:srgbClr val="0A2D82">
                    <a:shade val="67500"/>
                    <a:satMod val="115000"/>
                  </a:srgbClr>
                </a:gs>
                <a:gs pos="100000">
                  <a:sysClr val="window" lastClr="FFFFFF"/>
                </a:gs>
              </a:gsLst>
              <a:lin ang="189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69" name="Freeform: Shape 19">
              <a:extLst>
                <a:ext uri="{FF2B5EF4-FFF2-40B4-BE49-F238E27FC236}">
                  <a16:creationId xmlns:a16="http://schemas.microsoft.com/office/drawing/2014/main" id="{117255B1-6604-A03F-9A47-F3AD3679F0C6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rgbClr val="1CADE4">
                    <a:alpha val="79000"/>
                  </a:srgbClr>
                </a:gs>
                <a:gs pos="100000">
                  <a:srgbClr val="2683C6">
                    <a:alpha val="31000"/>
                  </a:srgbClr>
                </a:gs>
              </a:gsLst>
              <a:path path="circle">
                <a:fillToRect l="50000" t="-80000" r="50000" b="18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1039" name="Imagem 1038">
            <a:extLst>
              <a:ext uri="{FF2B5EF4-FFF2-40B4-BE49-F238E27FC236}">
                <a16:creationId xmlns:a16="http://schemas.microsoft.com/office/drawing/2014/main" id="{2C75F3F1-251D-9B33-BD51-B12FCB5EFE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793"/>
          <a:stretch/>
        </p:blipFill>
        <p:spPr>
          <a:xfrm>
            <a:off x="600463" y="2394189"/>
            <a:ext cx="8188544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76" name="Imagem 1075">
            <a:extLst>
              <a:ext uri="{FF2B5EF4-FFF2-40B4-BE49-F238E27FC236}">
                <a16:creationId xmlns:a16="http://schemas.microsoft.com/office/drawing/2014/main" id="{285B4744-6239-CB36-4363-F388F151A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513" y="2394189"/>
            <a:ext cx="8188544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068" name="CaixaDeTexto 1067">
            <a:extLst>
              <a:ext uri="{FF2B5EF4-FFF2-40B4-BE49-F238E27FC236}">
                <a16:creationId xmlns:a16="http://schemas.microsoft.com/office/drawing/2014/main" id="{F04F9B75-6110-2C69-5503-4F6CDDE5F0CB}"/>
              </a:ext>
            </a:extLst>
          </p:cNvPr>
          <p:cNvSpPr txBox="1"/>
          <p:nvPr/>
        </p:nvSpPr>
        <p:spPr>
          <a:xfrm>
            <a:off x="3014597" y="7678525"/>
            <a:ext cx="1146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Os dados existem. A </a:t>
            </a:r>
            <a:r>
              <a:rPr lang="pt-BR" sz="72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inteligência</a:t>
            </a:r>
            <a:r>
              <a:rPr lang="pt-BR" sz="7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pt-BR" sz="5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não.</a:t>
            </a:r>
            <a:endParaRPr lang="pt-BR" sz="7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95" name="Shape 0">
            <a:extLst>
              <a:ext uri="{FF2B5EF4-FFF2-40B4-BE49-F238E27FC236}">
                <a16:creationId xmlns:a16="http://schemas.microsoft.com/office/drawing/2014/main" id="{FE8BA59E-6B21-69A0-C4EC-9D86B26A37CC}"/>
              </a:ext>
            </a:extLst>
          </p:cNvPr>
          <p:cNvSpPr/>
          <p:nvPr/>
        </p:nvSpPr>
        <p:spPr>
          <a:xfrm>
            <a:off x="14751050" y="-1018750"/>
            <a:ext cx="4165600" cy="4165600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7" name="Shape 0">
            <a:extLst>
              <a:ext uri="{FF2B5EF4-FFF2-40B4-BE49-F238E27FC236}">
                <a16:creationId xmlns:a16="http://schemas.microsoft.com/office/drawing/2014/main" id="{25D717F7-8C1B-11FB-DE88-A3F560E43B12}"/>
              </a:ext>
            </a:extLst>
          </p:cNvPr>
          <p:cNvSpPr/>
          <p:nvPr/>
        </p:nvSpPr>
        <p:spPr>
          <a:xfrm>
            <a:off x="15382013" y="-490962"/>
            <a:ext cx="3040797" cy="3040797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73" name="Imagem 1072">
            <a:extLst>
              <a:ext uri="{FF2B5EF4-FFF2-40B4-BE49-F238E27FC236}">
                <a16:creationId xmlns:a16="http://schemas.microsoft.com/office/drawing/2014/main" id="{9F117B85-5026-4DB1-844B-92D1DA8A6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511" y="2394189"/>
            <a:ext cx="7906688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70" name="Imagem 1069">
            <a:extLst>
              <a:ext uri="{FF2B5EF4-FFF2-40B4-BE49-F238E27FC236}">
                <a16:creationId xmlns:a16="http://schemas.microsoft.com/office/drawing/2014/main" id="{661A2905-3B9E-D920-E047-50D36BF64A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526" y="2394189"/>
            <a:ext cx="6697472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51" name="Imagem 1050">
            <a:extLst>
              <a:ext uri="{FF2B5EF4-FFF2-40B4-BE49-F238E27FC236}">
                <a16:creationId xmlns:a16="http://schemas.microsoft.com/office/drawing/2014/main" id="{53646B7D-65E1-8AB5-7E11-E09D97D7A7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7530" y="2394189"/>
            <a:ext cx="8238976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42" name="Imagem 1041">
            <a:extLst>
              <a:ext uri="{FF2B5EF4-FFF2-40B4-BE49-F238E27FC236}">
                <a16:creationId xmlns:a16="http://schemas.microsoft.com/office/drawing/2014/main" id="{EBC7D98C-284D-2EF2-E83C-1A47B4FFC1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3848" y="2394189"/>
            <a:ext cx="8330752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58" name="Imagem 1057">
            <a:extLst>
              <a:ext uri="{FF2B5EF4-FFF2-40B4-BE49-F238E27FC236}">
                <a16:creationId xmlns:a16="http://schemas.microsoft.com/office/drawing/2014/main" id="{42E4B2F1-79FA-E3C2-0B80-D4400E243C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5878" y="2394189"/>
            <a:ext cx="7174656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47" name="Imagem 1046">
            <a:extLst>
              <a:ext uri="{FF2B5EF4-FFF2-40B4-BE49-F238E27FC236}">
                <a16:creationId xmlns:a16="http://schemas.microsoft.com/office/drawing/2014/main" id="{6E50333D-A5E7-1048-B0BB-1D6DE1428C5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17015"/>
          <a:stretch/>
        </p:blipFill>
        <p:spPr>
          <a:xfrm>
            <a:off x="8550910" y="2394189"/>
            <a:ext cx="7298747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66" name="Imagem 1065">
            <a:extLst>
              <a:ext uri="{FF2B5EF4-FFF2-40B4-BE49-F238E27FC236}">
                <a16:creationId xmlns:a16="http://schemas.microsoft.com/office/drawing/2014/main" id="{ECB04AE9-5FE3-444E-0AD7-A52B8B2186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0639" y="2394189"/>
            <a:ext cx="6775296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62" name="Imagem 1061">
            <a:extLst>
              <a:ext uri="{FF2B5EF4-FFF2-40B4-BE49-F238E27FC236}">
                <a16:creationId xmlns:a16="http://schemas.microsoft.com/office/drawing/2014/main" id="{332E3858-FDDD-AC68-744F-06C1D02947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68034" y="2394189"/>
            <a:ext cx="6623616" cy="460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038" name="CaixaDeTexto 1037">
            <a:extLst>
              <a:ext uri="{FF2B5EF4-FFF2-40B4-BE49-F238E27FC236}">
                <a16:creationId xmlns:a16="http://schemas.microsoft.com/office/drawing/2014/main" id="{3C83D066-7D2E-73D3-588C-75821B3C8F5C}"/>
              </a:ext>
            </a:extLst>
          </p:cNvPr>
          <p:cNvSpPr txBox="1"/>
          <p:nvPr/>
        </p:nvSpPr>
        <p:spPr>
          <a:xfrm>
            <a:off x="3729526" y="305888"/>
            <a:ext cx="71683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não é falta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A3D212A-4075-C169-5B88-6FAB0B298081}"/>
              </a:ext>
            </a:extLst>
          </p:cNvPr>
          <p:cNvSpPr txBox="1"/>
          <p:nvPr/>
        </p:nvSpPr>
        <p:spPr>
          <a:xfrm>
            <a:off x="298009" y="106218"/>
            <a:ext cx="107899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O PROBLEMA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BJPseudoFooter">
            <a:extLst>
              <a:ext uri="{FF2B5EF4-FFF2-40B4-BE49-F238E27FC236}">
                <a16:creationId xmlns:a16="http://schemas.microsoft.com/office/drawing/2014/main" id="{A160ACD2-606F-7290-417A-B6462C1AA72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55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17">
            <a:extLst>
              <a:ext uri="{FF2B5EF4-FFF2-40B4-BE49-F238E27FC236}">
                <a16:creationId xmlns:a16="http://schemas.microsoft.com/office/drawing/2014/main" id="{EF6F18E6-977C-BBAD-4658-18FDDDE0E2C7}"/>
              </a:ext>
            </a:extLst>
          </p:cNvPr>
          <p:cNvSpPr/>
          <p:nvPr/>
        </p:nvSpPr>
        <p:spPr>
          <a:xfrm>
            <a:off x="11185646" y="5793761"/>
            <a:ext cx="1833668" cy="433979"/>
          </a:xfrm>
          <a:prstGeom prst="roundRect">
            <a:avLst>
              <a:gd name="adj" fmla="val 8393"/>
            </a:avLst>
          </a:prstGeom>
          <a:solidFill>
            <a:srgbClr val="FF3C3C">
              <a:alpha val="8000"/>
            </a:srgbClr>
          </a:solidFill>
          <a:ln w="7620">
            <a:solidFill>
              <a:srgbClr val="FF3C3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2162" y="952500"/>
            <a:ext cx="16366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kern="0" spc="375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85724" y="2975896"/>
            <a:ext cx="16678275" cy="1685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informação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vive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num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visão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completa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vive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lugar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800" dirty="0">
              <a:solidFill>
                <a:schemeClr val="accent5">
                  <a:lumMod val="40000"/>
                  <a:lumOff val="6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6431" y="5131889"/>
            <a:ext cx="302514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85098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6253" y="5330009"/>
            <a:ext cx="28254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800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21571" y="5469074"/>
            <a:ext cx="2667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988271" y="5131889"/>
            <a:ext cx="302514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85098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8093" y="5330009"/>
            <a:ext cx="28254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800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13411" y="5469074"/>
            <a:ext cx="2667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280111" y="5131889"/>
            <a:ext cx="302514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85098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79933" y="5330009"/>
            <a:ext cx="28254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02060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Campanha</a:t>
            </a:r>
            <a:endParaRPr lang="en-US" sz="1800" b="1" dirty="0">
              <a:solidFill>
                <a:srgbClr val="002060"/>
              </a:solidFill>
              <a:latin typeface="Bahnschrift" panose="020B0502040204020203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305251" y="5469074"/>
            <a:ext cx="2667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571951" y="5131889"/>
            <a:ext cx="302514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85098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671773" y="5330009"/>
            <a:ext cx="28254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002060"/>
                </a:solidFill>
                <a:latin typeface="Bahnschrift" panose="020B0502040204020203" pitchFamily="34" charset="0"/>
                <a:cs typeface="Arial" pitchFamily="34" charset="-120"/>
              </a:rPr>
              <a:t>Cliente</a:t>
            </a:r>
            <a:endParaRPr lang="en-US" sz="1800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597091" y="5469074"/>
            <a:ext cx="2667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863791" y="5131889"/>
            <a:ext cx="302514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85098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963614" y="5330009"/>
            <a:ext cx="28254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1800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033760" y="6969321"/>
            <a:ext cx="5659936" cy="2382622"/>
          </a:xfrm>
          <a:prstGeom prst="roundRect">
            <a:avLst>
              <a:gd name="adj" fmla="val 8393"/>
            </a:avLst>
          </a:prstGeom>
          <a:solidFill>
            <a:srgbClr val="FF3C3C">
              <a:alpha val="8000"/>
            </a:srgbClr>
          </a:solidFill>
          <a:ln w="7620">
            <a:solidFill>
              <a:srgbClr val="FF3C3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3582" y="7093547"/>
            <a:ext cx="7000417" cy="433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FF8888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DADOS DISPERSOS — SEM INTEGRAÇÃO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12917" y="7574089"/>
            <a:ext cx="547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✗ O vendedor não tem visão completa do cliente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15517" y="8317031"/>
            <a:ext cx="547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✗ O gerente não tem visão completa da operação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221695" y="7945560"/>
            <a:ext cx="547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✗ O concessionário não tem visão do negócio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12917" y="8688503"/>
            <a:ext cx="547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✗ O cliente não recebe experiência integrada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B6E62272-BE83-E02B-DD3D-520970B31B8E}"/>
              </a:ext>
            </a:extLst>
          </p:cNvPr>
          <p:cNvSpPr/>
          <p:nvPr/>
        </p:nvSpPr>
        <p:spPr>
          <a:xfrm>
            <a:off x="0" y="0"/>
            <a:ext cx="18288000" cy="174879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8" name="CaixaDeTexto 197">
            <a:extLst>
              <a:ext uri="{FF2B5EF4-FFF2-40B4-BE49-F238E27FC236}">
                <a16:creationId xmlns:a16="http://schemas.microsoft.com/office/drawing/2014/main" id="{070743D4-41AF-60CF-2EF3-FF71B108B390}"/>
              </a:ext>
            </a:extLst>
          </p:cNvPr>
          <p:cNvSpPr txBox="1"/>
          <p:nvPr/>
        </p:nvSpPr>
        <p:spPr>
          <a:xfrm>
            <a:off x="289222" y="1050615"/>
            <a:ext cx="96702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Dados dispersos - ninguém enxerga o todo</a:t>
            </a:r>
          </a:p>
        </p:txBody>
      </p:sp>
      <p:sp>
        <p:nvSpPr>
          <p:cNvPr id="236" name="CaixaDeTexto 235">
            <a:extLst>
              <a:ext uri="{FF2B5EF4-FFF2-40B4-BE49-F238E27FC236}">
                <a16:creationId xmlns:a16="http://schemas.microsoft.com/office/drawing/2014/main" id="{0D4A6E68-F6F0-D1EE-E06D-0B467345B51B}"/>
              </a:ext>
            </a:extLst>
          </p:cNvPr>
          <p:cNvSpPr txBox="1"/>
          <p:nvPr/>
        </p:nvSpPr>
        <p:spPr>
          <a:xfrm>
            <a:off x="1585546" y="5819117"/>
            <a:ext cx="1246909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B050"/>
                </a:solidFill>
                <a:latin typeface="Bahnschrift" panose="020B0502040204020203" pitchFamily="34" charset="0"/>
              </a:rPr>
              <a:t>Aprovado</a:t>
            </a:r>
          </a:p>
        </p:txBody>
      </p:sp>
      <p:sp>
        <p:nvSpPr>
          <p:cNvPr id="245" name="CaixaDeTexto 244">
            <a:extLst>
              <a:ext uri="{FF2B5EF4-FFF2-40B4-BE49-F238E27FC236}">
                <a16:creationId xmlns:a16="http://schemas.microsoft.com/office/drawing/2014/main" id="{BEE8F513-924C-EAE1-2AFB-5452BB524263}"/>
              </a:ext>
            </a:extLst>
          </p:cNvPr>
          <p:cNvSpPr txBox="1"/>
          <p:nvPr/>
        </p:nvSpPr>
        <p:spPr>
          <a:xfrm>
            <a:off x="4797323" y="5819117"/>
            <a:ext cx="1407036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B050"/>
                </a:solidFill>
                <a:latin typeface="Bahnschrift" panose="020B0502040204020203" pitchFamily="34" charset="0"/>
              </a:rPr>
              <a:t>Disponível</a:t>
            </a:r>
          </a:p>
        </p:txBody>
      </p:sp>
      <p:sp>
        <p:nvSpPr>
          <p:cNvPr id="253" name="CaixaDeTexto 252">
            <a:extLst>
              <a:ext uri="{FF2B5EF4-FFF2-40B4-BE49-F238E27FC236}">
                <a16:creationId xmlns:a16="http://schemas.microsoft.com/office/drawing/2014/main" id="{0E75E2D3-882D-58C4-8D36-EA1F28929E02}"/>
              </a:ext>
            </a:extLst>
          </p:cNvPr>
          <p:cNvSpPr txBox="1"/>
          <p:nvPr/>
        </p:nvSpPr>
        <p:spPr>
          <a:xfrm>
            <a:off x="8127072" y="5819117"/>
            <a:ext cx="1407036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B050"/>
                </a:solidFill>
                <a:latin typeface="Bahnschrift" panose="020B0502040204020203" pitchFamily="34" charset="0"/>
              </a:rPr>
              <a:t>Ativa</a:t>
            </a:r>
          </a:p>
        </p:txBody>
      </p:sp>
      <p:sp>
        <p:nvSpPr>
          <p:cNvPr id="254" name="CaixaDeTexto 253">
            <a:extLst>
              <a:ext uri="{FF2B5EF4-FFF2-40B4-BE49-F238E27FC236}">
                <a16:creationId xmlns:a16="http://schemas.microsoft.com/office/drawing/2014/main" id="{31079F3A-A34B-9B52-52A7-12FB6634E953}"/>
              </a:ext>
            </a:extLst>
          </p:cNvPr>
          <p:cNvSpPr txBox="1"/>
          <p:nvPr/>
        </p:nvSpPr>
        <p:spPr>
          <a:xfrm>
            <a:off x="10832707" y="5819117"/>
            <a:ext cx="2621020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8888"/>
                </a:solidFill>
                <a:latin typeface="Bahnschrift" panose="020B0502040204020203" pitchFamily="34" charset="0"/>
              </a:rPr>
              <a:t>Não encontrado</a:t>
            </a:r>
          </a:p>
        </p:txBody>
      </p:sp>
      <p:sp>
        <p:nvSpPr>
          <p:cNvPr id="257" name="CaixaDeTexto 256">
            <a:extLst>
              <a:ext uri="{FF2B5EF4-FFF2-40B4-BE49-F238E27FC236}">
                <a16:creationId xmlns:a16="http://schemas.microsoft.com/office/drawing/2014/main" id="{70F3F03F-18BA-17FB-98E0-0C9BDB122D1A}"/>
              </a:ext>
            </a:extLst>
          </p:cNvPr>
          <p:cNvSpPr txBox="1"/>
          <p:nvPr/>
        </p:nvSpPr>
        <p:spPr>
          <a:xfrm>
            <a:off x="14131195" y="5819117"/>
            <a:ext cx="2621020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8888"/>
                </a:solidFill>
                <a:latin typeface="Bahnschrift" panose="020B0502040204020203" pitchFamily="34" charset="0"/>
              </a:rPr>
              <a:t>Perdida</a:t>
            </a:r>
          </a:p>
        </p:txBody>
      </p:sp>
      <p:sp>
        <p:nvSpPr>
          <p:cNvPr id="271" name="Shape 17">
            <a:extLst>
              <a:ext uri="{FF2B5EF4-FFF2-40B4-BE49-F238E27FC236}">
                <a16:creationId xmlns:a16="http://schemas.microsoft.com/office/drawing/2014/main" id="{859D4A96-E396-A5A6-D4B5-4504A1F6E445}"/>
              </a:ext>
            </a:extLst>
          </p:cNvPr>
          <p:cNvSpPr/>
          <p:nvPr/>
        </p:nvSpPr>
        <p:spPr>
          <a:xfrm>
            <a:off x="14524871" y="5815342"/>
            <a:ext cx="1833668" cy="433979"/>
          </a:xfrm>
          <a:prstGeom prst="roundRect">
            <a:avLst>
              <a:gd name="adj" fmla="val 8393"/>
            </a:avLst>
          </a:prstGeom>
          <a:solidFill>
            <a:srgbClr val="FF3C3C">
              <a:alpha val="8000"/>
            </a:srgbClr>
          </a:solidFill>
          <a:ln w="7620">
            <a:solidFill>
              <a:srgbClr val="FF3C3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75" name="Shape 17">
            <a:extLst>
              <a:ext uri="{FF2B5EF4-FFF2-40B4-BE49-F238E27FC236}">
                <a16:creationId xmlns:a16="http://schemas.microsoft.com/office/drawing/2014/main" id="{61DC0688-B1BF-1E23-BBF3-03741F2382B2}"/>
              </a:ext>
            </a:extLst>
          </p:cNvPr>
          <p:cNvSpPr/>
          <p:nvPr/>
        </p:nvSpPr>
        <p:spPr>
          <a:xfrm>
            <a:off x="7913756" y="5799427"/>
            <a:ext cx="1833668" cy="433979"/>
          </a:xfrm>
          <a:prstGeom prst="roundRect">
            <a:avLst>
              <a:gd name="adj" fmla="val 8393"/>
            </a:avLst>
          </a:prstGeom>
          <a:solidFill>
            <a:srgbClr val="92D050">
              <a:alpha val="8000"/>
            </a:srgbClr>
          </a:solidFill>
          <a:ln w="7620">
            <a:solidFill>
              <a:srgbClr val="92D05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78" name="Shape 17">
            <a:extLst>
              <a:ext uri="{FF2B5EF4-FFF2-40B4-BE49-F238E27FC236}">
                <a16:creationId xmlns:a16="http://schemas.microsoft.com/office/drawing/2014/main" id="{692669A0-8AAD-8AF8-4D35-ECA30FB97C07}"/>
              </a:ext>
            </a:extLst>
          </p:cNvPr>
          <p:cNvSpPr/>
          <p:nvPr/>
        </p:nvSpPr>
        <p:spPr>
          <a:xfrm>
            <a:off x="4591745" y="5787783"/>
            <a:ext cx="1833668" cy="433979"/>
          </a:xfrm>
          <a:prstGeom prst="roundRect">
            <a:avLst>
              <a:gd name="adj" fmla="val 8393"/>
            </a:avLst>
          </a:prstGeom>
          <a:solidFill>
            <a:srgbClr val="92D050">
              <a:alpha val="8000"/>
            </a:srgbClr>
          </a:solidFill>
          <a:ln w="7620">
            <a:solidFill>
              <a:srgbClr val="92D05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80" name="Shape 17">
            <a:extLst>
              <a:ext uri="{FF2B5EF4-FFF2-40B4-BE49-F238E27FC236}">
                <a16:creationId xmlns:a16="http://schemas.microsoft.com/office/drawing/2014/main" id="{90090B97-5E5D-4281-DF32-2441A1800173}"/>
              </a:ext>
            </a:extLst>
          </p:cNvPr>
          <p:cNvSpPr/>
          <p:nvPr/>
        </p:nvSpPr>
        <p:spPr>
          <a:xfrm>
            <a:off x="1274958" y="5802177"/>
            <a:ext cx="1833668" cy="433979"/>
          </a:xfrm>
          <a:prstGeom prst="roundRect">
            <a:avLst>
              <a:gd name="adj" fmla="val 8393"/>
            </a:avLst>
          </a:prstGeom>
          <a:solidFill>
            <a:srgbClr val="92D050">
              <a:alpha val="8000"/>
            </a:srgbClr>
          </a:solidFill>
          <a:ln w="7620">
            <a:solidFill>
              <a:srgbClr val="92D05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cxnSp>
        <p:nvCxnSpPr>
          <p:cNvPr id="295" name="Conector reto 294">
            <a:extLst>
              <a:ext uri="{FF2B5EF4-FFF2-40B4-BE49-F238E27FC236}">
                <a16:creationId xmlns:a16="http://schemas.microsoft.com/office/drawing/2014/main" id="{58ECC4FA-5E2A-3E56-7B60-0D51094BE85A}"/>
              </a:ext>
            </a:extLst>
          </p:cNvPr>
          <p:cNvCxnSpPr/>
          <p:nvPr/>
        </p:nvCxnSpPr>
        <p:spPr>
          <a:xfrm>
            <a:off x="12141200" y="6233445"/>
            <a:ext cx="0" cy="360000"/>
          </a:xfrm>
          <a:prstGeom prst="line">
            <a:avLst/>
          </a:prstGeom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ector reto 300">
            <a:extLst>
              <a:ext uri="{FF2B5EF4-FFF2-40B4-BE49-F238E27FC236}">
                <a16:creationId xmlns:a16="http://schemas.microsoft.com/office/drawing/2014/main" id="{762C065B-8066-A093-D4E6-426F71F19020}"/>
              </a:ext>
            </a:extLst>
          </p:cNvPr>
          <p:cNvCxnSpPr/>
          <p:nvPr/>
        </p:nvCxnSpPr>
        <p:spPr>
          <a:xfrm>
            <a:off x="15484475" y="6249321"/>
            <a:ext cx="0" cy="360000"/>
          </a:xfrm>
          <a:prstGeom prst="line">
            <a:avLst/>
          </a:prstGeom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ector reto 302">
            <a:extLst>
              <a:ext uri="{FF2B5EF4-FFF2-40B4-BE49-F238E27FC236}">
                <a16:creationId xmlns:a16="http://schemas.microsoft.com/office/drawing/2014/main" id="{5D45D928-A13E-D5A7-0565-EB5073392933}"/>
              </a:ext>
            </a:extLst>
          </p:cNvPr>
          <p:cNvCxnSpPr>
            <a:cxnSpLocks/>
          </p:cNvCxnSpPr>
          <p:nvPr/>
        </p:nvCxnSpPr>
        <p:spPr>
          <a:xfrm>
            <a:off x="12141200" y="6593445"/>
            <a:ext cx="3343275" cy="15876"/>
          </a:xfrm>
          <a:prstGeom prst="line">
            <a:avLst/>
          </a:prstGeom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ector reto 308">
            <a:extLst>
              <a:ext uri="{FF2B5EF4-FFF2-40B4-BE49-F238E27FC236}">
                <a16:creationId xmlns:a16="http://schemas.microsoft.com/office/drawing/2014/main" id="{C5DA9799-D4C1-A87D-8CF0-A1F81AD5A500}"/>
              </a:ext>
            </a:extLst>
          </p:cNvPr>
          <p:cNvCxnSpPr/>
          <p:nvPr/>
        </p:nvCxnSpPr>
        <p:spPr>
          <a:xfrm>
            <a:off x="13779500" y="6609321"/>
            <a:ext cx="0" cy="360000"/>
          </a:xfrm>
          <a:prstGeom prst="line">
            <a:avLst/>
          </a:prstGeom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0" name="Group 17">
            <a:extLst>
              <a:ext uri="{FF2B5EF4-FFF2-40B4-BE49-F238E27FC236}">
                <a16:creationId xmlns:a16="http://schemas.microsoft.com/office/drawing/2014/main" id="{8B14E33D-2232-C7AE-407A-03DA09E4CEA7}"/>
              </a:ext>
            </a:extLst>
          </p:cNvPr>
          <p:cNvGrpSpPr/>
          <p:nvPr/>
        </p:nvGrpSpPr>
        <p:grpSpPr>
          <a:xfrm>
            <a:off x="0" y="6690334"/>
            <a:ext cx="3108625" cy="3567001"/>
            <a:chOff x="-2861" y="5931257"/>
            <a:chExt cx="4014423" cy="5041543"/>
          </a:xfrm>
          <a:gradFill flip="none" rotWithShape="1">
            <a:gsLst>
              <a:gs pos="0">
                <a:srgbClr val="0A2D82">
                  <a:shade val="30000"/>
                  <a:satMod val="115000"/>
                </a:srgbClr>
              </a:gs>
              <a:gs pos="25000">
                <a:srgbClr val="0A2D82">
                  <a:shade val="67500"/>
                  <a:satMod val="115000"/>
                </a:srgbClr>
              </a:gs>
              <a:gs pos="100000">
                <a:sysClr val="window" lastClr="FFFFFF"/>
              </a:gs>
            </a:gsLst>
            <a:lin ang="18900000" scaled="1"/>
            <a:tileRect/>
          </a:gradFill>
        </p:grpSpPr>
        <p:sp>
          <p:nvSpPr>
            <p:cNvPr id="321" name="Freeform: Shape 18">
              <a:extLst>
                <a:ext uri="{FF2B5EF4-FFF2-40B4-BE49-F238E27FC236}">
                  <a16:creationId xmlns:a16="http://schemas.microsoft.com/office/drawing/2014/main" id="{961D054B-03F5-D354-9449-D45721550BEB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A2D82">
                    <a:shade val="30000"/>
                    <a:satMod val="115000"/>
                  </a:srgbClr>
                </a:gs>
                <a:gs pos="34000">
                  <a:srgbClr val="0A2D82">
                    <a:shade val="67500"/>
                    <a:satMod val="115000"/>
                  </a:srgbClr>
                </a:gs>
                <a:gs pos="100000">
                  <a:sysClr val="window" lastClr="FFFFFF"/>
                </a:gs>
              </a:gsLst>
              <a:lin ang="189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2" name="Freeform: Shape 19">
              <a:extLst>
                <a:ext uri="{FF2B5EF4-FFF2-40B4-BE49-F238E27FC236}">
                  <a16:creationId xmlns:a16="http://schemas.microsoft.com/office/drawing/2014/main" id="{EBAE9D15-6170-3F5C-37EE-FA5E8FCF08C4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rgbClr val="1CADE4">
                    <a:alpha val="79000"/>
                  </a:srgbClr>
                </a:gs>
                <a:gs pos="100000">
                  <a:srgbClr val="2683C6">
                    <a:alpha val="31000"/>
                  </a:srgbClr>
                </a:gs>
              </a:gsLst>
              <a:path path="circle">
                <a:fillToRect l="50000" t="-80000" r="50000" b="18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24" name="Group 17">
            <a:extLst>
              <a:ext uri="{FF2B5EF4-FFF2-40B4-BE49-F238E27FC236}">
                <a16:creationId xmlns:a16="http://schemas.microsoft.com/office/drawing/2014/main" id="{B1E8A2EF-1F88-6335-84A5-17831B9C3506}"/>
              </a:ext>
            </a:extLst>
          </p:cNvPr>
          <p:cNvGrpSpPr/>
          <p:nvPr/>
        </p:nvGrpSpPr>
        <p:grpSpPr>
          <a:xfrm rot="10800000">
            <a:off x="15188162" y="-6314"/>
            <a:ext cx="3108625" cy="3567001"/>
            <a:chOff x="-2861" y="5931257"/>
            <a:chExt cx="4014423" cy="5041543"/>
          </a:xfrm>
          <a:gradFill flip="none" rotWithShape="1">
            <a:gsLst>
              <a:gs pos="0">
                <a:srgbClr val="0A2D82">
                  <a:shade val="30000"/>
                  <a:satMod val="115000"/>
                </a:srgbClr>
              </a:gs>
              <a:gs pos="25000">
                <a:srgbClr val="0A2D82">
                  <a:shade val="67500"/>
                  <a:satMod val="115000"/>
                </a:srgbClr>
              </a:gs>
              <a:gs pos="100000">
                <a:sysClr val="window" lastClr="FFFFFF"/>
              </a:gs>
            </a:gsLst>
            <a:lin ang="18900000" scaled="1"/>
            <a:tileRect/>
          </a:gradFill>
        </p:grpSpPr>
        <p:sp>
          <p:nvSpPr>
            <p:cNvPr id="325" name="Freeform: Shape 18">
              <a:extLst>
                <a:ext uri="{FF2B5EF4-FFF2-40B4-BE49-F238E27FC236}">
                  <a16:creationId xmlns:a16="http://schemas.microsoft.com/office/drawing/2014/main" id="{4F6A7C3E-B5F1-A840-7B2D-90E6A0FE74EC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A2D82">
                    <a:shade val="30000"/>
                    <a:satMod val="115000"/>
                  </a:srgbClr>
                </a:gs>
                <a:gs pos="34000">
                  <a:srgbClr val="0A2D82">
                    <a:shade val="67500"/>
                    <a:satMod val="115000"/>
                  </a:srgbClr>
                </a:gs>
                <a:gs pos="100000">
                  <a:sysClr val="window" lastClr="FFFFFF"/>
                </a:gs>
              </a:gsLst>
              <a:lin ang="189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6" name="Freeform: Shape 19">
              <a:extLst>
                <a:ext uri="{FF2B5EF4-FFF2-40B4-BE49-F238E27FC236}">
                  <a16:creationId xmlns:a16="http://schemas.microsoft.com/office/drawing/2014/main" id="{6A044EDA-BBB7-E022-619D-2D22233C97AF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rgbClr val="1CADE4">
                    <a:alpha val="79000"/>
                  </a:srgbClr>
                </a:gs>
                <a:gs pos="100000">
                  <a:srgbClr val="2683C6">
                    <a:alpha val="31000"/>
                  </a:srgbClr>
                </a:gs>
              </a:gsLst>
              <a:path path="circle">
                <a:fillToRect l="50000" t="-80000" r="50000" b="18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026EF1-011E-81CC-B911-F2FA5D3C3A5A}"/>
              </a:ext>
            </a:extLst>
          </p:cNvPr>
          <p:cNvSpPr txBox="1"/>
          <p:nvPr/>
        </p:nvSpPr>
        <p:spPr>
          <a:xfrm>
            <a:off x="298009" y="106218"/>
            <a:ext cx="107899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A VIRADA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6" name="BJPseudoFooter">
            <a:extLst>
              <a:ext uri="{FF2B5EF4-FFF2-40B4-BE49-F238E27FC236}">
                <a16:creationId xmlns:a16="http://schemas.microsoft.com/office/drawing/2014/main" id="{162B0EB6-57CD-D8C2-02CC-8FACB96505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Picture 8" descr="Circuit PNGs for Free Download">
            <a:extLst>
              <a:ext uri="{FF2B5EF4-FFF2-40B4-BE49-F238E27FC236}">
                <a16:creationId xmlns:a16="http://schemas.microsoft.com/office/drawing/2014/main" id="{4987F90C-0B1D-8A1D-50F7-A711E3CA3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631" y="3083963"/>
            <a:ext cx="6012330" cy="520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ircuit PNGs for Free Download">
            <a:extLst>
              <a:ext uri="{FF2B5EF4-FFF2-40B4-BE49-F238E27FC236}">
                <a16:creationId xmlns:a16="http://schemas.microsoft.com/office/drawing/2014/main" id="{E4713399-143B-6076-25A0-403C66B49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36506" y="3179369"/>
            <a:ext cx="6012330" cy="520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7" name="CaixaDeTexto 356">
            <a:extLst>
              <a:ext uri="{FF2B5EF4-FFF2-40B4-BE49-F238E27FC236}">
                <a16:creationId xmlns:a16="http://schemas.microsoft.com/office/drawing/2014/main" id="{070743D4-41AF-60CF-2EF3-FF71B108B390}"/>
              </a:ext>
            </a:extLst>
          </p:cNvPr>
          <p:cNvSpPr txBox="1"/>
          <p:nvPr/>
        </p:nvSpPr>
        <p:spPr>
          <a:xfrm>
            <a:off x="278681" y="1144694"/>
            <a:ext cx="123857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Centro de Inteligência da rede Yamaha</a:t>
            </a:r>
          </a:p>
        </p:txBody>
      </p:sp>
      <p:sp>
        <p:nvSpPr>
          <p:cNvPr id="1089" name="AutoShape 4">
            <a:extLst>
              <a:ext uri="{FF2B5EF4-FFF2-40B4-BE49-F238E27FC236}">
                <a16:creationId xmlns:a16="http://schemas.microsoft.com/office/drawing/2014/main" id="{762B84D1-6D40-1968-6FBF-82DE3D57A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89496" y="589855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92" name="Imagem 1091" descr="Logotipo&#10;&#10;Descrição gerada automaticamente">
            <a:extLst>
              <a:ext uri="{FF2B5EF4-FFF2-40B4-BE49-F238E27FC236}">
                <a16:creationId xmlns:a16="http://schemas.microsoft.com/office/drawing/2014/main" id="{A1B5F3CD-0DDD-E10E-007D-D98A91533F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2" t="10429" r="175" b="-1367"/>
          <a:stretch/>
        </p:blipFill>
        <p:spPr>
          <a:xfrm>
            <a:off x="6850940" y="4035712"/>
            <a:ext cx="4640287" cy="4250575"/>
          </a:xfrm>
          <a:prstGeom prst="ellipse">
            <a:avLst/>
          </a:prstGeom>
        </p:spPr>
      </p:pic>
      <p:sp>
        <p:nvSpPr>
          <p:cNvPr id="1119" name="AutoShape 10" descr="Tech Lines PNG, Vector, PSD, and Clipart With Transparent Background ...">
            <a:extLst>
              <a:ext uri="{FF2B5EF4-FFF2-40B4-BE49-F238E27FC236}">
                <a16:creationId xmlns:a16="http://schemas.microsoft.com/office/drawing/2014/main" id="{B4037D45-2AAD-97D9-D3CD-66639C1E1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41896" y="605095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1375DF-E78A-CFD3-9877-1ACA1B8F65D5}"/>
              </a:ext>
            </a:extLst>
          </p:cNvPr>
          <p:cNvSpPr txBox="1"/>
          <p:nvPr/>
        </p:nvSpPr>
        <p:spPr>
          <a:xfrm>
            <a:off x="298009" y="106218"/>
            <a:ext cx="107899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A SOLUÇÃO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1B35B0F1-6F62-882F-E4C8-1AA526E0A90D}"/>
              </a:ext>
            </a:extLst>
          </p:cNvPr>
          <p:cNvSpPr/>
          <p:nvPr/>
        </p:nvSpPr>
        <p:spPr>
          <a:xfrm>
            <a:off x="1462639" y="4594860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09D6ABE-C976-3C97-CA06-9EC92BC4B54B}"/>
              </a:ext>
            </a:extLst>
          </p:cNvPr>
          <p:cNvSpPr/>
          <p:nvPr/>
        </p:nvSpPr>
        <p:spPr>
          <a:xfrm>
            <a:off x="1462639" y="4594860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8E37DF3-558B-AE71-03CA-449334693F1C}"/>
              </a:ext>
            </a:extLst>
          </p:cNvPr>
          <p:cNvSpPr/>
          <p:nvPr/>
        </p:nvSpPr>
        <p:spPr>
          <a:xfrm>
            <a:off x="4265275" y="4594860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571DF07-E5AC-45C8-AA60-BDE0F002DF6A}"/>
              </a:ext>
            </a:extLst>
          </p:cNvPr>
          <p:cNvSpPr/>
          <p:nvPr/>
        </p:nvSpPr>
        <p:spPr>
          <a:xfrm>
            <a:off x="4265275" y="4594860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6186690-F51E-CD92-53BF-7E297519D8FD}"/>
              </a:ext>
            </a:extLst>
          </p:cNvPr>
          <p:cNvSpPr/>
          <p:nvPr/>
        </p:nvSpPr>
        <p:spPr>
          <a:xfrm>
            <a:off x="1462639" y="5170932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1124F7A-A263-4FB2-A256-6846447B3EB0}"/>
              </a:ext>
            </a:extLst>
          </p:cNvPr>
          <p:cNvSpPr/>
          <p:nvPr/>
        </p:nvSpPr>
        <p:spPr>
          <a:xfrm>
            <a:off x="1462639" y="5170932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Banco Yamaha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6671ED7D-E547-DBA3-1A97-10BE90AB36B1}"/>
              </a:ext>
            </a:extLst>
          </p:cNvPr>
          <p:cNvSpPr/>
          <p:nvPr/>
        </p:nvSpPr>
        <p:spPr>
          <a:xfrm>
            <a:off x="4265275" y="5170932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A839F4C6-5340-C7BD-4520-B3AF8A2255FA}"/>
              </a:ext>
            </a:extLst>
          </p:cNvPr>
          <p:cNvSpPr/>
          <p:nvPr/>
        </p:nvSpPr>
        <p:spPr>
          <a:xfrm>
            <a:off x="4265275" y="5170932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Consórcio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90F1D5BA-B54F-4D82-05AE-A80D53D5115B}"/>
              </a:ext>
            </a:extLst>
          </p:cNvPr>
          <p:cNvSpPr/>
          <p:nvPr/>
        </p:nvSpPr>
        <p:spPr>
          <a:xfrm>
            <a:off x="1462639" y="5747004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92215F-95DF-8A74-7E97-A7B4F1EF9979}"/>
              </a:ext>
            </a:extLst>
          </p:cNvPr>
          <p:cNvSpPr/>
          <p:nvPr/>
        </p:nvSpPr>
        <p:spPr>
          <a:xfrm>
            <a:off x="1462639" y="5747004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17069621-3F03-0BCD-60EC-EB8903D2FD18}"/>
              </a:ext>
            </a:extLst>
          </p:cNvPr>
          <p:cNvSpPr/>
          <p:nvPr/>
        </p:nvSpPr>
        <p:spPr>
          <a:xfrm>
            <a:off x="4265275" y="5747004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EF5EF35-7A12-817F-D739-7C96CC20D089}"/>
              </a:ext>
            </a:extLst>
          </p:cNvPr>
          <p:cNvSpPr/>
          <p:nvPr/>
        </p:nvSpPr>
        <p:spPr>
          <a:xfrm>
            <a:off x="4265275" y="5747004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Pós-venda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7C2C2FA7-3EEA-82A1-0338-2A8BE049D781}"/>
              </a:ext>
            </a:extLst>
          </p:cNvPr>
          <p:cNvSpPr/>
          <p:nvPr/>
        </p:nvSpPr>
        <p:spPr>
          <a:xfrm>
            <a:off x="1462639" y="6323076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82E03F29-67EC-4249-AB08-CB443D0F4B20}"/>
              </a:ext>
            </a:extLst>
          </p:cNvPr>
          <p:cNvSpPr/>
          <p:nvPr/>
        </p:nvSpPr>
        <p:spPr>
          <a:xfrm>
            <a:off x="1462639" y="6323076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67FE67F1-8530-33E3-8421-C2ABDA430AFD}"/>
              </a:ext>
            </a:extLst>
          </p:cNvPr>
          <p:cNvSpPr/>
          <p:nvPr/>
        </p:nvSpPr>
        <p:spPr>
          <a:xfrm>
            <a:off x="4265275" y="6323076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8A208B03-1659-C10F-6B3A-92D76820EAEC}"/>
              </a:ext>
            </a:extLst>
          </p:cNvPr>
          <p:cNvSpPr/>
          <p:nvPr/>
        </p:nvSpPr>
        <p:spPr>
          <a:xfrm>
            <a:off x="4265275" y="6323076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4BD2E5D7-6547-39DD-0C06-16EB5A71B750}"/>
              </a:ext>
            </a:extLst>
          </p:cNvPr>
          <p:cNvSpPr/>
          <p:nvPr/>
        </p:nvSpPr>
        <p:spPr>
          <a:xfrm>
            <a:off x="1462639" y="6899148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04AB5604-6700-3BCA-5598-7E1A6CE864EA}"/>
              </a:ext>
            </a:extLst>
          </p:cNvPr>
          <p:cNvSpPr/>
          <p:nvPr/>
        </p:nvSpPr>
        <p:spPr>
          <a:xfrm>
            <a:off x="1462639" y="6899148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0EA9E39E-39C0-C603-CA85-8311008093A5}"/>
              </a:ext>
            </a:extLst>
          </p:cNvPr>
          <p:cNvSpPr/>
          <p:nvPr/>
        </p:nvSpPr>
        <p:spPr>
          <a:xfrm>
            <a:off x="4265275" y="6899148"/>
            <a:ext cx="214782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44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FD943FA1-EA94-34A5-E8C5-044215B293EA}"/>
              </a:ext>
            </a:extLst>
          </p:cNvPr>
          <p:cNvSpPr/>
          <p:nvPr/>
        </p:nvSpPr>
        <p:spPr>
          <a:xfrm>
            <a:off x="4265275" y="6899148"/>
            <a:ext cx="21478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Kaizen</a:t>
            </a:r>
            <a:endParaRPr lang="en-US" sz="20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3" name="Shape 29">
            <a:extLst>
              <a:ext uri="{FF2B5EF4-FFF2-40B4-BE49-F238E27FC236}">
                <a16:creationId xmlns:a16="http://schemas.microsoft.com/office/drawing/2014/main" id="{219FC295-90F5-B65A-1AD0-F6DC7D4B3FEF}"/>
              </a:ext>
            </a:extLst>
          </p:cNvPr>
          <p:cNvSpPr/>
          <p:nvPr/>
        </p:nvSpPr>
        <p:spPr>
          <a:xfrm>
            <a:off x="12098232" y="4192524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0F5F3485-8921-97E5-F89D-CF7F4C9344E9}"/>
              </a:ext>
            </a:extLst>
          </p:cNvPr>
          <p:cNvSpPr/>
          <p:nvPr/>
        </p:nvSpPr>
        <p:spPr>
          <a:xfrm>
            <a:off x="12281112" y="430225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5" name="Text 31">
            <a:extLst>
              <a:ext uri="{FF2B5EF4-FFF2-40B4-BE49-F238E27FC236}">
                <a16:creationId xmlns:a16="http://schemas.microsoft.com/office/drawing/2014/main" id="{80EED1DB-1685-19BD-AB8E-766C9C64D848}"/>
              </a:ext>
            </a:extLst>
          </p:cNvPr>
          <p:cNvSpPr/>
          <p:nvPr/>
        </p:nvSpPr>
        <p:spPr>
          <a:xfrm>
            <a:off x="12281112" y="45948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identificadas sozinhas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6" name="Shape 32">
            <a:extLst>
              <a:ext uri="{FF2B5EF4-FFF2-40B4-BE49-F238E27FC236}">
                <a16:creationId xmlns:a16="http://schemas.microsoft.com/office/drawing/2014/main" id="{03656190-A9F7-E72D-9A30-D9429AB62873}"/>
              </a:ext>
            </a:extLst>
          </p:cNvPr>
          <p:cNvSpPr/>
          <p:nvPr/>
        </p:nvSpPr>
        <p:spPr>
          <a:xfrm>
            <a:off x="12098232" y="5125212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7" name="Text 33">
            <a:extLst>
              <a:ext uri="{FF2B5EF4-FFF2-40B4-BE49-F238E27FC236}">
                <a16:creationId xmlns:a16="http://schemas.microsoft.com/office/drawing/2014/main" id="{3023F6D1-15C4-B411-80CA-81AC5C14E3B6}"/>
              </a:ext>
            </a:extLst>
          </p:cNvPr>
          <p:cNvSpPr/>
          <p:nvPr/>
        </p:nvSpPr>
        <p:spPr>
          <a:xfrm>
            <a:off x="12281112" y="523494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8" name="Text 34">
            <a:extLst>
              <a:ext uri="{FF2B5EF4-FFF2-40B4-BE49-F238E27FC236}">
                <a16:creationId xmlns:a16="http://schemas.microsoft.com/office/drawing/2014/main" id="{24B1F89C-617E-7342-B494-405718751C6C}"/>
              </a:ext>
            </a:extLst>
          </p:cNvPr>
          <p:cNvSpPr/>
          <p:nvPr/>
        </p:nvSpPr>
        <p:spPr>
          <a:xfrm>
            <a:off x="12281112" y="552754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operacionais na hora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9" name="Shape 35">
            <a:extLst>
              <a:ext uri="{FF2B5EF4-FFF2-40B4-BE49-F238E27FC236}">
                <a16:creationId xmlns:a16="http://schemas.microsoft.com/office/drawing/2014/main" id="{A47935BD-7EB7-B589-AABB-B8DB7C5A394D}"/>
              </a:ext>
            </a:extLst>
          </p:cNvPr>
          <p:cNvSpPr/>
          <p:nvPr/>
        </p:nvSpPr>
        <p:spPr>
          <a:xfrm>
            <a:off x="12098232" y="6057900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0" name="Text 36">
            <a:extLst>
              <a:ext uri="{FF2B5EF4-FFF2-40B4-BE49-F238E27FC236}">
                <a16:creationId xmlns:a16="http://schemas.microsoft.com/office/drawing/2014/main" id="{975EC40F-1794-3904-8AF1-AD9AAE526BA2}"/>
              </a:ext>
            </a:extLst>
          </p:cNvPr>
          <p:cNvSpPr/>
          <p:nvPr/>
        </p:nvSpPr>
        <p:spPr>
          <a:xfrm>
            <a:off x="12281112" y="616762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6706D360-9F0E-E113-46ED-542316DF59C2}"/>
              </a:ext>
            </a:extLst>
          </p:cNvPr>
          <p:cNvSpPr/>
          <p:nvPr/>
        </p:nvSpPr>
        <p:spPr>
          <a:xfrm>
            <a:off x="12281112" y="64602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completa do cliente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3" name="Shape 38">
            <a:extLst>
              <a:ext uri="{FF2B5EF4-FFF2-40B4-BE49-F238E27FC236}">
                <a16:creationId xmlns:a16="http://schemas.microsoft.com/office/drawing/2014/main" id="{D121ECF9-B51F-AFF4-FC94-DD5672C160D5}"/>
              </a:ext>
            </a:extLst>
          </p:cNvPr>
          <p:cNvSpPr/>
          <p:nvPr/>
        </p:nvSpPr>
        <p:spPr>
          <a:xfrm>
            <a:off x="12098232" y="6990588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3456F528-4101-2AC0-1F87-7B47C2D264F5}"/>
              </a:ext>
            </a:extLst>
          </p:cNvPr>
          <p:cNvSpPr/>
          <p:nvPr/>
        </p:nvSpPr>
        <p:spPr>
          <a:xfrm>
            <a:off x="12281112" y="710031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7F482AA8-1967-5575-B903-32A8CD59485A}"/>
              </a:ext>
            </a:extLst>
          </p:cNvPr>
          <p:cNvSpPr/>
          <p:nvPr/>
        </p:nvSpPr>
        <p:spPr>
          <a:xfrm>
            <a:off x="12281112" y="739292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recomendada com IA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41" name="BJPseudoFooter">
            <a:extLst>
              <a:ext uri="{FF2B5EF4-FFF2-40B4-BE49-F238E27FC236}">
                <a16:creationId xmlns:a16="http://schemas.microsoft.com/office/drawing/2014/main" id="{01833692-870F-9379-14B5-73193F4D4B9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09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">
            <a:extLst>
              <a:ext uri="{FF2B5EF4-FFF2-40B4-BE49-F238E27FC236}">
                <a16:creationId xmlns:a16="http://schemas.microsoft.com/office/drawing/2014/main" id="{9EB6131D-1F29-7F14-15A1-DB04BD8C5B51}"/>
              </a:ext>
            </a:extLst>
          </p:cNvPr>
          <p:cNvSpPr/>
          <p:nvPr/>
        </p:nvSpPr>
        <p:spPr>
          <a:xfrm>
            <a:off x="1" y="-40005"/>
            <a:ext cx="18230308" cy="10287000"/>
          </a:xfrm>
          <a:custGeom>
            <a:avLst/>
            <a:gdLst/>
            <a:ahLst/>
            <a:cxnLst/>
            <a:rect l="l" t="t" r="r" b="b"/>
            <a:pathLst>
              <a:path w="8759825" h="10287000">
                <a:moveTo>
                  <a:pt x="0" y="0"/>
                </a:moveTo>
                <a:lnTo>
                  <a:pt x="8759825" y="0"/>
                </a:lnTo>
                <a:lnTo>
                  <a:pt x="87598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t="-90" b="-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04440" y="3867150"/>
            <a:ext cx="3619500" cy="3619500"/>
          </a:xfrm>
          <a:prstGeom prst="ellipse">
            <a:avLst/>
          </a:prstGeom>
          <a:ln w="7620">
            <a:solidFill>
              <a:srgbClr val="1A72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78412" y="3620633"/>
            <a:ext cx="6366364" cy="365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pt-BR" sz="2000" dirty="0"/>
              <a:t>O </a:t>
            </a:r>
            <a:r>
              <a:rPr lang="pt-BR" sz="2000" kern="0" spc="300" dirty="0">
                <a:solidFill>
                  <a:srgbClr val="0070C0"/>
                </a:solidFill>
                <a:latin typeface="Bahnschrift" panose="020B0502040204020203" pitchFamily="34" charset="0"/>
                <a:cs typeface="Arial" pitchFamily="34" charset="-120"/>
              </a:rPr>
              <a:t>Centro de Inteligência da Rede Yamaha</a:t>
            </a:r>
            <a:endParaRPr lang="en-US" sz="2000" kern="0" spc="300" dirty="0">
              <a:solidFill>
                <a:srgbClr val="0070C0"/>
              </a:solidFill>
              <a:latin typeface="Bahnschrift" panose="020B0502040204020203" pitchFamily="34" charset="0"/>
              <a:cs typeface="Arial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47826" y="2218980"/>
            <a:ext cx="7507327" cy="1767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0" b="1" kern="0" spc="-150" dirty="0">
                <a:solidFill>
                  <a:srgbClr val="FFFFFF"/>
                </a:solidFill>
                <a:latin typeface="Bahnschrift SemiBold Condensed" panose="020B0502040204020203" pitchFamily="34" charset="0"/>
                <a:ea typeface="Arial" pitchFamily="34" charset="-122"/>
                <a:cs typeface="Arial" pitchFamily="34" charset="-120"/>
              </a:rPr>
              <a:t>SMART DEALER</a:t>
            </a:r>
            <a:endParaRPr lang="en-US" sz="11500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55920" y="4735721"/>
            <a:ext cx="1053674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00" dirty="0">
                <a:solidFill>
                  <a:srgbClr val="0070C0"/>
                </a:solidFill>
                <a:latin typeface="Bahnschrift" panose="020B0502040204020203" pitchFamily="34" charset="0"/>
                <a:cs typeface="Arial" pitchFamily="34" charset="-120"/>
              </a:rPr>
              <a:t>A CCY INTELIGENTE GERENCIA EXPERIÊNCIAS</a:t>
            </a:r>
            <a:endParaRPr lang="en-US" sz="18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55920" y="5241000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90547" y="5439120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Vendas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10280" y="5241000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44907" y="5439120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464641" y="5241000"/>
            <a:ext cx="332113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99266" y="5439120"/>
            <a:ext cx="30518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Banco Yamaha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55920" y="6067770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90547" y="6265890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Consórcio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10280" y="6067770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44907" y="6265890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Pós-venda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464641" y="6067770"/>
            <a:ext cx="332113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99266" y="6265890"/>
            <a:ext cx="30518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Oficina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555920" y="6894540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90547" y="7092660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10280" y="6894540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44907" y="7092660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Blu Club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55799" y="7721310"/>
            <a:ext cx="10229971" cy="693420"/>
          </a:xfrm>
          <a:prstGeom prst="roundRect">
            <a:avLst>
              <a:gd name="adj" fmla="val 16484"/>
            </a:avLst>
          </a:prstGeom>
          <a:solidFill>
            <a:srgbClr val="1A72D4">
              <a:alpha val="14000"/>
            </a:srgbClr>
          </a:solidFill>
          <a:ln w="7620">
            <a:solidFill>
              <a:srgbClr val="1A72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90425" y="7919430"/>
            <a:ext cx="94006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2D4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79FDA789-5BB7-CA73-C28C-F156C6D9A920}"/>
              </a:ext>
            </a:extLst>
          </p:cNvPr>
          <p:cNvSpPr/>
          <p:nvPr/>
        </p:nvSpPr>
        <p:spPr>
          <a:xfrm>
            <a:off x="10464640" y="6901796"/>
            <a:ext cx="3321010" cy="693420"/>
          </a:xfrm>
          <a:prstGeom prst="roundRect">
            <a:avLst>
              <a:gd name="adj" fmla="val 1648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B38D2F6C-D91D-9980-33FA-3550CD0C3DB8}"/>
              </a:ext>
            </a:extLst>
          </p:cNvPr>
          <p:cNvSpPr/>
          <p:nvPr/>
        </p:nvSpPr>
        <p:spPr>
          <a:xfrm>
            <a:off x="10599267" y="7099916"/>
            <a:ext cx="30517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99B90A-6E44-252A-9842-B75360C7B996}"/>
              </a:ext>
            </a:extLst>
          </p:cNvPr>
          <p:cNvSpPr txBox="1"/>
          <p:nvPr/>
        </p:nvSpPr>
        <p:spPr>
          <a:xfrm>
            <a:off x="278681" y="1144694"/>
            <a:ext cx="123857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Centro de Inteligência da rede Yamaha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EA703B5-CB59-2763-F1BE-0F4ADFA05AAD}"/>
              </a:ext>
            </a:extLst>
          </p:cNvPr>
          <p:cNvSpPr txBox="1"/>
          <p:nvPr/>
        </p:nvSpPr>
        <p:spPr>
          <a:xfrm>
            <a:off x="298009" y="106218"/>
            <a:ext cx="107899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A SOLUÇÃO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4A94BC20-86EE-236D-99E0-232149B7E61C}"/>
              </a:ext>
            </a:extLst>
          </p:cNvPr>
          <p:cNvSpPr/>
          <p:nvPr/>
        </p:nvSpPr>
        <p:spPr>
          <a:xfrm>
            <a:off x="3690547" y="8068020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1FBC42A-650F-DCD0-A09C-A2F3CBADA0D6}"/>
              </a:ext>
            </a:extLst>
          </p:cNvPr>
          <p:cNvSpPr/>
          <p:nvPr/>
        </p:nvSpPr>
        <p:spPr>
          <a:xfrm>
            <a:off x="3873427" y="817774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48321675-E18E-EE9A-33A2-3ECD01537F6B}"/>
              </a:ext>
            </a:extLst>
          </p:cNvPr>
          <p:cNvSpPr/>
          <p:nvPr/>
        </p:nvSpPr>
        <p:spPr>
          <a:xfrm>
            <a:off x="3873427" y="847035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identificadas sozinhas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EF207DFF-41A5-CF9D-6A12-F36DF5BFA710}"/>
              </a:ext>
            </a:extLst>
          </p:cNvPr>
          <p:cNvSpPr/>
          <p:nvPr/>
        </p:nvSpPr>
        <p:spPr>
          <a:xfrm>
            <a:off x="3690547" y="9000708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217C9C12-7706-5EF6-9524-750640898171}"/>
              </a:ext>
            </a:extLst>
          </p:cNvPr>
          <p:cNvSpPr/>
          <p:nvPr/>
        </p:nvSpPr>
        <p:spPr>
          <a:xfrm>
            <a:off x="3873427" y="91104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1B377BDC-D0CF-2AFF-03CD-08D3396FC9DA}"/>
              </a:ext>
            </a:extLst>
          </p:cNvPr>
          <p:cNvSpPr/>
          <p:nvPr/>
        </p:nvSpPr>
        <p:spPr>
          <a:xfrm>
            <a:off x="3873427" y="940304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operacionais na hora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984979E0-C356-6C94-F880-05795C325525}"/>
              </a:ext>
            </a:extLst>
          </p:cNvPr>
          <p:cNvSpPr/>
          <p:nvPr/>
        </p:nvSpPr>
        <p:spPr>
          <a:xfrm>
            <a:off x="3690547" y="9933396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5506E7AF-79C1-4134-7C90-4A11FEE6C2F9}"/>
              </a:ext>
            </a:extLst>
          </p:cNvPr>
          <p:cNvSpPr/>
          <p:nvPr/>
        </p:nvSpPr>
        <p:spPr>
          <a:xfrm>
            <a:off x="3873427" y="1004312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370FCD35-04F2-7447-F1E1-53EACB77A895}"/>
              </a:ext>
            </a:extLst>
          </p:cNvPr>
          <p:cNvSpPr/>
          <p:nvPr/>
        </p:nvSpPr>
        <p:spPr>
          <a:xfrm>
            <a:off x="3873427" y="1033573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completa do cliente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7AECA05D-4441-13A1-C7D2-4D0A2F4BDE6D}"/>
              </a:ext>
            </a:extLst>
          </p:cNvPr>
          <p:cNvSpPr/>
          <p:nvPr/>
        </p:nvSpPr>
        <p:spPr>
          <a:xfrm>
            <a:off x="3690547" y="10866084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360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AF4F13FB-03A8-BB52-8694-B1E4FD90C752}"/>
              </a:ext>
            </a:extLst>
          </p:cNvPr>
          <p:cNvSpPr/>
          <p:nvPr/>
        </p:nvSpPr>
        <p:spPr>
          <a:xfrm>
            <a:off x="3873427" y="1097581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24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50A3499F-C75C-C55D-B93B-3575314AA6F5}"/>
              </a:ext>
            </a:extLst>
          </p:cNvPr>
          <p:cNvSpPr/>
          <p:nvPr/>
        </p:nvSpPr>
        <p:spPr>
          <a:xfrm>
            <a:off x="3873427" y="112684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3897"/>
                </a:solidFill>
                <a:latin typeface="Grandview" panose="020B0502040204020203" pitchFamily="34" charset="0"/>
                <a:ea typeface="Calibri" pitchFamily="34" charset="-122"/>
                <a:cs typeface="Calibri" pitchFamily="34" charset="-120"/>
              </a:rPr>
              <a:t>recomendada com IA</a:t>
            </a:r>
            <a:endParaRPr lang="en-US" sz="1600" dirty="0">
              <a:solidFill>
                <a:srgbClr val="003897"/>
              </a:solidFill>
              <a:latin typeface="Grandview" panose="020B0502040204020203" pitchFamily="34" charset="0"/>
            </a:endParaRPr>
          </a:p>
        </p:txBody>
      </p:sp>
      <p:sp>
        <p:nvSpPr>
          <p:cNvPr id="43" name="BJPseudoFooter">
            <a:extLst>
              <a:ext uri="{FF2B5EF4-FFF2-40B4-BE49-F238E27FC236}">
                <a16:creationId xmlns:a16="http://schemas.microsoft.com/office/drawing/2014/main" id="{FDB5AE12-1315-D767-5326-BA9E187AD88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_NOVAS MELHORIAS/deck-assets/bg-produto.png">
            <a:extLst>
              <a:ext uri="{FF2B5EF4-FFF2-40B4-BE49-F238E27FC236}">
                <a16:creationId xmlns:a16="http://schemas.microsoft.com/office/drawing/2014/main" id="{B770B289-4E2E-3E19-BC5A-A167FF684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473034" cy="10393680"/>
          </a:xfrm>
          <a:prstGeom prst="rect">
            <a:avLst/>
          </a:prstGeom>
        </p:spPr>
      </p:pic>
      <p:sp>
        <p:nvSpPr>
          <p:cNvPr id="198" name="CaixaDeTexto 197">
            <a:extLst>
              <a:ext uri="{FF2B5EF4-FFF2-40B4-BE49-F238E27FC236}">
                <a16:creationId xmlns:a16="http://schemas.microsoft.com/office/drawing/2014/main" id="{070743D4-41AF-60CF-2EF3-FF71B108B390}"/>
              </a:ext>
            </a:extLst>
          </p:cNvPr>
          <p:cNvSpPr txBox="1"/>
          <p:nvPr/>
        </p:nvSpPr>
        <p:spPr>
          <a:xfrm>
            <a:off x="2708647" y="2485314"/>
            <a:ext cx="2739211" cy="9174812"/>
          </a:xfrm>
          <a:prstGeom prst="rect">
            <a:avLst/>
          </a:prstGeom>
          <a:noFill/>
        </p:spPr>
        <p:txBody>
          <a:bodyPr vert="vert270" wrap="square">
            <a:spAutoFit/>
          </a:bodyPr>
          <a:lstStyle/>
          <a:p>
            <a:pPr algn="r"/>
            <a:r>
              <a:rPr lang="pt-BR" sz="16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pt-BR" sz="16600" dirty="0">
                <a:ln>
                  <a:solidFill>
                    <a:srgbClr val="62A5FA"/>
                  </a:solidFill>
                </a:ln>
                <a:noFill/>
                <a:latin typeface="Bahnschrift SemiBold Condensed" panose="020B0502040204020203" pitchFamily="34" charset="0"/>
              </a:rPr>
              <a:t>CONCEITO</a:t>
            </a:r>
          </a:p>
        </p:txBody>
      </p:sp>
      <p:pic>
        <p:nvPicPr>
          <p:cNvPr id="42" name="Рисунок 4">
            <a:extLst>
              <a:ext uri="{FF2B5EF4-FFF2-40B4-BE49-F238E27FC236}">
                <a16:creationId xmlns:a16="http://schemas.microsoft.com/office/drawing/2014/main" id="{061412EF-D865-8C87-9653-1E36A18E65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817" y="275194"/>
            <a:ext cx="19701233" cy="1265137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C63AD4F1-FCB0-E1BB-F7EF-0E0FE99CF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63" y="2116464"/>
            <a:ext cx="11579191" cy="659843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E96E6F3-D1B1-5C8C-F20B-01B56BD5057C}"/>
              </a:ext>
            </a:extLst>
          </p:cNvPr>
          <p:cNvSpPr txBox="1"/>
          <p:nvPr/>
        </p:nvSpPr>
        <p:spPr>
          <a:xfrm>
            <a:off x="1860743" y="1469651"/>
            <a:ext cx="31005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NÃO É</a:t>
            </a:r>
            <a:endParaRPr lang="pt-BR" sz="4400" dirty="0">
              <a:solidFill>
                <a:schemeClr val="accent5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" name="BJPseudoFooter">
            <a:extLst>
              <a:ext uri="{FF2B5EF4-FFF2-40B4-BE49-F238E27FC236}">
                <a16:creationId xmlns:a16="http://schemas.microsoft.com/office/drawing/2014/main" id="{84B45411-4F87-8DF2-8623-DD3BAF60FD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53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59000" y="6858000"/>
            <a:ext cx="4953000" cy="4953000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 sz="240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98123" y="2506980"/>
            <a:ext cx="5474971" cy="3916680"/>
          </a:xfrm>
          <a:prstGeom prst="roundRect">
            <a:avLst>
              <a:gd name="adj" fmla="val 4770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240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5753" y="1876426"/>
            <a:ext cx="48765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 err="1">
                <a:solidFill>
                  <a:schemeClr val="bg1">
                    <a:lumMod val="85000"/>
                  </a:schemeClr>
                </a:solidFill>
                <a:latin typeface="Bahnschrift Condensed" panose="020B0502040204020203" pitchFamily="34" charset="0"/>
                <a:cs typeface="Arial" pitchFamily="34" charset="-120"/>
              </a:rPr>
              <a:t>Análises</a:t>
            </a:r>
            <a:r>
              <a:rPr lang="en-US" sz="3600" b="1" dirty="0">
                <a:solidFill>
                  <a:schemeClr val="bg1">
                    <a:lumMod val="85000"/>
                  </a:schemeClr>
                </a:solidFill>
                <a:latin typeface="Bahnschrift Condensed" panose="020B0502040204020203" pitchFamily="34" charset="0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chemeClr val="bg1">
                    <a:lumMod val="85000"/>
                  </a:schemeClr>
                </a:solidFill>
                <a:latin typeface="Bahnschrift Condensed" panose="020B0502040204020203" pitchFamily="34" charset="0"/>
                <a:cs typeface="Arial" pitchFamily="34" charset="-120"/>
              </a:rPr>
              <a:t>atuais</a:t>
            </a:r>
            <a:endParaRPr lang="en-US" sz="3600" dirty="0">
              <a:solidFill>
                <a:schemeClr val="bg1">
                  <a:lumMod val="8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72443" y="2684144"/>
            <a:ext cx="2956560" cy="2459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Abrir CRM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Abrir Banco Yamaha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Abrir Consórcio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Abrir Planilhas internas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Cruzar informações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Analisar manualmente</a:t>
            </a:r>
            <a:endParaRPr lang="en-US" sz="2000" dirty="0">
              <a:solidFill>
                <a:srgbClr val="FFFFFF">
                  <a:alpha val="65000"/>
                </a:srgbClr>
              </a:solidFill>
              <a:latin typeface="Bahnschrift" panose="020B0502040204020203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000" dirty="0">
              <a:solidFill>
                <a:srgbClr val="FFFFFF">
                  <a:alpha val="65000"/>
                </a:srgbClr>
              </a:solidFill>
              <a:latin typeface="Bahnschrift" panose="020B0502040204020203" pitchFamily="34" charset="0"/>
              <a:cs typeface="Arial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92640" y="2506980"/>
            <a:ext cx="5234940" cy="7216140"/>
          </a:xfrm>
          <a:prstGeom prst="roundRect">
            <a:avLst>
              <a:gd name="adj" fmla="val 4770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2400">
              <a:latin typeface="Bahnschrift" panose="020B0502040204020203" pitchFamily="34" charset="0"/>
            </a:endParaRPr>
          </a:p>
        </p:txBody>
      </p:sp>
      <p:sp>
        <p:nvSpPr>
          <p:cNvPr id="27" name="Text 2"/>
          <p:cNvSpPr/>
          <p:nvPr/>
        </p:nvSpPr>
        <p:spPr>
          <a:xfrm>
            <a:off x="393618" y="426827"/>
            <a:ext cx="9299022" cy="889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4400" b="1" dirty="0">
                <a:solidFill>
                  <a:srgbClr val="FFFFFF"/>
                </a:solidFill>
                <a:latin typeface="Bahnschrift SemiBold Condensed" panose="020B0502040204020203" pitchFamily="34" charset="0"/>
                <a:cs typeface="Arial" pitchFamily="34" charset="-120"/>
              </a:rPr>
              <a:t>O que antes levava horas agora leva segundos</a:t>
            </a:r>
            <a:endParaRPr lang="en-US" sz="6600" dirty="0">
              <a:ln>
                <a:solidFill>
                  <a:srgbClr val="00B0F0"/>
                </a:solidFill>
              </a:ln>
              <a:noFill/>
              <a:latin typeface="Bahnschrift SemiBold Condensed" panose="020B0502040204020203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9F36BFD-8CA8-20EA-0D23-0D7228659D9B}"/>
              </a:ext>
            </a:extLst>
          </p:cNvPr>
          <p:cNvSpPr txBox="1"/>
          <p:nvPr/>
        </p:nvSpPr>
        <p:spPr>
          <a:xfrm>
            <a:off x="2472443" y="5097333"/>
            <a:ext cx="52349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FFFFFF"/>
                </a:solidFill>
                <a:latin typeface="Bahnschrift SemiBold Condensed" panose="020B0502040204020203" pitchFamily="34" charset="0"/>
                <a:cs typeface="Arial" pitchFamily="34" charset="-120"/>
              </a:rPr>
              <a:t>Tempo: </a:t>
            </a:r>
            <a:r>
              <a:rPr lang="pt-BR" sz="4000" b="1" dirty="0">
                <a:solidFill>
                  <a:srgbClr val="FF0000"/>
                </a:solidFill>
                <a:latin typeface="Bahnschrift SemiBold Condensed" panose="020B0502040204020203" pitchFamily="34" charset="0"/>
                <a:cs typeface="Arial" pitchFamily="34" charset="-120"/>
              </a:rPr>
              <a:t>30 minutos à 3 horas </a:t>
            </a:r>
            <a:r>
              <a:rPr lang="pt-BR" sz="2000" b="1" dirty="0">
                <a:solidFill>
                  <a:srgbClr val="FFFFFF"/>
                </a:solidFill>
                <a:latin typeface="Bahnschrift SemiBold Condensed" panose="020B0502040204020203" pitchFamily="34" charset="0"/>
                <a:cs typeface="Arial" pitchFamily="34" charset="-120"/>
              </a:rPr>
              <a:t>dependendo da complexidade da análise.</a:t>
            </a:r>
            <a:endParaRPr lang="pt-BR" sz="4000" b="1" dirty="0">
              <a:solidFill>
                <a:srgbClr val="FFFFFF"/>
              </a:solidFill>
              <a:latin typeface="Bahnschrift SemiBold Condensed" panose="020B0502040204020203" pitchFamily="34" charset="0"/>
              <a:cs typeface="Arial" pitchFamily="34" charset="-120"/>
            </a:endParaRP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8052B257-F577-1375-0F57-A54169514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237" y="2684144"/>
            <a:ext cx="4448796" cy="6001588"/>
          </a:xfrm>
          <a:prstGeom prst="rect">
            <a:avLst/>
          </a:prstGeom>
        </p:spPr>
      </p:pic>
      <p:sp>
        <p:nvSpPr>
          <p:cNvPr id="513" name="Text 4">
            <a:extLst>
              <a:ext uri="{FF2B5EF4-FFF2-40B4-BE49-F238E27FC236}">
                <a16:creationId xmlns:a16="http://schemas.microsoft.com/office/drawing/2014/main" id="{BFB0EE82-81C0-8003-87E5-4CF9C2638544}"/>
              </a:ext>
            </a:extLst>
          </p:cNvPr>
          <p:cNvSpPr/>
          <p:nvPr/>
        </p:nvSpPr>
        <p:spPr>
          <a:xfrm>
            <a:off x="9713477" y="1876426"/>
            <a:ext cx="48765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72D4"/>
                </a:solidFill>
                <a:latin typeface="Bahnschrift Condensed" panose="020B0502040204020203" pitchFamily="34" charset="0"/>
                <a:cs typeface="Arial" pitchFamily="34" charset="-120"/>
              </a:rPr>
              <a:t>Com Smart Dealer</a:t>
            </a:r>
            <a:endParaRPr lang="en-US" sz="3600" dirty="0">
              <a:latin typeface="Bahnschrift Condensed" panose="020B0502040204020203" pitchFamily="34" charset="0"/>
            </a:endParaRPr>
          </a:p>
        </p:txBody>
      </p:sp>
      <p:sp>
        <p:nvSpPr>
          <p:cNvPr id="525" name="CaixaDeTexto 524">
            <a:extLst>
              <a:ext uri="{FF2B5EF4-FFF2-40B4-BE49-F238E27FC236}">
                <a16:creationId xmlns:a16="http://schemas.microsoft.com/office/drawing/2014/main" id="{94CEED1E-AE8F-849C-2FED-6012DD07CC42}"/>
              </a:ext>
            </a:extLst>
          </p:cNvPr>
          <p:cNvSpPr txBox="1"/>
          <p:nvPr/>
        </p:nvSpPr>
        <p:spPr>
          <a:xfrm>
            <a:off x="10261873" y="8873186"/>
            <a:ext cx="4328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00B050"/>
                </a:solidFill>
                <a:latin typeface="Bahnschrift SemiBold Condensed" panose="020B0502040204020203" pitchFamily="34" charset="0"/>
                <a:cs typeface="Arial" pitchFamily="34" charset="-120"/>
              </a:rPr>
              <a:t>Resposta em segundos</a:t>
            </a:r>
          </a:p>
        </p:txBody>
      </p:sp>
      <p:sp>
        <p:nvSpPr>
          <p:cNvPr id="4" name="BJPseudoFooter">
            <a:extLst>
              <a:ext uri="{FF2B5EF4-FFF2-40B4-BE49-F238E27FC236}">
                <a16:creationId xmlns:a16="http://schemas.microsoft.com/office/drawing/2014/main" id="{1AE35C83-12D8-7A9C-AE17-3F26B83C915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49500" y="-1524000"/>
            <a:ext cx="4762500" cy="4762500"/>
          </a:xfrm>
          <a:prstGeom prst="ellipse">
            <a:avLst/>
          </a:prstGeom>
          <a:solidFill>
            <a:srgbClr val="1A72D4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47750" y="628650"/>
            <a:ext cx="33649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kern="0" spc="375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DO GERENTE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04013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Bahnschrift SemiBold Condensed" panose="020B0502040204020203" pitchFamily="34" charset="0"/>
                <a:ea typeface="Arial" pitchFamily="34" charset="-122"/>
                <a:cs typeface="Arial" pitchFamily="34" charset="-120"/>
              </a:rPr>
              <a:t>Gestão baseada em dados, não em percepção.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7750" y="2202180"/>
            <a:ext cx="5283161" cy="3228975"/>
          </a:xfrm>
          <a:prstGeom prst="roundRect">
            <a:avLst>
              <a:gd name="adj" fmla="val 4720"/>
            </a:avLst>
          </a:prstGeom>
          <a:solidFill>
            <a:srgbClr val="BFBFBF">
              <a:alpha val="36863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03020" y="2457450"/>
            <a:ext cx="49157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n>
                  <a:solidFill>
                    <a:srgbClr val="00B0F0"/>
                  </a:solidFill>
                </a:ln>
                <a:noFill/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Conversão por vendedor</a:t>
            </a:r>
            <a:endParaRPr lang="en-US" sz="3200" dirty="0">
              <a:ln>
                <a:solidFill>
                  <a:srgbClr val="00B0F0"/>
                </a:solidFill>
              </a:ln>
              <a:noFill/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3020" y="2849880"/>
            <a:ext cx="49157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Performance individual visível em tempo real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02361" y="2202180"/>
            <a:ext cx="5283161" cy="3228975"/>
          </a:xfrm>
          <a:prstGeom prst="roundRect">
            <a:avLst>
              <a:gd name="adj" fmla="val 4720"/>
            </a:avLst>
          </a:prstGeom>
          <a:solidFill>
            <a:srgbClr val="BFBFBF">
              <a:alpha val="41961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57631" y="2457450"/>
            <a:ext cx="49157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n>
                  <a:solidFill>
                    <a:srgbClr val="00B0F0"/>
                  </a:solidFill>
                </a:ln>
                <a:noFill/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Gestão da equipe</a:t>
            </a:r>
            <a:endParaRPr lang="en-US" sz="3200" dirty="0">
              <a:ln>
                <a:solidFill>
                  <a:srgbClr val="00B0F0"/>
                </a:solidFill>
              </a:ln>
              <a:noFill/>
              <a:latin typeface="Bahnschrif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57631" y="2849880"/>
            <a:ext cx="491579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Metas, resultados e ranking atualizados ao vivo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956971" y="2202180"/>
            <a:ext cx="5283161" cy="3228975"/>
          </a:xfrm>
          <a:prstGeom prst="roundRect">
            <a:avLst>
              <a:gd name="adj" fmla="val 4720"/>
            </a:avLst>
          </a:prstGeom>
          <a:solidFill>
            <a:srgbClr val="BFBFBF">
              <a:alpha val="36863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212241" y="2457450"/>
            <a:ext cx="49157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n>
                  <a:solidFill>
                    <a:srgbClr val="00B0F0"/>
                  </a:solidFill>
                </a:ln>
                <a:noFill/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Gargalos do funil</a:t>
            </a:r>
            <a:endParaRPr lang="en-US" sz="3200" dirty="0">
              <a:ln>
                <a:solidFill>
                  <a:srgbClr val="00B0F0"/>
                </a:solidFill>
              </a:ln>
              <a:noFill/>
              <a:latin typeface="Bahnschrif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212241" y="2849880"/>
            <a:ext cx="49157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Identifica onde os leads estão travando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7750" y="5602605"/>
            <a:ext cx="5283161" cy="3228975"/>
          </a:xfrm>
          <a:prstGeom prst="roundRect">
            <a:avLst>
              <a:gd name="adj" fmla="val 4720"/>
            </a:avLst>
          </a:prstGeom>
          <a:solidFill>
            <a:srgbClr val="BFBFBF">
              <a:alpha val="36863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03020" y="5857875"/>
            <a:ext cx="49157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n>
                  <a:solidFill>
                    <a:srgbClr val="00B0F0"/>
                  </a:solidFill>
                </a:ln>
                <a:noFill/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NPS em tempo real</a:t>
            </a:r>
            <a:endParaRPr lang="en-US" sz="3200" dirty="0">
              <a:ln>
                <a:solidFill>
                  <a:srgbClr val="00B0F0"/>
                </a:solidFill>
              </a:ln>
              <a:noFill/>
              <a:latin typeface="Bahnschrif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03020" y="6250305"/>
            <a:ext cx="49157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Monitora satisfação e age imediatamente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02361" y="5602605"/>
            <a:ext cx="5283161" cy="3228975"/>
          </a:xfrm>
          <a:prstGeom prst="roundRect">
            <a:avLst>
              <a:gd name="adj" fmla="val 4720"/>
            </a:avLst>
          </a:prstGeom>
          <a:solidFill>
            <a:srgbClr val="BFBFBF">
              <a:alpha val="36863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57631" y="5857875"/>
            <a:ext cx="49157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n>
                  <a:solidFill>
                    <a:srgbClr val="00B0F0"/>
                  </a:solidFill>
                </a:ln>
                <a:noFill/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Aprovação bancária</a:t>
            </a:r>
            <a:endParaRPr lang="en-US" sz="3200" dirty="0">
              <a:ln>
                <a:solidFill>
                  <a:srgbClr val="00B0F0"/>
                </a:solidFill>
              </a:ln>
              <a:noFill/>
              <a:latin typeface="Bahnschrift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57631" y="6250305"/>
            <a:ext cx="49157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Taxa de financiamento e motivos de recusa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956971" y="5602605"/>
            <a:ext cx="5283161" cy="3228975"/>
          </a:xfrm>
          <a:prstGeom prst="roundRect">
            <a:avLst>
              <a:gd name="adj" fmla="val 4720"/>
            </a:avLst>
          </a:prstGeom>
          <a:solidFill>
            <a:srgbClr val="BFBFBF">
              <a:alpha val="36863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212241" y="5857875"/>
            <a:ext cx="49157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n>
                  <a:solidFill>
                    <a:srgbClr val="00B0F0"/>
                  </a:solidFill>
                </a:ln>
                <a:noFill/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Eficiência operacional</a:t>
            </a:r>
            <a:endParaRPr lang="en-US" sz="3200" dirty="0">
              <a:ln>
                <a:solidFill>
                  <a:srgbClr val="00B0F0"/>
                </a:solidFill>
              </a:ln>
              <a:noFill/>
              <a:latin typeface="Bahnschrif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212241" y="6250305"/>
            <a:ext cx="491579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>
                    <a:alpha val="6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Painel completo da operação da concessionária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7750" y="9117330"/>
            <a:ext cx="16192500" cy="541020"/>
          </a:xfrm>
          <a:prstGeom prst="roundRect">
            <a:avLst>
              <a:gd name="adj" fmla="val 21127"/>
            </a:avLst>
          </a:prstGeom>
          <a:solidFill>
            <a:srgbClr val="1A72D4">
              <a:alpha val="8000"/>
            </a:srgbClr>
          </a:solidFill>
          <a:ln w="7620">
            <a:solidFill>
              <a:srgbClr val="1A72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 sz="3200">
              <a:latin typeface="Bahnschrift" panose="020B050204020402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03020" y="9117330"/>
            <a:ext cx="15194280" cy="697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1A72D4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RESULTADO: Maior previsibilidade operacional e comercial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26" name="BJPseudoFooter">
            <a:extLst>
              <a:ext uri="{FF2B5EF4-FFF2-40B4-BE49-F238E27FC236}">
                <a16:creationId xmlns:a16="http://schemas.microsoft.com/office/drawing/2014/main" id="{A2DAA69B-D208-703B-F527-B930763F57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49500" y="-1524000"/>
            <a:ext cx="4762500" cy="4762500"/>
          </a:xfrm>
          <a:prstGeom prst="ellipse">
            <a:avLst/>
          </a:prstGeom>
          <a:solidFill>
            <a:srgbClr val="1A72D4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47750" y="628650"/>
            <a:ext cx="15359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kern="0" spc="375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040130"/>
            <a:ext cx="1667827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chat universal para toda a operação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8501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única interface inteligente que serve todas as áreas da concessionária.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689860"/>
            <a:ext cx="3890962" cy="6968490"/>
          </a:xfrm>
          <a:prstGeom prst="roundRect">
            <a:avLst>
              <a:gd name="adj" fmla="val 4896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03020" y="2983230"/>
            <a:ext cx="3481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Mecânico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303020" y="3429000"/>
            <a:ext cx="22860" cy="685800"/>
          </a:xfrm>
          <a:prstGeom prst="rect">
            <a:avLst/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59230" y="3429000"/>
            <a:ext cx="33256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"Procedimento de revisão dos 6.000 km da Fazer 250?"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03020" y="4286250"/>
            <a:ext cx="348183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instantânea ao manual técnico e normas oficiais da Yamaha.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48263" y="2689860"/>
            <a:ext cx="3890962" cy="6968490"/>
          </a:xfrm>
          <a:prstGeom prst="roundRect">
            <a:avLst>
              <a:gd name="adj" fmla="val 4896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03532" y="2983230"/>
            <a:ext cx="3481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403532" y="3429000"/>
            <a:ext cx="22860" cy="685800"/>
          </a:xfrm>
          <a:prstGeom prst="rect">
            <a:avLst/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559742" y="3429000"/>
            <a:ext cx="33256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modelo devo focar hoje? Quais leads tenho prontos?"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03532" y="4286250"/>
            <a:ext cx="348183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Sugestões baseadas em leads, estoque, campanhas e aprovações disponíveis.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48775" y="2689860"/>
            <a:ext cx="3890962" cy="6968490"/>
          </a:xfrm>
          <a:prstGeom prst="roundRect">
            <a:avLst>
              <a:gd name="adj" fmla="val 4896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504045" y="2983230"/>
            <a:ext cx="3481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Pós-venda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504045" y="3429000"/>
            <a:ext cx="22860" cy="685800"/>
          </a:xfrm>
          <a:prstGeom prst="rect">
            <a:avLst/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660255" y="3429000"/>
            <a:ext cx="33256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"Quais clientes têm revisão vencida ou próxima?"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4045" y="4286250"/>
            <a:ext cx="348183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serviços, alertas proativos e agendamento automático.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349288" y="2689860"/>
            <a:ext cx="3890962" cy="6968490"/>
          </a:xfrm>
          <a:prstGeom prst="roundRect">
            <a:avLst>
              <a:gd name="adj" fmla="val 4896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3604558" y="2983230"/>
            <a:ext cx="3481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604558" y="3429000"/>
            <a:ext cx="22860" cy="685800"/>
          </a:xfrm>
          <a:prstGeom prst="rect">
            <a:avLst/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760768" y="3429000"/>
            <a:ext cx="33256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"Quais fichas aprovadas não foram pagas esta semana?"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604558" y="4286250"/>
            <a:ext cx="348183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integrada de aprovações, pendências e oportunidades de crédito.</a:t>
            </a:r>
            <a:endParaRPr lang="en-US" sz="1800" dirty="0"/>
          </a:p>
        </p:txBody>
      </p:sp>
      <p:sp>
        <p:nvSpPr>
          <p:cNvPr id="206" name="Shape 3">
            <a:extLst>
              <a:ext uri="{FF2B5EF4-FFF2-40B4-BE49-F238E27FC236}">
                <a16:creationId xmlns:a16="http://schemas.microsoft.com/office/drawing/2014/main" id="{25E2508C-59CF-7A9A-D84E-9C656F1854CC}"/>
              </a:ext>
            </a:extLst>
          </p:cNvPr>
          <p:cNvSpPr/>
          <p:nvPr/>
        </p:nvSpPr>
        <p:spPr>
          <a:xfrm>
            <a:off x="914967" y="6459855"/>
            <a:ext cx="5245061" cy="3289935"/>
          </a:xfrm>
          <a:prstGeom prst="roundRect">
            <a:avLst>
              <a:gd name="adj" fmla="val 3632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0B112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7" name="Shape 4">
            <a:extLst>
              <a:ext uri="{FF2B5EF4-FFF2-40B4-BE49-F238E27FC236}">
                <a16:creationId xmlns:a16="http://schemas.microsoft.com/office/drawing/2014/main" id="{A69B805A-17FF-04C1-CB90-31EE9B3D8DC9}"/>
              </a:ext>
            </a:extLst>
          </p:cNvPr>
          <p:cNvSpPr/>
          <p:nvPr/>
        </p:nvSpPr>
        <p:spPr>
          <a:xfrm>
            <a:off x="1181667" y="6764655"/>
            <a:ext cx="915233" cy="407670"/>
          </a:xfrm>
          <a:prstGeom prst="roundRect">
            <a:avLst>
              <a:gd name="adj" fmla="val 18692"/>
            </a:avLst>
          </a:prstGeom>
          <a:solidFill>
            <a:srgbClr val="1A72D4">
              <a:alpha val="10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8" name="Text 5">
            <a:extLst>
              <a:ext uri="{FF2B5EF4-FFF2-40B4-BE49-F238E27FC236}">
                <a16:creationId xmlns:a16="http://schemas.microsoft.com/office/drawing/2014/main" id="{D26FD180-83DA-4376-C097-34C61EE09C9C}"/>
              </a:ext>
            </a:extLst>
          </p:cNvPr>
          <p:cNvSpPr/>
          <p:nvPr/>
        </p:nvSpPr>
        <p:spPr>
          <a:xfrm>
            <a:off x="1313112" y="6819900"/>
            <a:ext cx="72854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800" dirty="0"/>
          </a:p>
        </p:txBody>
      </p:sp>
      <p:sp>
        <p:nvSpPr>
          <p:cNvPr id="209" name="Text 6">
            <a:extLst>
              <a:ext uri="{FF2B5EF4-FFF2-40B4-BE49-F238E27FC236}">
                <a16:creationId xmlns:a16="http://schemas.microsoft.com/office/drawing/2014/main" id="{1A97F7D0-05AE-AE36-2173-9085D67D85AB}"/>
              </a:ext>
            </a:extLst>
          </p:cNvPr>
          <p:cNvSpPr/>
          <p:nvPr/>
        </p:nvSpPr>
        <p:spPr>
          <a:xfrm>
            <a:off x="2173101" y="6838950"/>
            <a:ext cx="20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10" name="Shape 7">
            <a:extLst>
              <a:ext uri="{FF2B5EF4-FFF2-40B4-BE49-F238E27FC236}">
                <a16:creationId xmlns:a16="http://schemas.microsoft.com/office/drawing/2014/main" id="{25D0B334-4410-7471-B19E-054AA3FC2422}"/>
              </a:ext>
            </a:extLst>
          </p:cNvPr>
          <p:cNvSpPr/>
          <p:nvPr/>
        </p:nvSpPr>
        <p:spPr>
          <a:xfrm>
            <a:off x="2382889" y="6764655"/>
            <a:ext cx="1167646" cy="407670"/>
          </a:xfrm>
          <a:prstGeom prst="roundRect">
            <a:avLst>
              <a:gd name="adj" fmla="val 18692"/>
            </a:avLst>
          </a:prstGeom>
          <a:solidFill>
            <a:srgbClr val="1A72D4">
              <a:alpha val="10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1" name="Text 8">
            <a:extLst>
              <a:ext uri="{FF2B5EF4-FFF2-40B4-BE49-F238E27FC236}">
                <a16:creationId xmlns:a16="http://schemas.microsoft.com/office/drawing/2014/main" id="{62409949-DD69-369C-2121-2B9358B24ABA}"/>
              </a:ext>
            </a:extLst>
          </p:cNvPr>
          <p:cNvSpPr/>
          <p:nvPr/>
        </p:nvSpPr>
        <p:spPr>
          <a:xfrm>
            <a:off x="2514334" y="6819900"/>
            <a:ext cx="9809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800" dirty="0"/>
          </a:p>
        </p:txBody>
      </p:sp>
      <p:sp>
        <p:nvSpPr>
          <p:cNvPr id="212" name="Text 9">
            <a:extLst>
              <a:ext uri="{FF2B5EF4-FFF2-40B4-BE49-F238E27FC236}">
                <a16:creationId xmlns:a16="http://schemas.microsoft.com/office/drawing/2014/main" id="{50FDCF7F-2C60-673E-A232-5A29E7B6EAD4}"/>
              </a:ext>
            </a:extLst>
          </p:cNvPr>
          <p:cNvSpPr/>
          <p:nvPr/>
        </p:nvSpPr>
        <p:spPr>
          <a:xfrm>
            <a:off x="3626735" y="6838950"/>
            <a:ext cx="20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13" name="Shape 10">
            <a:extLst>
              <a:ext uri="{FF2B5EF4-FFF2-40B4-BE49-F238E27FC236}">
                <a16:creationId xmlns:a16="http://schemas.microsoft.com/office/drawing/2014/main" id="{A97BBE38-A633-3E88-EE63-2BAFF5FCC5B8}"/>
              </a:ext>
            </a:extLst>
          </p:cNvPr>
          <p:cNvSpPr/>
          <p:nvPr/>
        </p:nvSpPr>
        <p:spPr>
          <a:xfrm>
            <a:off x="3836523" y="6764655"/>
            <a:ext cx="1547455" cy="407670"/>
          </a:xfrm>
          <a:prstGeom prst="roundRect">
            <a:avLst>
              <a:gd name="adj" fmla="val 18692"/>
            </a:avLst>
          </a:prstGeom>
          <a:solidFill>
            <a:srgbClr val="1A72D4">
              <a:alpha val="10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4" name="Text 11">
            <a:extLst>
              <a:ext uri="{FF2B5EF4-FFF2-40B4-BE49-F238E27FC236}">
                <a16:creationId xmlns:a16="http://schemas.microsoft.com/office/drawing/2014/main" id="{4B24282A-8F89-0FC4-AC40-289DE70D0FF0}"/>
              </a:ext>
            </a:extLst>
          </p:cNvPr>
          <p:cNvSpPr/>
          <p:nvPr/>
        </p:nvSpPr>
        <p:spPr>
          <a:xfrm>
            <a:off x="3967968" y="6819900"/>
            <a:ext cx="13607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</a:t>
            </a:r>
            <a:endParaRPr lang="en-US" sz="1800" dirty="0"/>
          </a:p>
        </p:txBody>
      </p:sp>
      <p:sp>
        <p:nvSpPr>
          <p:cNvPr id="215" name="Shape 12">
            <a:extLst>
              <a:ext uri="{FF2B5EF4-FFF2-40B4-BE49-F238E27FC236}">
                <a16:creationId xmlns:a16="http://schemas.microsoft.com/office/drawing/2014/main" id="{8AAE5E08-AF02-012F-65AA-BA7A2864E98A}"/>
              </a:ext>
            </a:extLst>
          </p:cNvPr>
          <p:cNvSpPr/>
          <p:nvPr/>
        </p:nvSpPr>
        <p:spPr>
          <a:xfrm>
            <a:off x="1181667" y="7324725"/>
            <a:ext cx="381000" cy="28575"/>
          </a:xfrm>
          <a:prstGeom prst="roundRect">
            <a:avLst>
              <a:gd name="adj" fmla="val 50000"/>
            </a:avLst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6" name="Text 13">
            <a:extLst>
              <a:ext uri="{FF2B5EF4-FFF2-40B4-BE49-F238E27FC236}">
                <a16:creationId xmlns:a16="http://schemas.microsoft.com/office/drawing/2014/main" id="{A1B09134-FCA1-3AA6-51D8-4649AEFFA8F0}"/>
              </a:ext>
            </a:extLst>
          </p:cNvPr>
          <p:cNvSpPr/>
          <p:nvPr/>
        </p:nvSpPr>
        <p:spPr>
          <a:xfrm>
            <a:off x="1181667" y="7505700"/>
            <a:ext cx="48530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prioritário do dia</a:t>
            </a:r>
            <a:endParaRPr lang="en-US" sz="1950" dirty="0"/>
          </a:p>
        </p:txBody>
      </p:sp>
      <p:sp>
        <p:nvSpPr>
          <p:cNvPr id="217" name="Text 14">
            <a:extLst>
              <a:ext uri="{FF2B5EF4-FFF2-40B4-BE49-F238E27FC236}">
                <a16:creationId xmlns:a16="http://schemas.microsoft.com/office/drawing/2014/main" id="{807F615E-2A82-BCFA-6098-E021D21F7C6A}"/>
              </a:ext>
            </a:extLst>
          </p:cNvPr>
          <p:cNvSpPr/>
          <p:nvPr/>
        </p:nvSpPr>
        <p:spPr>
          <a:xfrm>
            <a:off x="1181667" y="7970520"/>
            <a:ext cx="485301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cruza os três dados e sugere automaticamente qual lead o vendedor deve abordar primeiro, com modelo e argumento já prontos.</a:t>
            </a:r>
            <a:endParaRPr lang="en-US" sz="1800" dirty="0"/>
          </a:p>
        </p:txBody>
      </p:sp>
      <p:sp>
        <p:nvSpPr>
          <p:cNvPr id="218" name="Shape 15">
            <a:extLst>
              <a:ext uri="{FF2B5EF4-FFF2-40B4-BE49-F238E27FC236}">
                <a16:creationId xmlns:a16="http://schemas.microsoft.com/office/drawing/2014/main" id="{B68E1D5E-BDA6-C61D-5EE0-C96E57A1FC0D}"/>
              </a:ext>
            </a:extLst>
          </p:cNvPr>
          <p:cNvSpPr/>
          <p:nvPr/>
        </p:nvSpPr>
        <p:spPr>
          <a:xfrm>
            <a:off x="6388628" y="6459855"/>
            <a:ext cx="5245061" cy="3289935"/>
          </a:xfrm>
          <a:prstGeom prst="roundRect">
            <a:avLst>
              <a:gd name="adj" fmla="val 3632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0B112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9" name="Shape 16">
            <a:extLst>
              <a:ext uri="{FF2B5EF4-FFF2-40B4-BE49-F238E27FC236}">
                <a16:creationId xmlns:a16="http://schemas.microsoft.com/office/drawing/2014/main" id="{1036D577-3532-75AC-FFD5-92B648406E29}"/>
              </a:ext>
            </a:extLst>
          </p:cNvPr>
          <p:cNvSpPr/>
          <p:nvPr/>
        </p:nvSpPr>
        <p:spPr>
          <a:xfrm>
            <a:off x="6655328" y="6764655"/>
            <a:ext cx="2641521" cy="407670"/>
          </a:xfrm>
          <a:prstGeom prst="roundRect">
            <a:avLst>
              <a:gd name="adj" fmla="val 18692"/>
            </a:avLst>
          </a:prstGeom>
          <a:solidFill>
            <a:srgbClr val="1A72D4">
              <a:alpha val="10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0" name="Text 17">
            <a:extLst>
              <a:ext uri="{FF2B5EF4-FFF2-40B4-BE49-F238E27FC236}">
                <a16:creationId xmlns:a16="http://schemas.microsoft.com/office/drawing/2014/main" id="{13B8F40F-D5C5-9EB3-4531-C2D86389473C}"/>
              </a:ext>
            </a:extLst>
          </p:cNvPr>
          <p:cNvSpPr/>
          <p:nvPr/>
        </p:nvSpPr>
        <p:spPr>
          <a:xfrm>
            <a:off x="6786773" y="6819900"/>
            <a:ext cx="245787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Aprovados não pagos</a:t>
            </a:r>
            <a:endParaRPr lang="en-US" sz="1800" dirty="0"/>
          </a:p>
        </p:txBody>
      </p:sp>
      <p:sp>
        <p:nvSpPr>
          <p:cNvPr id="221" name="Text 18">
            <a:extLst>
              <a:ext uri="{FF2B5EF4-FFF2-40B4-BE49-F238E27FC236}">
                <a16:creationId xmlns:a16="http://schemas.microsoft.com/office/drawing/2014/main" id="{A6673262-BFE2-FD31-D146-D566950310D0}"/>
              </a:ext>
            </a:extLst>
          </p:cNvPr>
          <p:cNvSpPr/>
          <p:nvPr/>
        </p:nvSpPr>
        <p:spPr>
          <a:xfrm>
            <a:off x="9373048" y="6838950"/>
            <a:ext cx="20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22" name="Shape 19">
            <a:extLst>
              <a:ext uri="{FF2B5EF4-FFF2-40B4-BE49-F238E27FC236}">
                <a16:creationId xmlns:a16="http://schemas.microsoft.com/office/drawing/2014/main" id="{04F14947-FECC-0DA7-A79C-10FE5D06FDDC}"/>
              </a:ext>
            </a:extLst>
          </p:cNvPr>
          <p:cNvSpPr/>
          <p:nvPr/>
        </p:nvSpPr>
        <p:spPr>
          <a:xfrm>
            <a:off x="9582836" y="6764655"/>
            <a:ext cx="1167646" cy="407670"/>
          </a:xfrm>
          <a:prstGeom prst="roundRect">
            <a:avLst>
              <a:gd name="adj" fmla="val 18692"/>
            </a:avLst>
          </a:prstGeom>
          <a:solidFill>
            <a:srgbClr val="1A72D4">
              <a:alpha val="10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3" name="Text 20">
            <a:extLst>
              <a:ext uri="{FF2B5EF4-FFF2-40B4-BE49-F238E27FC236}">
                <a16:creationId xmlns:a16="http://schemas.microsoft.com/office/drawing/2014/main" id="{7CE30367-ED52-D3F2-5827-8CB694C65666}"/>
              </a:ext>
            </a:extLst>
          </p:cNvPr>
          <p:cNvSpPr/>
          <p:nvPr/>
        </p:nvSpPr>
        <p:spPr>
          <a:xfrm>
            <a:off x="9714281" y="6819900"/>
            <a:ext cx="9809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800" dirty="0"/>
          </a:p>
        </p:txBody>
      </p:sp>
      <p:sp>
        <p:nvSpPr>
          <p:cNvPr id="224" name="Shape 21">
            <a:extLst>
              <a:ext uri="{FF2B5EF4-FFF2-40B4-BE49-F238E27FC236}">
                <a16:creationId xmlns:a16="http://schemas.microsoft.com/office/drawing/2014/main" id="{8232DB76-3057-DCB8-3717-893CF40EDE7E}"/>
              </a:ext>
            </a:extLst>
          </p:cNvPr>
          <p:cNvSpPr/>
          <p:nvPr/>
        </p:nvSpPr>
        <p:spPr>
          <a:xfrm>
            <a:off x="6655328" y="7324725"/>
            <a:ext cx="381000" cy="28575"/>
          </a:xfrm>
          <a:prstGeom prst="roundRect">
            <a:avLst>
              <a:gd name="adj" fmla="val 50000"/>
            </a:avLst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5" name="Text 22">
            <a:extLst>
              <a:ext uri="{FF2B5EF4-FFF2-40B4-BE49-F238E27FC236}">
                <a16:creationId xmlns:a16="http://schemas.microsoft.com/office/drawing/2014/main" id="{7F5461AF-3946-42AF-59DD-14DE4310B14E}"/>
              </a:ext>
            </a:extLst>
          </p:cNvPr>
          <p:cNvSpPr/>
          <p:nvPr/>
        </p:nvSpPr>
        <p:spPr>
          <a:xfrm>
            <a:off x="6655328" y="7505700"/>
            <a:ext cx="48530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de fechamento imediato</a:t>
            </a:r>
            <a:endParaRPr lang="en-US" sz="1950" dirty="0"/>
          </a:p>
        </p:txBody>
      </p:sp>
      <p:sp>
        <p:nvSpPr>
          <p:cNvPr id="226" name="Text 23">
            <a:extLst>
              <a:ext uri="{FF2B5EF4-FFF2-40B4-BE49-F238E27FC236}">
                <a16:creationId xmlns:a16="http://schemas.microsoft.com/office/drawing/2014/main" id="{4A6FD204-64AF-4F61-6738-FC8A8A647FA4}"/>
              </a:ext>
            </a:extLst>
          </p:cNvPr>
          <p:cNvSpPr/>
          <p:nvPr/>
        </p:nvSpPr>
        <p:spPr>
          <a:xfrm>
            <a:off x="6655328" y="7970520"/>
            <a:ext cx="48530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aprovadas não pagas cruzadas com estoque disponível: o sistema sinaliza oportunidades prontas para fechar no ato.</a:t>
            </a:r>
            <a:endParaRPr lang="en-US" sz="1800" dirty="0"/>
          </a:p>
        </p:txBody>
      </p:sp>
      <p:sp>
        <p:nvSpPr>
          <p:cNvPr id="227" name="Shape 24">
            <a:extLst>
              <a:ext uri="{FF2B5EF4-FFF2-40B4-BE49-F238E27FC236}">
                <a16:creationId xmlns:a16="http://schemas.microsoft.com/office/drawing/2014/main" id="{EFAC0475-C9BD-8684-A581-9FECB83F1DCB}"/>
              </a:ext>
            </a:extLst>
          </p:cNvPr>
          <p:cNvSpPr/>
          <p:nvPr/>
        </p:nvSpPr>
        <p:spPr>
          <a:xfrm>
            <a:off x="11862288" y="6459855"/>
            <a:ext cx="5245061" cy="3289935"/>
          </a:xfrm>
          <a:prstGeom prst="roundRect">
            <a:avLst>
              <a:gd name="adj" fmla="val 3632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0B112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8" name="Shape 25">
            <a:extLst>
              <a:ext uri="{FF2B5EF4-FFF2-40B4-BE49-F238E27FC236}">
                <a16:creationId xmlns:a16="http://schemas.microsoft.com/office/drawing/2014/main" id="{01D6676A-5E05-FCCB-1BA6-22C75839C27E}"/>
              </a:ext>
            </a:extLst>
          </p:cNvPr>
          <p:cNvSpPr/>
          <p:nvPr/>
        </p:nvSpPr>
        <p:spPr>
          <a:xfrm>
            <a:off x="12128988" y="6764655"/>
            <a:ext cx="4711660" cy="541020"/>
          </a:xfrm>
          <a:prstGeom prst="roundRect">
            <a:avLst>
              <a:gd name="adj" fmla="val 21127"/>
            </a:avLst>
          </a:prstGeom>
          <a:solidFill>
            <a:srgbClr val="1A72D4">
              <a:alpha val="6000"/>
            </a:srgbClr>
          </a:solidFill>
          <a:ln w="7620">
            <a:solidFill>
              <a:srgbClr val="1A72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9" name="Text 26">
            <a:extLst>
              <a:ext uri="{FF2B5EF4-FFF2-40B4-BE49-F238E27FC236}">
                <a16:creationId xmlns:a16="http://schemas.microsoft.com/office/drawing/2014/main" id="{7D7C6190-0569-F8E3-5414-F3E56DB91FFA}"/>
              </a:ext>
            </a:extLst>
          </p:cNvPr>
          <p:cNvSpPr/>
          <p:nvPr/>
        </p:nvSpPr>
        <p:spPr>
          <a:xfrm>
            <a:off x="12308058" y="6905625"/>
            <a:ext cx="448412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oportunidade devo focar hoje?"</a:t>
            </a:r>
            <a:endParaRPr lang="en-US" sz="1800" dirty="0"/>
          </a:p>
        </p:txBody>
      </p:sp>
      <p:sp>
        <p:nvSpPr>
          <p:cNvPr id="230" name="Shape 27">
            <a:extLst>
              <a:ext uri="{FF2B5EF4-FFF2-40B4-BE49-F238E27FC236}">
                <a16:creationId xmlns:a16="http://schemas.microsoft.com/office/drawing/2014/main" id="{86B6A59C-2021-0CAD-89E1-FA1B0E7BA2F1}"/>
              </a:ext>
            </a:extLst>
          </p:cNvPr>
          <p:cNvSpPr/>
          <p:nvPr/>
        </p:nvSpPr>
        <p:spPr>
          <a:xfrm>
            <a:off x="12128988" y="7458075"/>
            <a:ext cx="381000" cy="28575"/>
          </a:xfrm>
          <a:prstGeom prst="roundRect">
            <a:avLst>
              <a:gd name="adj" fmla="val 50000"/>
            </a:avLst>
          </a:prstGeom>
          <a:solidFill>
            <a:srgbClr val="1A72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1" name="Text 28">
            <a:extLst>
              <a:ext uri="{FF2B5EF4-FFF2-40B4-BE49-F238E27FC236}">
                <a16:creationId xmlns:a16="http://schemas.microsoft.com/office/drawing/2014/main" id="{A8CC6279-D88A-43C3-E7A6-41B3A7D3EAFB}"/>
              </a:ext>
            </a:extLst>
          </p:cNvPr>
          <p:cNvSpPr/>
          <p:nvPr/>
        </p:nvSpPr>
        <p:spPr>
          <a:xfrm>
            <a:off x="12128988" y="7639050"/>
            <a:ext cx="48530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responde em segundos</a:t>
            </a:r>
            <a:endParaRPr lang="en-US" sz="1950" dirty="0"/>
          </a:p>
        </p:txBody>
      </p:sp>
      <p:sp>
        <p:nvSpPr>
          <p:cNvPr id="232" name="Text 29">
            <a:extLst>
              <a:ext uri="{FF2B5EF4-FFF2-40B4-BE49-F238E27FC236}">
                <a16:creationId xmlns:a16="http://schemas.microsoft.com/office/drawing/2014/main" id="{ACC2B911-9E9B-8411-7A7E-33439DF8DBFB}"/>
              </a:ext>
            </a:extLst>
          </p:cNvPr>
          <p:cNvSpPr/>
          <p:nvPr/>
        </p:nvSpPr>
        <p:spPr>
          <a:xfrm>
            <a:off x="12128988" y="8103870"/>
            <a:ext cx="48530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vendedor pergunta e recebe uma sugestão baseada em todos os dados disponíveis — leads, estoque, campanhas e aprovações.</a:t>
            </a:r>
            <a:endParaRPr lang="en-US" sz="1800" dirty="0"/>
          </a:p>
        </p:txBody>
      </p:sp>
      <p:sp>
        <p:nvSpPr>
          <p:cNvPr id="27" name="BJPseudoFooter">
            <a:extLst>
              <a:ext uri="{FF2B5EF4-FFF2-40B4-BE49-F238E27FC236}">
                <a16:creationId xmlns:a16="http://schemas.microsoft.com/office/drawing/2014/main" id="{8D511B41-55C5-B5C4-8E17-DD518FCA710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242" y="754380"/>
            <a:ext cx="159517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kern="0" spc="225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EM AÇÃO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68242" y="1165860"/>
            <a:ext cx="15951708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45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Yamaha: recusado não é fim de linha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68242" y="2167128"/>
            <a:ext cx="1595170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2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cruza a base de recusados do CDC com o Liberacred e devolve ao vendedor um cliente já aprovado de novo.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6434150" y="96697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68242" y="2880360"/>
            <a:ext cx="7338060" cy="932688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7" name="Text 5"/>
          <p:cNvSpPr/>
          <p:nvPr/>
        </p:nvSpPr>
        <p:spPr>
          <a:xfrm>
            <a:off x="1442562" y="2990088"/>
            <a:ext cx="11658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745582" y="300380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25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recusados no CDC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2745582" y="338785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2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trimestre, no grupo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552290" y="3703320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68242" y="3950208"/>
            <a:ext cx="7338060" cy="932688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12" name="Text 10"/>
          <p:cNvSpPr/>
          <p:nvPr/>
        </p:nvSpPr>
        <p:spPr>
          <a:xfrm>
            <a:off x="1442562" y="4059936"/>
            <a:ext cx="11658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745582" y="40736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25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elegíveis Liberacred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2745582" y="445770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2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automático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552290" y="477316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68242" y="5020056"/>
            <a:ext cx="7338060" cy="932688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17" name="Text 15"/>
          <p:cNvSpPr/>
          <p:nvPr/>
        </p:nvSpPr>
        <p:spPr>
          <a:xfrm>
            <a:off x="1442562" y="5129784"/>
            <a:ext cx="11658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745582" y="51435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25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contatados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2745582" y="552754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2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trabalho do vendedor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552290" y="5843016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68242" y="6089904"/>
            <a:ext cx="7338060" cy="932688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22" name="Text 20"/>
          <p:cNvSpPr/>
          <p:nvPr/>
        </p:nvSpPr>
        <p:spPr>
          <a:xfrm>
            <a:off x="1442562" y="6199632"/>
            <a:ext cx="11658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2745582" y="62133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25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convertidos em venda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2745582" y="659739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2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R$ 92.300 recuperados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168242" y="7338060"/>
            <a:ext cx="7338060" cy="2057400"/>
          </a:xfrm>
          <a:prstGeom prst="roundRect">
            <a:avLst>
              <a:gd name="adj" fmla="val 2000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26" name="Text 24"/>
          <p:cNvSpPr/>
          <p:nvPr/>
        </p:nvSpPr>
        <p:spPr>
          <a:xfrm>
            <a:off x="1469994" y="7543800"/>
            <a:ext cx="6720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25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Liberacred como prêmio, nunca como recusa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1469994" y="7955280"/>
            <a:ext cx="6720840" cy="13030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>
              <a:lnSpc>
                <a:spcPts val="2025"/>
              </a:lnSpc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"Parabéns! Você acaba de ser APROVADO no Liberacred do Banco Yamaha </a:t>
            </a:r>
            <a:r>
              <a:rPr lang="en-US" sz="15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especiais, sem nova análise." Disparada pelo vendedor em um clique.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054942" y="2948940"/>
            <a:ext cx="8202168" cy="5281518"/>
          </a:xfrm>
          <a:prstGeom prst="roundRect">
            <a:avLst>
              <a:gd name="adj" fmla="val 1818"/>
            </a:avLst>
          </a:prstGeom>
          <a:solidFill>
            <a:srgbClr val="0E1D36"/>
          </a:solidFill>
          <a:ln w="9525">
            <a:solidFill>
              <a:srgbClr val="22304A"/>
            </a:solidFill>
            <a:prstDash val="solid"/>
          </a:ln>
          <a:effectLst>
            <a:outerShdw blurRad="177800" dist="63500" dir="5400000" algn="bl" rotWithShape="0">
              <a:srgbClr val="0A1220">
                <a:alpha val="50000"/>
              </a:srgbClr>
            </a:outerShdw>
          </a:effectLst>
        </p:spPr>
        <p:txBody>
          <a:bodyPr/>
          <a:lstStyle/>
          <a:p>
            <a:endParaRPr lang="pt-BR" sz="2700"/>
          </a:p>
        </p:txBody>
      </p:sp>
      <p:sp>
        <p:nvSpPr>
          <p:cNvPr id="29" name="Shape 27"/>
          <p:cNvSpPr/>
          <p:nvPr/>
        </p:nvSpPr>
        <p:spPr>
          <a:xfrm>
            <a:off x="9274398" y="3086100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30" name="Shape 28"/>
          <p:cNvSpPr/>
          <p:nvPr/>
        </p:nvSpPr>
        <p:spPr>
          <a:xfrm>
            <a:off x="9507570" y="30861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31" name="Shape 29"/>
          <p:cNvSpPr/>
          <p:nvPr/>
        </p:nvSpPr>
        <p:spPr>
          <a:xfrm>
            <a:off x="9740742" y="3086100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pt-BR" sz="2700"/>
          </a:p>
        </p:txBody>
      </p:sp>
      <p:sp>
        <p:nvSpPr>
          <p:cNvPr id="32" name="Text 30"/>
          <p:cNvSpPr/>
          <p:nvPr/>
        </p:nvSpPr>
        <p:spPr>
          <a:xfrm>
            <a:off x="11098626" y="299008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smart-dealer.vercel.app</a:t>
            </a:r>
            <a:endParaRPr lang="en-US" sz="1200" dirty="0"/>
          </a:p>
        </p:txBody>
      </p:sp>
      <p:pic>
        <p:nvPicPr>
          <p:cNvPr id="33" name="Image 0" descr="_NOVAS MELHORIAS/deck-assets/b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806" y="3360420"/>
            <a:ext cx="8092440" cy="481517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054942" y="8366760"/>
            <a:ext cx="8202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950"/>
              </a:lnSpc>
            </a:pPr>
            <a:r>
              <a:rPr lang="en-US" sz="1425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 não pagos e contratos quitando na mesma tela — cada um com ação sugerida.</a:t>
            </a:r>
            <a:endParaRPr lang="en-US" sz="1425" dirty="0"/>
          </a:p>
        </p:txBody>
      </p:sp>
      <p:sp>
        <p:nvSpPr>
          <p:cNvPr id="37" name="BJPseudoFooter">
            <a:extLst>
              <a:ext uri="{FF2B5EF4-FFF2-40B4-BE49-F238E27FC236}">
                <a16:creationId xmlns:a16="http://schemas.microsoft.com/office/drawing/2014/main" id="{BA210391-CA7C-AF10-16FE-D48B0F618CA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25980" y="7188041"/>
            <a:ext cx="5143500" cy="5143500"/>
          </a:xfrm>
          <a:prstGeom prst="ellipse">
            <a:avLst/>
          </a:prstGeom>
          <a:solidFill>
            <a:srgbClr val="1A72D4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47750" y="1774984"/>
            <a:ext cx="55332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75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262664"/>
            <a:ext cx="5533263" cy="1898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Técnico IA para </a:t>
            </a:r>
            <a:r>
              <a:rPr lang="en-US" sz="4650" b="1" kern="0" spc="-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</a:t>
            </a:r>
            <a:r>
              <a:rPr lang="en-US" sz="46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4650" b="1" kern="0" spc="-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Mecânicos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4081462"/>
            <a:ext cx="5974080" cy="1954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documentação técnica oficial da Yamaha, manuais, procedimentos e normas de </a:t>
            </a:r>
            <a:r>
              <a:rPr lang="en-US" sz="2400" dirty="0" err="1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</a:t>
            </a:r>
            <a:r>
              <a:rPr lang="en-US" sz="2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</a:t>
            </a:r>
            <a:r>
              <a:rPr lang="en-US" sz="2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400" dirty="0" err="1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varejo</a:t>
            </a:r>
            <a:r>
              <a:rPr lang="en-US" sz="2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integradas</a:t>
            </a:r>
            <a:r>
              <a:rPr lang="en-US" sz="2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um banco de conhecimento inteligente.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6273641"/>
            <a:ext cx="3048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6245066"/>
            <a:ext cx="51408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técnico e procedimentos de revisão disponíveis via chat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7073741"/>
            <a:ext cx="3048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8750" y="7045166"/>
            <a:ext cx="51408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consulta a base oficial e retorna respostas precisas e citadas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47750" y="7873841"/>
            <a:ext cx="3048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28750" y="7845266"/>
            <a:ext cx="51408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sempre baseadas na documentação oficial Yamaha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490460" y="2613660"/>
            <a:ext cx="9944100" cy="5829300"/>
          </a:xfrm>
          <a:prstGeom prst="roundRect">
            <a:avLst>
              <a:gd name="adj" fmla="val 4310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64780" y="2887980"/>
            <a:ext cx="967732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DEALER CHAT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697897" y="3356610"/>
            <a:ext cx="4462344" cy="541020"/>
          </a:xfrm>
          <a:prstGeom prst="roundRect">
            <a:avLst>
              <a:gd name="adj" fmla="val 24648"/>
            </a:avLst>
          </a:prstGeom>
          <a:solidFill>
            <a:srgbClr val="1A72D4">
              <a:alpha val="22000"/>
            </a:srgbClr>
          </a:solidFill>
          <a:ln w="7620">
            <a:solidFill>
              <a:srgbClr val="1A72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876967" y="3497580"/>
            <a:ext cx="42273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</a:t>
            </a:r>
            <a:r>
              <a:rPr lang="en-US" sz="1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 </a:t>
            </a:r>
            <a:r>
              <a:rPr lang="en-US" sz="1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fusível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queimado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Crosser Z?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64780" y="4030980"/>
            <a:ext cx="8592621" cy="4091940"/>
          </a:xfrm>
          <a:prstGeom prst="roundRect">
            <a:avLst>
              <a:gd name="adj" fmla="val 13889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943849" y="4171950"/>
            <a:ext cx="8008621" cy="3381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 err="1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6.33: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pt-BR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um fusível queimar, substitua-o da seguinte maneira.</a:t>
            </a:r>
          </a:p>
          <a:p>
            <a:pPr marL="0" indent="0" algn="l">
              <a:lnSpc>
                <a:spcPct val="150000"/>
              </a:lnSpc>
              <a:buNone/>
            </a:pPr>
            <a:endParaRPr lang="pt-BR" sz="1800" dirty="0">
              <a:solidFill>
                <a:srgbClr val="FFFFFF">
                  <a:alpha val="65000"/>
                </a:srgb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pt-BR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Gire a chave para “OFF” e desligue o circuito elétrico em questão.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pt-BR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o fusível queimado, e então instale um novo fusível com a amperagem especificada.</a:t>
            </a:r>
          </a:p>
          <a:p>
            <a:pPr marL="0" indent="0" algn="l">
              <a:lnSpc>
                <a:spcPct val="150000"/>
              </a:lnSpc>
              <a:buNone/>
            </a:pPr>
            <a:endParaRPr lang="pt-BR" sz="1800" dirty="0">
              <a:solidFill>
                <a:srgbClr val="FFFFFF">
                  <a:alpha val="65000"/>
                </a:srgb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pt-BR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ADVERTÊNCIA! Não utilize um fusível com uma corrente acima da recomendada.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79657" y="7591901"/>
            <a:ext cx="84815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7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Manual Técnico XTZ 150 — 2025</a:t>
            </a:r>
            <a:endParaRPr lang="en-US" sz="1800" dirty="0"/>
          </a:p>
        </p:txBody>
      </p:sp>
      <p:sp>
        <p:nvSpPr>
          <p:cNvPr id="20" name="BJPseudoFooter">
            <a:extLst>
              <a:ext uri="{FF2B5EF4-FFF2-40B4-BE49-F238E27FC236}">
                <a16:creationId xmlns:a16="http://schemas.microsoft.com/office/drawing/2014/main" id="{8FCE00C5-8C65-2A0C-C83F-8E44213AD66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7750" y="-2857500"/>
            <a:ext cx="8572500" cy="8572500"/>
          </a:xfrm>
          <a:prstGeom prst="ellipse">
            <a:avLst/>
          </a:prstGeom>
          <a:solidFill>
            <a:srgbClr val="1A72D4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33400" y="533400"/>
            <a:ext cx="2476500" cy="2476500"/>
          </a:xfrm>
          <a:prstGeom prst="ellipse">
            <a:avLst/>
          </a:prstGeom>
          <a:ln w="7620">
            <a:solidFill>
              <a:srgbClr val="1A72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5944850" y="7943850"/>
            <a:ext cx="1809750" cy="1809750"/>
          </a:xfrm>
          <a:prstGeom prst="ellipse">
            <a:avLst/>
          </a:prstGeom>
          <a:ln w="7620">
            <a:solidFill>
              <a:srgbClr val="1A72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862913" y="2891314"/>
            <a:ext cx="125621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kern="0" spc="375" dirty="0">
                <a:solidFill>
                  <a:srgbClr val="FFFFFF">
                    <a:alpha val="35000"/>
                  </a:srgbClr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62913" y="3340894"/>
            <a:ext cx="12562176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750" i="1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"Como transformar dados em experiências memoráveis?"</a:t>
            </a:r>
            <a:endParaRPr lang="en-US" sz="3750" dirty="0">
              <a:latin typeface="Bahnschrift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162" y="4355306"/>
            <a:ext cx="1976318" cy="1181100"/>
          </a:xfrm>
          <a:prstGeom prst="roundRect">
            <a:avLst>
              <a:gd name="adj" fmla="val 12903"/>
            </a:avLst>
          </a:prstGeom>
          <a:solidFill>
            <a:srgbClr val="1A72D4">
              <a:alpha val="9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66310" y="4610576"/>
            <a:ext cx="112990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93682" y="4983956"/>
            <a:ext cx="127527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2D4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Inteligente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19481" y="4936331"/>
            <a:ext cx="495300" cy="19050"/>
          </a:xfrm>
          <a:prstGeom prst="rect">
            <a:avLst/>
          </a:prstGeom>
          <a:solidFill>
            <a:srgbClr val="1A72D4">
              <a:alpha val="35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14781" y="4355306"/>
            <a:ext cx="1790462" cy="1181100"/>
          </a:xfrm>
          <a:prstGeom prst="roundRect">
            <a:avLst>
              <a:gd name="adj" fmla="val 12903"/>
            </a:avLst>
          </a:prstGeom>
          <a:solidFill>
            <a:srgbClr val="1A72D4">
              <a:alpha val="9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6731" y="4610576"/>
            <a:ext cx="106656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Decisões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65300" y="4983956"/>
            <a:ext cx="10894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2D4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Melhores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05242" y="4936331"/>
            <a:ext cx="495300" cy="19050"/>
          </a:xfrm>
          <a:prstGeom prst="rect">
            <a:avLst/>
          </a:prstGeom>
          <a:solidFill>
            <a:srgbClr val="1A72D4">
              <a:alpha val="35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00542" y="4355306"/>
            <a:ext cx="2186821" cy="1181100"/>
          </a:xfrm>
          <a:prstGeom prst="roundRect">
            <a:avLst>
              <a:gd name="adj" fmla="val 12903"/>
            </a:avLst>
          </a:prstGeom>
          <a:solidFill>
            <a:srgbClr val="1A72D4">
              <a:alpha val="9000"/>
            </a:srgbClr>
          </a:solidFill>
          <a:ln w="7620">
            <a:solidFill>
              <a:srgbClr val="1A7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51062" y="4610576"/>
            <a:ext cx="148578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Experiências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97378" y="4983956"/>
            <a:ext cx="139303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2D4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Memoráveis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287363" y="4936331"/>
            <a:ext cx="495300" cy="19050"/>
          </a:xfrm>
          <a:prstGeom prst="rect">
            <a:avLst/>
          </a:prstGeom>
          <a:solidFill>
            <a:srgbClr val="1A72D4">
              <a:alpha val="35000"/>
            </a:srgbClr>
          </a:solidFill>
          <a:ln/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782663" y="4355306"/>
            <a:ext cx="2162175" cy="1181100"/>
          </a:xfrm>
          <a:prstGeom prst="roundRect">
            <a:avLst>
              <a:gd name="adj" fmla="val 12903"/>
            </a:avLst>
          </a:prstGeom>
          <a:solidFill>
            <a:srgbClr val="1A72D4">
              <a:alpha val="14000"/>
            </a:srgbClr>
          </a:solidFill>
          <a:ln w="7620">
            <a:solidFill>
              <a:srgbClr val="1A72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>
              <a:latin typeface="Bahnschrift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133184" y="4610576"/>
            <a:ext cx="14611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Crescimento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169973" y="4983956"/>
            <a:ext cx="13875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2D4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Sustentável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96789" y="5955506"/>
            <a:ext cx="8894304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O Smart Dealer é mais do que uma plataforma tecnológica. Ele é um novo padrão de relacionamento entre cliente, concessionária e Yamaha.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44240" y="8773120"/>
            <a:ext cx="11719559" cy="132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000" kern="0" spc="225" dirty="0">
                <a:ln>
                  <a:solidFill>
                    <a:srgbClr val="00B0F0"/>
                  </a:solidFill>
                </a:ln>
                <a:noFill/>
                <a:latin typeface="Bahnschrift SemiBold Condensed" panose="020B0502040204020203" pitchFamily="34" charset="0"/>
                <a:ea typeface="Arial" pitchFamily="34" charset="-122"/>
                <a:cs typeface="Arial" pitchFamily="34" charset="-120"/>
              </a:rPr>
              <a:t>YAMAHA WAY 2026 · GRUPO SHOGUN RIDERS · NIPPON MOTOS</a:t>
            </a:r>
            <a:endParaRPr lang="en-US" sz="4000" dirty="0">
              <a:ln>
                <a:solidFill>
                  <a:srgbClr val="00B0F0"/>
                </a:solidFill>
              </a:ln>
              <a:noFill/>
              <a:latin typeface="Bahnschrift SemiBold Condensed" panose="020B0502040204020203" pitchFamily="34" charset="0"/>
            </a:endParaRPr>
          </a:p>
        </p:txBody>
      </p:sp>
      <p:sp>
        <p:nvSpPr>
          <p:cNvPr id="25" name="BJPseudoFooter">
            <a:extLst>
              <a:ext uri="{FF2B5EF4-FFF2-40B4-BE49-F238E27FC236}">
                <a16:creationId xmlns:a16="http://schemas.microsoft.com/office/drawing/2014/main" id="{D065CAC0-36FF-880F-E9C0-D9AD7F29DEA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7976269" y="9917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06b056e2-7ddb-4f31-a510-f19fdcc3f692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9C6EADC2-67BE-4811-82EA-89E36A86F171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76684a67-d816-43ce-93f9-29b6f72f823f}" enabled="0" method="" siteId="{76684a67-d816-43ce-93f9-29b6f72f82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2180</TotalTime>
  <Words>2948</Words>
  <Application>Microsoft Macintosh PowerPoint</Application>
  <PresentationFormat>Personalizar</PresentationFormat>
  <Paragraphs>513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Aptos</vt:lpstr>
      <vt:lpstr>Arial</vt:lpstr>
      <vt:lpstr>Bahnschrift</vt:lpstr>
      <vt:lpstr>Bahnschrift Condensed</vt:lpstr>
      <vt:lpstr>Bahnschrift SemiBold Condensed</vt:lpstr>
      <vt:lpstr>Bahnschrift SemiLight</vt:lpstr>
      <vt:lpstr>Calibri</vt:lpstr>
      <vt:lpstr>Grandview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Caique Oliveira</cp:lastModifiedBy>
  <cp:revision>6</cp:revision>
  <dcterms:created xsi:type="dcterms:W3CDTF">2026-06-15T20:56:00Z</dcterms:created>
  <dcterms:modified xsi:type="dcterms:W3CDTF">2026-08-20T21:18:14Z</dcterms:modified>
  <cp:category>XPTOPublic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c699311a-9c8c-45d8-aeaf-b23dda9b8c91</vt:lpwstr>
  </property>
  <property fmtid="{D5CDD505-2E9C-101B-9397-08002B2CF9AE}" pid="3" name="bjClsUserRVM">
    <vt:lpwstr>[]</vt:lpwstr>
  </property>
  <property fmtid="{D5CDD505-2E9C-101B-9397-08002B2CF9AE}" pid="4" name="bjSaver">
    <vt:lpwstr>eO7rgDl+JVpwpmGj6wa8x84vLK6Y7pWG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policy="06b056e2-7ddb-4f31-a510-f19fdcc3f692" origin="userSelected" xmlns="http://www.boldonj</vt:lpwstr>
  </property>
  <property fmtid="{D5CDD505-2E9C-101B-9397-08002B2CF9AE}" pid="6" name="bjDocumentLabelXML-0">
    <vt:lpwstr>ames.com/2008/01/sie/internal/label"&gt;&lt;element uid="id_classification_nonbusiness" value="" /&gt;&lt;/sisl&gt;</vt:lpwstr>
  </property>
  <property fmtid="{D5CDD505-2E9C-101B-9397-08002B2CF9AE}" pid="7" name="bjDocumentSecurityLabel">
    <vt:lpwstr>NÃO CLASSIFICADA</vt:lpwstr>
  </property>
  <property fmtid="{D5CDD505-2E9C-101B-9397-08002B2CF9AE}" pid="8" name="X-BJ-Classification">
    <vt:lpwstr>X-BJ-CLASSIFICATION-{Classificação}</vt:lpwstr>
  </property>
</Properties>
</file>